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2F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72"/>
    <p:restoredTop sz="94658"/>
  </p:normalViewPr>
  <p:slideViewPr>
    <p:cSldViewPr snapToGrid="0">
      <p:cViewPr varScale="1">
        <p:scale>
          <a:sx n="120" d="100"/>
          <a:sy n="120"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089AD-D6EF-F34E-BDA2-7FD9ECDA530C}"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65825-DA3E-F54F-8918-42B0697FAD9F}" type="slidenum">
              <a:rPr lang="en-US" smtClean="0"/>
              <a:t>‹#›</a:t>
            </a:fld>
            <a:endParaRPr lang="en-US"/>
          </a:p>
        </p:txBody>
      </p:sp>
    </p:spTree>
    <p:extLst>
      <p:ext uri="{BB962C8B-B14F-4D97-AF65-F5344CB8AC3E}">
        <p14:creationId xmlns:p14="http://schemas.microsoft.com/office/powerpoint/2010/main" val="2133540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of the optimizer deck. The notes' §6 in full, after the companion tutorial, Optimizers for Deep Learning. Each optimizer answers a failure of the one before it, shown on a small example; the optimizer explorer runs them side by side. About 15 minutes; then back to the main deck, at the rest of the recipe.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§6, opening; the optimizer tutorial, Figure 1. [click] Where we are: the architecture is fixed (Lectures 2–4), and so is the input, tokens and a stream of chunks (§§2–5). What is left is the optimization, and for it the model and the data can be abstracted away. [click] One step (the picture): a batch x(i) of B chunks of T tokens, a B × T × d tensor once embedded; the forward pass gives its loss, ℓ(i) = L(θ, x(i)), the average log loss of its next tokens; the backward pass gives its gradient, g(i) = ∂ℓ(i)/∂θ, by backpropagation as in Lecture 1. An optimizer turns these gradients, one batch after another, into steps, and that is all it ever sees. [click] This deck follows the companion tutorial, Optimizers for Deep Learning, about a dozen pages: each optimizer from the failure of the one before, with the theory. The optimizer explorer runs six of them, gradient descent to Adam, side by side on losses of two parameters, with noise; one learning rate drives them all, so tune η for the one you are watching. Both are on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§1, Figure 2. The question line: how large may a step be? [click] The simplest loss, a quadratic bowl with curvature λ1 = 1 along θ1 and λ2 = 25 along θ2. Gradient descent multiplies each coordinate by its own factor, 1 − ηλ, every step. [click] A coordinate shrinks only if |1 − ηλ| &lt; 1, so the steepest direction sets the limit: η &lt; 2/λmax = 0.08. Near the limit the steep coordinate zig-zags (the picture, η = 0.075). [click] And the flat one then shrinks by only 1 − 0.08 = 0.92 a step. The ratio of the curvatures, the condition number κ, sets the pace: each factor of e takes about κ/2 steps, a millionfold lower loss 87 at κ = 25. A deep network has millions of directions, whose curvatures can differ by orders of magnitude.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§2, Figure 3. The problem line: each step sees one batch, not the whole text. [click] The batch's gradient is right on average, with a variance that falls as 1/B. [click] With a fixed step the loss stops at a noise floor of about η tr(Σ)/(4B): the curvature drops out, and a smaller step and a larger batch lower it equally. In panel a, at η = 0.04 and B = 1 the run settles at 0.123, against 0.124 predicted; a quarter of the step gives 0.026; four times the batch 0.031, at four times the cost. [click] The fix: let η decay; a decaying step reaches 0.0045. That is the recipe's schedule. And how large a batch? On our base model at step 1,000, two batches of 16 chunks agree with cosine 0.30 (panel b); the fit gives a noise scale of about 18,000 tokens. Below it, doubling the batch nearly halves the steps; our 8,192 is below it.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§3, Figure 4. The problem line: gradient descent forgets each step at once; the flat coordinate's gradient keeps its sign, the steep one's flips. [click] Momentum (Polyak, 1964), the heavy ball: a velocity, a running sum of gradients that decays by β per step. Where the gradient keeps its sign the velocity grows to g/(1 − β), ten times the step for β = 0.9; where it alternates, the terms cancel. [click] At its best η and β the error shrinks by (√κ − 1)/(√κ + 1) per step: gradient descent's factor with √κ in place of κ, 0.67 instead of 0.92 here; a millionfold in 26 steps instead of 87 (panel a). [click] In practice β = 0.9, far more than this bowl's best, 0.44, and the ball overshoots and circles the minimum (panel b). Nesterov (1983) takes the gradient where the velocity is about to carry the weights; if it is about to overshoot, that gradient already points back, and the step brakes: below a millionth from step 91, against 126 for momentum (panel c). Momentum helps with the curvature, not with the noise.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§4, Figure 6a. The problem line: one step size for parameters whose gradients differ in size by orders of magnitude; four orders in our base model (Figure 21, two slides on). [click] AdaGrad (Duchi et al., 2011): divide each parameter's gradient by the root of the sum of all its past squares. The sum only grows, so its steps shrink forever (the olive curve, at the bottom of the picture). [click] RMSProp (Tieleman and Hinton, 2012): a moving average of the squares instead, over about 1/(1 − ρ) steps, so the step stays near η (magenta). [click] What still fails: the average starts at zero, so the first step is η/√(1 − ρ), ten times η for ρ = 0.99, and each step follows one batch's noisy gradient.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§4, Figure 6. The problem line, from the last slide. [click] Adam (Kingma and Ba, 2015): both fixes at once, momentum's average of the gradients m divided by RMSProp's scale √v, each corrected for starting at zero by dividing by 1 − β^t. Its step is about η in every coordinate, whatever the gradient's size: gradients of 0.01 and 2 give first steps of exactly η each (the blue curve, panel a). [click] Its settings: β1 = 0.9 and β2 = 0.95, the values of language models, average over about the last 10 and 20 steps; ε = 10^-8 keeps a parameter whose gradient is zero from being divided by zero. [click] Why not β2 = 0.999, the paper's default? It remembers 1,000 steps: when the gradients grow a hundredfold at step 300 (panel b), its average lags, and it takes steps of up to 3.3η for hundreds of steps; with 0.95 it is back near η within 6. Weight decay, kept apart from Adam's step, is AdamW, in the recipe.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§6, Figure 21; the optimizer tutorial, §5, Figure 5. The question line: on a two-parameter bowl momentum can beat Adam; on Transformers Adam wins by far. Why? [click] The answer is in the gradients. For each parameter of our base model at step 1,000, the typical size of its gradient over eight batches: from 7.7 × 10⁻⁸ for the smallest 1%, mostly rows of rare tokens, to 1.5 × 10⁻³ for the largest 1%, more than four orders of magnitude. A step small enough for the largest barely moves the rest. Only a step scaled to each parameter moves them all. [click] The rare rows are rare words: on a full-batch toy with many classes of very different frequencies, gradient descent leaves the rare classes far behind, and Adam does not (Kunstner et al., 2024; the tutorial's panel 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§6, Figure 7a. The problem line: most of a Transformer's parameters sit in weight matrices, and a matrix's gradient pushes hard along a few directions and barely along the rest. [click] Write the gradient by its singular value decomposition: each term pairs an input direction with an output direction, and its singular value says how hard the gradient pushes along that pair. In our base model, the first block's query gradient spans a factor of about 40,000. [click] Adam cannot even them out, since each direction mixes many parameters. By hand: the 2 × 2 gradient with rows (2, 1) and (1, 2) pushes three times harder along (1, 1) than along (1, −1); its singular values are 3 and 1. On a gradient that stays the same, Adam moves every entry by η: its step is the sign matrix, all ones, which moves along (1, 1) alone, singular values 2 and 0. The weaker direction is lost. [click] The best step depends on how its size is measured (panel a): by Euclidean size, the gradient's direction; by the largest entry, the sign, Adam's step; by the spectral norm, the most a step can change any input's output, UVᵀ, every singular value set to 1. For the 2 × 2 gradient, the identity: both directions equally.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§6, 'Muon', Figure 7b and c. [click] Muon (Jordan et al., 2024): for each weight matrix inside the blocks, the momentum (in its Nesterov form, β = 0.95), scaled to unit size, then five Newton–Schulz steps, X ← aX + b(XXᵀ)X + c(XXᵀ)²X. Each step leaves the directions alone and maps every singular value s to a polynomial in s, which carries it toward 1 (panel b). [click] The classic cubic lifts a small singular value only 7.6-fold in five steps; Jordan et al.'s quintic about 480-fold, at the price of landing the values anywhere in about 0.7 to 1.3, which they found does not hurt. [click] Our query gradient (panel c): after five steps 155 of its 192 singular values lie in that band, against 15 for the cubic; the other 37 are the smallest. In large runs the iteration costs under 1% of a step. [click] The token table, the output layer, and the vectors keep AdamW. The evidence: Liu et al. (2025) found Muon matched AdamW with about 52% of the computation, and Kimi K2, about a trillion parameters, trained with a variant of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§6, Figure 22. [click] The experiment: Lecture 4's word-model shape, 4 blocks of d = 128, with our 4,096 tokens, trained for 800 steps of 16 × 256 tokens with the same schedule (§7), by SGD, momentum (β = 0.9), Adam (β = (0.9, 0.95)), AdamW (decay 0.1), and Muon (AdamW at 0.01 for the other parameters), each at several peak rates; no run diverged. Panel a: validation loss after 800 steps against the peak rate. Ask: how much does the optimizer matter? [click] At each one's best rate: SGD 4.22, momentum 3.51, Adam 2.85, AdamW 2.84, Muon 2.53 nats per token. Momentum gains 0.7 nats over SGD, Adam another 0.7. [click] The best rates differ a hundredfold, 1 for SGD and 0.01 for Adam: Adam's step is about η whatever the gradient, SGD's is η times gradients far smaller than 1. [click] Muon is another 0.3 nats below Adam; its training curve (panel b) separates from Adam's after about a hundred steps, and it is the least sensitive to its rate, within 0.1 nats from 0.005 to 0.05. Over 800 steps, AdamW's weight decay changes little. Single runs on a small model; they agree in direction with Liu et al. (2025a), who found Muon reached AdamW's loss with about half the computation. An optimizer with a fixed rate is still not the whole recipe: that is §7.</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§7, Figure 8. The problem line: a gradient needs the backward pass, which stores the forward pass's activations, and AdamW in mixed precision keeps about 16 bytes per parameter, where running the model takes 2: for 30 billion parameters, 480 GB against 60 GB. [click] Zeroth order: pick a random direction z, one standard normal number per parameter; two forward passes give the slope along it, and the estimate is the slope times the direction (Spall, 1992). Right on average, since E zzᵀ is the identity. [click] But any one estimate points along z (panel a); all but about 1/P of it is noise, so a stable step must be about P times smaller, and a given loss takes about P times the steps (panel b). For our 3.5 million parameters, millions of times: no pretraining. [click] MeZO (Malladi et al., 2023) regenerates z from a seed instead of storing it, so it fits in the memory of inference: 30 billion parameters on one 80 GB A100, where backpropagation fit 2.7 billion. It needs about a hundred times the steps when fine-tuning a pretrained model with a good prompt, not P times. [click] Evolution strategies: many random directions, each perturbed model scored by any reward, a step toward the better ones. Qiu et al. (2025) fine-tuned models of up to 8 billion parameters with a population of 30, and on the puzzle Countdown beat PPO and GRPO, the reinforcement learning of Weeks 6 and 7.</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tutorial, §8. Each method up to Muon fixed a failure of the one before it; zeroth-order methods instead give up the gradient to save memory. [click] In 2026 a typical language model is pretrained with AdamW, β = (0.9, 0.95), ε = 10^-8, weight decay 0.1 on the matrices, a warmup and a decay to a tenth of the peak or less, or with Muon for the matrices inside the blocks and AdamW for the rest.</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optimizer explorer, after Goh (2017), on the course page. [click] Six of today's optimizers, gradient descent to Adam, side by side on losses of two parameters, with one learning rate for all, so tune η for the one you are watching. [click] What to try, as the tutorial suggests: on the bowl, η just below and just above 2/κ; raise the noise, and watch the floor; gradients of very different sizes, AdaGrad against RMSProp; the rotated bowl, where Adam loses its advantage. Then back to the main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4EB4-DA0B-2C8B-331B-F2D7002866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2C570E-AE13-E7B5-8E56-9FDF6D9FC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3ABD38-DF48-0F32-9DAC-61B1D046762A}"/>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6EA001B6-ADED-9C57-D34D-65FF4C14A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3E02F-CC9D-C37B-FC30-83AEE6F8E3FE}"/>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93697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320C-E9DA-25BD-B3D7-50328E351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25444-C8B6-3633-5D08-B4F9E0A1D6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59906-796D-E4DB-FB31-B265FCAAF9A9}"/>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397C868D-909E-CDC8-8162-54CA7362B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4529D-FDA0-BF89-0CAD-1394F1AF8A7F}"/>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623021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AE0D-188B-B9A1-17EC-2C0044042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503C6-5AD7-F836-0A89-2D38302C8C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4FDDEA-5B6A-41BE-EEF7-18B2F8E2AE9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441C2DC6-552D-272D-E4F3-83284DBE1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59526-B904-0A9B-6F3E-FABB60A55FC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14498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2183-3581-6F31-4AA7-4F906F2EC6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2DAA77-7D2A-1AA2-5643-F7E8ADC917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EE64CA-A692-0BA0-AFEA-93B6D1B082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E60B1A-9ED4-C97B-94B5-078B29EAED75}"/>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98B82D44-E178-9C7A-F946-CA863D6CA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15A17-5A39-8C22-3186-1C33A1124A5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49278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CB43-5F2C-7BEB-B140-21E6776619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0B3114-F278-5408-C83C-71E8371B2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5C523-8A0F-502C-D548-EF2BDCBD95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6C85C1-E36C-8075-ECEE-F7C1FF102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6CEAC6-0811-5E36-2A58-9D2A408254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885B5C-A8C9-60B8-588D-C1AE740BC5CE}"/>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8" name="Footer Placeholder 7">
            <a:extLst>
              <a:ext uri="{FF2B5EF4-FFF2-40B4-BE49-F238E27FC236}">
                <a16:creationId xmlns:a16="http://schemas.microsoft.com/office/drawing/2014/main" id="{C92BEFF0-256A-D36A-4820-E90DCC3755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563161-BF21-2613-8A5C-B5DDB94AB91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76018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392E-BE02-D93F-627D-EA0160D251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582691-7D88-8139-CFFC-227D95CC57E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4" name="Footer Placeholder 3">
            <a:extLst>
              <a:ext uri="{FF2B5EF4-FFF2-40B4-BE49-F238E27FC236}">
                <a16:creationId xmlns:a16="http://schemas.microsoft.com/office/drawing/2014/main" id="{4D68E21A-2284-FF43-23B1-CB5F7D4A27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ED798A-F2C6-6F3E-5B19-0D64F20BDC6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426008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89800-895C-5C31-DE55-A415D0732E48}"/>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3" name="Footer Placeholder 2">
            <a:extLst>
              <a:ext uri="{FF2B5EF4-FFF2-40B4-BE49-F238E27FC236}">
                <a16:creationId xmlns:a16="http://schemas.microsoft.com/office/drawing/2014/main" id="{8225A07D-7E93-0D6F-1989-BE3A3311CE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CAD062-0C19-534F-F475-1DD00204B4DD}"/>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61283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6C3C-8D76-0105-1241-D0230B19C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98F38C-945F-40E3-7B4D-7A73C4498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322191-3674-D98C-3179-1CB60C6AD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AF62F-D264-C7E9-BEFE-CE0820B9086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8B919EE1-4450-1379-0EE7-4E9184AF2E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284A1-F229-0238-4695-04C220C9EEE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325247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5E3FD-AF53-6494-281E-D78665CFA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D6075-DD2C-0973-3E3B-161700FA7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C7F75C-24AE-99CB-574A-90537D08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28B4E-B831-1712-381C-4E04789DFA07}"/>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5F7F8E76-0CE2-FFD7-4E6B-A323987476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784D0-EF69-C256-0EEB-9F18603973C7}"/>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53405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672F-C506-BDFA-4B5E-D359283758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C22D33-6133-6637-7D38-B8B7E6A9F3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FC294-41F4-F931-F69D-3EFBFCCD66B6}"/>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8FC8EF21-A04F-3687-8D47-1D2F13D281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95EED-F88F-17E4-8239-44349F16DED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57445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14D8B-C5B6-6107-7699-727DDE8FAB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253157-2E98-5845-A6F2-06BDC0F8F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3DFC7-8FCF-4A26-76A9-2285F04FAB3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50FDBED2-46E1-1B51-93E4-CA39B7E83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23B04-6B5D-F8B0-56E7-E2234072FF9A}"/>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9108006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EF6B6-C5F9-031A-2E05-29DDE9F77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5BE05B-7A50-4A14-F04C-7888F16482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7A9C7D-E232-E081-8718-22B54E605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F9C344FD-7DC0-C478-C408-DE8A1C825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C48A88-C62C-0783-1D31-C175AD001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AA7EE-9DFB-FF4C-9A4A-FB7F0C86302C}" type="slidenum">
              <a:rPr lang="en-US" smtClean="0"/>
              <a:t>‹#›</a:t>
            </a:fld>
            <a:endParaRPr lang="en-US"/>
          </a:p>
        </p:txBody>
      </p:sp>
    </p:spTree>
    <p:extLst>
      <p:ext uri="{BB962C8B-B14F-4D97-AF65-F5344CB8AC3E}">
        <p14:creationId xmlns:p14="http://schemas.microsoft.com/office/powerpoint/2010/main" val="3405713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9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 Id="rId6" Type="http://schemas.openxmlformats.org/officeDocument/2006/relationships/image" Target="../media/image9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99.png"/><Relationship Id="rId4" Type="http://schemas.openxmlformats.org/officeDocument/2006/relationships/image" Target="../media/image10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01.png"/><Relationship Id="rId4" Type="http://schemas.openxmlformats.org/officeDocument/2006/relationships/image" Target="../media/image10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03.png"/><Relationship Id="rId4" Type="http://schemas.openxmlformats.org/officeDocument/2006/relationships/image" Target="../media/image10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05.png"/><Relationship Id="rId4" Type="http://schemas.openxmlformats.org/officeDocument/2006/relationships/image" Target="../media/image104.png"/><Relationship Id="rId5" Type="http://schemas.openxmlformats.org/officeDocument/2006/relationships/image" Target="../media/image10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07.png"/><Relationship Id="rId4" Type="http://schemas.openxmlformats.org/officeDocument/2006/relationships/image" Target="../media/image10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1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13.png"/><Relationship Id="rId4" Type="http://schemas.openxmlformats.org/officeDocument/2006/relationships/image" Target="../media/image1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115.png"/><Relationship Id="rId4" Type="http://schemas.openxmlformats.org/officeDocument/2006/relationships/image" Target="../media/image1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117.png"/><Relationship Id="rId4" Type="http://schemas.openxmlformats.org/officeDocument/2006/relationships/image" Target="../media/image11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11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120.png"/></Relationships>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oints"/>
          <p:cNvSpPr txBox="1"/>
          <p:nvPr/>
        </p:nvSpPr>
        <p:spPr>
          <a:xfrm>
            <a:off x="228600" y="1463040"/>
            <a:ext cx="11704320" cy="457200"/>
          </a:xfrm>
          <a:prstGeom prst="rect">
            <a:avLst/>
          </a:prstGeom>
          <a:noFill/>
        </p:spPr>
        <p:txBody>
          <a:bodyPr wrap="square" lIns="0" rIns="0" tIns="0" bIns="0">
            <a:spAutoFit/>
          </a:bodyPr>
          <a:lstStyle/>
          <a:p>
            <a:pPr algn="ctr">
              <a:spcAft>
                <a:spcPts val="1200"/>
              </a:spcAft>
            </a:pPr>
            <a:r>
              <a:rPr sz="2200" b="0" i="0">
                <a:solidFill>
                  <a:srgbClr val="595959"/>
                </a:solidFill>
                <a:latin typeface="Calibri"/>
              </a:rPr>
              <a:t>Generative AI from First Principles · Lecture 5</a:t>
            </a:r>
          </a:p>
        </p:txBody>
      </p:sp>
      <p:sp>
        <p:nvSpPr>
          <p:cNvPr id="3" name="points"/>
          <p:cNvSpPr txBox="1"/>
          <p:nvPr/>
        </p:nvSpPr>
        <p:spPr>
          <a:xfrm>
            <a:off x="228600" y="2194560"/>
            <a:ext cx="11704320" cy="731520"/>
          </a:xfrm>
          <a:prstGeom prst="rect">
            <a:avLst/>
          </a:prstGeom>
          <a:noFill/>
        </p:spPr>
        <p:txBody>
          <a:bodyPr wrap="square" lIns="0" rIns="0" tIns="0" bIns="0">
            <a:spAutoFit/>
          </a:bodyPr>
          <a:lstStyle/>
          <a:p>
            <a:pPr algn="ctr">
              <a:spcAft>
                <a:spcPts val="1200"/>
              </a:spcAft>
            </a:pPr>
            <a:r>
              <a:rPr sz="4000" b="1" i="0">
                <a:solidFill>
                  <a:srgbClr val="00B050"/>
                </a:solidFill>
                <a:latin typeface="Calibri"/>
              </a:rPr>
              <a:t>Optimizers</a:t>
            </a:r>
            <a:r>
              <a:rPr sz="4000" b="1" i="0">
                <a:solidFill>
                  <a:srgbClr val="362FEC"/>
                </a:solidFill>
                <a:latin typeface="Calibri"/>
              </a:rPr>
              <a:t> for Deep Learning</a:t>
            </a:r>
          </a:p>
        </p:txBody>
      </p:sp>
      <p:sp>
        <p:nvSpPr>
          <p:cNvPr id="4" name="points"/>
          <p:cNvSpPr txBox="1"/>
          <p:nvPr/>
        </p:nvSpPr>
        <p:spPr>
          <a:xfrm>
            <a:off x="228600" y="2971800"/>
            <a:ext cx="11704320" cy="548640"/>
          </a:xfrm>
          <a:prstGeom prst="rect">
            <a:avLst/>
          </a:prstGeom>
          <a:noFill/>
        </p:spPr>
        <p:txBody>
          <a:bodyPr wrap="square" lIns="0" rIns="0" tIns="0" bIns="0">
            <a:spAutoFit/>
          </a:bodyPr>
          <a:lstStyle/>
          <a:p>
            <a:pPr algn="ctr">
              <a:spcAft>
                <a:spcPts val="1200"/>
              </a:spcAft>
            </a:pPr>
            <a:r>
              <a:rPr sz="2800" b="1" i="0">
                <a:solidFill>
                  <a:srgbClr val="44546A"/>
                </a:solidFill>
                <a:latin typeface="Calibri"/>
              </a:rPr>
              <a:t>Each optimizer fixes a failure of the one before it</a:t>
            </a:r>
          </a:p>
        </p:txBody>
      </p:sp>
      <p:sp>
        <p:nvSpPr>
          <p:cNvPr id="5" name="points"/>
          <p:cNvSpPr txBox="1"/>
          <p:nvPr/>
        </p:nvSpPr>
        <p:spPr>
          <a:xfrm>
            <a:off x="2743200" y="4069080"/>
            <a:ext cx="73152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one step size for everything</a:t>
            </a:r>
            <a:r>
              <a:rPr sz="1800" b="0" i="0">
                <a:solidFill>
                  <a:srgbClr val="000000"/>
                </a:solidFill>
                <a:latin typeface="Calibri"/>
              </a:rPr>
              <a:t>: </a:t>
            </a:r>
            <a:r>
              <a:rPr sz="1800" b="0" i="0">
                <a:solidFill>
                  <a:srgbClr val="000000"/>
                </a:solidFill>
                <a:latin typeface="Calibri"/>
              </a:rPr>
              <a:t>gradient descent, stochastic gradients, momentum</a:t>
            </a:r>
          </a:p>
        </p:txBody>
      </p:sp>
      <p:sp>
        <p:nvSpPr>
          <p:cNvPr id="6" name="points"/>
          <p:cNvSpPr txBox="1"/>
          <p:nvPr/>
        </p:nvSpPr>
        <p:spPr>
          <a:xfrm>
            <a:off x="2743200" y="4745736"/>
            <a:ext cx="73152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 step size for each parameter</a:t>
            </a:r>
            <a:r>
              <a:rPr sz="1800" b="0" i="0">
                <a:solidFill>
                  <a:srgbClr val="000000"/>
                </a:solidFill>
                <a:latin typeface="Calibri"/>
              </a:rPr>
              <a:t>: </a:t>
            </a:r>
            <a:r>
              <a:rPr sz="1800" b="0" i="0">
                <a:solidFill>
                  <a:srgbClr val="000000"/>
                </a:solidFill>
                <a:latin typeface="Calibri"/>
              </a:rPr>
              <a:t>AdaGrad, RMSProp, Adam; why Adam trains language models</a:t>
            </a:r>
          </a:p>
        </p:txBody>
      </p:sp>
      <p:sp>
        <p:nvSpPr>
          <p:cNvPr id="7" name="points"/>
          <p:cNvSpPr txBox="1"/>
          <p:nvPr/>
        </p:nvSpPr>
        <p:spPr>
          <a:xfrm>
            <a:off x="2743200" y="5422391"/>
            <a:ext cx="731520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a step for each matrix</a:t>
            </a:r>
            <a:r>
              <a:rPr sz="1800" b="0" i="0">
                <a:solidFill>
                  <a:srgbClr val="000000"/>
                </a:solidFill>
                <a:latin typeface="Calibri"/>
              </a:rPr>
              <a:t>: </a:t>
            </a:r>
            <a:r>
              <a:rPr sz="1800" b="0" i="0">
                <a:solidFill>
                  <a:srgbClr val="000000"/>
                </a:solidFill>
                <a:latin typeface="Calibri"/>
              </a:rPr>
              <a:t>Muon</a:t>
            </a:r>
          </a:p>
        </p:txBody>
      </p:sp>
      <p:sp>
        <p:nvSpPr>
          <p:cNvPr id="8" name="points"/>
          <p:cNvSpPr txBox="1"/>
          <p:nvPr/>
        </p:nvSpPr>
        <p:spPr>
          <a:xfrm>
            <a:off x="2743200" y="5815583"/>
            <a:ext cx="731520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no gradient at all</a:t>
            </a:r>
            <a:r>
              <a:rPr sz="1800" b="0" i="0">
                <a:solidFill>
                  <a:srgbClr val="000000"/>
                </a:solidFill>
                <a:latin typeface="Calibri"/>
              </a:rPr>
              <a:t>: </a:t>
            </a:r>
            <a:r>
              <a:rPr sz="1800" b="0" i="0">
                <a:solidFill>
                  <a:srgbClr val="000000"/>
                </a:solidFill>
                <a:latin typeface="Calibri"/>
              </a:rPr>
              <a:t>zeroth-order methods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An optimizer sees a loss and its gradient, batch by batch</a:t>
            </a:r>
          </a:p>
        </p:txBody>
      </p:sp>
      <p:sp>
        <p:nvSpPr>
          <p:cNvPr id="4" name="points"/>
          <p:cNvSpPr txBox="1"/>
          <p:nvPr/>
        </p:nvSpPr>
        <p:spPr>
          <a:xfrm>
            <a:off x="384048" y="1417320"/>
            <a:ext cx="11247120" cy="329184"/>
          </a:xfrm>
          <a:prstGeom prst="rect">
            <a:avLst/>
          </a:prstGeom>
          <a:noFill/>
        </p:spPr>
        <p:txBody>
          <a:bodyPr wrap="square" lIns="0" rIns="0" tIns="0" bIns="0">
            <a:spAutoFit/>
          </a:bodyPr>
          <a:lstStyle/>
          <a:p>
            <a:pPr>
              <a:spcAft>
                <a:spcPts val="0"/>
              </a:spcAft>
            </a:pPr>
            <a:r>
              <a:rPr sz="1800" b="1" i="0">
                <a:solidFill>
                  <a:srgbClr val="000000"/>
                </a:solidFill>
                <a:latin typeface="Calibri"/>
              </a:rPr>
              <a:t>what is left</a:t>
            </a:r>
            <a:r>
              <a:rPr sz="1800" b="0" i="0">
                <a:solidFill>
                  <a:srgbClr val="000000"/>
                </a:solidFill>
                <a:latin typeface="Calibri"/>
              </a:rPr>
              <a:t>: </a:t>
            </a:r>
            <a:r>
              <a:rPr sz="1800" b="0" i="0">
                <a:solidFill>
                  <a:srgbClr val="000000"/>
                </a:solidFill>
                <a:latin typeface="Calibri"/>
              </a:rPr>
              <a:t>the architecture and the input are fixed; for the optimizer they are abstracted away</a:t>
            </a:r>
          </a:p>
        </p:txBody>
      </p:sp>
      <p:sp>
        <p:nvSpPr>
          <p:cNvPr id="5" name="points"/>
          <p:cNvSpPr txBox="1"/>
          <p:nvPr/>
        </p:nvSpPr>
        <p:spPr>
          <a:xfrm>
            <a:off x="384048" y="1847088"/>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one step</a:t>
            </a:r>
            <a:r>
              <a:rPr sz="1800" b="0" i="0">
                <a:solidFill>
                  <a:srgbClr val="000000"/>
                </a:solidFill>
                <a:latin typeface="Calibri"/>
              </a:rPr>
              <a:t>: </a:t>
            </a:r>
            <a:r>
              <a:rPr sz="1800" b="0" i="0">
                <a:solidFill>
                  <a:srgbClr val="000000"/>
                </a:solidFill>
                <a:latin typeface="Calibri"/>
              </a:rPr>
              <a:t>a batch of B × T tokens; forward, its loss; backward, its gradient, by backpropagation (the picture)</a:t>
            </a:r>
          </a:p>
        </p:txBody>
      </p:sp>
      <p:sp>
        <p:nvSpPr>
          <p:cNvPr id="6" name="points"/>
          <p:cNvSpPr txBox="1"/>
          <p:nvPr/>
        </p:nvSpPr>
        <p:spPr>
          <a:xfrm>
            <a:off x="384048" y="2276856"/>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the whole story</a:t>
            </a:r>
            <a:r>
              <a:rPr sz="1800" b="0" i="0">
                <a:solidFill>
                  <a:srgbClr val="000000"/>
                </a:solidFill>
                <a:latin typeface="Calibri"/>
              </a:rPr>
              <a:t>: </a:t>
            </a:r>
            <a:r>
              <a:rPr sz="1800" b="0" i="0">
                <a:solidFill>
                  <a:srgbClr val="000000"/>
                </a:solidFill>
                <a:latin typeface="Calibri"/>
              </a:rPr>
              <a:t>the tutorial, </a:t>
            </a:r>
            <a:r>
              <a:rPr sz="1800" b="0" i="1">
                <a:solidFill>
                  <a:srgbClr val="000000"/>
                </a:solidFill>
                <a:latin typeface="Calibri"/>
              </a:rPr>
              <a:t>Optimizers for Deep Learning</a:t>
            </a:r>
            <a:r>
              <a:rPr sz="1800" b="0" i="0">
                <a:solidFill>
                  <a:srgbClr val="000000"/>
                </a:solidFill>
                <a:latin typeface="Calibri"/>
              </a:rPr>
              <a:t>; try them in the optimizer explorer</a:t>
            </a:r>
          </a:p>
        </p:txBody>
      </p:sp>
      <p:pic>
        <p:nvPicPr>
          <p:cNvPr id="7" name="picture" descr="tut_loop.png"/>
          <p:cNvPicPr>
            <a:picLocks noChangeAspect="1"/>
          </p:cNvPicPr>
          <p:nvPr/>
        </p:nvPicPr>
        <p:blipFill>
          <a:blip r:embed="rId3"/>
          <a:stretch>
            <a:fillRect/>
          </a:stretch>
        </p:blipFill>
        <p:spPr>
          <a:xfrm>
            <a:off x="457200" y="2935224"/>
            <a:ext cx="11247120" cy="1670245"/>
          </a:xfrm>
          <a:prstGeom prst="rect">
            <a:avLst/>
          </a:prstGeom>
        </p:spPr>
      </p:pic>
      <p:sp>
        <p:nvSpPr>
          <p:cNvPr id="8" name="description"/>
          <p:cNvSpPr txBox="1"/>
          <p:nvPr/>
        </p:nvSpPr>
        <p:spPr>
          <a:xfrm>
            <a:off x="457200" y="464204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1: the optimizer's view of training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Gradient descent and the condition number</a:t>
            </a:r>
          </a:p>
        </p:txBody>
      </p:sp>
      <p:sp>
        <p:nvSpPr>
          <p:cNvPr id="4" name="question and answer"/>
          <p:cNvSpPr txBox="1"/>
          <p:nvPr/>
        </p:nvSpPr>
        <p:spPr>
          <a:xfrm>
            <a:off x="384048" y="1371600"/>
            <a:ext cx="11430000" cy="393192"/>
          </a:xfrm>
          <a:prstGeom prst="rect">
            <a:avLst/>
          </a:prstGeom>
          <a:noFill/>
        </p:spPr>
        <p:txBody>
          <a:bodyPr wrap="square" lIns="0" rIns="0" tIns="0" bIns="0">
            <a:spAutoFit/>
          </a:bodyPr>
          <a:lstStyle/>
          <a:p>
            <a:pPr>
              <a:spcAft>
                <a:spcPts val="0"/>
              </a:spcAft>
            </a:pPr>
            <a:r>
              <a:rPr sz="1800" b="1" i="0">
                <a:solidFill>
                  <a:srgbClr val="FF0000"/>
                </a:solidFill>
                <a:latin typeface="Calibri"/>
              </a:rPr>
              <a:t>the question</a:t>
            </a:r>
            <a:r>
              <a:rPr sz="1800" b="0" i="0">
                <a:solidFill>
                  <a:srgbClr val="000000"/>
                </a:solidFill>
                <a:latin typeface="Calibri"/>
              </a:rPr>
              <a:t>: </a:t>
            </a:r>
            <a:r>
              <a:rPr sz="1800" b="0" i="0">
                <a:solidFill>
                  <a:srgbClr val="000000"/>
                </a:solidFill>
                <a:latin typeface="Calibri"/>
              </a:rPr>
              <a:t>how large may a step be?</a:t>
            </a:r>
            <a:r>
              <a:rPr sz="1800" b="0" i="0">
                <a:solidFill>
                  <a:srgbClr val="000000"/>
                </a:solidFill>
                <a:latin typeface="Calibri"/>
              </a:rPr>
              <a:t>   →   </a:t>
            </a:r>
            <a:r>
              <a:rPr sz="1800" b="1" i="0">
                <a:solidFill>
                  <a:srgbClr val="00B050"/>
                </a:solidFill>
                <a:latin typeface="Calibri"/>
              </a:rPr>
              <a:t>the answer</a:t>
            </a:r>
            <a:r>
              <a:rPr sz="1800" b="0" i="0">
                <a:solidFill>
                  <a:srgbClr val="000000"/>
                </a:solidFill>
                <a:latin typeface="Calibri"/>
              </a:rPr>
              <a:t>: </a:t>
            </a:r>
            <a:r>
              <a:rPr sz="1800" b="0" i="0">
                <a:solidFill>
                  <a:srgbClr val="000000"/>
                </a:solidFill>
                <a:latin typeface="Calibri"/>
              </a:rPr>
              <a:t>below 2/λmax, so the flat directions crawl</a:t>
            </a:r>
          </a:p>
        </p:txBody>
      </p:sp>
      <p:pic>
        <p:nvPicPr>
          <p:cNvPr id="5" name="eq quad" descr="quad.png"/>
          <p:cNvPicPr>
            <a:picLocks noChangeAspect="1"/>
          </p:cNvPicPr>
          <p:nvPr/>
        </p:nvPicPr>
        <p:blipFill>
          <a:blip r:embed="rId3"/>
          <a:stretch>
            <a:fillRect/>
          </a:stretch>
        </p:blipFill>
        <p:spPr>
          <a:xfrm>
            <a:off x="612647" y="1920240"/>
            <a:ext cx="3840480" cy="327482"/>
          </a:xfrm>
          <a:prstGeom prst="rect">
            <a:avLst/>
          </a:prstGeom>
        </p:spPr>
      </p:pic>
      <p:pic>
        <p:nvPicPr>
          <p:cNvPr id="6" name="eq gd_coord" descr="gd_coord.png"/>
          <p:cNvPicPr>
            <a:picLocks noChangeAspect="1"/>
          </p:cNvPicPr>
          <p:nvPr/>
        </p:nvPicPr>
        <p:blipFill>
          <a:blip r:embed="rId4"/>
          <a:stretch>
            <a:fillRect/>
          </a:stretch>
        </p:blipFill>
        <p:spPr>
          <a:xfrm>
            <a:off x="612647" y="2357450"/>
            <a:ext cx="1684782" cy="306324"/>
          </a:xfrm>
          <a:prstGeom prst="rect">
            <a:avLst/>
          </a:prstGeom>
        </p:spPr>
      </p:pic>
      <p:sp>
        <p:nvSpPr>
          <p:cNvPr id="7" name="points"/>
          <p:cNvSpPr txBox="1"/>
          <p:nvPr/>
        </p:nvSpPr>
        <p:spPr>
          <a:xfrm>
            <a:off x="384048" y="2727782"/>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quadratic bowl</a:t>
            </a:r>
            <a:r>
              <a:rPr sz="1800" b="0" i="0">
                <a:solidFill>
                  <a:srgbClr val="000000"/>
                </a:solidFill>
                <a:latin typeface="Calibri"/>
              </a:rPr>
              <a:t>: </a:t>
            </a:r>
            <a:r>
              <a:rPr sz="1800" b="0" i="0">
                <a:solidFill>
                  <a:srgbClr val="000000"/>
                </a:solidFill>
                <a:latin typeface="Calibri"/>
              </a:rPr>
              <a:t>each coordinate shrinks by its own factor per step</a:t>
            </a:r>
          </a:p>
        </p:txBody>
      </p:sp>
      <p:pic>
        <p:nvPicPr>
          <p:cNvPr id="8" name="eq gd_limit" descr="gd_limit.png"/>
          <p:cNvPicPr>
            <a:picLocks noChangeAspect="1"/>
          </p:cNvPicPr>
          <p:nvPr/>
        </p:nvPicPr>
        <p:blipFill>
          <a:blip r:embed="rId5"/>
          <a:stretch>
            <a:fillRect/>
          </a:stretch>
        </p:blipFill>
        <p:spPr>
          <a:xfrm>
            <a:off x="612647" y="3505022"/>
            <a:ext cx="2404872" cy="603503"/>
          </a:xfrm>
          <a:prstGeom prst="rect">
            <a:avLst/>
          </a:prstGeom>
        </p:spPr>
      </p:pic>
      <p:sp>
        <p:nvSpPr>
          <p:cNvPr id="9" name="points"/>
          <p:cNvSpPr txBox="1"/>
          <p:nvPr/>
        </p:nvSpPr>
        <p:spPr>
          <a:xfrm>
            <a:off x="384048" y="4172534"/>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the steep direction</a:t>
            </a:r>
            <a:r>
              <a:rPr sz="1800" b="0" i="0">
                <a:solidFill>
                  <a:srgbClr val="000000"/>
                </a:solidFill>
                <a:latin typeface="Calibri"/>
              </a:rPr>
              <a:t>: </a:t>
            </a:r>
            <a:r>
              <a:rPr sz="1800" b="0" i="0">
                <a:solidFill>
                  <a:srgbClr val="000000"/>
                </a:solidFill>
                <a:latin typeface="Calibri"/>
              </a:rPr>
              <a:t>sets the limit; past it, the step overshoots and grows</a:t>
            </a:r>
          </a:p>
        </p:txBody>
      </p:sp>
      <p:sp>
        <p:nvSpPr>
          <p:cNvPr id="10" name="points"/>
          <p:cNvSpPr txBox="1"/>
          <p:nvPr/>
        </p:nvSpPr>
        <p:spPr>
          <a:xfrm>
            <a:off x="384048" y="4904054"/>
            <a:ext cx="41605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flat direction</a:t>
            </a:r>
            <a:r>
              <a:rPr sz="1800" b="0" i="0">
                <a:solidFill>
                  <a:srgbClr val="000000"/>
                </a:solidFill>
                <a:latin typeface="Calibri"/>
              </a:rPr>
              <a:t>: </a:t>
            </a:r>
            <a:r>
              <a:rPr sz="1800" b="0" i="0">
                <a:solidFill>
                  <a:srgbClr val="000000"/>
                </a:solidFill>
                <a:latin typeface="Calibri"/>
              </a:rPr>
              <a:t>crawls; κ sets the pace, 87 steps for a millionfold at κ = 25</a:t>
            </a:r>
          </a:p>
        </p:txBody>
      </p:sp>
      <p:pic>
        <p:nvPicPr>
          <p:cNvPr id="11" name="picture" descr="tut_gd.png"/>
          <p:cNvPicPr>
            <a:picLocks noChangeAspect="1"/>
          </p:cNvPicPr>
          <p:nvPr/>
        </p:nvPicPr>
        <p:blipFill>
          <a:blip r:embed="rId6"/>
          <a:stretch>
            <a:fillRect/>
          </a:stretch>
        </p:blipFill>
        <p:spPr>
          <a:xfrm>
            <a:off x="4754880" y="2731581"/>
            <a:ext cx="7223760" cy="2382389"/>
          </a:xfrm>
          <a:prstGeom prst="rect">
            <a:avLst/>
          </a:prstGeom>
        </p:spPr>
      </p:pic>
      <p:sp>
        <p:nvSpPr>
          <p:cNvPr id="12" name="description"/>
          <p:cNvSpPr txBox="1"/>
          <p:nvPr/>
        </p:nvSpPr>
        <p:spPr>
          <a:xfrm>
            <a:off x="4617720" y="5159690"/>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2: gradient descent on ½(θ₁² + 25θ₂²), and each coordinate's factor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Stochastic gradients: the noise floor</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each step's gradient comes from one batch, and is noisy</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a step that decays, and a large enough batch</a:t>
            </a:r>
          </a:p>
        </p:txBody>
      </p:sp>
      <p:sp>
        <p:nvSpPr>
          <p:cNvPr id="5" name="points"/>
          <p:cNvSpPr txBox="1"/>
          <p:nvPr/>
        </p:nvSpPr>
        <p:spPr>
          <a:xfrm>
            <a:off x="384048" y="2176272"/>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noisy gradient</a:t>
            </a:r>
            <a:r>
              <a:rPr sz="1800" b="0" i="0">
                <a:solidFill>
                  <a:srgbClr val="000000"/>
                </a:solidFill>
                <a:latin typeface="Calibri"/>
              </a:rPr>
              <a:t>: </a:t>
            </a:r>
            <a:r>
              <a:rPr sz="1800" b="0" i="0">
                <a:solidFill>
                  <a:srgbClr val="000000"/>
                </a:solidFill>
                <a:latin typeface="Calibri"/>
              </a:rPr>
              <a:t>right on average; its variance falls as 1/B</a:t>
            </a:r>
          </a:p>
        </p:txBody>
      </p:sp>
      <p:pic>
        <p:nvPicPr>
          <p:cNvPr id="6" name="eq floor" descr="floor.png"/>
          <p:cNvPicPr>
            <a:picLocks noChangeAspect="1"/>
          </p:cNvPicPr>
          <p:nvPr/>
        </p:nvPicPr>
        <p:blipFill>
          <a:blip r:embed="rId3"/>
          <a:stretch>
            <a:fillRect/>
          </a:stretch>
        </p:blipFill>
        <p:spPr>
          <a:xfrm>
            <a:off x="612647" y="2953512"/>
            <a:ext cx="1472184" cy="544068"/>
          </a:xfrm>
          <a:prstGeom prst="rect">
            <a:avLst/>
          </a:prstGeom>
        </p:spPr>
      </p:pic>
      <p:sp>
        <p:nvSpPr>
          <p:cNvPr id="7" name="points"/>
          <p:cNvSpPr txBox="1"/>
          <p:nvPr/>
        </p:nvSpPr>
        <p:spPr>
          <a:xfrm>
            <a:off x="384048" y="3561588"/>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a fixed step stops at a floor</a:t>
            </a:r>
            <a:r>
              <a:rPr sz="1800" b="0" i="0">
                <a:solidFill>
                  <a:srgbClr val="000000"/>
                </a:solidFill>
                <a:latin typeface="Calibri"/>
              </a:rPr>
              <a:t>: </a:t>
            </a:r>
            <a:r>
              <a:rPr sz="1800" b="0" i="0">
                <a:solidFill>
                  <a:srgbClr val="000000"/>
                </a:solidFill>
                <a:latin typeface="Calibri"/>
              </a:rPr>
              <a:t>a smaller step or a larger batch lowers it equally</a:t>
            </a:r>
          </a:p>
        </p:txBody>
      </p:sp>
      <p:sp>
        <p:nvSpPr>
          <p:cNvPr id="8" name="points"/>
          <p:cNvSpPr txBox="1"/>
          <p:nvPr/>
        </p:nvSpPr>
        <p:spPr>
          <a:xfrm>
            <a:off x="384048" y="4293108"/>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decay the step</a:t>
            </a:r>
            <a:r>
              <a:rPr sz="1800" b="0" i="0">
                <a:solidFill>
                  <a:srgbClr val="000000"/>
                </a:solidFill>
                <a:latin typeface="Calibri"/>
              </a:rPr>
              <a:t>: </a:t>
            </a:r>
            <a:r>
              <a:rPr sz="1800" b="0" i="0">
                <a:solidFill>
                  <a:srgbClr val="000000"/>
                </a:solidFill>
                <a:latin typeface="Calibri"/>
              </a:rPr>
              <a:t>a decaying η reaches the minimum; on our base model, the noise scale is about 18,000 tokens</a:t>
            </a:r>
          </a:p>
        </p:txBody>
      </p:sp>
      <p:pic>
        <p:nvPicPr>
          <p:cNvPr id="9" name="picture" descr="tut_noise.png"/>
          <p:cNvPicPr>
            <a:picLocks noChangeAspect="1"/>
          </p:cNvPicPr>
          <p:nvPr/>
        </p:nvPicPr>
        <p:blipFill>
          <a:blip r:embed="rId4"/>
          <a:stretch>
            <a:fillRect/>
          </a:stretch>
        </p:blipFill>
        <p:spPr>
          <a:xfrm>
            <a:off x="4754880" y="2821990"/>
            <a:ext cx="7223760" cy="2503323"/>
          </a:xfrm>
          <a:prstGeom prst="rect">
            <a:avLst/>
          </a:prstGeom>
        </p:spPr>
      </p:pic>
      <p:sp>
        <p:nvSpPr>
          <p:cNvPr id="10" name="description"/>
          <p:cNvSpPr txBox="1"/>
          <p:nvPr/>
        </p:nvSpPr>
        <p:spPr>
          <a:xfrm>
            <a:off x="4617720" y="5371033"/>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3: (a) the noise floor; (b) two batches' gradients on our base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Momentum and Nesterov's method</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gradient descent zig-zags across steep directions and crawls along flat ones</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remember recent gradients</a:t>
            </a:r>
          </a:p>
        </p:txBody>
      </p:sp>
      <p:pic>
        <p:nvPicPr>
          <p:cNvPr id="5" name="eq momentum" descr="momentum.png"/>
          <p:cNvPicPr>
            <a:picLocks noChangeAspect="1"/>
          </p:cNvPicPr>
          <p:nvPr/>
        </p:nvPicPr>
        <p:blipFill>
          <a:blip r:embed="rId3"/>
          <a:stretch>
            <a:fillRect/>
          </a:stretch>
        </p:blipFill>
        <p:spPr>
          <a:xfrm>
            <a:off x="612647" y="2221992"/>
            <a:ext cx="2905506" cy="288036"/>
          </a:xfrm>
          <a:prstGeom prst="rect">
            <a:avLst/>
          </a:prstGeom>
        </p:spPr>
      </p:pic>
      <p:sp>
        <p:nvSpPr>
          <p:cNvPr id="6" name="points"/>
          <p:cNvSpPr txBox="1"/>
          <p:nvPr/>
        </p:nvSpPr>
        <p:spPr>
          <a:xfrm>
            <a:off x="384048" y="2574036"/>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momentum</a:t>
            </a:r>
            <a:r>
              <a:rPr sz="1800" b="0" i="0">
                <a:solidFill>
                  <a:srgbClr val="000000"/>
                </a:solidFill>
                <a:latin typeface="Calibri"/>
              </a:rPr>
              <a:t>: </a:t>
            </a:r>
            <a:r>
              <a:rPr sz="1800" b="0" i="0">
                <a:solidFill>
                  <a:srgbClr val="000000"/>
                </a:solidFill>
                <a:latin typeface="Calibri"/>
              </a:rPr>
              <a:t>a running sum of gradients; the zig-zags cancel, steady pulls add up</a:t>
            </a:r>
          </a:p>
        </p:txBody>
      </p:sp>
      <p:sp>
        <p:nvSpPr>
          <p:cNvPr id="7" name="points"/>
          <p:cNvSpPr txBox="1"/>
          <p:nvPr/>
        </p:nvSpPr>
        <p:spPr>
          <a:xfrm>
            <a:off x="384048" y="3305556"/>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κ becomes √κ</a:t>
            </a:r>
            <a:r>
              <a:rPr sz="1800" b="0" i="0">
                <a:solidFill>
                  <a:srgbClr val="000000"/>
                </a:solidFill>
                <a:latin typeface="Calibri"/>
              </a:rPr>
              <a:t>: </a:t>
            </a:r>
            <a:r>
              <a:rPr sz="1800" b="0" i="0">
                <a:solidFill>
                  <a:srgbClr val="000000"/>
                </a:solidFill>
                <a:latin typeface="Calibri"/>
              </a:rPr>
              <a:t>a millionfold in 26 steps instead of 87</a:t>
            </a:r>
          </a:p>
        </p:txBody>
      </p:sp>
      <p:sp>
        <p:nvSpPr>
          <p:cNvPr id="8" name="points"/>
          <p:cNvSpPr txBox="1"/>
          <p:nvPr/>
        </p:nvSpPr>
        <p:spPr>
          <a:xfrm>
            <a:off x="384048" y="4037076"/>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Nesterov's look-ahead</a:t>
            </a:r>
            <a:r>
              <a:rPr sz="1800" b="0" i="0">
                <a:solidFill>
                  <a:srgbClr val="000000"/>
                </a:solidFill>
                <a:latin typeface="Calibri"/>
              </a:rPr>
              <a:t>: </a:t>
            </a:r>
            <a:r>
              <a:rPr sz="1800" b="0" i="0">
                <a:solidFill>
                  <a:srgbClr val="000000"/>
                </a:solidFill>
                <a:latin typeface="Calibri"/>
              </a:rPr>
              <a:t>with β = 0.9 the ball overshoots; the gradient ahead brakes it</a:t>
            </a:r>
          </a:p>
        </p:txBody>
      </p:sp>
      <p:pic>
        <p:nvPicPr>
          <p:cNvPr id="9" name="picture" descr="tut_momentum.png"/>
          <p:cNvPicPr>
            <a:picLocks noChangeAspect="1"/>
          </p:cNvPicPr>
          <p:nvPr/>
        </p:nvPicPr>
        <p:blipFill>
          <a:blip r:embed="rId4"/>
          <a:stretch>
            <a:fillRect/>
          </a:stretch>
        </p:blipFill>
        <p:spPr>
          <a:xfrm>
            <a:off x="4754880" y="2260822"/>
            <a:ext cx="7223760" cy="3625658"/>
          </a:xfrm>
          <a:prstGeom prst="rect">
            <a:avLst/>
          </a:prstGeom>
        </p:spPr>
      </p:pic>
      <p:sp>
        <p:nvSpPr>
          <p:cNvPr id="10" name="description"/>
          <p:cNvSpPr txBox="1"/>
          <p:nvPr/>
        </p:nvSpPr>
        <p:spPr>
          <a:xfrm>
            <a:off x="4617720" y="5932200"/>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4: gradient descent, momentum, and Nesterov on the bowl of Figure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step size for each parameter: AdaGrad and RMSProp</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one step size for gradients that differ in size by orders of magnitude</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divide each gradient by its own typical size</a:t>
            </a:r>
          </a:p>
        </p:txBody>
      </p:sp>
      <p:sp>
        <p:nvSpPr>
          <p:cNvPr id="5" name="points"/>
          <p:cNvSpPr txBox="1"/>
          <p:nvPr/>
        </p:nvSpPr>
        <p:spPr>
          <a:xfrm>
            <a:off x="384048" y="2176272"/>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AdaGrad (2011)</a:t>
            </a:r>
            <a:r>
              <a:rPr sz="1800" b="0" i="0">
                <a:solidFill>
                  <a:srgbClr val="000000"/>
                </a:solidFill>
                <a:latin typeface="Calibri"/>
              </a:rPr>
              <a:t>: </a:t>
            </a:r>
            <a:r>
              <a:rPr sz="1800" b="0" i="0">
                <a:solidFill>
                  <a:srgbClr val="000000"/>
                </a:solidFill>
                <a:latin typeface="Calibri"/>
              </a:rPr>
              <a:t>divide by the root of all past squares; the steps shrink forever</a:t>
            </a:r>
          </a:p>
        </p:txBody>
      </p:sp>
      <p:pic>
        <p:nvPicPr>
          <p:cNvPr id="6" name="eq rmsprop" descr="rmsprop.png"/>
          <p:cNvPicPr>
            <a:picLocks noChangeAspect="1"/>
          </p:cNvPicPr>
          <p:nvPr/>
        </p:nvPicPr>
        <p:blipFill>
          <a:blip r:embed="rId3"/>
          <a:stretch>
            <a:fillRect/>
          </a:stretch>
        </p:blipFill>
        <p:spPr>
          <a:xfrm>
            <a:off x="612647" y="2953512"/>
            <a:ext cx="3840480" cy="536405"/>
          </a:xfrm>
          <a:prstGeom prst="rect">
            <a:avLst/>
          </a:prstGeom>
        </p:spPr>
      </p:pic>
      <p:sp>
        <p:nvSpPr>
          <p:cNvPr id="7" name="points"/>
          <p:cNvSpPr txBox="1"/>
          <p:nvPr/>
        </p:nvSpPr>
        <p:spPr>
          <a:xfrm>
            <a:off x="384048" y="3553925"/>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RMSProp (2012)</a:t>
            </a:r>
            <a:r>
              <a:rPr sz="1800" b="0" i="0">
                <a:solidFill>
                  <a:srgbClr val="000000"/>
                </a:solidFill>
                <a:latin typeface="Calibri"/>
              </a:rPr>
              <a:t>: </a:t>
            </a:r>
            <a:r>
              <a:rPr sz="1800" b="0" i="0">
                <a:solidFill>
                  <a:srgbClr val="000000"/>
                </a:solidFill>
                <a:latin typeface="Calibri"/>
              </a:rPr>
              <a:t>a moving average of the squares; the step stays near η</a:t>
            </a:r>
          </a:p>
        </p:txBody>
      </p:sp>
      <p:sp>
        <p:nvSpPr>
          <p:cNvPr id="8" name="points"/>
          <p:cNvSpPr txBox="1"/>
          <p:nvPr/>
        </p:nvSpPr>
        <p:spPr>
          <a:xfrm>
            <a:off x="384048" y="4285445"/>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what still fails</a:t>
            </a:r>
            <a:r>
              <a:rPr sz="1800" b="0" i="0">
                <a:solidFill>
                  <a:srgbClr val="000000"/>
                </a:solidFill>
                <a:latin typeface="Calibri"/>
              </a:rPr>
              <a:t>: </a:t>
            </a:r>
            <a:r>
              <a:rPr sz="1800" b="0" i="0">
                <a:solidFill>
                  <a:srgbClr val="000000"/>
                </a:solidFill>
                <a:latin typeface="Calibri"/>
              </a:rPr>
              <a:t>the first steps are too large, and each follows one batch's noise</a:t>
            </a:r>
          </a:p>
        </p:txBody>
      </p:sp>
      <p:pic>
        <p:nvPicPr>
          <p:cNvPr id="9" name="picture" descr="tut_steps_a.png"/>
          <p:cNvPicPr>
            <a:picLocks noChangeAspect="1"/>
          </p:cNvPicPr>
          <p:nvPr/>
        </p:nvPicPr>
        <p:blipFill>
          <a:blip r:embed="rId4"/>
          <a:stretch>
            <a:fillRect/>
          </a:stretch>
        </p:blipFill>
        <p:spPr>
          <a:xfrm>
            <a:off x="5292701" y="2189988"/>
            <a:ext cx="6148116" cy="3767328"/>
          </a:xfrm>
          <a:prstGeom prst="rect">
            <a:avLst/>
          </a:prstGeom>
        </p:spPr>
      </p:pic>
      <p:sp>
        <p:nvSpPr>
          <p:cNvPr id="10" name="description"/>
          <p:cNvSpPr txBox="1"/>
          <p:nvPr/>
        </p:nvSpPr>
        <p:spPr>
          <a:xfrm>
            <a:off x="4617720" y="600303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6a: step sizes, in units of 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Adam</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RMSProp's first steps are too large, and each follows one batch's noise</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average the gradients too, and correct both averages</a:t>
            </a:r>
          </a:p>
        </p:txBody>
      </p:sp>
      <p:pic>
        <p:nvPicPr>
          <p:cNvPr id="5" name="eq adam" descr="adam.png"/>
          <p:cNvPicPr>
            <a:picLocks noChangeAspect="1"/>
          </p:cNvPicPr>
          <p:nvPr/>
        </p:nvPicPr>
        <p:blipFill>
          <a:blip r:embed="rId3"/>
          <a:stretch>
            <a:fillRect/>
          </a:stretch>
        </p:blipFill>
        <p:spPr>
          <a:xfrm>
            <a:off x="612647" y="2221992"/>
            <a:ext cx="4905756" cy="1447038"/>
          </a:xfrm>
          <a:prstGeom prst="rect">
            <a:avLst/>
          </a:prstGeom>
        </p:spPr>
      </p:pic>
      <p:sp>
        <p:nvSpPr>
          <p:cNvPr id="6" name="points"/>
          <p:cNvSpPr txBox="1"/>
          <p:nvPr/>
        </p:nvSpPr>
        <p:spPr>
          <a:xfrm>
            <a:off x="384048" y="3733038"/>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Adam (2015)</a:t>
            </a:r>
            <a:r>
              <a:rPr sz="1800" b="0" i="0">
                <a:solidFill>
                  <a:srgbClr val="000000"/>
                </a:solidFill>
                <a:latin typeface="Calibri"/>
              </a:rPr>
              <a:t>: </a:t>
            </a:r>
            <a:r>
              <a:rPr sz="1800" b="0" i="0">
                <a:solidFill>
                  <a:srgbClr val="000000"/>
                </a:solidFill>
                <a:latin typeface="Calibri"/>
              </a:rPr>
              <a:t>momentum's average over RMSProp's scale; a step of about η in every coordinate</a:t>
            </a:r>
          </a:p>
        </p:txBody>
      </p:sp>
      <p:sp>
        <p:nvSpPr>
          <p:cNvPr id="7" name="points"/>
          <p:cNvSpPr txBox="1"/>
          <p:nvPr/>
        </p:nvSpPr>
        <p:spPr>
          <a:xfrm>
            <a:off x="384048" y="4464558"/>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its settings</a:t>
            </a:r>
            <a:r>
              <a:rPr sz="1800" b="0" i="0">
                <a:solidFill>
                  <a:srgbClr val="000000"/>
                </a:solidFill>
                <a:latin typeface="Calibri"/>
              </a:rPr>
              <a:t>: </a:t>
            </a:r>
            <a:r>
              <a:rPr sz="1800" b="0" i="0">
                <a:solidFill>
                  <a:srgbClr val="000000"/>
                </a:solidFill>
                <a:latin typeface="Calibri"/>
              </a:rPr>
              <a:t>β</a:t>
            </a:r>
            <a:r>
              <a:rPr sz="1800" b="0" i="0" baseline="-25000">
                <a:solidFill>
                  <a:srgbClr val="000000"/>
                </a:solidFill>
                <a:latin typeface="Calibri"/>
              </a:rPr>
              <a:t>1</a:t>
            </a:r>
            <a:r>
              <a:rPr sz="1800" b="0" i="0">
                <a:solidFill>
                  <a:srgbClr val="000000"/>
                </a:solidFill>
                <a:latin typeface="Calibri"/>
              </a:rPr>
              <a:t> = 0.9 and β</a:t>
            </a:r>
            <a:r>
              <a:rPr sz="1800" b="0" i="0" baseline="-25000">
                <a:solidFill>
                  <a:srgbClr val="000000"/>
                </a:solidFill>
                <a:latin typeface="Calibri"/>
              </a:rPr>
              <a:t>2</a:t>
            </a:r>
            <a:r>
              <a:rPr sz="1800" b="0" i="0">
                <a:solidFill>
                  <a:srgbClr val="000000"/>
                </a:solidFill>
                <a:latin typeface="Calibri"/>
              </a:rPr>
              <a:t> = 0.95 average about 10 and 20 steps; ε avoids dividing by zero</a:t>
            </a:r>
          </a:p>
        </p:txBody>
      </p:sp>
      <p:sp>
        <p:nvSpPr>
          <p:cNvPr id="8" name="points"/>
          <p:cNvSpPr txBox="1"/>
          <p:nvPr/>
        </p:nvSpPr>
        <p:spPr>
          <a:xfrm>
            <a:off x="384048" y="5196078"/>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β</a:t>
            </a:r>
            <a:r>
              <a:rPr sz="1800" b="1" i="0" baseline="-25000">
                <a:solidFill>
                  <a:srgbClr val="FF0000"/>
                </a:solidFill>
                <a:latin typeface="Calibri"/>
              </a:rPr>
              <a:t>2</a:t>
            </a:r>
            <a:r>
              <a:rPr sz="1800" b="1" i="0">
                <a:solidFill>
                  <a:srgbClr val="FF0000"/>
                </a:solidFill>
                <a:latin typeface="Calibri"/>
              </a:rPr>
              <a:t> = 0.999 remembers too long</a:t>
            </a:r>
            <a:r>
              <a:rPr sz="1800" b="0" i="0">
                <a:solidFill>
                  <a:srgbClr val="000000"/>
                </a:solidFill>
                <a:latin typeface="Calibri"/>
              </a:rPr>
              <a:t>: </a:t>
            </a:r>
            <a:r>
              <a:rPr sz="1800" b="0" i="0">
                <a:solidFill>
                  <a:srgbClr val="000000"/>
                </a:solidFill>
                <a:latin typeface="Calibri"/>
              </a:rPr>
              <a:t>when the gradients grow, it overshoots for hundreds of steps</a:t>
            </a:r>
          </a:p>
        </p:txBody>
      </p:sp>
      <p:pic>
        <p:nvPicPr>
          <p:cNvPr id="9" name="picture" descr="tut_steps_a.png"/>
          <p:cNvPicPr>
            <a:picLocks noChangeAspect="1"/>
          </p:cNvPicPr>
          <p:nvPr/>
        </p:nvPicPr>
        <p:blipFill>
          <a:blip r:embed="rId4"/>
          <a:stretch>
            <a:fillRect/>
          </a:stretch>
        </p:blipFill>
        <p:spPr>
          <a:xfrm>
            <a:off x="6012180" y="2157802"/>
            <a:ext cx="5760720" cy="3529946"/>
          </a:xfrm>
          <a:prstGeom prst="rect">
            <a:avLst/>
          </a:prstGeom>
        </p:spPr>
      </p:pic>
      <p:sp>
        <p:nvSpPr>
          <p:cNvPr id="10" name="description"/>
          <p:cNvSpPr txBox="1"/>
          <p:nvPr/>
        </p:nvSpPr>
        <p:spPr>
          <a:xfrm>
            <a:off x="5875020" y="5733468"/>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6a: Adam (blue) steps about η from the start</a:t>
            </a:r>
          </a:p>
        </p:txBody>
      </p:sp>
      <p:pic>
        <p:nvPicPr>
          <p:cNvPr id="11" name="picture" descr="tut_steps_b.png"/>
          <p:cNvPicPr>
            <a:picLocks noChangeAspect="1"/>
          </p:cNvPicPr>
          <p:nvPr/>
        </p:nvPicPr>
        <p:blipFill>
          <a:blip r:embed="rId5"/>
          <a:stretch>
            <a:fillRect/>
          </a:stretch>
        </p:blipFill>
        <p:spPr>
          <a:xfrm>
            <a:off x="6012180" y="1994458"/>
            <a:ext cx="5760720" cy="3856635"/>
          </a:xfrm>
          <a:prstGeom prst="rect">
            <a:avLst/>
          </a:prstGeom>
        </p:spPr>
      </p:pic>
      <p:sp>
        <p:nvSpPr>
          <p:cNvPr id="12" name="description"/>
          <p:cNvSpPr txBox="1"/>
          <p:nvPr/>
        </p:nvSpPr>
        <p:spPr>
          <a:xfrm>
            <a:off x="5875020" y="5896813"/>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6b: the gradients grow a hundredfold at step 300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Why Adam, not momentum, for language models</a:t>
            </a:r>
          </a:p>
        </p:txBody>
      </p:sp>
      <p:sp>
        <p:nvSpPr>
          <p:cNvPr id="4" name="question and answer"/>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question</a:t>
            </a:r>
            <a:r>
              <a:rPr sz="1800" b="0" i="0">
                <a:solidFill>
                  <a:srgbClr val="000000"/>
                </a:solidFill>
                <a:latin typeface="Calibri"/>
              </a:rPr>
              <a:t>: </a:t>
            </a:r>
            <a:r>
              <a:rPr sz="1800" b="0" i="0">
                <a:solidFill>
                  <a:srgbClr val="000000"/>
                </a:solidFill>
                <a:latin typeface="Calibri"/>
              </a:rPr>
              <a:t>momentum can beat Adam on a bowl; why does Adam win on Transformers?</a:t>
            </a:r>
            <a:r>
              <a:rPr sz="1800" b="0" i="0">
                <a:solidFill>
                  <a:srgbClr val="000000"/>
                </a:solidFill>
                <a:latin typeface="Calibri"/>
              </a:rPr>
              <a:t>   →   </a:t>
            </a:r>
            <a:r>
              <a:rPr sz="1800" b="1" i="0">
                <a:solidFill>
                  <a:srgbClr val="00B050"/>
                </a:solidFill>
                <a:latin typeface="Calibri"/>
              </a:rPr>
              <a:t>the answer</a:t>
            </a:r>
            <a:r>
              <a:rPr sz="1800" b="0" i="0">
                <a:solidFill>
                  <a:srgbClr val="000000"/>
                </a:solidFill>
                <a:latin typeface="Calibri"/>
              </a:rPr>
              <a:t>: </a:t>
            </a:r>
            <a:r>
              <a:rPr sz="1800" b="0" i="0">
                <a:solidFill>
                  <a:srgbClr val="000000"/>
                </a:solidFill>
                <a:latin typeface="Calibri"/>
              </a:rPr>
              <a:t>their gradients differ in size by orders of magnitude</a:t>
            </a:r>
          </a:p>
        </p:txBody>
      </p:sp>
      <p:sp>
        <p:nvSpPr>
          <p:cNvPr id="5" name="points"/>
          <p:cNvSpPr txBox="1"/>
          <p:nvPr/>
        </p:nvSpPr>
        <p:spPr>
          <a:xfrm>
            <a:off x="384048" y="2176272"/>
            <a:ext cx="416052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our base model</a:t>
            </a:r>
            <a:r>
              <a:rPr sz="1800" b="0" i="0">
                <a:solidFill>
                  <a:srgbClr val="000000"/>
                </a:solidFill>
                <a:latin typeface="Calibri"/>
              </a:rPr>
              <a:t>: </a:t>
            </a:r>
            <a:r>
              <a:rPr sz="1800" b="0" i="0">
                <a:solidFill>
                  <a:srgbClr val="000000"/>
                </a:solidFill>
                <a:latin typeface="Calibri"/>
              </a:rPr>
              <a:t>gradient sizes from 7.7 × 10⁻⁸ (rare tokens' rows) to 1.5 × 10⁻³; one step size cannot fit them all</a:t>
            </a:r>
          </a:p>
        </p:txBody>
      </p:sp>
      <p:sp>
        <p:nvSpPr>
          <p:cNvPr id="6" name="points"/>
          <p:cNvSpPr txBox="1"/>
          <p:nvPr/>
        </p:nvSpPr>
        <p:spPr>
          <a:xfrm>
            <a:off x="384048" y="3227832"/>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rare words</a:t>
            </a:r>
            <a:r>
              <a:rPr sz="1800" b="0" i="0">
                <a:solidFill>
                  <a:srgbClr val="000000"/>
                </a:solidFill>
                <a:latin typeface="Calibri"/>
              </a:rPr>
              <a:t>: </a:t>
            </a:r>
            <a:r>
              <a:rPr sz="1800" b="0" i="0">
                <a:solidFill>
                  <a:srgbClr val="000000"/>
                </a:solidFill>
                <a:latin typeface="Calibri"/>
              </a:rPr>
              <a:t>gradient descent learns rare classes slowly; Adam does not</a:t>
            </a:r>
          </a:p>
        </p:txBody>
      </p:sp>
      <p:pic>
        <p:nvPicPr>
          <p:cNvPr id="7" name="picture" descr="gradscale.png"/>
          <p:cNvPicPr>
            <a:picLocks noChangeAspect="1"/>
          </p:cNvPicPr>
          <p:nvPr/>
        </p:nvPicPr>
        <p:blipFill>
          <a:blip r:embed="rId3"/>
          <a:stretch>
            <a:fillRect/>
          </a:stretch>
        </p:blipFill>
        <p:spPr>
          <a:xfrm>
            <a:off x="4754880" y="2191700"/>
            <a:ext cx="7223760" cy="3763903"/>
          </a:xfrm>
          <a:prstGeom prst="rect">
            <a:avLst/>
          </a:prstGeom>
        </p:spPr>
      </p:pic>
      <p:sp>
        <p:nvSpPr>
          <p:cNvPr id="8" name="description"/>
          <p:cNvSpPr txBox="1"/>
          <p:nvPr/>
        </p:nvSpPr>
        <p:spPr>
          <a:xfrm>
            <a:off x="4617720" y="6001323"/>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21: gradient sizes in our base model, by kind of parameter</a:t>
            </a:r>
          </a:p>
        </p:txBody>
      </p:sp>
      <p:pic>
        <p:nvPicPr>
          <p:cNvPr id="9" name="picture" descr="tut_scales_b.png"/>
          <p:cNvPicPr>
            <a:picLocks noChangeAspect="1"/>
          </p:cNvPicPr>
          <p:nvPr/>
        </p:nvPicPr>
        <p:blipFill>
          <a:blip r:embed="rId4"/>
          <a:stretch>
            <a:fillRect/>
          </a:stretch>
        </p:blipFill>
        <p:spPr>
          <a:xfrm>
            <a:off x="5664389" y="2189988"/>
            <a:ext cx="5404740" cy="3767328"/>
          </a:xfrm>
          <a:prstGeom prst="rect">
            <a:avLst/>
          </a:prstGeom>
        </p:spPr>
      </p:pic>
      <p:sp>
        <p:nvSpPr>
          <p:cNvPr id="10" name="description"/>
          <p:cNvSpPr txBox="1"/>
          <p:nvPr/>
        </p:nvSpPr>
        <p:spPr>
          <a:xfrm>
            <a:off x="4617720" y="600303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5b: rare classes, gradient descent against Adam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step for each matrix</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matrix's gradient pushes hard along a few directions and barely along the rest</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a step of the same size along every direction</a:t>
            </a:r>
          </a:p>
        </p:txBody>
      </p:sp>
      <p:pic>
        <p:nvPicPr>
          <p:cNvPr id="5" name="eq svd" descr="svd.png"/>
          <p:cNvPicPr>
            <a:picLocks noChangeAspect="1"/>
          </p:cNvPicPr>
          <p:nvPr/>
        </p:nvPicPr>
        <p:blipFill>
          <a:blip r:embed="rId3"/>
          <a:stretch>
            <a:fillRect/>
          </a:stretch>
        </p:blipFill>
        <p:spPr>
          <a:xfrm>
            <a:off x="612647" y="2221992"/>
            <a:ext cx="2551176" cy="569214"/>
          </a:xfrm>
          <a:prstGeom prst="rect">
            <a:avLst/>
          </a:prstGeom>
        </p:spPr>
      </p:pic>
      <p:sp>
        <p:nvSpPr>
          <p:cNvPr id="6" name="points"/>
          <p:cNvSpPr txBox="1"/>
          <p:nvPr/>
        </p:nvSpPr>
        <p:spPr>
          <a:xfrm>
            <a:off x="384048" y="2855214"/>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gradient's directions</a:t>
            </a:r>
            <a:r>
              <a:rPr sz="1800" b="0" i="0">
                <a:solidFill>
                  <a:srgbClr val="000000"/>
                </a:solidFill>
                <a:latin typeface="Calibri"/>
              </a:rPr>
              <a:t>: </a:t>
            </a:r>
            <a:r>
              <a:rPr sz="1800" b="0" i="0">
                <a:solidFill>
                  <a:srgbClr val="000000"/>
                </a:solidFill>
                <a:latin typeface="Calibri"/>
              </a:rPr>
              <a:t>our query gradient's singular values span a factor of about 40,000</a:t>
            </a:r>
          </a:p>
        </p:txBody>
      </p:sp>
      <p:pic>
        <p:nvPicPr>
          <p:cNvPr id="7" name="eq twobytwo" descr="twobytwo.png"/>
          <p:cNvPicPr>
            <a:picLocks noChangeAspect="1"/>
          </p:cNvPicPr>
          <p:nvPr/>
        </p:nvPicPr>
        <p:blipFill>
          <a:blip r:embed="rId4"/>
          <a:stretch>
            <a:fillRect/>
          </a:stretch>
        </p:blipFill>
        <p:spPr>
          <a:xfrm>
            <a:off x="612647" y="3632454"/>
            <a:ext cx="4937760" cy="588125"/>
          </a:xfrm>
          <a:prstGeom prst="rect">
            <a:avLst/>
          </a:prstGeom>
        </p:spPr>
      </p:pic>
      <p:sp>
        <p:nvSpPr>
          <p:cNvPr id="8" name="points"/>
          <p:cNvSpPr txBox="1"/>
          <p:nvPr/>
        </p:nvSpPr>
        <p:spPr>
          <a:xfrm>
            <a:off x="384048" y="4284587"/>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Adam on a matrix</a:t>
            </a:r>
            <a:r>
              <a:rPr sz="1800" b="0" i="0">
                <a:solidFill>
                  <a:srgbClr val="000000"/>
                </a:solidFill>
                <a:latin typeface="Calibri"/>
              </a:rPr>
              <a:t>: </a:t>
            </a:r>
            <a:r>
              <a:rPr sz="1800" b="0" i="0">
                <a:solidFill>
                  <a:srgbClr val="000000"/>
                </a:solidFill>
                <a:latin typeface="Calibri"/>
              </a:rPr>
              <a:t>every entry moves by η, and the weaker direction is lost</a:t>
            </a:r>
          </a:p>
        </p:txBody>
      </p:sp>
      <p:pic>
        <p:nvPicPr>
          <p:cNvPr id="9" name="eq orth" descr="orth.png"/>
          <p:cNvPicPr>
            <a:picLocks noChangeAspect="1"/>
          </p:cNvPicPr>
          <p:nvPr/>
        </p:nvPicPr>
        <p:blipFill>
          <a:blip r:embed="rId5"/>
          <a:stretch>
            <a:fillRect/>
          </a:stretch>
        </p:blipFill>
        <p:spPr>
          <a:xfrm>
            <a:off x="612647" y="5061827"/>
            <a:ext cx="2848356" cy="269748"/>
          </a:xfrm>
          <a:prstGeom prst="rect">
            <a:avLst/>
          </a:prstGeom>
        </p:spPr>
      </p:pic>
      <p:sp>
        <p:nvSpPr>
          <p:cNvPr id="10" name="points"/>
          <p:cNvSpPr txBox="1"/>
          <p:nvPr/>
        </p:nvSpPr>
        <p:spPr>
          <a:xfrm>
            <a:off x="384048" y="5395583"/>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steepest in the spectral norm</a:t>
            </a:r>
            <a:r>
              <a:rPr sz="1800" b="0" i="0">
                <a:solidFill>
                  <a:srgbClr val="000000"/>
                </a:solidFill>
                <a:latin typeface="Calibri"/>
              </a:rPr>
              <a:t>: </a:t>
            </a:r>
            <a:r>
              <a:rPr sz="1800" b="0" i="0">
                <a:solidFill>
                  <a:srgbClr val="000000"/>
                </a:solidFill>
                <a:latin typeface="Calibri"/>
              </a:rPr>
              <a:t>UVᵀ, every singular value set to 1</a:t>
            </a:r>
          </a:p>
        </p:txBody>
      </p:sp>
      <p:pic>
        <p:nvPicPr>
          <p:cNvPr id="11" name="picture" descr="tut_muon_a.png"/>
          <p:cNvPicPr>
            <a:picLocks noChangeAspect="1"/>
          </p:cNvPicPr>
          <p:nvPr/>
        </p:nvPicPr>
        <p:blipFill>
          <a:blip r:embed="rId6"/>
          <a:stretch>
            <a:fillRect/>
          </a:stretch>
        </p:blipFill>
        <p:spPr>
          <a:xfrm>
            <a:off x="7491443" y="2185416"/>
            <a:ext cx="2802193" cy="3291840"/>
          </a:xfrm>
          <a:prstGeom prst="rect">
            <a:avLst/>
          </a:prstGeom>
        </p:spPr>
      </p:pic>
      <p:sp>
        <p:nvSpPr>
          <p:cNvPr id="12" name="description"/>
          <p:cNvSpPr txBox="1"/>
          <p:nvPr/>
        </p:nvSpPr>
        <p:spPr>
          <a:xfrm>
            <a:off x="6926579" y="5522976"/>
            <a:ext cx="39319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7a: two unit balls and their steepest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Muon</a:t>
            </a:r>
          </a:p>
        </p:txBody>
      </p:sp>
      <p:sp>
        <p:nvSpPr>
          <p:cNvPr id="4" name="points"/>
          <p:cNvSpPr txBox="1"/>
          <p:nvPr/>
        </p:nvSpPr>
        <p:spPr>
          <a:xfrm>
            <a:off x="384048" y="1463040"/>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Muon (2024)</a:t>
            </a:r>
            <a:r>
              <a:rPr sz="1800" b="0" i="0">
                <a:solidFill>
                  <a:srgbClr val="000000"/>
                </a:solidFill>
                <a:latin typeface="Calibri"/>
              </a:rPr>
              <a:t>: </a:t>
            </a:r>
            <a:r>
              <a:rPr sz="1800" b="0" i="0">
                <a:solidFill>
                  <a:srgbClr val="000000"/>
                </a:solidFill>
                <a:latin typeface="Calibri"/>
              </a:rPr>
              <a:t>the momentum's UVᵀ without an SVD, by five Newton–Schulz steps</a:t>
            </a:r>
          </a:p>
        </p:txBody>
      </p:sp>
      <p:sp>
        <p:nvSpPr>
          <p:cNvPr id="5" name="points"/>
          <p:cNvSpPr txBox="1"/>
          <p:nvPr/>
        </p:nvSpPr>
        <p:spPr>
          <a:xfrm>
            <a:off x="384048" y="2514600"/>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a quintic, not the cubic</a:t>
            </a:r>
            <a:r>
              <a:rPr sz="1800" b="0" i="0">
                <a:solidFill>
                  <a:srgbClr val="000000"/>
                </a:solidFill>
                <a:latin typeface="Calibri"/>
              </a:rPr>
              <a:t>: </a:t>
            </a:r>
            <a:r>
              <a:rPr sz="1800" b="0" i="0">
                <a:solidFill>
                  <a:srgbClr val="000000"/>
                </a:solidFill>
                <a:latin typeface="Calibri"/>
              </a:rPr>
              <a:t>it lifts small singular values about 480-fold, into 0.7 to 1.3</a:t>
            </a:r>
          </a:p>
        </p:txBody>
      </p:sp>
      <p:sp>
        <p:nvSpPr>
          <p:cNvPr id="6" name="points"/>
          <p:cNvSpPr txBox="1"/>
          <p:nvPr/>
        </p:nvSpPr>
        <p:spPr>
          <a:xfrm>
            <a:off x="384048" y="3566160"/>
            <a:ext cx="41605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our query gradient</a:t>
            </a:r>
            <a:r>
              <a:rPr sz="1800" b="0" i="0">
                <a:solidFill>
                  <a:srgbClr val="000000"/>
                </a:solidFill>
                <a:latin typeface="Calibri"/>
              </a:rPr>
              <a:t>: </a:t>
            </a:r>
            <a:r>
              <a:rPr sz="1800" b="0" i="0">
                <a:solidFill>
                  <a:srgbClr val="000000"/>
                </a:solidFill>
                <a:latin typeface="Calibri"/>
              </a:rPr>
              <a:t>155 of 192 singular values in that band after five steps</a:t>
            </a:r>
          </a:p>
        </p:txBody>
      </p:sp>
      <p:sp>
        <p:nvSpPr>
          <p:cNvPr id="7" name="points"/>
          <p:cNvSpPr txBox="1"/>
          <p:nvPr/>
        </p:nvSpPr>
        <p:spPr>
          <a:xfrm>
            <a:off x="384048" y="4334256"/>
            <a:ext cx="416052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the rest keeps AdamW</a:t>
            </a:r>
            <a:r>
              <a:rPr sz="1800" b="0" i="0">
                <a:solidFill>
                  <a:srgbClr val="000000"/>
                </a:solidFill>
                <a:latin typeface="Calibri"/>
              </a:rPr>
              <a:t>: </a:t>
            </a:r>
            <a:r>
              <a:rPr sz="1800" b="0" i="0">
                <a:solidFill>
                  <a:srgbClr val="000000"/>
                </a:solidFill>
                <a:latin typeface="Calibri"/>
              </a:rPr>
              <a:t>the token table, the output layer, and the vectors</a:t>
            </a:r>
          </a:p>
        </p:txBody>
      </p:sp>
      <p:pic>
        <p:nvPicPr>
          <p:cNvPr id="8" name="picture" descr="tut_muon_b.png"/>
          <p:cNvPicPr>
            <a:picLocks noChangeAspect="1"/>
          </p:cNvPicPr>
          <p:nvPr/>
        </p:nvPicPr>
        <p:blipFill>
          <a:blip r:embed="rId3"/>
          <a:stretch>
            <a:fillRect/>
          </a:stretch>
        </p:blipFill>
        <p:spPr>
          <a:xfrm>
            <a:off x="6298745" y="1545336"/>
            <a:ext cx="4136029" cy="4206240"/>
          </a:xfrm>
          <a:prstGeom prst="rect">
            <a:avLst/>
          </a:prstGeom>
        </p:spPr>
      </p:pic>
      <p:sp>
        <p:nvSpPr>
          <p:cNvPr id="9" name="description"/>
          <p:cNvSpPr txBox="1"/>
          <p:nvPr/>
        </p:nvSpPr>
        <p:spPr>
          <a:xfrm>
            <a:off x="4617720" y="579729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7b: the Newton–Schulz map</a:t>
            </a:r>
          </a:p>
        </p:txBody>
      </p:sp>
      <p:pic>
        <p:nvPicPr>
          <p:cNvPr id="10" name="picture" descr="tut_muon_c.png"/>
          <p:cNvPicPr>
            <a:picLocks noChangeAspect="1"/>
          </p:cNvPicPr>
          <p:nvPr/>
        </p:nvPicPr>
        <p:blipFill>
          <a:blip r:embed="rId4"/>
          <a:stretch>
            <a:fillRect/>
          </a:stretch>
        </p:blipFill>
        <p:spPr>
          <a:xfrm>
            <a:off x="6279596" y="1545336"/>
            <a:ext cx="4174326" cy="4206240"/>
          </a:xfrm>
          <a:prstGeom prst="rect">
            <a:avLst/>
          </a:prstGeom>
        </p:spPr>
      </p:pic>
      <p:sp>
        <p:nvSpPr>
          <p:cNvPr id="11" name="description"/>
          <p:cNvSpPr txBox="1"/>
          <p:nvPr/>
        </p:nvSpPr>
        <p:spPr>
          <a:xfrm>
            <a:off x="4617720" y="579729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7c: a query gradient's singular values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model, five optimizers</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our own experiment</a:t>
            </a:r>
            <a:r>
              <a:rPr sz="1800" b="0" i="0">
                <a:solidFill>
                  <a:srgbClr val="000000"/>
                </a:solidFill>
                <a:latin typeface="Calibri"/>
              </a:rPr>
              <a:t>: </a:t>
            </a:r>
            <a:r>
              <a:rPr sz="1800" b="0" i="0">
                <a:solidFill>
                  <a:srgbClr val="000000"/>
                </a:solidFill>
                <a:latin typeface="Calibri"/>
              </a:rPr>
              <a:t>Lecture 4's shape (4 blocks, d = 128), our 4,096 tokens; 800 steps of 16 × 256 tokens; each optimizer at several peak rates</a:t>
            </a:r>
          </a:p>
        </p:txBody>
      </p:sp>
      <p:sp>
        <p:nvSpPr>
          <p:cNvPr id="5" name="points"/>
          <p:cNvSpPr txBox="1"/>
          <p:nvPr/>
        </p:nvSpPr>
        <p:spPr>
          <a:xfrm>
            <a:off x="384048" y="2450592"/>
            <a:ext cx="525780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each fix lowers the loss</a:t>
            </a:r>
            <a:r>
              <a:rPr sz="1800" b="0" i="0">
                <a:solidFill>
                  <a:srgbClr val="000000"/>
                </a:solidFill>
                <a:latin typeface="Calibri"/>
              </a:rPr>
              <a:t>: </a:t>
            </a:r>
            <a:r>
              <a:rPr sz="1800" b="0" i="0">
                <a:solidFill>
                  <a:srgbClr val="000000"/>
                </a:solidFill>
                <a:latin typeface="Calibri"/>
              </a:rPr>
              <a:t>Muon 0.3 nats below Adam</a:t>
            </a:r>
          </a:p>
        </p:txBody>
      </p:sp>
      <p:sp>
        <p:nvSpPr>
          <p:cNvPr id="6" name="points"/>
          <p:cNvSpPr txBox="1"/>
          <p:nvPr/>
        </p:nvSpPr>
        <p:spPr>
          <a:xfrm>
            <a:off x="384048" y="2916936"/>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best rates a hundredfold apart</a:t>
            </a:r>
            <a:r>
              <a:rPr sz="1800" b="0" i="0">
                <a:solidFill>
                  <a:srgbClr val="000000"/>
                </a:solidFill>
                <a:latin typeface="Calibri"/>
              </a:rPr>
              <a:t>: </a:t>
            </a:r>
            <a:r>
              <a:rPr sz="1800" b="0" i="0">
                <a:solidFill>
                  <a:srgbClr val="000000"/>
                </a:solidFill>
                <a:latin typeface="Calibri"/>
              </a:rPr>
              <a:t>1 for SGD, 0.01 for Adam; Adam's step is about η</a:t>
            </a:r>
          </a:p>
        </p:txBody>
      </p:sp>
      <p:sp>
        <p:nvSpPr>
          <p:cNvPr id="7" name="points"/>
          <p:cNvSpPr txBox="1"/>
          <p:nvPr/>
        </p:nvSpPr>
        <p:spPr>
          <a:xfrm>
            <a:off x="384048" y="366674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Muon</a:t>
            </a:r>
            <a:r>
              <a:rPr sz="1800" b="0" i="0">
                <a:solidFill>
                  <a:srgbClr val="000000"/>
                </a:solidFill>
                <a:latin typeface="Calibri"/>
              </a:rPr>
              <a:t>: </a:t>
            </a:r>
            <a:r>
              <a:rPr sz="1800" b="0" i="0">
                <a:solidFill>
                  <a:srgbClr val="000000"/>
                </a:solidFill>
                <a:latin typeface="Calibri"/>
              </a:rPr>
              <a:t>it separates from Adam within about 100 steps, and is the least sensitive to its rate</a:t>
            </a:r>
          </a:p>
        </p:txBody>
      </p:sp>
      <p:pic>
        <p:nvPicPr>
          <p:cNvPr id="8" name="picture" descr="sweep_a.png"/>
          <p:cNvPicPr>
            <a:picLocks noChangeAspect="1"/>
          </p:cNvPicPr>
          <p:nvPr/>
        </p:nvPicPr>
        <p:blipFill>
          <a:blip r:embed="rId3"/>
          <a:stretch>
            <a:fillRect/>
          </a:stretch>
        </p:blipFill>
        <p:spPr>
          <a:xfrm>
            <a:off x="6164084" y="1636776"/>
            <a:ext cx="5456911" cy="4206240"/>
          </a:xfrm>
          <a:prstGeom prst="rect">
            <a:avLst/>
          </a:prstGeom>
        </p:spPr>
      </p:pic>
      <p:sp>
        <p:nvSpPr>
          <p:cNvPr id="9" name="description"/>
          <p:cNvSpPr txBox="1"/>
          <p:nvPr/>
        </p:nvSpPr>
        <p:spPr>
          <a:xfrm>
            <a:off x="6012179" y="5888736"/>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22a: validation loss after 800 steps</a:t>
            </a:r>
          </a:p>
        </p:txBody>
      </p:sp>
      <p:pic>
        <p:nvPicPr>
          <p:cNvPr id="10" name="picture" descr="sweep_b.png"/>
          <p:cNvPicPr>
            <a:picLocks noChangeAspect="1"/>
          </p:cNvPicPr>
          <p:nvPr/>
        </p:nvPicPr>
        <p:blipFill>
          <a:blip r:embed="rId4"/>
          <a:stretch>
            <a:fillRect/>
          </a:stretch>
        </p:blipFill>
        <p:spPr>
          <a:xfrm>
            <a:off x="6217270" y="1636776"/>
            <a:ext cx="5350538" cy="4206240"/>
          </a:xfrm>
          <a:prstGeom prst="rect">
            <a:avLst/>
          </a:prstGeom>
        </p:spPr>
      </p:pic>
      <p:sp>
        <p:nvSpPr>
          <p:cNvPr id="11" name="description"/>
          <p:cNvSpPr txBox="1"/>
          <p:nvPr/>
        </p:nvSpPr>
        <p:spPr>
          <a:xfrm>
            <a:off x="6012179" y="5888736"/>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22b: training loss at each one's best rate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No gradient at all: zeroth-order methods</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gradient and Adam's state cost about 16 bytes per parameter, running the model 2</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estimate the gradient from forward passes alone</a:t>
            </a:r>
          </a:p>
        </p:txBody>
      </p:sp>
      <p:pic>
        <p:nvPicPr>
          <p:cNvPr id="5" name="eq zo" descr="zo.png"/>
          <p:cNvPicPr>
            <a:picLocks noChangeAspect="1"/>
          </p:cNvPicPr>
          <p:nvPr/>
        </p:nvPicPr>
        <p:blipFill>
          <a:blip r:embed="rId3"/>
          <a:stretch>
            <a:fillRect/>
          </a:stretch>
        </p:blipFill>
        <p:spPr>
          <a:xfrm>
            <a:off x="612647" y="2221992"/>
            <a:ext cx="3840479" cy="535880"/>
          </a:xfrm>
          <a:prstGeom prst="rect">
            <a:avLst/>
          </a:prstGeom>
        </p:spPr>
      </p:pic>
      <p:sp>
        <p:nvSpPr>
          <p:cNvPr id="6" name="points"/>
          <p:cNvSpPr txBox="1"/>
          <p:nvPr/>
        </p:nvSpPr>
        <p:spPr>
          <a:xfrm>
            <a:off x="384048" y="2821880"/>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the slope along a random direction</a:t>
            </a:r>
            <a:r>
              <a:rPr sz="1800" b="0" i="0">
                <a:solidFill>
                  <a:srgbClr val="000000"/>
                </a:solidFill>
                <a:latin typeface="Calibri"/>
              </a:rPr>
              <a:t>: </a:t>
            </a:r>
            <a:r>
              <a:rPr sz="1800" b="0" i="0">
                <a:solidFill>
                  <a:srgbClr val="000000"/>
                </a:solidFill>
                <a:latin typeface="Calibri"/>
              </a:rPr>
              <a:t>two forward passes; right on average</a:t>
            </a:r>
          </a:p>
        </p:txBody>
      </p:sp>
      <p:sp>
        <p:nvSpPr>
          <p:cNvPr id="7" name="points"/>
          <p:cNvSpPr txBox="1"/>
          <p:nvPr/>
        </p:nvSpPr>
        <p:spPr>
          <a:xfrm>
            <a:off x="384048" y="3535112"/>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about P times the steps</a:t>
            </a:r>
            <a:r>
              <a:rPr sz="1800" b="0" i="0">
                <a:solidFill>
                  <a:srgbClr val="000000"/>
                </a:solidFill>
                <a:latin typeface="Calibri"/>
              </a:rPr>
              <a:t>: </a:t>
            </a:r>
            <a:r>
              <a:rPr sz="1800" b="0" i="0">
                <a:solidFill>
                  <a:srgbClr val="000000"/>
                </a:solidFill>
                <a:latin typeface="Calibri"/>
              </a:rPr>
              <a:t>all but 1/P of each estimate is noise</a:t>
            </a:r>
          </a:p>
        </p:txBody>
      </p:sp>
      <p:sp>
        <p:nvSpPr>
          <p:cNvPr id="8" name="points"/>
          <p:cNvSpPr txBox="1"/>
          <p:nvPr/>
        </p:nvSpPr>
        <p:spPr>
          <a:xfrm>
            <a:off x="384048" y="4248344"/>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MeZO (2023)</a:t>
            </a:r>
            <a:r>
              <a:rPr sz="1800" b="0" i="0">
                <a:solidFill>
                  <a:srgbClr val="000000"/>
                </a:solidFill>
                <a:latin typeface="Calibri"/>
              </a:rPr>
              <a:t>: </a:t>
            </a:r>
            <a:r>
              <a:rPr sz="1800" b="0" i="0">
                <a:solidFill>
                  <a:srgbClr val="000000"/>
                </a:solidFill>
                <a:latin typeface="Calibri"/>
              </a:rPr>
              <a:t>fine-tuning in the memory of inference; 30 billion parameters on one GPU</a:t>
            </a:r>
          </a:p>
        </p:txBody>
      </p:sp>
      <p:sp>
        <p:nvSpPr>
          <p:cNvPr id="9" name="points"/>
          <p:cNvSpPr txBox="1"/>
          <p:nvPr/>
        </p:nvSpPr>
        <p:spPr>
          <a:xfrm>
            <a:off x="384048" y="5245040"/>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evolution strategies</a:t>
            </a:r>
            <a:r>
              <a:rPr sz="1800" b="0" i="0">
                <a:solidFill>
                  <a:srgbClr val="000000"/>
                </a:solidFill>
                <a:latin typeface="Calibri"/>
              </a:rPr>
              <a:t>: </a:t>
            </a:r>
            <a:r>
              <a:rPr sz="1800" b="0" i="0">
                <a:solidFill>
                  <a:srgbClr val="000000"/>
                </a:solidFill>
                <a:latin typeface="Calibri"/>
              </a:rPr>
              <a:t>perturbed models scored by any reward; ahead of PPO and GRPO on Countdown</a:t>
            </a:r>
          </a:p>
        </p:txBody>
      </p:sp>
      <p:pic>
        <p:nvPicPr>
          <p:cNvPr id="10" name="picture" descr="tut_zo.png"/>
          <p:cNvPicPr>
            <a:picLocks noChangeAspect="1"/>
          </p:cNvPicPr>
          <p:nvPr/>
        </p:nvPicPr>
        <p:blipFill>
          <a:blip r:embed="rId4"/>
          <a:stretch>
            <a:fillRect/>
          </a:stretch>
        </p:blipFill>
        <p:spPr>
          <a:xfrm>
            <a:off x="4754880" y="2852223"/>
            <a:ext cx="7223760" cy="2442856"/>
          </a:xfrm>
          <a:prstGeom prst="rect">
            <a:avLst/>
          </a:prstGeom>
        </p:spPr>
      </p:pic>
      <p:sp>
        <p:nvSpPr>
          <p:cNvPr id="11" name="description"/>
          <p:cNvSpPr txBox="1"/>
          <p:nvPr/>
        </p:nvSpPr>
        <p:spPr>
          <a:xfrm>
            <a:off x="4617720" y="5340799"/>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Figure 8: (a) the estimate's directions; (b) steps against the number of parameters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Which optimizer when</a:t>
            </a:r>
          </a:p>
        </p:txBody>
      </p:sp>
      <p:pic>
        <p:nvPicPr>
          <p:cNvPr id="4" name="eq opt_table" descr="opt_table.png"/>
          <p:cNvPicPr>
            <a:picLocks noChangeAspect="1"/>
          </p:cNvPicPr>
          <p:nvPr/>
        </p:nvPicPr>
        <p:blipFill>
          <a:blip r:embed="rId3"/>
          <a:stretch>
            <a:fillRect/>
          </a:stretch>
        </p:blipFill>
        <p:spPr>
          <a:xfrm>
            <a:off x="1205484" y="1417320"/>
            <a:ext cx="9750552" cy="3203448"/>
          </a:xfrm>
          <a:prstGeom prst="rect">
            <a:avLst/>
          </a:prstGeom>
        </p:spPr>
      </p:pic>
      <p:sp>
        <p:nvSpPr>
          <p:cNvPr id="5" name="description"/>
          <p:cNvSpPr txBox="1"/>
          <p:nvPr/>
        </p:nvSpPr>
        <p:spPr>
          <a:xfrm>
            <a:off x="457200" y="463905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Optimizers tutorial, §8</a:t>
            </a:r>
          </a:p>
        </p:txBody>
      </p:sp>
      <p:sp>
        <p:nvSpPr>
          <p:cNvPr id="6" name="points"/>
          <p:cNvSpPr txBox="1"/>
          <p:nvPr/>
        </p:nvSpPr>
        <p:spPr>
          <a:xfrm>
            <a:off x="384048" y="5233416"/>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in 2026</a:t>
            </a:r>
            <a:r>
              <a:rPr sz="1800" b="0" i="0">
                <a:solidFill>
                  <a:srgbClr val="000000"/>
                </a:solidFill>
                <a:latin typeface="Calibri"/>
              </a:rPr>
              <a:t>: </a:t>
            </a:r>
            <a:r>
              <a:rPr sz="1800" b="0" i="0">
                <a:solidFill>
                  <a:srgbClr val="000000"/>
                </a:solidFill>
                <a:latin typeface="Calibri"/>
              </a:rPr>
              <a:t>AdamW, β = (0.9, 0.95), with a warmup and a decay; or Muon for the matrices inside the blocks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Optimizers</a:t>
            </a:r>
            <a:r>
              <a:rPr sz="3200" b="1" i="0">
                <a:solidFill>
                  <a:srgbClr val="000000"/>
                </a:solidFill>
                <a:latin typeface="Calibri"/>
              </a:rPr>
              <a:t> for Deep Learning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Try them: the optimizer explorer</a:t>
            </a:r>
          </a:p>
        </p:txBody>
      </p:sp>
      <p:sp>
        <p:nvSpPr>
          <p:cNvPr id="4" name="points"/>
          <p:cNvSpPr txBox="1"/>
          <p:nvPr/>
        </p:nvSpPr>
        <p:spPr>
          <a:xfrm>
            <a:off x="384048" y="1463040"/>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six optimizers</a:t>
            </a:r>
            <a:r>
              <a:rPr sz="1800" b="0" i="0">
                <a:solidFill>
                  <a:srgbClr val="000000"/>
                </a:solidFill>
                <a:latin typeface="Calibri"/>
              </a:rPr>
              <a:t>: </a:t>
            </a:r>
            <a:r>
              <a:rPr sz="1800" b="0" i="0">
                <a:solidFill>
                  <a:srgbClr val="000000"/>
                </a:solidFill>
                <a:latin typeface="Calibri"/>
              </a:rPr>
              <a:t>gradient descent to Adam, side by side; one η, one β, and one ρ for all</a:t>
            </a:r>
          </a:p>
        </p:txBody>
      </p:sp>
      <p:sp>
        <p:nvSpPr>
          <p:cNvPr id="5" name="points"/>
          <p:cNvSpPr txBox="1"/>
          <p:nvPr/>
        </p:nvSpPr>
        <p:spPr>
          <a:xfrm>
            <a:off x="384048" y="187452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what to try</a:t>
            </a:r>
            <a:r>
              <a:rPr sz="1800" b="0" i="0">
                <a:solidFill>
                  <a:srgbClr val="000000"/>
                </a:solidFill>
                <a:latin typeface="Calibri"/>
              </a:rPr>
              <a:t>: </a:t>
            </a:r>
            <a:r>
              <a:rPr sz="1800" b="0" i="0">
                <a:solidFill>
                  <a:srgbClr val="000000"/>
                </a:solidFill>
                <a:latin typeface="Calibri"/>
              </a:rPr>
              <a:t>η just above 2/κ; the noise floor; gradients of very different sizes; the rotated bowl</a:t>
            </a:r>
          </a:p>
        </p:txBody>
      </p:sp>
      <p:pic>
        <p:nvPicPr>
          <p:cNvPr id="6" name="picture" descr="explorer_shot.png"/>
          <p:cNvPicPr>
            <a:picLocks noChangeAspect="1"/>
          </p:cNvPicPr>
          <p:nvPr/>
        </p:nvPicPr>
        <p:blipFill>
          <a:blip r:embed="rId3"/>
          <a:stretch>
            <a:fillRect/>
          </a:stretch>
        </p:blipFill>
        <p:spPr>
          <a:xfrm>
            <a:off x="3698201" y="2331720"/>
            <a:ext cx="4765117" cy="3657599"/>
          </a:xfrm>
          <a:prstGeom prst="rect">
            <a:avLst/>
          </a:prstGeom>
        </p:spPr>
      </p:pic>
      <p:sp>
        <p:nvSpPr>
          <p:cNvPr id="7"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the optimizer explorer, materials/week-05/optimizer-explorer.html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13066</TotalTime>
  <Words>17414</Words>
  <Application>Microsoft Macintosh PowerPoint</Application>
  <PresentationFormat>Widescreen</PresentationFormat>
  <Paragraphs>489</Paragraphs>
  <Slides>61</Slides>
  <Notes>61</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Madhusudhan Reddy Pittu</dc:creator>
  <cp:lastModifiedBy>Madhusudhan Reddy Pittu</cp:lastModifiedBy>
  <cp:revision>7</cp:revision>
  <dcterms:created xsi:type="dcterms:W3CDTF">2026-09-16T15:41:23Z</dcterms:created>
  <dcterms:modified xsi:type="dcterms:W3CDTF">2026-10-21T21:43:28Z</dcterms:modified>
</cp:coreProperties>
</file>