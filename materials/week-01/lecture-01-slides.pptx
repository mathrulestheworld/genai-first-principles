
<file path=[Content_Types].xml><?xml version="1.0" encoding="utf-8"?>
<Types xmlns="http://schemas.openxmlformats.org/package/2006/content-types">
  <Default Extension="jpeg" ContentType="image/jpeg"/>
  <Default Extension="jpg" ContentType="image/jpeg"/>
  <Default Extension="mp4" ContentType="video/mp4"/>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media/image1.jpg" ContentType="image/jpg"/>
  <Override PartName="/ppt/media/image10.jpg" ContentType="image/jpg"/>
  <Override PartName="/ppt/media/image2.jpg" ContentType="image/jpg"/>
  <Override PartName="/ppt/media/image3.jpg" ContentType="image/jpg"/>
  <Override PartName="/ppt/media/image4.jpg" ContentType="image/jpg"/>
  <Override PartName="/ppt/media/image6.jpg" ContentType="image/jpg"/>
  <Override PartName="/ppt/media/image7.jpg" ContentType="image/jpg"/>
  <Override PartName="/ppt/media/image9.jpg" ContentType="image/jpg"/>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9.xml" ContentType="application/vnd.openxmlformats-officedocument.presentationml.notesSlide+xml"/>
  <Override PartName="/ppt/notesSlides/notesSlide3.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ppt/notesSlides/notesSlide39.xml" ContentType="application/vnd.openxmlformats-officedocument.presentationml.notesSlide+xml"/>
  <Override PartName="/ppt/notesSlides/notesSlide4.xml" ContentType="application/vnd.openxmlformats-officedocument.presentationml.notesSlide+xml"/>
  <Override PartName="/ppt/notesSlides/notesSlide40.xml" ContentType="application/vnd.openxmlformats-officedocument.presentationml.notesSlide+xml"/>
  <Override PartName="/ppt/notesSlides/notesSlide41.xml" ContentType="application/vnd.openxmlformats-officedocument.presentationml.notesSlide+xml"/>
  <Override PartName="/ppt/notesSlides/notesSlide42.xml" ContentType="application/vnd.openxmlformats-officedocument.presentationml.notesSlide+xml"/>
  <Override PartName="/ppt/notesSlides/notesSlide43.xml" ContentType="application/vnd.openxmlformats-officedocument.presentationml.notesSlide+xml"/>
  <Override PartName="/ppt/notesSlides/notesSlide44.xml" ContentType="application/vnd.openxmlformats-officedocument.presentationml.notesSlide+xml"/>
  <Override PartName="/ppt/notesSlides/notesSlide45.xml" ContentType="application/vnd.openxmlformats-officedocument.presentationml.notesSlide+xml"/>
  <Override PartName="/ppt/notesSlides/notesSlide46.xml" ContentType="application/vnd.openxmlformats-officedocument.presentationml.notesSlide+xml"/>
  <Override PartName="/ppt/notesSlides/notesSlide47.xml" ContentType="application/vnd.openxmlformats-officedocument.presentationml.notesSlide+xml"/>
  <Override PartName="/ppt/notesSlides/notesSlide48.xml" ContentType="application/vnd.openxmlformats-officedocument.presentationml.notesSlide+xml"/>
  <Override PartName="/ppt/notesSlides/notesSlide49.xml" ContentType="application/vnd.openxmlformats-officedocument.presentationml.notesSlide+xml"/>
  <Override PartName="/ppt/notesSlides/notesSlide5.xml" ContentType="application/vnd.openxmlformats-officedocument.presentationml.notesSlide+xml"/>
  <Override PartName="/ppt/notesSlides/notesSlide50.xml" ContentType="application/vnd.openxmlformats-officedocument.presentationml.notesSlide+xml"/>
  <Override PartName="/ppt/notesSlides/notesSlide51.xml" ContentType="application/vnd.openxmlformats-officedocument.presentationml.notesSlide+xml"/>
  <Override PartName="/ppt/notesSlides/notesSlide52.xml" ContentType="application/vnd.openxmlformats-officedocument.presentationml.notesSlide+xml"/>
  <Override PartName="/ppt/notesSlides/notesSlide53.xml" ContentType="application/vnd.openxmlformats-officedocument.presentationml.notesSlide+xml"/>
  <Override PartName="/ppt/notesSlides/notesSlide54.xml" ContentType="application/vnd.openxmlformats-officedocument.presentationml.notesSlide+xml"/>
  <Override PartName="/ppt/notesSlides/notesSlide55.xml" ContentType="application/vnd.openxmlformats-officedocument.presentationml.notesSlide+xml"/>
  <Override PartName="/ppt/notesSlides/notesSlide56.xml" ContentType="application/vnd.openxmlformats-officedocument.presentationml.notesSlide+xml"/>
  <Override PartName="/ppt/notesSlides/notesSlide57.xml" ContentType="application/vnd.openxmlformats-officedocument.presentationml.notesSlide+xml"/>
  <Override PartName="/ppt/notesSlides/notesSlide58.xml" ContentType="application/vnd.openxmlformats-officedocument.presentationml.notesSlide+xml"/>
  <Override PartName="/ppt/notesSlides/notesSlide6.xml" ContentType="application/vnd.openxmlformats-officedocument.presentationml.notesSlide+xml"/>
  <Override PartName="/ppt/notesSlides/notesSlide60.xml" ContentType="application/vnd.openxmlformats-officedocument.presentationml.notesSlide+xml"/>
  <Override PartName="/ppt/notesSlides/notesSlide61.xml" ContentType="application/vnd.openxmlformats-officedocument.presentationml.notesSlide+xml"/>
  <Override PartName="/ppt/notesSlides/notesSlide62.xml" ContentType="application/vnd.openxmlformats-officedocument.presentationml.notesSlide+xml"/>
  <Override PartName="/ppt/notesSlides/notesSlide63.xml" ContentType="application/vnd.openxmlformats-officedocument.presentationml.notesSlide+xml"/>
  <Override PartName="/ppt/notesSlides/notesSlide69.xml" ContentType="application/vnd.openxmlformats-officedocument.presentationml.notesSlide+xml"/>
  <Override PartName="/ppt/notesSlides/notesSlide7.xml" ContentType="application/vnd.openxmlformats-officedocument.presentationml.notesSlide+xml"/>
  <Override PartName="/ppt/notesSlides/notesSlide70.xml" ContentType="application/vnd.openxmlformats-officedocument.presentationml.notesSlide+xml"/>
  <Override PartName="/ppt/notesSlides/notesSlide71.xml" ContentType="application/vnd.openxmlformats-officedocument.presentationml.notesSlide+xml"/>
  <Override PartName="/ppt/notesSlides/notesSlide72.xml" ContentType="application/vnd.openxmlformats-officedocument.presentationml.notesSlide+xml"/>
  <Override PartName="/ppt/notesSlides/notesSlide73.xml" ContentType="application/vnd.openxmlformats-officedocument.presentationml.notesSlide+xml"/>
  <Override PartName="/ppt/notesSlides/notesSlide74.xml" ContentType="application/vnd.openxmlformats-officedocument.presentationml.notesSlide+xml"/>
  <Override PartName="/ppt/notesSlides/notesSlide75.xml" ContentType="application/vnd.openxmlformats-officedocument.presentationml.notesSlide+xml"/>
  <Override PartName="/ppt/notesSlides/notesSlide76.xml" ContentType="application/vnd.openxmlformats-officedocument.presentationml.notesSlide+xml"/>
  <Override PartName="/ppt/notesSlides/notesSlide7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xml" ContentType="application/vnd.openxmlformats-officedocument.presentationml.slide+xml"/>
  <Override PartName="/ppt/slides/slide40.xml" ContentType="application/vnd.openxmlformats-officedocument.presentationml.slide+xml"/>
  <Override PartName="/ppt/slides/slide42.xml" ContentType="application/vnd.openxmlformats-officedocument.presentationml.slide+xml"/>
  <Override PartName="/ppt/slides/slide44.xml" ContentType="application/vnd.openxmlformats-officedocument.presentationml.slide+xml"/>
  <Override PartName="/ppt/slides/slide45.xml" ContentType="application/vnd.openxmlformats-officedocument.presentationml.slide+xml"/>
  <Override PartName="/ppt/slides/slide46.xml" ContentType="application/vnd.openxmlformats-officedocument.presentationml.slide+xml"/>
  <Override PartName="/ppt/slides/slide47.xml" ContentType="application/vnd.openxmlformats-officedocument.presentationml.slide+xml"/>
  <Override PartName="/ppt/slides/slide48.xml" ContentType="application/vnd.openxmlformats-officedocument.presentationml.slide+xml"/>
  <Override PartName="/ppt/slides/slide49.xml" ContentType="application/vnd.openxmlformats-officedocument.presentationml.slide+xml"/>
  <Override PartName="/ppt/slides/slide5.xml" ContentType="application/vnd.openxmlformats-officedocument.presentationml.slide+xml"/>
  <Override PartName="/ppt/slides/slide51.xml" ContentType="application/vnd.openxmlformats-officedocument.presentationml.slide+xml"/>
  <Override PartName="/ppt/slides/slide52.xml" ContentType="application/vnd.openxmlformats-officedocument.presentationml.slide+xml"/>
  <Override PartName="/ppt/slides/slide53.xml" ContentType="application/vnd.openxmlformats-officedocument.presentationml.slide+xml"/>
  <Override PartName="/ppt/slides/slide54.xml" ContentType="application/vnd.openxmlformats-officedocument.presentationml.slide+xml"/>
  <Override PartName="/ppt/slides/slide6.xml" ContentType="application/vnd.openxmlformats-officedocument.presentationml.slide+xml"/>
  <Override PartName="/ppt/slides/slide60.xml" ContentType="application/vnd.openxmlformats-officedocument.presentationml.slide+xml"/>
  <Override PartName="/ppt/slides/slide61.xml" ContentType="application/vnd.openxmlformats-officedocument.presentationml.slide+xml"/>
  <Override PartName="/ppt/slides/slide62.xml" ContentType="application/vnd.openxmlformats-officedocument.presentationml.slide+xml"/>
  <Override PartName="/ppt/slides/slide63.xml" ContentType="application/vnd.openxmlformats-officedocument.presentationml.slide+xml"/>
  <Override PartName="/ppt/slides/slide64.xml" ContentType="application/vnd.openxmlformats-officedocument.presentationml.slide+xml"/>
  <Override PartName="/ppt/slides/slide65.xml" ContentType="application/vnd.openxmlformats-officedocument.presentationml.slide+xml"/>
  <Override PartName="/ppt/slides/slide66.xml" ContentType="application/vnd.openxmlformats-officedocument.presentationml.slide+xml"/>
  <Override PartName="/ppt/slides/slide67.xml" ContentType="application/vnd.openxmlformats-officedocument.presentationml.slide+xml"/>
  <Override PartName="/ppt/slides/slide68.xml" ContentType="application/vnd.openxmlformats-officedocument.presentationml.slide+xml"/>
  <Override PartName="/ppt/slides/slide69.xml" ContentType="application/vnd.openxmlformats-officedocument.presentationml.slide+xml"/>
  <Override PartName="/ppt/slides/slide7.xml" ContentType="application/vnd.openxmlformats-officedocument.presentationml.slide+xml"/>
  <Override PartName="/ppt/slides/slide70.xml" ContentType="application/vnd.openxmlformats-officedocument.presentationml.slide+xml"/>
  <Override PartName="/ppt/slides/slide71.xml" ContentType="application/vnd.openxmlformats-officedocument.presentationml.slide+xml"/>
  <Override PartName="/ppt/slides/slide72.xml" ContentType="application/vnd.openxmlformats-officedocument.presentationml.slide+xml"/>
  <Override PartName="/ppt/slides/slide73.xml" ContentType="application/vnd.openxmlformats-officedocument.presentationml.slide+xml"/>
  <Override PartName="/ppt/slides/slide74.xml" ContentType="application/vnd.openxmlformats-officedocument.presentationml.slide+xml"/>
  <Override PartName="/ppt/slides/slide75.xml" ContentType="application/vnd.openxmlformats-officedocument.presentationml.slide+xml"/>
  <Override PartName="/ppt/slides/slide76.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notesMasterIdLst>
    <p:notesMasterId r:id="rId46"/>
  </p:notesMasterIdLst>
  <p:sldIdLst>
    <p:sldId id="257" r:id="rId2"/>
    <p:sldId id="258" r:id="rId3"/>
    <p:sldId id="259" r:id="rId4"/>
    <p:sldId id="260" r:id="rId5"/>
    <p:sldId id="261" r:id="rId6"/>
    <p:sldId id="262" r:id="rId7"/>
    <p:sldId id="263" r:id="rId8"/>
    <p:sldId id="264" r:id="rId9"/>
    <p:sldId id="339" r:id="rId45"/>
    <p:sldId id="265" r:id="rId10"/>
    <p:sldId id="266" r:id="rId11"/>
    <p:sldId id="267" r:id="rId12"/>
    <p:sldId id="268" r:id="rId13"/>
    <p:sldId id="269" r:id="rId14"/>
    <p:sldId id="270" r:id="rId15"/>
    <p:sldId id="271" r:id="rId16"/>
    <p:sldId id="272" r:id="rId17"/>
    <p:sldId id="273" r:id="rId18"/>
    <p:sldId id="274" r:id="rId19"/>
    <p:sldId id="275" r:id="rId20"/>
    <p:sldId id="276" r:id="rId21"/>
    <p:sldId id="277" r:id="rId22"/>
    <p:sldId id="278" r:id="rId23"/>
    <p:sldId id="279" r:id="rId24"/>
    <p:sldId id="280" r:id="rId25"/>
    <p:sldId id="281" r:id="rId26"/>
    <p:sldId id="282" r:id="rId27"/>
    <p:sldId id="283" r:id="rId28"/>
    <p:sldId id="301" r:id="rId51"/>
    <p:sldId id="302" r:id="rId52"/>
    <p:sldId id="340" r:id="rId43"/>
    <p:sldId id="303" r:id="rId53"/>
    <p:sldId id="304" r:id="rId54"/>
    <p:sldId id="305" r:id="rId55"/>
    <p:sldId id="306" r:id="rId56"/>
    <p:sldId id="344" r:id="rId39"/>
    <p:sldId id="308" r:id="rId58"/>
    <p:sldId id="299" r:id="rId44"/>
    <p:sldId id="309" r:id="rId59"/>
    <p:sldId id="310" r:id="rId60"/>
    <p:sldId id="345" r:id="rId65"/>
    <p:sldId id="314" r:id="rId64"/>
    <p:sldId id="312" r:id="rId62"/>
    <p:sldId id="346" r:id="rId63"/>
    <p:sldId id="343" r:id="rId40"/>
    <p:sldId id="316" r:id="rId66"/>
    <p:sldId id="319" r:id="rId69"/>
    <p:sldId id="317" r:id="rId67"/>
    <p:sldId id="318" r:id="rId68"/>
    <p:sldId id="347" r:id="rId61"/>
    <p:sldId id="321" r:id="rId71"/>
    <p:sldId id="322" r:id="rId72"/>
    <p:sldId id="323" r:id="rId73"/>
    <p:sldId id="324" r:id="rId74"/>
    <p:sldId id="348" r:id="rId57"/>
    <p:sldId id="349" r:id="rId38"/>
    <p:sldId id="350" r:id="rId37"/>
    <p:sldId id="351" r:id="rId36"/>
    <p:sldId id="352" r:id="rId35"/>
    <p:sldId id="330" r:id="rId80"/>
    <p:sldId id="331" r:id="rId81"/>
    <p:sldId id="332" r:id="rId82"/>
    <p:sldId id="333" r:id="rId83"/>
    <p:sldId id="334" r:id="rId84"/>
    <p:sldId id="335" r:id="rId85"/>
    <p:sldId id="336" r:id="rId86"/>
    <p:sldId id="337" r:id="rId87"/>
    <p:sldId id="338" r:id="rId88"/>
  </p:sldIdLst>
  <p:sldSz cx="12192000" cy="6858000"/>
  <p:notesSz cx="6858000" cy="9144000"/>
  <p:defaultTex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clrMru>
    <a:srgbClr val="362FEC"/>
  </p:clrMru>
  <p:extLst>
    <p:ext uri="{E76CE94A-603C-4142-B9EB-6D1370010A27}">
      <p14:discardImageEditData xmlns:p14="http://schemas.microsoft.com/office/powerpoint/2010/main" val="0"/>
    </p:ext>
    <p:ext uri="{D31A062A-798A-4329-ABDD-BBA856620510}">
      <p14:defaultImageDpi xmlns:p14="http://schemas.microsoft.com/office/powerpoint/2010/main" val="32767"/>
    </p:ext>
    <p:ext uri="{FD5EFAAD-0ECE-453E-9831-46B23BE46B34}">
      <p15:chartTrackingRefBased xmlns:p15="http://schemas.microsoft.com/office/powerpoint/2012/main" val="1"/>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20972"/>
    <p:restoredTop sz="94658"/>
  </p:normalViewPr>
  <p:slideViewPr>
    <p:cSldViewPr snapToGrid="0">
      <p:cViewPr varScale="1">
        <p:scale>
          <a:sx n="120" d="100"/>
          <a:sy n="120" d="100"/>
        </p:scale>
        <p:origin x="456" y="184"/>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10.xml"/><Relationship Id="rId11" Type="http://schemas.openxmlformats.org/officeDocument/2006/relationships/slide" Target="slides/slide11.xml"/><Relationship Id="rId12" Type="http://schemas.openxmlformats.org/officeDocument/2006/relationships/slide" Target="slides/slide12.xml"/><Relationship Id="rId13" Type="http://schemas.openxmlformats.org/officeDocument/2006/relationships/slide" Target="slides/slide13.xml"/><Relationship Id="rId14" Type="http://schemas.openxmlformats.org/officeDocument/2006/relationships/slide" Target="slides/slide14.xml"/><Relationship Id="rId15" Type="http://schemas.openxmlformats.org/officeDocument/2006/relationships/slide" Target="slides/slide15.xml"/><Relationship Id="rId16" Type="http://schemas.openxmlformats.org/officeDocument/2006/relationships/slide" Target="slides/slide16.xml"/><Relationship Id="rId17" Type="http://schemas.openxmlformats.org/officeDocument/2006/relationships/slide" Target="slides/slide17.xml"/><Relationship Id="rId18" Type="http://schemas.openxmlformats.org/officeDocument/2006/relationships/slide" Target="slides/slide18.xml"/><Relationship Id="rId19" Type="http://schemas.openxmlformats.org/officeDocument/2006/relationships/slide" Target="slides/slide19.xml"/><Relationship Id="rId20" Type="http://schemas.openxmlformats.org/officeDocument/2006/relationships/slide" Target="slides/slide20.xml"/><Relationship Id="rId21" Type="http://schemas.openxmlformats.org/officeDocument/2006/relationships/slide" Target="slides/slide21.xml"/><Relationship Id="rId22" Type="http://schemas.openxmlformats.org/officeDocument/2006/relationships/slide" Target="slides/slide22.xml"/><Relationship Id="rId23" Type="http://schemas.openxmlformats.org/officeDocument/2006/relationships/slide" Target="slides/slide23.xml"/><Relationship Id="rId24" Type="http://schemas.openxmlformats.org/officeDocument/2006/relationships/slide" Target="slides/slide24.xml"/><Relationship Id="rId25" Type="http://schemas.openxmlformats.org/officeDocument/2006/relationships/slide" Target="slides/slide25.xml"/><Relationship Id="rId26" Type="http://schemas.openxmlformats.org/officeDocument/2006/relationships/slide" Target="slides/slide26.xml"/><Relationship Id="rId27" Type="http://schemas.openxmlformats.org/officeDocument/2006/relationships/slide" Target="slides/slide27.xml"/><Relationship Id="rId28" Type="http://schemas.openxmlformats.org/officeDocument/2006/relationships/slide" Target="slides/slide28.xml"/><Relationship Id="rId35" Type="http://schemas.openxmlformats.org/officeDocument/2006/relationships/slide" Target="slides/slide76.xml"/><Relationship Id="rId36" Type="http://schemas.openxmlformats.org/officeDocument/2006/relationships/slide" Target="slides/slide75.xml"/><Relationship Id="rId37" Type="http://schemas.openxmlformats.org/officeDocument/2006/relationships/slide" Target="slides/slide74.xml"/><Relationship Id="rId38" Type="http://schemas.openxmlformats.org/officeDocument/2006/relationships/slide" Target="slides/slide73.xml"/><Relationship Id="rId39" Type="http://schemas.openxmlformats.org/officeDocument/2006/relationships/slide" Target="slides/slide36.xml"/><Relationship Id="rId40" Type="http://schemas.openxmlformats.org/officeDocument/2006/relationships/slide" Target="slides/slide45.xml"/><Relationship Id="rId43" Type="http://schemas.openxmlformats.org/officeDocument/2006/relationships/slide" Target="slides/slide31.xml"/><Relationship Id="rId44" Type="http://schemas.openxmlformats.org/officeDocument/2006/relationships/slide" Target="slides/slide38.xml"/><Relationship Id="rId45" Type="http://schemas.openxmlformats.org/officeDocument/2006/relationships/slide" Target="slides/slide9.xml"/><Relationship Id="rId46" Type="http://schemas.openxmlformats.org/officeDocument/2006/relationships/notesMaster" Target="notesMasters/notesMaster1.xml"/><Relationship Id="rId47" Type="http://schemas.openxmlformats.org/officeDocument/2006/relationships/presProps" Target="presProps.xml"/><Relationship Id="rId48" Type="http://schemas.openxmlformats.org/officeDocument/2006/relationships/viewProps" Target="viewProps.xml"/><Relationship Id="rId49" Type="http://schemas.openxmlformats.org/officeDocument/2006/relationships/theme" Target="theme/theme1.xml"/><Relationship Id="rId50" Type="http://schemas.openxmlformats.org/officeDocument/2006/relationships/tableStyles" Target="tableStyles.xml"/><Relationship Id="rId51" Type="http://schemas.openxmlformats.org/officeDocument/2006/relationships/slide" Target="slides/slide29.xml"/><Relationship Id="rId52" Type="http://schemas.openxmlformats.org/officeDocument/2006/relationships/slide" Target="slides/slide30.xml"/><Relationship Id="rId53" Type="http://schemas.openxmlformats.org/officeDocument/2006/relationships/slide" Target="slides/slide32.xml"/><Relationship Id="rId54" Type="http://schemas.openxmlformats.org/officeDocument/2006/relationships/slide" Target="slides/slide33.xml"/><Relationship Id="rId55" Type="http://schemas.openxmlformats.org/officeDocument/2006/relationships/slide" Target="slides/slide34.xml"/><Relationship Id="rId56" Type="http://schemas.openxmlformats.org/officeDocument/2006/relationships/slide" Target="slides/slide35.xml"/><Relationship Id="rId57" Type="http://schemas.openxmlformats.org/officeDocument/2006/relationships/slide" Target="slides/slide72.xml"/><Relationship Id="rId58" Type="http://schemas.openxmlformats.org/officeDocument/2006/relationships/slide" Target="slides/slide37.xml"/><Relationship Id="rId59" Type="http://schemas.openxmlformats.org/officeDocument/2006/relationships/slide" Target="slides/slide39.xml"/><Relationship Id="rId60" Type="http://schemas.openxmlformats.org/officeDocument/2006/relationships/slide" Target="slides/slide40.xml"/><Relationship Id="rId61" Type="http://schemas.openxmlformats.org/officeDocument/2006/relationships/slide" Target="slides/slide71.xml"/><Relationship Id="rId62" Type="http://schemas.openxmlformats.org/officeDocument/2006/relationships/slide" Target="slides/slide42.xml"/><Relationship Id="rId63" Type="http://schemas.openxmlformats.org/officeDocument/2006/relationships/slide" Target="slides/slide70.xml"/><Relationship Id="rId64" Type="http://schemas.openxmlformats.org/officeDocument/2006/relationships/slide" Target="slides/slide44.xml"/><Relationship Id="rId65" Type="http://schemas.openxmlformats.org/officeDocument/2006/relationships/slide" Target="slides/slide69.xml"/><Relationship Id="rId66" Type="http://schemas.openxmlformats.org/officeDocument/2006/relationships/slide" Target="slides/slide46.xml"/><Relationship Id="rId67" Type="http://schemas.openxmlformats.org/officeDocument/2006/relationships/slide" Target="slides/slide47.xml"/><Relationship Id="rId68" Type="http://schemas.openxmlformats.org/officeDocument/2006/relationships/slide" Target="slides/slide48.xml"/><Relationship Id="rId69" Type="http://schemas.openxmlformats.org/officeDocument/2006/relationships/slide" Target="slides/slide49.xml"/><Relationship Id="rId71" Type="http://schemas.openxmlformats.org/officeDocument/2006/relationships/slide" Target="slides/slide51.xml"/><Relationship Id="rId72" Type="http://schemas.openxmlformats.org/officeDocument/2006/relationships/slide" Target="slides/slide52.xml"/><Relationship Id="rId73" Type="http://schemas.openxmlformats.org/officeDocument/2006/relationships/slide" Target="slides/slide53.xml"/><Relationship Id="rId74" Type="http://schemas.openxmlformats.org/officeDocument/2006/relationships/slide" Target="slides/slide54.xml"/><Relationship Id="rId80" Type="http://schemas.openxmlformats.org/officeDocument/2006/relationships/slide" Target="slides/slide60.xml"/><Relationship Id="rId81" Type="http://schemas.openxmlformats.org/officeDocument/2006/relationships/slide" Target="slides/slide61.xml"/><Relationship Id="rId82" Type="http://schemas.openxmlformats.org/officeDocument/2006/relationships/slide" Target="slides/slide62.xml"/><Relationship Id="rId83" Type="http://schemas.openxmlformats.org/officeDocument/2006/relationships/slide" Target="slides/slide63.xml"/><Relationship Id="rId84" Type="http://schemas.openxmlformats.org/officeDocument/2006/relationships/slide" Target="slides/slide64.xml"/><Relationship Id="rId85" Type="http://schemas.openxmlformats.org/officeDocument/2006/relationships/slide" Target="slides/slide65.xml"/><Relationship Id="rId86" Type="http://schemas.openxmlformats.org/officeDocument/2006/relationships/slide" Target="slides/slide66.xml"/><Relationship Id="rId87" Type="http://schemas.openxmlformats.org/officeDocument/2006/relationships/slide" Target="slides/slide67.xml"/><Relationship Id="rId88" Type="http://schemas.openxmlformats.org/officeDocument/2006/relationships/slide" Target="slides/slide68.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776089AD-D6EF-F34E-BDA2-7FD9ECDA530C}" type="datetimeFigureOut">
              <a:rPr lang="en-US" smtClean="0"/>
              <a:t>9/30/26</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2B565825-DA3E-F54F-8918-42B0697FAD9F}" type="slidenum">
              <a:rPr lang="en-US" smtClean="0"/>
              <a:t>‹#›</a:t>
            </a:fld>
            <a:endParaRPr lang="en-US"/>
          </a:p>
        </p:txBody>
      </p:sp>
    </p:spTree>
    <p:extLst>
      <p:ext uri="{BB962C8B-B14F-4D97-AF65-F5344CB8AC3E}">
        <p14:creationId xmlns:p14="http://schemas.microsoft.com/office/powerpoint/2010/main" val="213354020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0.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1.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2.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3.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4.xml"/></Relationships>
</file>

<file path=ppt/notesSlides/_rels/notesSlide1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5.xml"/></Relationships>
</file>

<file path=ppt/notesSlides/_rels/notesSlide2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6.xml"/></Relationships>
</file>

<file path=ppt/notesSlides/_rels/notesSlide2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7.xml"/></Relationships>
</file>

<file path=ppt/notesSlides/_rels/notesSlide2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8.xml"/></Relationships>
</file>

<file path=ppt/notesSlides/_rels/notesSlide2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6.xml"/></Relationships>
</file>

<file path=ppt/notesSlides/_rels/notesSlide3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5.xml"/></Relationships>
</file>

<file path=ppt/notesSlides/_rels/notesSlide3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4.xml"/></Relationships>
</file>

<file path=ppt/notesSlides/_rels/notesSlide3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3.xml"/></Relationships>
</file>

<file path=ppt/notesSlides/_rels/notesSlide3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6.xml"/></Relationships>
</file>

<file path=ppt/notesSlides/_rels/notesSlide3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5.xml"/></Relationships>
</file>

<file path=ppt/notesSlides/_rels/notesSlide3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1.xml"/></Relationships>
</file>

<file path=ppt/notesSlides/_rels/notesSlide3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8.xml"/></Relationships>
</file>

<file path=ppt/notesSlides/_rels/notesSlide3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4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9.xml"/></Relationships>
</file>

<file path=ppt/notesSlides/_rels/notesSlide4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0.xml"/></Relationships>
</file>

<file path=ppt/notesSlides/_rels/notesSlide4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2.xml"/></Relationships>
</file>

<file path=ppt/notesSlides/_rels/notesSlide4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3.xml"/></Relationships>
</file>

<file path=ppt/notesSlides/_rels/notesSlide4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4.xml"/></Relationships>
</file>

<file path=ppt/notesSlides/_rels/notesSlide4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5.xml"/></Relationships>
</file>

<file path=ppt/notesSlides/_rels/notesSlide4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2.xml"/></Relationships>
</file>

<file path=ppt/notesSlides/_rels/notesSlide4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7.xml"/></Relationships>
</file>

<file path=ppt/notesSlides/_rels/notesSlide4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9.xml"/></Relationships>
</file>

<file path=ppt/notesSlides/_rels/notesSlide4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0.xml"/></Relationships>
</file>

<file path=ppt/notesSlides/_rels/notesSlide5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1.xml"/></Relationships>
</file>

<file path=ppt/notesSlides/_rels/notesSlide5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2.xml"/></Relationships>
</file>

<file path=ppt/notesSlides/_rels/notesSlide5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0.xml"/></Relationships>
</file>

<file path=ppt/notesSlides/_rels/notesSlide5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4.xml"/></Relationships>
</file>

<file path=ppt/notesSlides/_rels/notesSlide5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9.xml"/></Relationships>
</file>

<file path=ppt/notesSlides/_rels/notesSlide5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6.xml"/></Relationships>
</file>

<file path=ppt/notesSlides/_rels/notesSlide5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7.xml"/></Relationships>
</file>

<file path=ppt/notesSlides/_rels/notesSlide5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8.xml"/></Relationships>
</file>

<file path=ppt/notesSlides/_rels/notesSlide5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9.xml"/></Relationships>
</file>

<file path=ppt/notesSlides/_rels/notesSlide6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1.xml"/></Relationships>
</file>

<file path=ppt/notesSlides/_rels/notesSlide6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2.xml"/></Relationships>
</file>

<file path=ppt/notesSlides/_rels/notesSlide6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3.xml"/></Relationships>
</file>

<file path=ppt/notesSlides/_rels/notesSlide6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4.xml"/></Relationships>
</file>

<file path=ppt/notesSlides/_rels/notesSlide6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0.xml"/></Relationships>
</file>

<file path=ppt/notesSlides/_rels/notesSlide7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1.xml"/></Relationships>
</file>

<file path=ppt/notesSlides/_rels/notesSlide7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2.xml"/></Relationships>
</file>

<file path=ppt/notesSlides/_rels/notesSlide7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3.xml"/></Relationships>
</file>

<file path=ppt/notesSlides/_rels/notesSlide7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4.xml"/></Relationships>
</file>

<file path=ppt/notesSlides/_rels/notesSlide7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5.xml"/></Relationships>
</file>

<file path=ppt/notesSlides/_rels/notesSlide7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6.xml"/></Relationships>
</file>

<file path=ppt/notesSlides/_rels/notesSlide7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7.xml"/></Relationships>
</file>

<file path=ppt/notesSlides/_rels/notesSlide7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8.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1950. Turing's imitation game: an interrogator converses by typed questions with a hidden person and a hidden machine and must say which is the machine. Icons: react-icons (Font Awesome), drawn for the course.</a:t>
            </a:r>
          </a:p>
        </p:txBody>
      </p:sp>
      <p:sp>
        <p:nvSpPr>
          <p:cNvPr id="4" name="Slide Number Placeholder 3"/>
          <p:cNvSpPr>
            <a:spLocks noGrp="1"/>
          </p:cNvSpPr>
          <p:nvPr>
            <p:ph type="sldNum" sz="quarter" idx="5"/>
          </p:nvPr>
        </p:nvSpPr>
        <p:spPr/>
      </p:sp>
    </p:spTree>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1955-1956. The proposal (August 1955) named the field and made the conjecture quoted; the workshop was held in the summer of 1956. Photos, Wikimedia Commons: John McCarthy Stanford.jpg (null0, CC BY-SA 2.0); Marvin Minsky at OLPCb.jpg (Sethwoodworth, CC BY 3.0); ClaudeShannon MFO3807.jpg (Konrad Jacobs, CC BY-SA 2.0 de). No freely licensed photo of Nathaniel Rochester was found.</a:t>
            </a:r>
          </a:p>
        </p:txBody>
      </p:sp>
      <p:sp>
        <p:nvSpPr>
          <p:cNvPr id="4" name="Slide Number Placeholder 3"/>
          <p:cNvSpPr>
            <a:spLocks noGrp="1"/>
          </p:cNvSpPr>
          <p:nvPr>
            <p:ph type="sldNum" sz="quarter" idx="5"/>
          </p:nvPr>
        </p:nvSpPr>
        <p:spPr/>
      </p:sp>
    </p:spTree>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1958. Click the film to play it (71 s, the Internet Archive's perceptron_documentary_excerpt). Rosenblatt's perceptron learns a separating line from labeled examples: an early landmark of machine learning (tag ML).</a:t>
            </a:r>
          </a:p>
        </p:txBody>
      </p:sp>
      <p:sp>
        <p:nvSpPr>
          <p:cNvPr id="4" name="Slide Number Placeholder 3"/>
          <p:cNvSpPr>
            <a:spLocks noGrp="1"/>
          </p:cNvSpPr>
          <p:nvPr>
            <p:ph type="sldNum" sz="quarter" idx="5"/>
          </p:nvPr>
        </p:nvSpPr>
        <p:spPr/>
      </p:sp>
    </p:spTree>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1986. Rumelhart, Hinton, and Williams popularized backpropagation for networks with hidden layers (no freely licensed photo of Ronald Williams was found). Photos, Wikimedia Commons: DavidRumelhart-IJCNNseattle1991-07-08.jpg (Rolf Kickuth, CC BY-SA 4.0); Geoffrey E. Hinton, 2024 Nobel Prize Laureate in Physics (cropped1).jpg (Arthur Petron, CC BY-SA 4.0).</a:t>
            </a:r>
          </a:p>
        </p:txBody>
      </p:sp>
      <p:sp>
        <p:nvSpPr>
          <p:cNvPr id="4" name="Slide Number Placeholder 3"/>
          <p:cNvSpPr>
            <a:spLocks noGrp="1"/>
          </p:cNvSpPr>
          <p:nvPr>
            <p:ph type="sldNum" sz="quarter" idx="5"/>
          </p:nvPr>
        </p:nvSpPr>
        <p:spPr/>
      </p:sp>
    </p:spTree>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1997. Deep Blue beat Kasparov 3.5-2.5: deep search of the game tree with an evaluation function written by human experts, on custom chips. Photos: Kasparov at the 1996 match in Philadelphia (RTVE, as in Foundations 1 of the Background Notes); Deep Blue.jpg (James the photographer, CC BY 2.0, Wikimedia Commons).</a:t>
            </a:r>
          </a:p>
        </p:txBody>
      </p:sp>
      <p:sp>
        <p:nvSpPr>
          <p:cNvPr id="4" name="Slide Number Placeholder 3"/>
          <p:cNvSpPr>
            <a:spLocks noGrp="1"/>
          </p:cNvSpPr>
          <p:nvPr>
            <p:ph type="sldNum" sz="quarter" idx="5"/>
          </p:nvPr>
        </p:nvSpPr>
        <p:spPr/>
      </p:sp>
    </p:spTree>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2012. AlexNet cut the ImageNet top-5 error from 25.8% to 15.3%: features learned from 1.2 million labeled images on GPUs replaced features designed by hand.</a:t>
            </a:r>
          </a:p>
        </p:txBody>
      </p:sp>
      <p:sp>
        <p:nvSpPr>
          <p:cNvPr id="4" name="Slide Number Placeholder 3"/>
          <p:cNvSpPr>
            <a:spLocks noGrp="1"/>
          </p:cNvSpPr>
          <p:nvPr>
            <p:ph type="sldNum" sz="quarter" idx="5"/>
          </p:nvPr>
        </p:nvSpPr>
        <p:spPr/>
      </p:sp>
    </p:spTree>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2014. Generative adversarial networks (Goodfellow et al.): a generator learns to produce images and a discriminator learns to tell real from fake; generation predates ChatGPT. The 2014 samples were small digits and blurry faces; the faces shown come from StyleGAN models (2019-2020). Images, Wikimedia Commons, public domain: Woman 1.jpg, Man 2.jpg, Boy 1.jpg (Owlsmcgee); This Person Does Not Exist example.jpg. Photo: Ian Goodfellow (cropped).jpg (Ian Goodfellow, CC BY-SA 4.0).</a:t>
            </a:r>
          </a:p>
        </p:txBody>
      </p:sp>
      <p:sp>
        <p:nvSpPr>
          <p:cNvPr id="4" name="Slide Number Placeholder 3"/>
          <p:cNvSpPr>
            <a:spLocks noGrp="1"/>
          </p:cNvSpPr>
          <p:nvPr>
            <p:ph type="sldNum" sz="quarter" idx="5"/>
          </p:nvPr>
        </p:nvSpPr>
        <p:spPr/>
      </p:sp>
    </p:spTree>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2016. AlphaGo beat Lee Sedol 4-1: networks learned from expert games and self-play which moves to explore and who is winning, and a tree search combined the two. Lee won Game 4 with his move 78. No freely licensed photograph of the match itself was found; the well-known one of Lee at the board belongs to Google DeepMind. Wikimedia Commons: Go (13x13) -- 2021 -- 6741.jpg (Dietmar Rabich, CC BY-SA 4.0); Lee Se-Dol - 2016 (cropped).jpg (LG Electronics, CC BY 2.0).</a:t>
            </a:r>
          </a:p>
        </p:txBody>
      </p:sp>
      <p:sp>
        <p:nvSpPr>
          <p:cNvPr id="4" name="Slide Number Placeholder 3"/>
          <p:cNvSpPr>
            <a:spLocks noGrp="1"/>
          </p:cNvSpPr>
          <p:nvPr>
            <p:ph type="sldNum" sz="quarter" idx="5"/>
          </p:nvPr>
        </p:nvSpPr>
        <p:spPr/>
      </p:sp>
    </p:spTree>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B930EFE4-A8AA-0256-CF1A-EF0179AA1E75}"/>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9631821A-64D3-B3E1-1B10-E65DC17C9FFE}"/>
              </a:ext>
            </a:extLst>
          </p:cNvPr>
          <p:cNvSpPr>
            <a:spLocks noGrp="1" noRot="1" noChangeAspect="1"/>
          </p:cNvSpPr>
          <p:nvPr>
            <p:ph type="sldImg" idx="2"/>
          </p:nvPr>
        </p:nvSpPr>
        <p:spPr/>
      </p:sp>
      <p:sp>
        <p:nvSpPr>
          <p:cNvPr id="3" name="Notes Placeholder 2">
            <a:extLst>
              <a:ext uri="{FF2B5EF4-FFF2-40B4-BE49-F238E27FC236}">
                <a16:creationId xmlns:a16="http://schemas.microsoft.com/office/drawing/2014/main" id="{F39C375E-D74E-5D0F-9387-7D4F5D7311D5}"/>
              </a:ext>
            </a:extLst>
          </p:cNvPr>
          <p:cNvSpPr>
            <a:spLocks noGrp="1"/>
          </p:cNvSpPr>
          <p:nvPr>
            <p:ph type="body" sz="quarter" idx="3"/>
          </p:nvPr>
        </p:nvSpPr>
        <p:spPr/>
        <p:txBody>
          <a:bodyPr/>
          <a:lstStyle/>
          <a:p>
            <a:r>
              <a:t>2017. The Transformer (Vaswani et al., 'Attention Is All You Need'): attention lets each position read directly from other positions, with the same parameters at every position. Built for translation as an encoder-decoder; the decoder alone, trained on next-token prediction, became the basis of language models. Figure: Transformer, full architecture.png (dvgodoy, CC BY 4.0, Wikimedia Commons).</a:t>
            </a:r>
          </a:p>
        </p:txBody>
      </p:sp>
      <p:sp>
        <p:nvSpPr>
          <p:cNvPr id="4" name="Slide Number Placeholder 3">
            <a:extLst>
              <a:ext uri="{FF2B5EF4-FFF2-40B4-BE49-F238E27FC236}">
                <a16:creationId xmlns:a16="http://schemas.microsoft.com/office/drawing/2014/main" id="{777960E6-3723-8CAF-FF93-2305AF0696A0}"/>
              </a:ext>
            </a:extLst>
          </p:cNvPr>
          <p:cNvSpPr>
            <a:spLocks noGrp="1"/>
          </p:cNvSpPr>
          <p:nvPr>
            <p:ph type="sldNum" sz="quarter" idx="5"/>
          </p:nvPr>
        </p:nvSpPr>
        <p:spPr/>
      </p:sp>
    </p:spTree>
    <p:extLst>
      <p:ext uri="{BB962C8B-B14F-4D97-AF65-F5344CB8AC3E}">
        <p14:creationId xmlns:p14="http://schemas.microsoft.com/office/powerpoint/2010/main" val="2001744644"/>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2018. GPT (Radford et al.) and BERT (Devlin et al.): a Transformer pretrained on unlabeled text, then fine-tuned for each task, beat models built for individual tasks. GPT predicts the next word; BERT predicts masked words from both sides. Diagram drawn for the course.</a:t>
            </a:r>
          </a:p>
        </p:txBody>
      </p:sp>
      <p:sp>
        <p:nvSpPr>
          <p:cNvPr id="4" name="Slide Number Placeholder 3"/>
          <p:cNvSpPr>
            <a:spLocks noGrp="1"/>
          </p:cNvSpPr>
          <p:nvPr>
            <p:ph type="sldNum" sz="quarter" idx="5"/>
          </p:nvPr>
        </p:nvSpPr>
        <p:spPr/>
      </p:sp>
    </p:spTree>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2020. GPT-3 (Brown et al.): a 175-billion-parameter model performs new tasks from a prompt containing a few examples (in-context learning), with its weights held fixed. Week 5 returns to prompting and in-context learning. The example was written for the course.</a:t>
            </a:r>
          </a:p>
        </p:txBody>
      </p:sp>
      <p:sp>
        <p:nvSpPr>
          <p:cNvPr id="4" name="Slide Number Placeholder 3"/>
          <p:cNvSpPr>
            <a:spLocks noGrp="1"/>
          </p:cNvSpPr>
          <p:nvPr>
            <p:ph type="sldNum" sz="quarter" idx="5"/>
          </p:nvPr>
        </p:nvSpPr>
        <p:spPr/>
      </p:sp>
    </p:spTree>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2022. ChatGPT (OpenAI, 30 November 2022): supervised fine-tuning on demonstrations and reinforcement learning from human preferences, with a conversational interface, made a language model usable as an assistant. Weeks 5 and 7 build this. The exchange is illustrative, written for the course; replace it with a recorded one if you prefer (system, version, date).</a:t>
            </a:r>
          </a:p>
        </p:txBody>
      </p:sp>
      <p:sp>
        <p:nvSpPr>
          <p:cNvPr id="4" name="Slide Number Placeholder 3"/>
          <p:cNvSpPr>
            <a:spLocks noGrp="1"/>
          </p:cNvSpPr>
          <p:nvPr>
            <p:ph type="sldNum" sz="quarter" idx="5"/>
          </p:nvPr>
        </p:nvSpPr>
        <p:spPr/>
      </p:sp>
    </p:spTree>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2023 and 2024. GPT-4 (OpenAI, March 2023): images as input. GPT-4o (May 2024): one model for text, audio, and images. The exchange is illustrative. Photo: Verschiedenfarbige Schwertlilie (Iris versicolor)-20200603-RM-100257.jpg (Ermell, CC BY-SA 4.0, Wikimedia Commons).</a:t>
            </a:r>
          </a:p>
        </p:txBody>
      </p:sp>
      <p:sp>
        <p:nvSpPr>
          <p:cNvPr id="4" name="Slide Number Placeholder 3"/>
          <p:cNvSpPr>
            <a:spLocks noGrp="1"/>
          </p:cNvSpPr>
          <p:nvPr>
            <p:ph type="sldNum" sz="quarter" idx="5"/>
          </p:nvPr>
        </p:nvSpPr>
        <p:spPr/>
      </p:sp>
    </p:spTree>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2024 and 2025. OpenAI o1 (September 2024) and DeepSeek-R1 (January 2025): reinforcement learning on problems with checkable answers taught models to reason at length before answering, spending more computation at inference time to get more answers right. Weeks 6 to 8. The problem was written for the course; the answer is correct (6^2 = 36, 29^2 = 841 = 24*35 + 1, 34^2 = 1156 = 33*35 + 1).</a:t>
            </a:r>
          </a:p>
        </p:txBody>
      </p:sp>
      <p:sp>
        <p:nvSpPr>
          <p:cNvPr id="4" name="Slide Number Placeholder 3"/>
          <p:cNvSpPr>
            <a:spLocks noGrp="1"/>
          </p:cNvSpPr>
          <p:nvPr>
            <p:ph type="sldNum" sz="quarter" idx="5"/>
          </p:nvPr>
        </p:nvSpPr>
        <p:spPr/>
      </p:sp>
    </p:spTree>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2025. International Mathematical Olympiad: an advanced version of Gemini Deep Think solved five of the six problems, for 35 of 42 points, graded by the competition's coordinators, end to end in natural language within the time limit (Google DeepMind, July 2025). IMO logo: IMO logo.svg (International Mathematical Olympiad, public domain, Wikimedia Commons). Link: https://www.reddit.com/r/singularity/comments/1m5o1ll/gemini_with_deep_think_achieves_gold_medallevel/</a:t>
            </a:r>
          </a:p>
        </p:txBody>
      </p:sp>
      <p:sp>
        <p:nvSpPr>
          <p:cNvPr id="4" name="Slide Number Placeholder 3"/>
          <p:cNvSpPr>
            <a:spLocks noGrp="1"/>
          </p:cNvSpPr>
          <p:nvPr>
            <p:ph type="sldNum" sz="quarter" idx="5"/>
          </p:nvPr>
        </p:nvSpPr>
        <p:spPr/>
      </p:sp>
    </p:spTree>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2025 and 2026. Open Erdős problems: see Terence Tao's wiki 'AI contributions to Erdős problems' (github.com/teorth/erdosproblems) and arXiv:2601.07421 for Problem 728. Photo: Paul Erdos with Terence Tao.jpg (Billy or Grace Tao, CC BY-SA 2.0, Wikimedia Commons).</a:t>
            </a:r>
          </a:p>
        </p:txBody>
      </p:sp>
      <p:sp>
        <p:nvSpPr>
          <p:cNvPr id="4" name="Slide Number Placeholder 3"/>
          <p:cNvSpPr>
            <a:spLocks noGrp="1"/>
          </p:cNvSpPr>
          <p:nvPr>
            <p:ph type="sldNum" sz="quarter" idx="5"/>
          </p:nvPr>
        </p:nvSpPr>
        <p:spPr/>
      </p:sp>
    </p:spTree>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2026. Erdős conjectured in 1946 that n points in the plane determine at most n^(1+o(1)) pairs at distance exactly one (u(n) on the slide). In May 2026 an internal OpenAI reasoning model constructed configurations with at least n^(1+delta) such pairs, for a fixed delta &gt; 0. Picture: OpenAI, from its announcement 'Model disproves discrete geometry conjecture'; companion paper arXiv:2605.20695.</a:t>
            </a:r>
          </a:p>
        </p:txBody>
      </p:sp>
      <p:sp>
        <p:nvSpPr>
          <p:cNvPr id="4" name="Slide Number Placeholder 3"/>
          <p:cNvSpPr>
            <a:spLocks noGrp="1"/>
          </p:cNvSpPr>
          <p:nvPr>
            <p:ph type="sldNum" sz="quarter" idx="5"/>
          </p:nvPr>
        </p:nvSpPr>
        <p:spPr/>
      </p:sp>
    </p:spTree>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2026, claimed. In September 2026 OpenAI announced finite-time singularity for the forced three-dimensional Navier-Stokes equations (one of the outcomes the Clay problem allows), checked in Lean. The Clay Mathematics Institute began a deliberately unhurried review. Read the claim with its evidence: a formal proof, expert checking, a review still under way. Picture: OpenAI, from its announcement.</a:t>
            </a:r>
          </a:p>
        </p:txBody>
      </p:sp>
      <p:sp>
        <p:nvSpPr>
          <p:cNvPr id="4" name="Slide Number Placeholder 3"/>
          <p:cNvSpPr>
            <a:spLocks noGrp="1"/>
          </p:cNvSpPr>
          <p:nvPr>
            <p:ph type="sldNum" sz="quarter" idx="5"/>
          </p:nvPr>
        </p:nvSpPr>
        <p:spPr/>
      </p:sp>
    </p:spTree>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Next: what we will study and build.</a:t>
            </a:r>
          </a:p>
        </p:txBody>
      </p:sp>
      <p:sp>
        <p:nvSpPr>
          <p:cNvPr id="4" name="Slide Number Placeholder 3"/>
          <p:cNvSpPr>
            <a:spLocks noGrp="1"/>
          </p:cNvSpPr>
          <p:nvPr>
            <p:ph type="sldNum" sz="quarter" idx="5"/>
          </p:nvPr>
        </p:nvSpPr>
        <p:spPr/>
      </p:sp>
    </p:spTree>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rPr dirty="0"/>
              <a:t>The object at the center of the course: a probability distribution over strings, computed one token at a time. </a:t>
            </a:r>
            <a:r>
              <a:rPr dirty="0" err="1"/>
              <a:t>q_theta</a:t>
            </a:r>
            <a:r>
              <a:rPr dirty="0"/>
              <a:t>(x_1...</a:t>
            </a:r>
            <a:r>
              <a:rPr dirty="0" err="1"/>
              <a:t>x_T</a:t>
            </a:r>
            <a:r>
              <a:rPr dirty="0"/>
              <a:t> EOS) = </a:t>
            </a:r>
            <a:r>
              <a:rPr dirty="0" err="1"/>
              <a:t>prod_t</a:t>
            </a:r>
            <a:r>
              <a:rPr dirty="0"/>
              <a:t> </a:t>
            </a:r>
            <a:r>
              <a:rPr dirty="0" err="1"/>
              <a:t>q_theta</a:t>
            </a:r>
            <a:r>
              <a:rPr dirty="0"/>
              <a:t>(</a:t>
            </a:r>
            <a:r>
              <a:rPr dirty="0" err="1"/>
              <a:t>x_t</a:t>
            </a:r>
            <a:r>
              <a:rPr dirty="0"/>
              <a:t> | x_&lt;t), with x_{T+1} = EOS. The chain rule is not new, and Shannon (1948) generated English from such conditionals. What is new is how the conditionals are computed and fitted: a neural network maps the whole prefix to a distribution over the next token (the Transformer), trained at scale, then post-trained. The probabilities in the chart are illustrative.</a:t>
            </a:r>
          </a:p>
        </p:txBody>
      </p:sp>
      <p:sp>
        <p:nvSpPr>
          <p:cNvPr id="4" name="Slide Number Placeholder 3"/>
          <p:cNvSpPr>
            <a:spLocks noGrp="1"/>
          </p:cNvSpPr>
          <p:nvPr>
            <p:ph type="sldNum" sz="quarter" idx="5"/>
          </p:nvPr>
        </p:nvSpPr>
        <p:spPr/>
      </p:sp>
    </p:spTree>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What we will build. How the conditionals are computed: counts and grammars (Week 2), then attention (Week 3); how theta is fitted at scale (Week 4); how the fitted distribution is changed so that sampling gives a helpful assistant (Weeks 5 to 7); how it is used: decoded, searched, served, and evaluated (Week 8). The count-based models are baselines, not an early Transformer. From scratch: we write the models and their training ourselves from tensor operations, and the differentiation engine itself today; from Week 2 on we use PyTorch tensors and autograd.</a:t>
            </a:r>
          </a:p>
        </p:txBody>
      </p:sp>
      <p:sp>
        <p:nvSpPr>
          <p:cNvPr id="4" name="Slide Number Placeholder 3"/>
          <p:cNvSpPr>
            <a:spLocks noGrp="1"/>
          </p:cNvSpPr>
          <p:nvPr>
            <p:ph type="sldNum" sz="quarter" idx="5"/>
          </p:nvPr>
        </p:nvSpPr>
        <p:spPr/>
      </p:sp>
    </p:spTree>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Next: basic AI/ML/DL terminology, following Foundations 1 of the Background Notes.</a:t>
            </a:r>
          </a:p>
        </p:txBody>
      </p:sp>
      <p:sp>
        <p:nvSpPr>
          <p:cNvPr id="4" name="Slide Number Placeholder 3"/>
          <p:cNvSpPr>
            <a:spLocks noGrp="1"/>
          </p:cNvSpPr>
          <p:nvPr>
            <p:ph type="sldNum" sz="quarter" idx="5"/>
          </p:nvPr>
        </p:nvSpPr>
        <p:spPr/>
      </p:sp>
    </p:spTree>
  </p:cSld>
  <p:clrMapOvr>
    <a:masterClrMapping/>
  </p:clrMapOvr>
</p:notes>
</file>

<file path=ppt/notesSlides/notesSlide2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Notes §7, Probable is not true. Shannon (1948); Kalai and Vempala (2024), Calibrated language models must hallucinate. For the facts it covers, hallucination is a consequence of calibrated prediction rather than an engineering defect. Photo: ClaudeShannon MFO3807.jpg (Konrad Jacobs, CC BY-SA 2.0 de).</a:t>
            </a:r>
          </a:p>
        </p:txBody>
      </p:sp>
      <p:sp>
        <p:nvSpPr>
          <p:cNvPr id="4" name="Slide Number Placeholder 3"/>
          <p:cNvSpPr>
            <a:spLocks noGrp="1"/>
          </p:cNvSpPr>
          <p:nvPr>
            <p:ph type="sldNum" idx="5" sz="quarter"/>
          </p:nvPr>
        </p:nvSpPr>
        <p:spPr/>
      </p:sp>
    </p:spTree>
  </p:cSld>
  <p:clrMapOvr>
    <a:masterClrMapping/>
  </p:clrMapOvr>
</p:notes>
</file>

<file path=ppt/notesSlides/notesSlide3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Notes §7, Meaning up to isomorphism. Dictionaries as networks of cross-references (Figure 12 of the notes). Mikolov, Le, and Sutskever (2013); Conneau, Lample, Ranzato, Denoyer, and Jégou (2018); Søgaard, Ruder, and Vulić (2018); Jha et al. (2025), translating between the representations of different models; Piantadosi and Hill (2022). The vector picture is illustrative.</a:t>
            </a:r>
          </a:p>
        </p:txBody>
      </p:sp>
      <p:sp>
        <p:nvSpPr>
          <p:cNvPr id="4" name="Slide Number Placeholder 3"/>
          <p:cNvSpPr>
            <a:spLocks noGrp="1"/>
          </p:cNvSpPr>
          <p:nvPr>
            <p:ph type="sldNum" idx="5" sz="quarter"/>
          </p:nvPr>
        </p:nvSpPr>
        <p:spPr/>
      </p:sp>
    </p:spTree>
  </p:cSld>
  <p:clrMapOvr>
    <a:masterClrMapping/>
  </p:clrMapOvr>
</p:notes>
</file>

<file path=ppt/notesSlides/notesSlide3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Notes §7, The grounding problem. Bender and Koller (2020), Climbing towards NLU: on meaning, form, and understanding in the age of data. Harnad (1990), The symbol grounding problem, including the dictionary-go-round: learning Chinese from a Chinese-Chinese dictionary alone. Octopus: Octopus vulgaris Merculiano.jpg (public domain). Figures drawn for the course.</a:t>
            </a:r>
          </a:p>
        </p:txBody>
      </p:sp>
      <p:sp>
        <p:nvSpPr>
          <p:cNvPr id="4" name="Slide Number Placeholder 3"/>
          <p:cNvSpPr>
            <a:spLocks noGrp="1"/>
          </p:cNvSpPr>
          <p:nvPr>
            <p:ph type="sldNum" idx="5" sz="quarter"/>
          </p:nvPr>
        </p:nvSpPr>
        <p:spPr/>
      </p:sp>
    </p:spTree>
  </p:cSld>
  <p:clrMapOvr>
    <a:masterClrMapping/>
  </p:clrMapOvr>
</p:notes>
</file>

<file path=ppt/notesSlides/notesSlide3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Notes §7, What words are about. Aristotle, On Interpretation; Frege (1892); Wittgenstein (1953); Grice (1975). Each relates a string to something outside it: the world, what a speaker means and does, and a shared context. Photos: Young frege.jpg (public domain); Venus (NASA/JPL-Caltech, public domain).</a:t>
            </a:r>
          </a:p>
        </p:txBody>
      </p:sp>
      <p:sp>
        <p:nvSpPr>
          <p:cNvPr id="4" name="Slide Number Placeholder 3"/>
          <p:cNvSpPr>
            <a:spLocks noGrp="1"/>
          </p:cNvSpPr>
          <p:nvPr>
            <p:ph type="sldNum" idx="5" sz="quarter"/>
          </p:nvPr>
        </p:nvSpPr>
        <p:spPr/>
      </p:sp>
    </p:spTree>
  </p:cSld>
  <p:clrMapOvr>
    <a:masterClrMapping/>
  </p:clrMapOvr>
</p:notes>
</file>

<file path=ppt/notesSlides/notesSlide3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Foundations 1 and notes §3, Generative and discriminative models. A generative model is a probability distribution q_theta over the objects themselves, fitted so that it is close to the unknown distribution of the data; generating means sampling x ~ q_theta; a conditional generative model samples x ~ q_theta(. | c) given a prompt or label c. A generative classifier models q(x, y) = q(x | y) q(y) and classifies with Bayes' rule; a discriminative one models q(y | x) directly (Ng and Jordan 2001). The curves are illustrative (two Gaussian classes, prior 0.3 for spam).</a:t>
            </a:r>
          </a:p>
        </p:txBody>
      </p:sp>
      <p:sp>
        <p:nvSpPr>
          <p:cNvPr id="4" name="Slide Number Placeholder 3"/>
          <p:cNvSpPr>
            <a:spLocks noGrp="1"/>
          </p:cNvSpPr>
          <p:nvPr>
            <p:ph type="sldNum" idx="5" sz="quarter"/>
          </p:nvPr>
        </p:nvSpPr>
        <p:spPr/>
      </p:sp>
    </p:spTree>
  </p:cSld>
  <p:clrMapOvr>
    <a:masterClrMapping/>
  </p:clrMapOvr>
</p:notes>
</file>

<file path=ppt/notesSlides/notesSlide3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Notes §4, The bitter lesson. Sutton, The Bitter Lesson (2019), http://www.incompleteideas.net/IncIdeas/BitterLesson.html; Sutton with Dwarkesh Patel (2025), https://www.youtube.com/watch?v=21EYKqUsPfg. Thumbnail: Dwarkesh Podcast.</a:t>
            </a:r>
          </a:p>
        </p:txBody>
      </p:sp>
      <p:sp>
        <p:nvSpPr>
          <p:cNvPr id="4" name="Slide Number Placeholder 3"/>
          <p:cNvSpPr>
            <a:spLocks noGrp="1"/>
          </p:cNvSpPr>
          <p:nvPr>
            <p:ph type="sldNum" idx="5" sz="quarter"/>
          </p:nvPr>
        </p:nvSpPr>
        <p:spPr/>
      </p:sp>
    </p:spTree>
  </p:cSld>
  <p:clrMapOvr>
    <a:masterClrMapping/>
  </p:clrMapOvr>
</p:notes>
</file>

<file path=ppt/notesSlides/notesSlide3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Foundations 1, Learning from experience: the table of dimensions along which an ML system is described. The learning paradigm specifies the available feedback; the setting, when examples arrive and the model is updated; the task, the required result; models and algorithms, the mathematical objects and procedures. Statistical learning theory studies how learning algorithms use data to construct predictors that generalize.</a:t>
            </a:r>
          </a:p>
        </p:txBody>
      </p:sp>
      <p:sp>
        <p:nvSpPr>
          <p:cNvPr id="4" name="Slide Number Placeholder 3"/>
          <p:cNvSpPr>
            <a:spLocks noGrp="1"/>
          </p:cNvSpPr>
          <p:nvPr>
            <p:ph type="sldNum" idx="5" sz="quarter"/>
          </p:nvPr>
        </p:nvSpPr>
        <p:spPr/>
      </p:sp>
    </p:spTree>
  </p:cSld>
  <p:clrMapOvr>
    <a:masterClrMapping/>
  </p:clrMapOvr>
</p:notes>
</file>

<file path=ppt/notesSlides/notesSlide3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Foundations 1, Learning, prediction, and action. Learning changes the model; prediction computes its output (inference, in deployment); a decision rule, with costs and constraints, determines the action. An offline-trained model can serve online, real-time predictions. A learned RL policy selects actions directly. The inference table is from Section 3 of the lecture notes.</a:t>
            </a:r>
          </a:p>
        </p:txBody>
      </p:sp>
      <p:sp>
        <p:nvSpPr>
          <p:cNvPr id="4" name="Slide Number Placeholder 3"/>
          <p:cNvSpPr>
            <a:spLocks noGrp="1"/>
          </p:cNvSpPr>
          <p:nvPr>
            <p:ph type="sldNum" sz="quarter" idx="5"/>
          </p:nvPr>
        </p:nvSpPr>
        <p:spPr/>
      </p:sp>
    </p:spTree>
  </p:cSld>
  <p:clrMapOvr>
    <a:masterClrMapping/>
  </p:clrMapOvr>
</p:notes>
</file>

<file path=ppt/notesSlides/notesSlide3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1959. Arthur Samuel, 'Some Studies in Machine Learning Using the Game of Checkers' (IBM Journal of Research and Development, 1959). The program played against a copy of itself and adjusted the coefficients of its evaluation function so that the value of a position moved toward the value found by searching ahead: an ancestor of temporal-difference learning (Sutton and Barto, Reinforcement Learning, 2nd ed., §16.2). Tag RL: an early landmark of reinforcement learning. Board drawn for the course; no freely licensed photo of Samuel was found.</a:t>
            </a:r>
          </a:p>
        </p:txBody>
      </p:sp>
      <p:sp>
        <p:nvSpPr>
          <p:cNvPr id="4" name="Slide Number Placeholder 3"/>
          <p:cNvSpPr>
            <a:spLocks noGrp="1"/>
          </p:cNvSpPr>
          <p:nvPr>
            <p:ph type="sldNum" idx="5" sz="quarter"/>
          </p:nvPr>
        </p:nvSpPr>
        <p:spPr/>
      </p:sp>
    </p:spTree>
  </p:cSld>
  <p:clrMapOvr>
    <a:masterClrMapping/>
  </p:clrMapOvr>
</p:notes>
</file>

<file path=ppt/notesSlides/notesSlide4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Foundations 1, Disciplines. AI names both the capability and the field. Deep Blue is the search tradition (some evaluation weights were tuned automatically). The iris tree (4 leaves) misclassifies 4 of 150 training flowers. The digit network (64-32-16 hidden units) is 98% correct on held-out 8x8 digits. Photo as in Foundations 1 (RTVE).</a:t>
            </a:r>
          </a:p>
        </p:txBody>
      </p:sp>
      <p:sp>
        <p:nvSpPr>
          <p:cNvPr id="4" name="Slide Number Placeholder 3"/>
          <p:cNvSpPr>
            <a:spLocks noGrp="1"/>
          </p:cNvSpPr>
          <p:nvPr>
            <p:ph type="sldNum" idx="5" sz="quarter"/>
          </p:nvPr>
        </p:nvSpPr>
        <p:spPr/>
      </p:sp>
    </p:spTree>
  </p:cSld>
  <p:clrMapOvr>
    <a:masterClrMapping/>
  </p:clrMapOvr>
</p:notes>
</file>

<file path=ppt/notesSlides/notesSlide4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Foundations 1, Learning from experience: Mitchell's definition (Machine Learning, 1997), in the lecture notes' wording. For a language model, T is predicting the next token, E a corpus of documents, P the average log probability of held-out text.</a:t>
            </a:r>
          </a:p>
        </p:txBody>
      </p:sp>
      <p:sp>
        <p:nvSpPr>
          <p:cNvPr id="4" name="Slide Number Placeholder 3"/>
          <p:cNvSpPr>
            <a:spLocks noGrp="1"/>
          </p:cNvSpPr>
          <p:nvPr>
            <p:ph type="sldNum" idx="5" sz="quarter"/>
          </p:nvPr>
        </p:nvSpPr>
        <p:spPr/>
      </p:sp>
    </p:spTree>
  </p:cSld>
  <p:clrMapOvr>
    <a:masterClrMapping/>
  </p:clrMapOvr>
</p:notes>
</file>

<file path=ppt/notesSlides/notesSlide4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Foundations 1, Learning paradigms. Self-supervision is often grouped with unsupervised learning, though the constructed problem has inputs and targets. RL: an agent acts to maximize expected cumulative reward; exploration versus exploitation. These categories describe the source of the signal, not the architecture. RL diagram: Reinforcement learning diagram.svg (Megajuice, CC0, Wikimedia Commons), as in Foundations 1.</a:t>
            </a:r>
          </a:p>
        </p:txBody>
      </p:sp>
      <p:sp>
        <p:nvSpPr>
          <p:cNvPr id="4" name="Slide Number Placeholder 3"/>
          <p:cNvSpPr>
            <a:spLocks noGrp="1"/>
          </p:cNvSpPr>
          <p:nvPr>
            <p:ph type="sldNum" idx="5" sz="quarter"/>
          </p:nvPr>
        </p:nvSpPr>
        <p:spPr/>
      </p:sp>
    </p:spTree>
  </p:cSld>
  <p:clrMapOvr>
    <a:masterClrMapping/>
  </p:clrMapOvr>
</p:notes>
</file>

<file path=ppt/notesSlides/notesSlide4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Foundations 1, Online and offline learning. Offline is also called batch learning; mini-batch SGD on a fixed dataset is still offline. Online supervised learning (a spam filter updated as users correct it) is not RL: its predictions do not choose which emails arrive next.</a:t>
            </a:r>
          </a:p>
        </p:txBody>
      </p:sp>
      <p:sp>
        <p:nvSpPr>
          <p:cNvPr id="4" name="Slide Number Placeholder 3"/>
          <p:cNvSpPr>
            <a:spLocks noGrp="1"/>
          </p:cNvSpPr>
          <p:nvPr>
            <p:ph type="sldNum" idx="5" sz="quarter"/>
          </p:nvPr>
        </p:nvSpPr>
        <p:spPr/>
      </p:sp>
    </p:spTree>
  </p:cSld>
  <p:clrMapOvr>
    <a:masterClrMapping/>
  </p:clrMapOvr>
</p:notes>
</file>

<file path=ppt/notesSlides/notesSlide4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Foundations 1, Tasks: classification, regression, clustering, dimensionality reduction, density estimation, anomaly detection, sequential decision-making. A task is a reusable mathematical part of a practical problem; a supervised dataset D = {(x_i, y_i)}. Old Faithful: R's faithful data; 17% of waits lie between 66 and 76 minutes, 43% between 75 and 85.</a:t>
            </a:r>
          </a:p>
        </p:txBody>
      </p:sp>
      <p:sp>
        <p:nvSpPr>
          <p:cNvPr id="4" name="Slide Number Placeholder 3"/>
          <p:cNvSpPr>
            <a:spLocks noGrp="1"/>
          </p:cNvSpPr>
          <p:nvPr>
            <p:ph type="sldNum" idx="5" sz="quarter"/>
          </p:nvPr>
        </p:nvSpPr>
        <p:spPr/>
      </p:sp>
    </p:spTree>
  </p:cSld>
  <p:clrMapOvr>
    <a:masterClrMapping/>
  </p:clrMapOvr>
</p:notes>
</file>

<file path=ppt/notesSlides/notesSlide4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Foundations 1, Models and model classes; parametric and nonparametric; parameters and hyperparameters; neural networks; representation learning.</a:t>
            </a:r>
          </a:p>
        </p:txBody>
      </p:sp>
      <p:sp>
        <p:nvSpPr>
          <p:cNvPr id="4" name="Slide Number Placeholder 3"/>
          <p:cNvSpPr>
            <a:spLocks noGrp="1"/>
          </p:cNvSpPr>
          <p:nvPr>
            <p:ph type="sldNum" idx="5" sz="quarter"/>
          </p:nvPr>
        </p:nvSpPr>
        <p:spPr/>
      </p:sp>
    </p:spTree>
  </p:cSld>
  <p:clrMapOvr>
    <a:masterClrMapping/>
  </p:clrMapOvr>
</p:notes>
</file>

<file path=ppt/notesSlides/notesSlide4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Notes §6, The company a word keeps. Pereira's model worked because it treated similar words alike; which words are similar? Harris (1954), Distributional Structure; Firth (1957); Bengio, Ducharme, Vincent, and Jauvin (2003), a neural probabilistic language model; attention and the Transformer in Week 3. Word vectors: PPMI and SVD on two Austen novels (NLTK Gutenberg). The attention weights are illustrative.</a:t>
            </a:r>
          </a:p>
        </p:txBody>
      </p:sp>
      <p:sp>
        <p:nvSpPr>
          <p:cNvPr id="4" name="Slide Number Placeholder 3"/>
          <p:cNvSpPr>
            <a:spLocks noGrp="1"/>
          </p:cNvSpPr>
          <p:nvPr>
            <p:ph type="sldNum" idx="5" sz="quarter"/>
          </p:nvPr>
        </p:nvSpPr>
        <p:spPr/>
      </p:sp>
    </p:spTree>
  </p:cSld>
  <p:clrMapOvr>
    <a:masterClrMapping/>
  </p:clrMapOvr>
</p:notes>
</file>

<file path=ppt/notesSlides/notesSlide4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Foundations 1, Losses and objectives; training, validation, and test data. Loss l(y, y_hat) with the target first. Generalization is estimated, not proved.</a:t>
            </a:r>
          </a:p>
        </p:txBody>
      </p:sp>
      <p:sp>
        <p:nvSpPr>
          <p:cNvPr id="4" name="Slide Number Placeholder 3"/>
          <p:cNvSpPr>
            <a:spLocks noGrp="1"/>
          </p:cNvSpPr>
          <p:nvPr>
            <p:ph type="sldNum" idx="5" sz="quarter"/>
          </p:nvPr>
        </p:nvSpPr>
        <p:spPr/>
      </p:sp>
    </p:spTree>
  </p:cSld>
  <p:clrMapOvr>
    <a:masterClrMapping/>
  </p:clrMapOvr>
</p:notes>
</file>

<file path=ppt/notesSlides/notesSlide4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Foundations 1, Example: a spam filter. Colors follow the previous slide: learning blue, prediction green, action red. If user corrections update the model as they arrive, the setting becomes online.</a:t>
            </a:r>
          </a:p>
        </p:txBody>
      </p:sp>
      <p:sp>
        <p:nvSpPr>
          <p:cNvPr id="4" name="Slide Number Placeholder 3"/>
          <p:cNvSpPr>
            <a:spLocks noGrp="1"/>
          </p:cNvSpPr>
          <p:nvPr>
            <p:ph type="sldNum" idx="5" sz="quarter"/>
          </p:nvPr>
        </p:nvSpPr>
        <p:spPr/>
      </p:sp>
    </p:spTree>
  </p:cSld>
  <p:clrMapOvr>
    <a:masterClrMapping/>
  </p:clrMapOvr>
</p:notes>
</file>

<file path=ppt/notesSlides/notesSlide4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Next: understanding intelligence, learning, language, and meaning.</a:t>
            </a:r>
          </a:p>
        </p:txBody>
      </p:sp>
      <p:sp>
        <p:nvSpPr>
          <p:cNvPr id="4" name="Slide Number Placeholder 3"/>
          <p:cNvSpPr>
            <a:spLocks noGrp="1"/>
          </p:cNvSpPr>
          <p:nvPr>
            <p:ph type="sldNum" idx="5" sz="quarter"/>
          </p:nvPr>
        </p:nvSpPr>
        <p:spPr/>
      </p:sp>
    </p:spTree>
  </p:cSld>
  <p:clrMapOvr>
    <a:masterClrMapping/>
  </p:clrMapOvr>
</p:notes>
</file>

<file path=ppt/notesSlides/notesSlide5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Notes §5, Prediction is compression. Arithmetic coding: at most -log2 q(x) + 2 bits; Kraft's inequality. Cross-entropy H(p,q) = H(p) + KL(p||q). Maximum likelihood = minimum KL. Grant Sanderson, But what is cross-entropy? (Compression is Intelligence, part 2); Nathan Barry, GziPT (nathan.rs/posts/gzip-lm). Rissanen (1978), minimum description length; the Occam bound's ln|H| is the length of a hypothesis's name. Solomonoff (1964).</a:t>
            </a:r>
          </a:p>
        </p:txBody>
      </p:sp>
      <p:sp>
        <p:nvSpPr>
          <p:cNvPr id="4" name="Slide Number Placeholder 3"/>
          <p:cNvSpPr>
            <a:spLocks noGrp="1"/>
          </p:cNvSpPr>
          <p:nvPr>
            <p:ph type="sldNum" idx="5" sz="quarter"/>
          </p:nvPr>
        </p:nvSpPr>
        <p:spPr/>
      </p:sp>
    </p:spTree>
  </p:cSld>
  <p:clrMapOvr>
    <a:masterClrMapping/>
  </p:clrMapOvr>
</p:notes>
</file>

<file path=ppt/notesSlides/notesSlide5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Notes §4, Symbols, networks, and the Dartmouth conjecture. Newell and Simon (1976), physical symbol system hypothesis; McCulloch and Pitts (1943); Rosenblatt (1958); Minsky and Papert (1969). Photos, Wikimedia Commons: Herbert A. Simon and Allen Newell Chess Match.jpg (public domain); Frank Rosenblatt.jpg (CC BY-SA 4.0); Dartmouth Hall (Kenneth C. Zirkel, CC BY 4.0).</a:t>
            </a:r>
          </a:p>
        </p:txBody>
      </p:sp>
      <p:sp>
        <p:nvSpPr>
          <p:cNvPr id="4" name="Slide Number Placeholder 3"/>
          <p:cNvSpPr>
            <a:spLocks noGrp="1"/>
          </p:cNvSpPr>
          <p:nvPr>
            <p:ph type="sldNum" idx="5" sz="quarter"/>
          </p:nvPr>
        </p:nvSpPr>
        <p:spPr/>
      </p:sp>
    </p:spTree>
  </p:cSld>
  <p:clrMapOvr>
    <a:masterClrMapping/>
  </p:clrMapOvr>
</p:notes>
</file>

<file path=ppt/notesSlides/notesSlide5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Notes §4, Search and learning. Game playing makes the contrast between written-down and learned knowledge sharp, because success is unambiguous. Deep Blue: Campbell, Hoane, and Hsu (2002). AlphaGo: Silver et al. (2016). Figures drawn for the course.</a:t>
            </a:r>
          </a:p>
        </p:txBody>
      </p:sp>
      <p:sp>
        <p:nvSpPr>
          <p:cNvPr id="4" name="Slide Number Placeholder 3"/>
          <p:cNvSpPr>
            <a:spLocks noGrp="1"/>
          </p:cNvSpPr>
          <p:nvPr>
            <p:ph type="sldNum" idx="5" sz="quarter"/>
          </p:nvPr>
        </p:nvSpPr>
        <p:spPr/>
      </p:sp>
    </p:spTree>
  </p:cSld>
  <p:clrMapOvr>
    <a:masterClrMapping/>
  </p:clrMapOvr>
</p:notes>
</file>

<file path=ppt/notesSlides/notesSlide5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Notes §4, Definitions and measures. Russell and Norvig, Artificial Intelligence: A Modern Approach. Legg and Hutter (2007), Universal intelligence. Chollet (2019), On the Measure of Intelligence (ARC). Figures drawn for the course.</a:t>
            </a:r>
          </a:p>
        </p:txBody>
      </p:sp>
      <p:sp>
        <p:nvSpPr>
          <p:cNvPr id="4" name="Slide Number Placeholder 3"/>
          <p:cNvSpPr>
            <a:spLocks noGrp="1"/>
          </p:cNvSpPr>
          <p:nvPr>
            <p:ph type="sldNum" idx="5" sz="quarter"/>
          </p:nvPr>
        </p:nvSpPr>
        <p:spPr/>
      </p:sp>
    </p:spTree>
  </p:cSld>
  <p:clrMapOvr>
    <a:masterClrMapping/>
  </p:clrMapOvr>
</p:notes>
</file>

<file path=ppt/notesSlides/notesSlide5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Notes §4, Turing's question. Descartes (1637); Lovelace (1843); Jefferson (1949); Turing (1950): 10^9 bits, 70 percent, five minutes; the child machine. The lasting value of the game is methodological: a behavioral specification of the task. As a definition it is poor. Weizenbaum (1966), ELIZA: behavior can suggest more understanding than there is. Searle (1980), the Chinese room: even flawless behavior would not establish understanding; the systems reply. Pictures, Wikimedia Commons: Descartes after Frans Hals (public domain); Ada Lovelace portrait.jpg (public domain); Analytical engine trial model, Science Museum (Daderot, CC0); SSEM Manchester museum.jpg (Parrot of Doom, CC BY-SA 3.0); ELIZA conversation.png (public domain); Joseph Weizenbaum (Andreas Schepers, CC BY 2.0); John Searle speaking at Google 1.jpg (FranksValli, CC BY-SA 4.0).</a:t>
            </a:r>
          </a:p>
        </p:txBody>
      </p:sp>
      <p:sp>
        <p:nvSpPr>
          <p:cNvPr id="4" name="Slide Number Placeholder 3"/>
          <p:cNvSpPr>
            <a:spLocks noGrp="1"/>
          </p:cNvSpPr>
          <p:nvPr>
            <p:ph type="sldNum" idx="5" sz="quarter"/>
          </p:nvPr>
        </p:nvSpPr>
        <p:spPr/>
      </p:sp>
    </p:spTree>
  </p:cSld>
  <p:clrMapOvr>
    <a:masterClrMapping/>
  </p:clrMapOvr>
</p:notes>
</file>

<file path=ppt/notesSlides/notesSlide5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Notes §5, The problem of induction. Hume (1748); Wolpert (1996), no-free-lunch theorems.</a:t>
            </a:r>
          </a:p>
        </p:txBody>
      </p:sp>
      <p:sp>
        <p:nvSpPr>
          <p:cNvPr id="4" name="Slide Number Placeholder 3"/>
          <p:cNvSpPr>
            <a:spLocks noGrp="1"/>
          </p:cNvSpPr>
          <p:nvPr>
            <p:ph type="sldNum" idx="5" sz="quarter"/>
          </p:nvPr>
        </p:nvSpPr>
        <p:spPr/>
      </p:sp>
    </p:spTree>
  </p:cSld>
  <p:clrMapOvr>
    <a:masterClrMapping/>
  </p:clrMapOvr>
</p:notes>
</file>

<file path=ppt/notesSlides/notesSlide5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Notes §5, From the perceptron to deep learning. Novikoff (1962); Minsky and Papert (1969); Rumelhart, Hinton, and Williams (1986).</a:t>
            </a:r>
          </a:p>
        </p:txBody>
      </p:sp>
      <p:sp>
        <p:nvSpPr>
          <p:cNvPr id="4" name="Slide Number Placeholder 3"/>
          <p:cNvSpPr>
            <a:spLocks noGrp="1"/>
          </p:cNvSpPr>
          <p:nvPr>
            <p:ph type="sldNum" idx="5" sz="quarter"/>
          </p:nvPr>
        </p:nvSpPr>
        <p:spPr/>
      </p:sp>
    </p:spTree>
  </p:cSld>
  <p:clrMapOvr>
    <a:masterClrMapping/>
  </p:clrMapOvr>
</p:notes>
</file>

<file path=ppt/notesSlides/notesSlide5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Notes §5, Neural networks and gradient descent. Cybenko (1989); Hornik (1991); LeCun, Bengio, and Hinton (2015).</a:t>
            </a:r>
          </a:p>
        </p:txBody>
      </p:sp>
      <p:sp>
        <p:nvSpPr>
          <p:cNvPr id="4" name="Slide Number Placeholder 3"/>
          <p:cNvSpPr>
            <a:spLocks noGrp="1"/>
          </p:cNvSpPr>
          <p:nvPr>
            <p:ph type="sldNum" idx="5" sz="quarter"/>
          </p:nvPr>
        </p:nvSpPr>
        <p:spPr/>
      </p:sp>
    </p:spTree>
  </p:cSld>
  <p:clrMapOvr>
    <a:masterClrMapping/>
  </p:clrMapOvr>
</p:notes>
</file>

<file path=ppt/notesSlides/notesSlide5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Notes §5, Learning as a computational problem. Valiant (1984); Angluin (1987), L*. Photo: Leslie Valiant.jpg (Renate Schmid, CC BY-SA 2.0 de).</a:t>
            </a:r>
          </a:p>
        </p:txBody>
      </p:sp>
      <p:sp>
        <p:nvSpPr>
          <p:cNvPr id="4" name="Slide Number Placeholder 3"/>
          <p:cNvSpPr>
            <a:spLocks noGrp="1"/>
          </p:cNvSpPr>
          <p:nvPr>
            <p:ph type="sldNum" idx="5" sz="quarter"/>
          </p:nvPr>
        </p:nvSpPr>
        <p:spPr/>
      </p:sp>
    </p:spTree>
  </p:cSld>
  <p:clrMapOvr>
    <a:masterClrMapping/>
  </p:clrMapOvr>
</p:notes>
</file>

<file path=ppt/notesSlides/notesSlide6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Notes §6, What a sentence is. Pictures: cuneiform tablet (The Metropolitan Museum of Art, CC0); Venus (NASA/JPL-Caltech, public domain).</a:t>
            </a:r>
          </a:p>
        </p:txBody>
      </p:sp>
      <p:sp>
        <p:nvSpPr>
          <p:cNvPr id="4" name="Slide Number Placeholder 3"/>
          <p:cNvSpPr>
            <a:spLocks noGrp="1"/>
          </p:cNvSpPr>
          <p:nvPr>
            <p:ph type="sldNum" idx="5" sz="quarter"/>
          </p:nvPr>
        </p:nvSpPr>
        <p:spPr/>
      </p:sp>
    </p:spTree>
  </p:cSld>
  <p:clrMapOvr>
    <a:masterClrMapping/>
  </p:clrMapOvr>
</p:notes>
</file>

<file path=ppt/notesSlides/notesSlide6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Notes §6, Rules and productivity. Photos: Panini Astadhyayi manuscript (Ms Sarah Welch, CC BY-SA 4.0); Noam Chomsky portrait 2015.jpg (Augusto Starita, CC BY-SA 2.0).</a:t>
            </a:r>
          </a:p>
        </p:txBody>
      </p:sp>
      <p:sp>
        <p:nvSpPr>
          <p:cNvPr id="4" name="Slide Number Placeholder 3"/>
          <p:cNvSpPr>
            <a:spLocks noGrp="1"/>
          </p:cNvSpPr>
          <p:nvPr>
            <p:ph type="sldNum" idx="5" sz="quarter"/>
          </p:nvPr>
        </p:nvSpPr>
        <p:spPr/>
      </p:sp>
    </p:spTree>
  </p:cSld>
  <p:clrMapOvr>
    <a:masterClrMapping/>
  </p:clrMapOvr>
</p:notes>
</file>

<file path=ppt/notesSlides/notesSlide6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Notes §6, Learning a language from examples. Gold (1967); Angluin (1980); Chomsky (1959); Horning (1969); Kleinberg and Mullainathan (2024); Kalavasis, Mehrotra, and Velegkas (2025); Kleinberg and Wei (2025).</a:t>
            </a:r>
          </a:p>
        </p:txBody>
      </p:sp>
      <p:sp>
        <p:nvSpPr>
          <p:cNvPr id="4" name="Slide Number Placeholder 3"/>
          <p:cNvSpPr>
            <a:spLocks noGrp="1"/>
          </p:cNvSpPr>
          <p:nvPr>
            <p:ph type="sldNum" idx="5" sz="quarter"/>
          </p:nvPr>
        </p:nvSpPr>
        <p:spPr/>
      </p:sp>
    </p:spTree>
  </p:cSld>
  <p:clrMapOvr>
    <a:masterClrMapping/>
  </p:clrMapOvr>
</p:notes>
</file>

<file path=ppt/notesSlides/notesSlide6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Notes §6, Prediction and statistics. Shannon (1948, 1951); Chomsky (1957); Pereira (2000); Norvig (2011). Photo: ClaudeShannon MFO3807.jpg (Konrad Jacobs, CC BY-SA 2.0 de).</a:t>
            </a:r>
          </a:p>
        </p:txBody>
      </p:sp>
      <p:sp>
        <p:nvSpPr>
          <p:cNvPr id="4" name="Slide Number Placeholder 3"/>
          <p:cNvSpPr>
            <a:spLocks noGrp="1"/>
          </p:cNvSpPr>
          <p:nvPr>
            <p:ph type="sldNum" idx="5" sz="quarter"/>
          </p:nvPr>
        </p:nvSpPr>
        <p:spPr/>
      </p:sp>
    </p:spTree>
  </p:cSld>
  <p:clrMapOvr>
    <a:masterClrMapping/>
  </p:clrMapOvr>
</p:notes>
</file>

<file path=ppt/notesSlides/notesSlide6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Next: the hands-on, an automatic-differentiation engine.</a:t>
            </a:r>
          </a:p>
        </p:txBody>
      </p:sp>
      <p:sp>
        <p:nvSpPr>
          <p:cNvPr id="4" name="Slide Number Placeholder 3"/>
          <p:cNvSpPr>
            <a:spLocks noGrp="1"/>
          </p:cNvSpPr>
          <p:nvPr>
            <p:ph type="sldNum" idx="5" sz="quarter"/>
          </p:nvPr>
        </p:nvSpPr>
        <p:spPr/>
      </p:sp>
    </p:spTree>
  </p:cSld>
  <p:clrMapOvr>
    <a:masterClrMapping/>
  </p:clrMapOvr>
</p:notes>
</file>

<file path=ppt/notesSlides/notesSlide7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Notes §8, Three ways to compute a derivative. Figure 2 of Baydin, Pearlmutter, Radul, and Siskind (2018), CC BY 4.0. Sizes counted with sympy: 21 operations against 10,946 nodes after seven steps.</a:t>
            </a:r>
          </a:p>
        </p:txBody>
      </p:sp>
      <p:sp>
        <p:nvSpPr>
          <p:cNvPr id="4" name="Slide Number Placeholder 3"/>
          <p:cNvSpPr>
            <a:spLocks noGrp="1"/>
          </p:cNvSpPr>
          <p:nvPr>
            <p:ph type="sldNum" idx="5" sz="quarter"/>
          </p:nvPr>
        </p:nvSpPr>
        <p:spPr/>
      </p:sp>
    </p:spTree>
  </p:cSld>
  <p:clrMapOvr>
    <a:masterClrMapping/>
  </p:clrMapOvr>
</p:notes>
</file>

<file path=ppt/notesSlides/notesSlide7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Notes §8, Why reverse mode. For n inputs and m outputs, forward mode needs about n passes and reverse mode about m; a loss has m = 1. Foundations 3 develops both modes.</a:t>
            </a:r>
          </a:p>
        </p:txBody>
      </p:sp>
      <p:sp>
        <p:nvSpPr>
          <p:cNvPr id="4" name="Slide Number Placeholder 3"/>
          <p:cNvSpPr>
            <a:spLocks noGrp="1"/>
          </p:cNvSpPr>
          <p:nvPr>
            <p:ph type="sldNum" idx="5" sz="quarter"/>
          </p:nvPr>
        </p:nvSpPr>
        <p:spPr/>
      </p:sp>
    </p:spTree>
  </p:cSld>
  <p:clrMapOvr>
    <a:masterClrMapping/>
  </p:clrMapOvr>
</p:notes>
</file>

<file path=ppt/notesSlides/notesSlide7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Notes §8, Tensors and computation graphs. Code and output from tinylm/notebooks/week01_autograd.ipynb (rng = default_rng(0)).</a:t>
            </a:r>
          </a:p>
        </p:txBody>
      </p:sp>
      <p:sp>
        <p:nvSpPr>
          <p:cNvPr id="4" name="Slide Number Placeholder 3"/>
          <p:cNvSpPr>
            <a:spLocks noGrp="1"/>
          </p:cNvSpPr>
          <p:nvPr>
            <p:ph type="sldNum" idx="5" sz="quarter"/>
          </p:nvPr>
        </p:nvSpPr>
        <p:spPr/>
      </p:sp>
    </p:spTree>
  </p:cSld>
  <p:clrMapOvr>
    <a:masterClrMapping/>
  </p:clrMapOvr>
</p:notes>
</file>

<file path=ppt/notesSlides/notesSlide7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Notes §8, The backward pass. At (x, y) = (1.5, -0.5) the two uses of x send back -0.160 and 3.000, which add to 2.840. Z = XW + b: dL/dW = X^T G, dL/dX = G W^T, dL/db = sum of the rows of G.</a:t>
            </a:r>
          </a:p>
        </p:txBody>
      </p:sp>
      <p:sp>
        <p:nvSpPr>
          <p:cNvPr id="4" name="Slide Number Placeholder 3"/>
          <p:cNvSpPr>
            <a:spLocks noGrp="1"/>
          </p:cNvSpPr>
          <p:nvPr>
            <p:ph type="sldNum" idx="5" sz="quarter"/>
          </p:nvPr>
        </p:nvSpPr>
        <p:spPr/>
      </p:sp>
    </p:spTree>
  </p:cSld>
  <p:clrMapOvr>
    <a:masterClrMapping/>
  </p:clrMapOvr>
</p:notes>
</file>

<file path=ppt/notesSlides/notesSlide7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Notes §8, Checking gradients. Output from the Week 1 notebook.</a:t>
            </a:r>
          </a:p>
        </p:txBody>
      </p:sp>
      <p:sp>
        <p:nvSpPr>
          <p:cNvPr id="4" name="Slide Number Placeholder 3"/>
          <p:cNvSpPr>
            <a:spLocks noGrp="1"/>
          </p:cNvSpPr>
          <p:nvPr>
            <p:ph type="sldNum" idx="5" sz="quarter"/>
          </p:nvPr>
        </p:nvSpPr>
        <p:spPr/>
      </p:sp>
    </p:spTree>
  </p:cSld>
  <p:clrMapOvr>
    <a:masterClrMapping/>
  </p:clrMapOvr>
</p:notes>
</file>

<file path=ppt/notesSlides/notesSlide7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Notes §8 and the Week 1 notebook. Code and outputs from tinylm/notebooks/week01_autograd.ipynb.</a:t>
            </a:r>
          </a:p>
        </p:txBody>
      </p:sp>
      <p:sp>
        <p:nvSpPr>
          <p:cNvPr id="4" name="Slide Number Placeholder 3"/>
          <p:cNvSpPr>
            <a:spLocks noGrp="1"/>
          </p:cNvSpPr>
          <p:nvPr>
            <p:ph type="sldNum" idx="5" sz="quarter"/>
          </p:nvPr>
        </p:nvSpPr>
        <p:spPr/>
      </p:sp>
    </p:spTree>
  </p:cSld>
  <p:clrMapOvr>
    <a:masterClrMapping/>
  </p:clrMapOvr>
</p:notes>
</file>

<file path=ppt/notesSlides/notesSlide7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Notes §8, From here to language models.</a:t>
            </a:r>
          </a:p>
        </p:txBody>
      </p:sp>
      <p:sp>
        <p:nvSpPr>
          <p:cNvPr id="4" name="Slide Number Placeholder 3"/>
          <p:cNvSpPr>
            <a:spLocks noGrp="1"/>
          </p:cNvSpPr>
          <p:nvPr>
            <p:ph type="sldNum" idx="5" sz="quarter"/>
          </p:nvPr>
        </p:nvSpPr>
        <p:spPr/>
      </p:sp>
    </p:spTree>
  </p:cSld>
  <p:clrMapOvr>
    <a:masterClrMapping/>
  </p:clrMapOvr>
</p:notes>
</file>

<file path=ppt/notesSlides/notesSlide7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Notes §8, Next week. Week 2: Language Modeling: From Grammars and Counts to Neural Networks. Read: Turing (1950); Valiant (1984). Optional: Shannon (1951), Bender and Koller (2020), Harris (1954).</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E8A74EB4-DA0B-2C8B-331B-F2D700286640}"/>
              </a:ext>
            </a:extLst>
          </p:cNvPr>
          <p:cNvSpPr>
            <a:spLocks noGrp="1"/>
          </p:cNvSpPr>
          <p:nvPr>
            <p:ph type="ctrTitle"/>
          </p:nvPr>
        </p:nvSpPr>
        <p:spPr>
          <a:xfrm>
            <a:off x="1524000" y="1122363"/>
            <a:ext cx="9144000" cy="2387600"/>
          </a:xfrm>
        </p:spPr>
        <p:txBody>
          <a:bodyPr anchor="b"/>
          <a:lstStyle>
            <a:lvl1pPr algn="ctr">
              <a:defRPr sz="6000"/>
            </a:lvl1pPr>
          </a:lstStyle>
          <a:p>
            <a:r>
              <a:rPr lang="en-US"/>
              <a:t>Click to edit Master title style</a:t>
            </a:r>
          </a:p>
        </p:txBody>
      </p:sp>
      <p:sp>
        <p:nvSpPr>
          <p:cNvPr id="3" name="Subtitle 2">
            <a:extLst>
              <a:ext uri="{FF2B5EF4-FFF2-40B4-BE49-F238E27FC236}">
                <a16:creationId xmlns:a16="http://schemas.microsoft.com/office/drawing/2014/main" id="{F62C570E-AE13-E7B5-8E56-9FDF6D9FC0EA}"/>
              </a:ext>
            </a:extLst>
          </p:cNvPr>
          <p:cNvSpPr>
            <a:spLocks noGrp="1"/>
          </p:cNvSpPr>
          <p:nvPr>
            <p:ph type="subTitle" idx="1"/>
          </p:nvPr>
        </p:nvSpPr>
        <p:spPr>
          <a:xfrm>
            <a:off x="1524000" y="3602038"/>
            <a:ext cx="9144000" cy="1655762"/>
          </a:xfrm>
        </p:spPr>
        <p:txBody>
          <a:bodyPr/>
          <a:lstStyle>
            <a:lvl1pPr marL="0" indent="0" algn="ctr">
              <a:buNone/>
              <a:defRPr sz="2400"/>
            </a:lvl1pPr>
            <a:lvl2pPr marL="457200" indent="0" algn="ctr">
              <a:buNone/>
              <a:defRPr sz="2000"/>
            </a:lvl2pPr>
            <a:lvl3pPr marL="914400" indent="0" algn="ctr">
              <a:buNone/>
              <a:defRPr sz="18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a:r>
              <a:rPr lang="en-US"/>
              <a:t>Click to edit Master subtitle style</a:t>
            </a:r>
          </a:p>
        </p:txBody>
      </p:sp>
      <p:sp>
        <p:nvSpPr>
          <p:cNvPr id="4" name="Date Placeholder 3">
            <a:extLst>
              <a:ext uri="{FF2B5EF4-FFF2-40B4-BE49-F238E27FC236}">
                <a16:creationId xmlns:a16="http://schemas.microsoft.com/office/drawing/2014/main" id="{CF3ABD38-DF48-0F32-9DAC-61B1D046762A}"/>
              </a:ext>
            </a:extLst>
          </p:cNvPr>
          <p:cNvSpPr>
            <a:spLocks noGrp="1"/>
          </p:cNvSpPr>
          <p:nvPr>
            <p:ph type="dt" sz="half" idx="10"/>
          </p:nvPr>
        </p:nvSpPr>
        <p:spPr/>
        <p:txBody>
          <a:bodyPr/>
          <a:lstStyle/>
          <a:p>
            <a:fld id="{C64E3E82-ABF5-0443-8E9E-3BF9C4DC23E8}" type="datetimeFigureOut">
              <a:rPr lang="en-US" smtClean="0"/>
              <a:t>9/30/26</a:t>
            </a:fld>
            <a:endParaRPr lang="en-US"/>
          </a:p>
        </p:txBody>
      </p:sp>
      <p:sp>
        <p:nvSpPr>
          <p:cNvPr id="5" name="Footer Placeholder 4">
            <a:extLst>
              <a:ext uri="{FF2B5EF4-FFF2-40B4-BE49-F238E27FC236}">
                <a16:creationId xmlns:a16="http://schemas.microsoft.com/office/drawing/2014/main" id="{6EA001B6-ADED-9C57-D34D-65FF4C14A645}"/>
              </a:ext>
            </a:extLst>
          </p:cNvPr>
          <p:cNvSpPr>
            <a:spLocks noGrp="1"/>
          </p:cNvSpPr>
          <p:nvPr>
            <p:ph type="ftr" sz="quarter" idx="11"/>
          </p:nvPr>
        </p:nvSpPr>
        <p:spPr/>
        <p:txBody>
          <a:bodyPr/>
          <a:lstStyle/>
          <a:p>
            <a:endParaRPr lang="en-US"/>
          </a:p>
        </p:txBody>
      </p:sp>
      <p:sp>
        <p:nvSpPr>
          <p:cNvPr id="6" name="Slide Number Placeholder 5">
            <a:extLst>
              <a:ext uri="{FF2B5EF4-FFF2-40B4-BE49-F238E27FC236}">
                <a16:creationId xmlns:a16="http://schemas.microsoft.com/office/drawing/2014/main" id="{88E3E02F-CC9D-C37B-FC30-83AEE6F8E3FE}"/>
              </a:ext>
            </a:extLst>
          </p:cNvPr>
          <p:cNvSpPr>
            <a:spLocks noGrp="1"/>
          </p:cNvSpPr>
          <p:nvPr>
            <p:ph type="sldNum" sz="quarter" idx="12"/>
          </p:nvPr>
        </p:nvSpPr>
        <p:spPr/>
        <p:txBody>
          <a:bodyPr/>
          <a:lstStyle/>
          <a:p>
            <a:fld id="{32FAA7EE-9DFB-FF4C-9A4A-FB7F0C86302C}" type="slidenum">
              <a:rPr lang="en-US" smtClean="0"/>
              <a:t>‹#›</a:t>
            </a:fld>
            <a:endParaRPr lang="en-US"/>
          </a:p>
        </p:txBody>
      </p:sp>
    </p:spTree>
    <p:extLst>
      <p:ext uri="{BB962C8B-B14F-4D97-AF65-F5344CB8AC3E}">
        <p14:creationId xmlns:p14="http://schemas.microsoft.com/office/powerpoint/2010/main" val="936970337"/>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A43F320C-E9DA-25BD-B3D7-50328E35188D}"/>
              </a:ext>
            </a:extLst>
          </p:cNvPr>
          <p:cNvSpPr>
            <a:spLocks noGrp="1"/>
          </p:cNvSpPr>
          <p:nvPr>
            <p:ph type="title"/>
          </p:nvPr>
        </p:nvSpPr>
        <p:spPr/>
        <p:txBody>
          <a:bodyPr/>
          <a:lstStyle/>
          <a:p>
            <a:r>
              <a:rPr lang="en-US"/>
              <a:t>Click to edit Master title style</a:t>
            </a:r>
          </a:p>
        </p:txBody>
      </p:sp>
      <p:sp>
        <p:nvSpPr>
          <p:cNvPr id="3" name="Content Placeholder 2">
            <a:extLst>
              <a:ext uri="{FF2B5EF4-FFF2-40B4-BE49-F238E27FC236}">
                <a16:creationId xmlns:a16="http://schemas.microsoft.com/office/drawing/2014/main" id="{37325444-C8B6-3633-5D08-B4F9E0A1D6E0}"/>
              </a:ext>
            </a:extLst>
          </p:cNvPr>
          <p:cNvSpPr>
            <a:spLocks noGrp="1"/>
          </p:cNvSpPr>
          <p:nvPr>
            <p:ph idx="1"/>
          </p:nvPr>
        </p:nvSpPr>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a:extLst>
              <a:ext uri="{FF2B5EF4-FFF2-40B4-BE49-F238E27FC236}">
                <a16:creationId xmlns:a16="http://schemas.microsoft.com/office/drawing/2014/main" id="{9C359906-796D-E4DB-FB31-B265FCAAF9A9}"/>
              </a:ext>
            </a:extLst>
          </p:cNvPr>
          <p:cNvSpPr>
            <a:spLocks noGrp="1"/>
          </p:cNvSpPr>
          <p:nvPr>
            <p:ph type="dt" sz="half" idx="10"/>
          </p:nvPr>
        </p:nvSpPr>
        <p:spPr/>
        <p:txBody>
          <a:bodyPr/>
          <a:lstStyle/>
          <a:p>
            <a:fld id="{C64E3E82-ABF5-0443-8E9E-3BF9C4DC23E8}" type="datetimeFigureOut">
              <a:rPr lang="en-US" smtClean="0"/>
              <a:t>9/30/26</a:t>
            </a:fld>
            <a:endParaRPr lang="en-US"/>
          </a:p>
        </p:txBody>
      </p:sp>
      <p:sp>
        <p:nvSpPr>
          <p:cNvPr id="5" name="Footer Placeholder 4">
            <a:extLst>
              <a:ext uri="{FF2B5EF4-FFF2-40B4-BE49-F238E27FC236}">
                <a16:creationId xmlns:a16="http://schemas.microsoft.com/office/drawing/2014/main" id="{397C868D-909E-CDC8-8162-54CA7362B732}"/>
              </a:ext>
            </a:extLst>
          </p:cNvPr>
          <p:cNvSpPr>
            <a:spLocks noGrp="1"/>
          </p:cNvSpPr>
          <p:nvPr>
            <p:ph type="ftr" sz="quarter" idx="11"/>
          </p:nvPr>
        </p:nvSpPr>
        <p:spPr/>
        <p:txBody>
          <a:bodyPr/>
          <a:lstStyle/>
          <a:p>
            <a:endParaRPr lang="en-US"/>
          </a:p>
        </p:txBody>
      </p:sp>
      <p:sp>
        <p:nvSpPr>
          <p:cNvPr id="6" name="Slide Number Placeholder 5">
            <a:extLst>
              <a:ext uri="{FF2B5EF4-FFF2-40B4-BE49-F238E27FC236}">
                <a16:creationId xmlns:a16="http://schemas.microsoft.com/office/drawing/2014/main" id="{E254529D-FDA0-BF89-0CAD-1394F1AF8A7F}"/>
              </a:ext>
            </a:extLst>
          </p:cNvPr>
          <p:cNvSpPr>
            <a:spLocks noGrp="1"/>
          </p:cNvSpPr>
          <p:nvPr>
            <p:ph type="sldNum" sz="quarter" idx="12"/>
          </p:nvPr>
        </p:nvSpPr>
        <p:spPr/>
        <p:txBody>
          <a:bodyPr/>
          <a:lstStyle/>
          <a:p>
            <a:fld id="{32FAA7EE-9DFB-FF4C-9A4A-FB7F0C86302C}" type="slidenum">
              <a:rPr lang="en-US" smtClean="0"/>
              <a:t>‹#›</a:t>
            </a:fld>
            <a:endParaRPr lang="en-US"/>
          </a:p>
        </p:txBody>
      </p:sp>
    </p:spTree>
    <p:extLst>
      <p:ext uri="{BB962C8B-B14F-4D97-AF65-F5344CB8AC3E}">
        <p14:creationId xmlns:p14="http://schemas.microsoft.com/office/powerpoint/2010/main" val="1623021496"/>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451AE0D-188B-B9A1-17EC-2C0044042B3C}"/>
              </a:ext>
            </a:extLst>
          </p:cNvPr>
          <p:cNvSpPr>
            <a:spLocks noGrp="1"/>
          </p:cNvSpPr>
          <p:nvPr>
            <p:ph type="title"/>
          </p:nvPr>
        </p:nvSpPr>
        <p:spPr>
          <a:xfrm>
            <a:off x="831850" y="1709738"/>
            <a:ext cx="10515600" cy="2852737"/>
          </a:xfrm>
        </p:spPr>
        <p:txBody>
          <a:bodyPr anchor="b"/>
          <a:lstStyle>
            <a:lvl1pPr>
              <a:defRPr sz="6000"/>
            </a:lvl1pPr>
          </a:lstStyle>
          <a:p>
            <a:r>
              <a:rPr lang="en-US"/>
              <a:t>Click to edit Master title style</a:t>
            </a:r>
          </a:p>
        </p:txBody>
      </p:sp>
      <p:sp>
        <p:nvSpPr>
          <p:cNvPr id="3" name="Text Placeholder 2">
            <a:extLst>
              <a:ext uri="{FF2B5EF4-FFF2-40B4-BE49-F238E27FC236}">
                <a16:creationId xmlns:a16="http://schemas.microsoft.com/office/drawing/2014/main" id="{EEE503C6-5AD7-F836-0A89-2D38302C8C9A}"/>
              </a:ext>
            </a:extLst>
          </p:cNvPr>
          <p:cNvSpPr>
            <a:spLocks noGrp="1"/>
          </p:cNvSpPr>
          <p:nvPr>
            <p:ph type="body" idx="1"/>
          </p:nvPr>
        </p:nvSpPr>
        <p:spPr>
          <a:xfrm>
            <a:off x="831850" y="4589463"/>
            <a:ext cx="10515600" cy="1500187"/>
          </a:xfrm>
        </p:spPr>
        <p:txBody>
          <a:bodyPr/>
          <a:lstStyle>
            <a:lvl1pPr marL="0" indent="0">
              <a:buNone/>
              <a:defRPr sz="2400">
                <a:solidFill>
                  <a:schemeClr val="tx1">
                    <a:tint val="82000"/>
                  </a:schemeClr>
                </a:solidFill>
              </a:defRPr>
            </a:lvl1pPr>
            <a:lvl2pPr marL="457200" indent="0">
              <a:buNone/>
              <a:defRPr sz="2000">
                <a:solidFill>
                  <a:schemeClr val="tx1">
                    <a:tint val="82000"/>
                  </a:schemeClr>
                </a:solidFill>
              </a:defRPr>
            </a:lvl2pPr>
            <a:lvl3pPr marL="914400" indent="0">
              <a:buNone/>
              <a:defRPr sz="1800">
                <a:solidFill>
                  <a:schemeClr val="tx1">
                    <a:tint val="82000"/>
                  </a:schemeClr>
                </a:solidFill>
              </a:defRPr>
            </a:lvl3pPr>
            <a:lvl4pPr marL="1371600" indent="0">
              <a:buNone/>
              <a:defRPr sz="1600">
                <a:solidFill>
                  <a:schemeClr val="tx1">
                    <a:tint val="82000"/>
                  </a:schemeClr>
                </a:solidFill>
              </a:defRPr>
            </a:lvl4pPr>
            <a:lvl5pPr marL="1828800" indent="0">
              <a:buNone/>
              <a:defRPr sz="1600">
                <a:solidFill>
                  <a:schemeClr val="tx1">
                    <a:tint val="82000"/>
                  </a:schemeClr>
                </a:solidFill>
              </a:defRPr>
            </a:lvl5pPr>
            <a:lvl6pPr marL="2286000" indent="0">
              <a:buNone/>
              <a:defRPr sz="1600">
                <a:solidFill>
                  <a:schemeClr val="tx1">
                    <a:tint val="82000"/>
                  </a:schemeClr>
                </a:solidFill>
              </a:defRPr>
            </a:lvl6pPr>
            <a:lvl7pPr marL="2743200" indent="0">
              <a:buNone/>
              <a:defRPr sz="1600">
                <a:solidFill>
                  <a:schemeClr val="tx1">
                    <a:tint val="82000"/>
                  </a:schemeClr>
                </a:solidFill>
              </a:defRPr>
            </a:lvl7pPr>
            <a:lvl8pPr marL="3200400" indent="0">
              <a:buNone/>
              <a:defRPr sz="1600">
                <a:solidFill>
                  <a:schemeClr val="tx1">
                    <a:tint val="82000"/>
                  </a:schemeClr>
                </a:solidFill>
              </a:defRPr>
            </a:lvl8pPr>
            <a:lvl9pPr marL="3657600" indent="0">
              <a:buNone/>
              <a:defRPr sz="1600">
                <a:solidFill>
                  <a:schemeClr val="tx1">
                    <a:tint val="82000"/>
                  </a:schemeClr>
                </a:solidFill>
              </a:defRPr>
            </a:lvl9pPr>
          </a:lstStyle>
          <a:p>
            <a:pPr lvl="0"/>
            <a:r>
              <a:rPr lang="en-US"/>
              <a:t>Click to edit Master text styles</a:t>
            </a:r>
          </a:p>
        </p:txBody>
      </p:sp>
      <p:sp>
        <p:nvSpPr>
          <p:cNvPr id="4" name="Date Placeholder 3">
            <a:extLst>
              <a:ext uri="{FF2B5EF4-FFF2-40B4-BE49-F238E27FC236}">
                <a16:creationId xmlns:a16="http://schemas.microsoft.com/office/drawing/2014/main" id="{274FDDEA-5B6A-41BE-EEF7-18B2F8E2AE90}"/>
              </a:ext>
            </a:extLst>
          </p:cNvPr>
          <p:cNvSpPr>
            <a:spLocks noGrp="1"/>
          </p:cNvSpPr>
          <p:nvPr>
            <p:ph type="dt" sz="half" idx="10"/>
          </p:nvPr>
        </p:nvSpPr>
        <p:spPr/>
        <p:txBody>
          <a:bodyPr/>
          <a:lstStyle/>
          <a:p>
            <a:fld id="{C64E3E82-ABF5-0443-8E9E-3BF9C4DC23E8}" type="datetimeFigureOut">
              <a:rPr lang="en-US" smtClean="0"/>
              <a:t>9/30/26</a:t>
            </a:fld>
            <a:endParaRPr lang="en-US"/>
          </a:p>
        </p:txBody>
      </p:sp>
      <p:sp>
        <p:nvSpPr>
          <p:cNvPr id="5" name="Footer Placeholder 4">
            <a:extLst>
              <a:ext uri="{FF2B5EF4-FFF2-40B4-BE49-F238E27FC236}">
                <a16:creationId xmlns:a16="http://schemas.microsoft.com/office/drawing/2014/main" id="{441C2DC6-552D-272D-E4F3-83284DBE155C}"/>
              </a:ext>
            </a:extLst>
          </p:cNvPr>
          <p:cNvSpPr>
            <a:spLocks noGrp="1"/>
          </p:cNvSpPr>
          <p:nvPr>
            <p:ph type="ftr" sz="quarter" idx="11"/>
          </p:nvPr>
        </p:nvSpPr>
        <p:spPr/>
        <p:txBody>
          <a:bodyPr/>
          <a:lstStyle/>
          <a:p>
            <a:endParaRPr lang="en-US"/>
          </a:p>
        </p:txBody>
      </p:sp>
      <p:sp>
        <p:nvSpPr>
          <p:cNvPr id="6" name="Slide Number Placeholder 5">
            <a:extLst>
              <a:ext uri="{FF2B5EF4-FFF2-40B4-BE49-F238E27FC236}">
                <a16:creationId xmlns:a16="http://schemas.microsoft.com/office/drawing/2014/main" id="{F1C59526-B904-0A9B-6F3E-FABB60A55FC4}"/>
              </a:ext>
            </a:extLst>
          </p:cNvPr>
          <p:cNvSpPr>
            <a:spLocks noGrp="1"/>
          </p:cNvSpPr>
          <p:nvPr>
            <p:ph type="sldNum" sz="quarter" idx="12"/>
          </p:nvPr>
        </p:nvSpPr>
        <p:spPr/>
        <p:txBody>
          <a:bodyPr/>
          <a:lstStyle/>
          <a:p>
            <a:fld id="{32FAA7EE-9DFB-FF4C-9A4A-FB7F0C86302C}" type="slidenum">
              <a:rPr lang="en-US" smtClean="0"/>
              <a:t>‹#›</a:t>
            </a:fld>
            <a:endParaRPr lang="en-US"/>
          </a:p>
        </p:txBody>
      </p:sp>
    </p:spTree>
    <p:extLst>
      <p:ext uri="{BB962C8B-B14F-4D97-AF65-F5344CB8AC3E}">
        <p14:creationId xmlns:p14="http://schemas.microsoft.com/office/powerpoint/2010/main" val="2144986308"/>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FF7B2183-3581-6F31-4AA7-4F906F2EC6B8}"/>
              </a:ext>
            </a:extLst>
          </p:cNvPr>
          <p:cNvSpPr>
            <a:spLocks noGrp="1"/>
          </p:cNvSpPr>
          <p:nvPr>
            <p:ph type="title"/>
          </p:nvPr>
        </p:nvSpPr>
        <p:spPr/>
        <p:txBody>
          <a:bodyPr/>
          <a:lstStyle/>
          <a:p>
            <a:r>
              <a:rPr lang="en-US"/>
              <a:t>Click to edit Master title style</a:t>
            </a:r>
          </a:p>
        </p:txBody>
      </p:sp>
      <p:sp>
        <p:nvSpPr>
          <p:cNvPr id="3" name="Content Placeholder 2">
            <a:extLst>
              <a:ext uri="{FF2B5EF4-FFF2-40B4-BE49-F238E27FC236}">
                <a16:creationId xmlns:a16="http://schemas.microsoft.com/office/drawing/2014/main" id="{992DAA77-7D2A-1AA2-5643-F7E8ADC91789}"/>
              </a:ext>
            </a:extLst>
          </p:cNvPr>
          <p:cNvSpPr>
            <a:spLocks noGrp="1"/>
          </p:cNvSpPr>
          <p:nvPr>
            <p:ph sz="half" idx="1"/>
          </p:nvPr>
        </p:nvSpPr>
        <p:spPr>
          <a:xfrm>
            <a:off x="838200" y="1825625"/>
            <a:ext cx="5181600" cy="435133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Content Placeholder 3">
            <a:extLst>
              <a:ext uri="{FF2B5EF4-FFF2-40B4-BE49-F238E27FC236}">
                <a16:creationId xmlns:a16="http://schemas.microsoft.com/office/drawing/2014/main" id="{C8EE64CA-A692-0BA0-AFEA-93B6D1B082A0}"/>
              </a:ext>
            </a:extLst>
          </p:cNvPr>
          <p:cNvSpPr>
            <a:spLocks noGrp="1"/>
          </p:cNvSpPr>
          <p:nvPr>
            <p:ph sz="half" idx="2"/>
          </p:nvPr>
        </p:nvSpPr>
        <p:spPr>
          <a:xfrm>
            <a:off x="6172200" y="1825625"/>
            <a:ext cx="5181600" cy="435133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Date Placeholder 4">
            <a:extLst>
              <a:ext uri="{FF2B5EF4-FFF2-40B4-BE49-F238E27FC236}">
                <a16:creationId xmlns:a16="http://schemas.microsoft.com/office/drawing/2014/main" id="{7FE60B1A-9ED4-C97B-94B5-078B29EAED75}"/>
              </a:ext>
            </a:extLst>
          </p:cNvPr>
          <p:cNvSpPr>
            <a:spLocks noGrp="1"/>
          </p:cNvSpPr>
          <p:nvPr>
            <p:ph type="dt" sz="half" idx="10"/>
          </p:nvPr>
        </p:nvSpPr>
        <p:spPr/>
        <p:txBody>
          <a:bodyPr/>
          <a:lstStyle/>
          <a:p>
            <a:fld id="{C64E3E82-ABF5-0443-8E9E-3BF9C4DC23E8}" type="datetimeFigureOut">
              <a:rPr lang="en-US" smtClean="0"/>
              <a:t>9/30/26</a:t>
            </a:fld>
            <a:endParaRPr lang="en-US"/>
          </a:p>
        </p:txBody>
      </p:sp>
      <p:sp>
        <p:nvSpPr>
          <p:cNvPr id="6" name="Footer Placeholder 5">
            <a:extLst>
              <a:ext uri="{FF2B5EF4-FFF2-40B4-BE49-F238E27FC236}">
                <a16:creationId xmlns:a16="http://schemas.microsoft.com/office/drawing/2014/main" id="{98B82D44-E178-9C7A-F946-CA863D6CAE9D}"/>
              </a:ext>
            </a:extLst>
          </p:cNvPr>
          <p:cNvSpPr>
            <a:spLocks noGrp="1"/>
          </p:cNvSpPr>
          <p:nvPr>
            <p:ph type="ftr" sz="quarter" idx="11"/>
          </p:nvPr>
        </p:nvSpPr>
        <p:spPr/>
        <p:txBody>
          <a:bodyPr/>
          <a:lstStyle/>
          <a:p>
            <a:endParaRPr lang="en-US"/>
          </a:p>
        </p:txBody>
      </p:sp>
      <p:sp>
        <p:nvSpPr>
          <p:cNvPr id="7" name="Slide Number Placeholder 6">
            <a:extLst>
              <a:ext uri="{FF2B5EF4-FFF2-40B4-BE49-F238E27FC236}">
                <a16:creationId xmlns:a16="http://schemas.microsoft.com/office/drawing/2014/main" id="{30715A17-5A39-8C22-3186-1C33A1124A54}"/>
              </a:ext>
            </a:extLst>
          </p:cNvPr>
          <p:cNvSpPr>
            <a:spLocks noGrp="1"/>
          </p:cNvSpPr>
          <p:nvPr>
            <p:ph type="sldNum" sz="quarter" idx="12"/>
          </p:nvPr>
        </p:nvSpPr>
        <p:spPr/>
        <p:txBody>
          <a:bodyPr/>
          <a:lstStyle/>
          <a:p>
            <a:fld id="{32FAA7EE-9DFB-FF4C-9A4A-FB7F0C86302C}" type="slidenum">
              <a:rPr lang="en-US" smtClean="0"/>
              <a:t>‹#›</a:t>
            </a:fld>
            <a:endParaRPr lang="en-US"/>
          </a:p>
        </p:txBody>
      </p:sp>
    </p:spTree>
    <p:extLst>
      <p:ext uri="{BB962C8B-B14F-4D97-AF65-F5344CB8AC3E}">
        <p14:creationId xmlns:p14="http://schemas.microsoft.com/office/powerpoint/2010/main" val="1492789330"/>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749CCB43-5F2C-7BEB-B140-21E6776619AF}"/>
              </a:ext>
            </a:extLst>
          </p:cNvPr>
          <p:cNvSpPr>
            <a:spLocks noGrp="1"/>
          </p:cNvSpPr>
          <p:nvPr>
            <p:ph type="title"/>
          </p:nvPr>
        </p:nvSpPr>
        <p:spPr>
          <a:xfrm>
            <a:off x="839788" y="365125"/>
            <a:ext cx="10515600" cy="1325563"/>
          </a:xfrm>
        </p:spPr>
        <p:txBody>
          <a:bodyPr/>
          <a:lstStyle/>
          <a:p>
            <a:r>
              <a:rPr lang="en-US"/>
              <a:t>Click to edit Master title style</a:t>
            </a:r>
          </a:p>
        </p:txBody>
      </p:sp>
      <p:sp>
        <p:nvSpPr>
          <p:cNvPr id="3" name="Text Placeholder 2">
            <a:extLst>
              <a:ext uri="{FF2B5EF4-FFF2-40B4-BE49-F238E27FC236}">
                <a16:creationId xmlns:a16="http://schemas.microsoft.com/office/drawing/2014/main" id="{450B3114-F278-5408-C83C-71E8371B2712}"/>
              </a:ext>
            </a:extLst>
          </p:cNvPr>
          <p:cNvSpPr>
            <a:spLocks noGrp="1"/>
          </p:cNvSpPr>
          <p:nvPr>
            <p:ph type="body" idx="1"/>
          </p:nvPr>
        </p:nvSpPr>
        <p:spPr>
          <a:xfrm>
            <a:off x="839788" y="1681163"/>
            <a:ext cx="5157787"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4" name="Content Placeholder 3">
            <a:extLst>
              <a:ext uri="{FF2B5EF4-FFF2-40B4-BE49-F238E27FC236}">
                <a16:creationId xmlns:a16="http://schemas.microsoft.com/office/drawing/2014/main" id="{4FC5C523-8A0F-502C-D548-EF2BDCBD954C}"/>
              </a:ext>
            </a:extLst>
          </p:cNvPr>
          <p:cNvSpPr>
            <a:spLocks noGrp="1"/>
          </p:cNvSpPr>
          <p:nvPr>
            <p:ph sz="half" idx="2"/>
          </p:nvPr>
        </p:nvSpPr>
        <p:spPr>
          <a:xfrm>
            <a:off x="839788" y="2505075"/>
            <a:ext cx="5157787" cy="368458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Text Placeholder 4">
            <a:extLst>
              <a:ext uri="{FF2B5EF4-FFF2-40B4-BE49-F238E27FC236}">
                <a16:creationId xmlns:a16="http://schemas.microsoft.com/office/drawing/2014/main" id="{FC6C85C1-E36C-8075-ECEE-F7C1FF102148}"/>
              </a:ext>
            </a:extLst>
          </p:cNvPr>
          <p:cNvSpPr>
            <a:spLocks noGrp="1"/>
          </p:cNvSpPr>
          <p:nvPr>
            <p:ph type="body" sz="quarter" idx="3"/>
          </p:nvPr>
        </p:nvSpPr>
        <p:spPr>
          <a:xfrm>
            <a:off x="6172200" y="1681163"/>
            <a:ext cx="5183188"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6" name="Content Placeholder 5">
            <a:extLst>
              <a:ext uri="{FF2B5EF4-FFF2-40B4-BE49-F238E27FC236}">
                <a16:creationId xmlns:a16="http://schemas.microsoft.com/office/drawing/2014/main" id="{A16CEAC6-0811-5E36-2A58-9D2A40825423}"/>
              </a:ext>
            </a:extLst>
          </p:cNvPr>
          <p:cNvSpPr>
            <a:spLocks noGrp="1"/>
          </p:cNvSpPr>
          <p:nvPr>
            <p:ph sz="quarter" idx="4"/>
          </p:nvPr>
        </p:nvSpPr>
        <p:spPr>
          <a:xfrm>
            <a:off x="6172200" y="2505075"/>
            <a:ext cx="5183188" cy="368458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7" name="Date Placeholder 6">
            <a:extLst>
              <a:ext uri="{FF2B5EF4-FFF2-40B4-BE49-F238E27FC236}">
                <a16:creationId xmlns:a16="http://schemas.microsoft.com/office/drawing/2014/main" id="{70885B5C-A8C9-60B8-588D-C1AE740BC5CE}"/>
              </a:ext>
            </a:extLst>
          </p:cNvPr>
          <p:cNvSpPr>
            <a:spLocks noGrp="1"/>
          </p:cNvSpPr>
          <p:nvPr>
            <p:ph type="dt" sz="half" idx="10"/>
          </p:nvPr>
        </p:nvSpPr>
        <p:spPr/>
        <p:txBody>
          <a:bodyPr/>
          <a:lstStyle/>
          <a:p>
            <a:fld id="{C64E3E82-ABF5-0443-8E9E-3BF9C4DC23E8}" type="datetimeFigureOut">
              <a:rPr lang="en-US" smtClean="0"/>
              <a:t>9/30/26</a:t>
            </a:fld>
            <a:endParaRPr lang="en-US"/>
          </a:p>
        </p:txBody>
      </p:sp>
      <p:sp>
        <p:nvSpPr>
          <p:cNvPr id="8" name="Footer Placeholder 7">
            <a:extLst>
              <a:ext uri="{FF2B5EF4-FFF2-40B4-BE49-F238E27FC236}">
                <a16:creationId xmlns:a16="http://schemas.microsoft.com/office/drawing/2014/main" id="{C92BEFF0-256A-D36A-4820-E90DCC37550C}"/>
              </a:ext>
            </a:extLst>
          </p:cNvPr>
          <p:cNvSpPr>
            <a:spLocks noGrp="1"/>
          </p:cNvSpPr>
          <p:nvPr>
            <p:ph type="ftr" sz="quarter" idx="11"/>
          </p:nvPr>
        </p:nvSpPr>
        <p:spPr/>
        <p:txBody>
          <a:bodyPr/>
          <a:lstStyle/>
          <a:p>
            <a:endParaRPr lang="en-US"/>
          </a:p>
        </p:txBody>
      </p:sp>
      <p:sp>
        <p:nvSpPr>
          <p:cNvPr id="9" name="Slide Number Placeholder 8">
            <a:extLst>
              <a:ext uri="{FF2B5EF4-FFF2-40B4-BE49-F238E27FC236}">
                <a16:creationId xmlns:a16="http://schemas.microsoft.com/office/drawing/2014/main" id="{3E563161-BF21-2613-8A5C-B5DDB94AB911}"/>
              </a:ext>
            </a:extLst>
          </p:cNvPr>
          <p:cNvSpPr>
            <a:spLocks noGrp="1"/>
          </p:cNvSpPr>
          <p:nvPr>
            <p:ph type="sldNum" sz="quarter" idx="12"/>
          </p:nvPr>
        </p:nvSpPr>
        <p:spPr/>
        <p:txBody>
          <a:bodyPr/>
          <a:lstStyle/>
          <a:p>
            <a:fld id="{32FAA7EE-9DFB-FF4C-9A4A-FB7F0C86302C}" type="slidenum">
              <a:rPr lang="en-US" smtClean="0"/>
              <a:t>‹#›</a:t>
            </a:fld>
            <a:endParaRPr lang="en-US"/>
          </a:p>
        </p:txBody>
      </p:sp>
    </p:spTree>
    <p:extLst>
      <p:ext uri="{BB962C8B-B14F-4D97-AF65-F5344CB8AC3E}">
        <p14:creationId xmlns:p14="http://schemas.microsoft.com/office/powerpoint/2010/main" val="276018945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4F6C392E-BE02-D93F-627D-EA0160D2513C}"/>
              </a:ext>
            </a:extLst>
          </p:cNvPr>
          <p:cNvSpPr>
            <a:spLocks noGrp="1"/>
          </p:cNvSpPr>
          <p:nvPr>
            <p:ph type="title"/>
          </p:nvPr>
        </p:nvSpPr>
        <p:spPr/>
        <p:txBody>
          <a:bodyPr/>
          <a:lstStyle/>
          <a:p>
            <a:r>
              <a:rPr lang="en-US"/>
              <a:t>Click to edit Master title style</a:t>
            </a:r>
          </a:p>
        </p:txBody>
      </p:sp>
      <p:sp>
        <p:nvSpPr>
          <p:cNvPr id="3" name="Date Placeholder 2">
            <a:extLst>
              <a:ext uri="{FF2B5EF4-FFF2-40B4-BE49-F238E27FC236}">
                <a16:creationId xmlns:a16="http://schemas.microsoft.com/office/drawing/2014/main" id="{1D582691-7D88-8139-CFFC-227D95CC57E3}"/>
              </a:ext>
            </a:extLst>
          </p:cNvPr>
          <p:cNvSpPr>
            <a:spLocks noGrp="1"/>
          </p:cNvSpPr>
          <p:nvPr>
            <p:ph type="dt" sz="half" idx="10"/>
          </p:nvPr>
        </p:nvSpPr>
        <p:spPr/>
        <p:txBody>
          <a:bodyPr/>
          <a:lstStyle/>
          <a:p>
            <a:fld id="{C64E3E82-ABF5-0443-8E9E-3BF9C4DC23E8}" type="datetimeFigureOut">
              <a:rPr lang="en-US" smtClean="0"/>
              <a:t>9/30/26</a:t>
            </a:fld>
            <a:endParaRPr lang="en-US"/>
          </a:p>
        </p:txBody>
      </p:sp>
      <p:sp>
        <p:nvSpPr>
          <p:cNvPr id="4" name="Footer Placeholder 3">
            <a:extLst>
              <a:ext uri="{FF2B5EF4-FFF2-40B4-BE49-F238E27FC236}">
                <a16:creationId xmlns:a16="http://schemas.microsoft.com/office/drawing/2014/main" id="{4D68E21A-2284-FF43-23B1-CB5F7D4A276E}"/>
              </a:ext>
            </a:extLst>
          </p:cNvPr>
          <p:cNvSpPr>
            <a:spLocks noGrp="1"/>
          </p:cNvSpPr>
          <p:nvPr>
            <p:ph type="ftr" sz="quarter" idx="11"/>
          </p:nvPr>
        </p:nvSpPr>
        <p:spPr/>
        <p:txBody>
          <a:bodyPr/>
          <a:lstStyle/>
          <a:p>
            <a:endParaRPr lang="en-US"/>
          </a:p>
        </p:txBody>
      </p:sp>
      <p:sp>
        <p:nvSpPr>
          <p:cNvPr id="5" name="Slide Number Placeholder 4">
            <a:extLst>
              <a:ext uri="{FF2B5EF4-FFF2-40B4-BE49-F238E27FC236}">
                <a16:creationId xmlns:a16="http://schemas.microsoft.com/office/drawing/2014/main" id="{04ED798A-F2C6-6F3E-5B19-0D64F20BDC62}"/>
              </a:ext>
            </a:extLst>
          </p:cNvPr>
          <p:cNvSpPr>
            <a:spLocks noGrp="1"/>
          </p:cNvSpPr>
          <p:nvPr>
            <p:ph type="sldNum" sz="quarter" idx="12"/>
          </p:nvPr>
        </p:nvSpPr>
        <p:spPr/>
        <p:txBody>
          <a:bodyPr/>
          <a:lstStyle/>
          <a:p>
            <a:fld id="{32FAA7EE-9DFB-FF4C-9A4A-FB7F0C86302C}" type="slidenum">
              <a:rPr lang="en-US" smtClean="0"/>
              <a:t>‹#›</a:t>
            </a:fld>
            <a:endParaRPr lang="en-US"/>
          </a:p>
        </p:txBody>
      </p:sp>
    </p:spTree>
    <p:extLst>
      <p:ext uri="{BB962C8B-B14F-4D97-AF65-F5344CB8AC3E}">
        <p14:creationId xmlns:p14="http://schemas.microsoft.com/office/powerpoint/2010/main" val="426008573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a:extLst>
              <a:ext uri="{FF2B5EF4-FFF2-40B4-BE49-F238E27FC236}">
                <a16:creationId xmlns:a16="http://schemas.microsoft.com/office/drawing/2014/main" id="{55389800-895C-5C31-DE55-A415D0732E48}"/>
              </a:ext>
            </a:extLst>
          </p:cNvPr>
          <p:cNvSpPr>
            <a:spLocks noGrp="1"/>
          </p:cNvSpPr>
          <p:nvPr>
            <p:ph type="dt" sz="half" idx="10"/>
          </p:nvPr>
        </p:nvSpPr>
        <p:spPr/>
        <p:txBody>
          <a:bodyPr/>
          <a:lstStyle/>
          <a:p>
            <a:fld id="{C64E3E82-ABF5-0443-8E9E-3BF9C4DC23E8}" type="datetimeFigureOut">
              <a:rPr lang="en-US" smtClean="0"/>
              <a:t>9/30/26</a:t>
            </a:fld>
            <a:endParaRPr lang="en-US"/>
          </a:p>
        </p:txBody>
      </p:sp>
      <p:sp>
        <p:nvSpPr>
          <p:cNvPr id="3" name="Footer Placeholder 2">
            <a:extLst>
              <a:ext uri="{FF2B5EF4-FFF2-40B4-BE49-F238E27FC236}">
                <a16:creationId xmlns:a16="http://schemas.microsoft.com/office/drawing/2014/main" id="{8225A07D-7E93-0D6F-1989-BE3A3311CE11}"/>
              </a:ext>
            </a:extLst>
          </p:cNvPr>
          <p:cNvSpPr>
            <a:spLocks noGrp="1"/>
          </p:cNvSpPr>
          <p:nvPr>
            <p:ph type="ftr" sz="quarter" idx="11"/>
          </p:nvPr>
        </p:nvSpPr>
        <p:spPr/>
        <p:txBody>
          <a:bodyPr/>
          <a:lstStyle/>
          <a:p>
            <a:endParaRPr lang="en-US"/>
          </a:p>
        </p:txBody>
      </p:sp>
      <p:sp>
        <p:nvSpPr>
          <p:cNvPr id="4" name="Slide Number Placeholder 3">
            <a:extLst>
              <a:ext uri="{FF2B5EF4-FFF2-40B4-BE49-F238E27FC236}">
                <a16:creationId xmlns:a16="http://schemas.microsoft.com/office/drawing/2014/main" id="{CDCAD062-0C19-534F-F475-1DD00204B4DD}"/>
              </a:ext>
            </a:extLst>
          </p:cNvPr>
          <p:cNvSpPr>
            <a:spLocks noGrp="1"/>
          </p:cNvSpPr>
          <p:nvPr>
            <p:ph type="sldNum" sz="quarter" idx="12"/>
          </p:nvPr>
        </p:nvSpPr>
        <p:spPr/>
        <p:txBody>
          <a:bodyPr/>
          <a:lstStyle/>
          <a:p>
            <a:fld id="{32FAA7EE-9DFB-FF4C-9A4A-FB7F0C86302C}" type="slidenum">
              <a:rPr lang="en-US" smtClean="0"/>
              <a:t>‹#›</a:t>
            </a:fld>
            <a:endParaRPr lang="en-US"/>
          </a:p>
        </p:txBody>
      </p:sp>
    </p:spTree>
    <p:extLst>
      <p:ext uri="{BB962C8B-B14F-4D97-AF65-F5344CB8AC3E}">
        <p14:creationId xmlns:p14="http://schemas.microsoft.com/office/powerpoint/2010/main" val="2612834812"/>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BBF86C3C-8D76-0105-1241-D0230B19C458}"/>
              </a:ext>
            </a:extLst>
          </p:cNvPr>
          <p:cNvSpPr>
            <a:spLocks noGrp="1"/>
          </p:cNvSpPr>
          <p:nvPr>
            <p:ph type="title"/>
          </p:nvPr>
        </p:nvSpPr>
        <p:spPr>
          <a:xfrm>
            <a:off x="839788" y="457200"/>
            <a:ext cx="3932237" cy="1600200"/>
          </a:xfrm>
        </p:spPr>
        <p:txBody>
          <a:bodyPr anchor="b"/>
          <a:lstStyle>
            <a:lvl1pPr>
              <a:defRPr sz="3200"/>
            </a:lvl1pPr>
          </a:lstStyle>
          <a:p>
            <a:r>
              <a:rPr lang="en-US"/>
              <a:t>Click to edit Master title style</a:t>
            </a:r>
          </a:p>
        </p:txBody>
      </p:sp>
      <p:sp>
        <p:nvSpPr>
          <p:cNvPr id="3" name="Content Placeholder 2">
            <a:extLst>
              <a:ext uri="{FF2B5EF4-FFF2-40B4-BE49-F238E27FC236}">
                <a16:creationId xmlns:a16="http://schemas.microsoft.com/office/drawing/2014/main" id="{7498F38C-945F-40E3-7B4D-7A73C4498C41}"/>
              </a:ext>
            </a:extLst>
          </p:cNvPr>
          <p:cNvSpPr>
            <a:spLocks noGrp="1"/>
          </p:cNvSpPr>
          <p:nvPr>
            <p:ph idx="1"/>
          </p:nvPr>
        </p:nvSpPr>
        <p:spPr>
          <a:xfrm>
            <a:off x="5183188" y="987425"/>
            <a:ext cx="6172200" cy="4873625"/>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Text Placeholder 3">
            <a:extLst>
              <a:ext uri="{FF2B5EF4-FFF2-40B4-BE49-F238E27FC236}">
                <a16:creationId xmlns:a16="http://schemas.microsoft.com/office/drawing/2014/main" id="{81322191-3674-D98C-3179-1CB60C6AD2F8}"/>
              </a:ext>
            </a:extLst>
          </p:cNvPr>
          <p:cNvSpPr>
            <a:spLocks noGrp="1"/>
          </p:cNvSpPr>
          <p:nvPr>
            <p:ph type="body" sz="half" idx="2"/>
          </p:nvPr>
        </p:nvSpPr>
        <p:spPr>
          <a:xfrm>
            <a:off x="839788" y="2057400"/>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a:t>Click to edit Master text styles</a:t>
            </a:r>
          </a:p>
        </p:txBody>
      </p:sp>
      <p:sp>
        <p:nvSpPr>
          <p:cNvPr id="5" name="Date Placeholder 4">
            <a:extLst>
              <a:ext uri="{FF2B5EF4-FFF2-40B4-BE49-F238E27FC236}">
                <a16:creationId xmlns:a16="http://schemas.microsoft.com/office/drawing/2014/main" id="{AC4AF62F-D264-C7E9-BEFE-CE0820B90863}"/>
              </a:ext>
            </a:extLst>
          </p:cNvPr>
          <p:cNvSpPr>
            <a:spLocks noGrp="1"/>
          </p:cNvSpPr>
          <p:nvPr>
            <p:ph type="dt" sz="half" idx="10"/>
          </p:nvPr>
        </p:nvSpPr>
        <p:spPr/>
        <p:txBody>
          <a:bodyPr/>
          <a:lstStyle/>
          <a:p>
            <a:fld id="{C64E3E82-ABF5-0443-8E9E-3BF9C4DC23E8}" type="datetimeFigureOut">
              <a:rPr lang="en-US" smtClean="0"/>
              <a:t>9/30/26</a:t>
            </a:fld>
            <a:endParaRPr lang="en-US"/>
          </a:p>
        </p:txBody>
      </p:sp>
      <p:sp>
        <p:nvSpPr>
          <p:cNvPr id="6" name="Footer Placeholder 5">
            <a:extLst>
              <a:ext uri="{FF2B5EF4-FFF2-40B4-BE49-F238E27FC236}">
                <a16:creationId xmlns:a16="http://schemas.microsoft.com/office/drawing/2014/main" id="{8B919EE1-4450-1379-0EE7-4E9184AF2E10}"/>
              </a:ext>
            </a:extLst>
          </p:cNvPr>
          <p:cNvSpPr>
            <a:spLocks noGrp="1"/>
          </p:cNvSpPr>
          <p:nvPr>
            <p:ph type="ftr" sz="quarter" idx="11"/>
          </p:nvPr>
        </p:nvSpPr>
        <p:spPr/>
        <p:txBody>
          <a:bodyPr/>
          <a:lstStyle/>
          <a:p>
            <a:endParaRPr lang="en-US"/>
          </a:p>
        </p:txBody>
      </p:sp>
      <p:sp>
        <p:nvSpPr>
          <p:cNvPr id="7" name="Slide Number Placeholder 6">
            <a:extLst>
              <a:ext uri="{FF2B5EF4-FFF2-40B4-BE49-F238E27FC236}">
                <a16:creationId xmlns:a16="http://schemas.microsoft.com/office/drawing/2014/main" id="{7C9284A1-F229-0238-4695-04C220C9EEE1}"/>
              </a:ext>
            </a:extLst>
          </p:cNvPr>
          <p:cNvSpPr>
            <a:spLocks noGrp="1"/>
          </p:cNvSpPr>
          <p:nvPr>
            <p:ph type="sldNum" sz="quarter" idx="12"/>
          </p:nvPr>
        </p:nvSpPr>
        <p:spPr/>
        <p:txBody>
          <a:bodyPr/>
          <a:lstStyle/>
          <a:p>
            <a:fld id="{32FAA7EE-9DFB-FF4C-9A4A-FB7F0C86302C}" type="slidenum">
              <a:rPr lang="en-US" smtClean="0"/>
              <a:t>‹#›</a:t>
            </a:fld>
            <a:endParaRPr lang="en-US"/>
          </a:p>
        </p:txBody>
      </p:sp>
    </p:spTree>
    <p:extLst>
      <p:ext uri="{BB962C8B-B14F-4D97-AF65-F5344CB8AC3E}">
        <p14:creationId xmlns:p14="http://schemas.microsoft.com/office/powerpoint/2010/main" val="3252473173"/>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6545E3FD-AF53-6494-281E-D78665CFA4AB}"/>
              </a:ext>
            </a:extLst>
          </p:cNvPr>
          <p:cNvSpPr>
            <a:spLocks noGrp="1"/>
          </p:cNvSpPr>
          <p:nvPr>
            <p:ph type="title"/>
          </p:nvPr>
        </p:nvSpPr>
        <p:spPr>
          <a:xfrm>
            <a:off x="839788" y="457200"/>
            <a:ext cx="3932237" cy="1600200"/>
          </a:xfrm>
        </p:spPr>
        <p:txBody>
          <a:bodyPr anchor="b"/>
          <a:lstStyle>
            <a:lvl1pPr>
              <a:defRPr sz="3200"/>
            </a:lvl1pPr>
          </a:lstStyle>
          <a:p>
            <a:r>
              <a:rPr lang="en-US"/>
              <a:t>Click to edit Master title style</a:t>
            </a:r>
          </a:p>
        </p:txBody>
      </p:sp>
      <p:sp>
        <p:nvSpPr>
          <p:cNvPr id="3" name="Picture Placeholder 2">
            <a:extLst>
              <a:ext uri="{FF2B5EF4-FFF2-40B4-BE49-F238E27FC236}">
                <a16:creationId xmlns:a16="http://schemas.microsoft.com/office/drawing/2014/main" id="{6E4D6075-DD2C-0973-3E3B-161700FA7339}"/>
              </a:ext>
            </a:extLst>
          </p:cNvPr>
          <p:cNvSpPr>
            <a:spLocks noGrp="1"/>
          </p:cNvSpPr>
          <p:nvPr>
            <p:ph type="pic" idx="1"/>
          </p:nvPr>
        </p:nvSpPr>
        <p:spPr>
          <a:xfrm>
            <a:off x="5183188" y="987425"/>
            <a:ext cx="6172200" cy="4873625"/>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a:extLst>
              <a:ext uri="{FF2B5EF4-FFF2-40B4-BE49-F238E27FC236}">
                <a16:creationId xmlns:a16="http://schemas.microsoft.com/office/drawing/2014/main" id="{A4C7F75C-24AE-99CB-574A-90537D08D5BA}"/>
              </a:ext>
            </a:extLst>
          </p:cNvPr>
          <p:cNvSpPr>
            <a:spLocks noGrp="1"/>
          </p:cNvSpPr>
          <p:nvPr>
            <p:ph type="body" sz="half" idx="2"/>
          </p:nvPr>
        </p:nvSpPr>
        <p:spPr>
          <a:xfrm>
            <a:off x="839788" y="2057400"/>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a:t>Click to edit Master text styles</a:t>
            </a:r>
          </a:p>
        </p:txBody>
      </p:sp>
      <p:sp>
        <p:nvSpPr>
          <p:cNvPr id="5" name="Date Placeholder 4">
            <a:extLst>
              <a:ext uri="{FF2B5EF4-FFF2-40B4-BE49-F238E27FC236}">
                <a16:creationId xmlns:a16="http://schemas.microsoft.com/office/drawing/2014/main" id="{42028B4E-B831-1712-381C-4E04789DFA07}"/>
              </a:ext>
            </a:extLst>
          </p:cNvPr>
          <p:cNvSpPr>
            <a:spLocks noGrp="1"/>
          </p:cNvSpPr>
          <p:nvPr>
            <p:ph type="dt" sz="half" idx="10"/>
          </p:nvPr>
        </p:nvSpPr>
        <p:spPr/>
        <p:txBody>
          <a:bodyPr/>
          <a:lstStyle/>
          <a:p>
            <a:fld id="{C64E3E82-ABF5-0443-8E9E-3BF9C4DC23E8}" type="datetimeFigureOut">
              <a:rPr lang="en-US" smtClean="0"/>
              <a:t>9/30/26</a:t>
            </a:fld>
            <a:endParaRPr lang="en-US"/>
          </a:p>
        </p:txBody>
      </p:sp>
      <p:sp>
        <p:nvSpPr>
          <p:cNvPr id="6" name="Footer Placeholder 5">
            <a:extLst>
              <a:ext uri="{FF2B5EF4-FFF2-40B4-BE49-F238E27FC236}">
                <a16:creationId xmlns:a16="http://schemas.microsoft.com/office/drawing/2014/main" id="{5F7F8E76-0CE2-FFD7-4E6B-A32398747636}"/>
              </a:ext>
            </a:extLst>
          </p:cNvPr>
          <p:cNvSpPr>
            <a:spLocks noGrp="1"/>
          </p:cNvSpPr>
          <p:nvPr>
            <p:ph type="ftr" sz="quarter" idx="11"/>
          </p:nvPr>
        </p:nvSpPr>
        <p:spPr/>
        <p:txBody>
          <a:bodyPr/>
          <a:lstStyle/>
          <a:p>
            <a:endParaRPr lang="en-US"/>
          </a:p>
        </p:txBody>
      </p:sp>
      <p:sp>
        <p:nvSpPr>
          <p:cNvPr id="7" name="Slide Number Placeholder 6">
            <a:extLst>
              <a:ext uri="{FF2B5EF4-FFF2-40B4-BE49-F238E27FC236}">
                <a16:creationId xmlns:a16="http://schemas.microsoft.com/office/drawing/2014/main" id="{4DA784D0-EF69-C256-0EEB-9F18603973C7}"/>
              </a:ext>
            </a:extLst>
          </p:cNvPr>
          <p:cNvSpPr>
            <a:spLocks noGrp="1"/>
          </p:cNvSpPr>
          <p:nvPr>
            <p:ph type="sldNum" sz="quarter" idx="12"/>
          </p:nvPr>
        </p:nvSpPr>
        <p:spPr/>
        <p:txBody>
          <a:bodyPr/>
          <a:lstStyle/>
          <a:p>
            <a:fld id="{32FAA7EE-9DFB-FF4C-9A4A-FB7F0C86302C}" type="slidenum">
              <a:rPr lang="en-US" smtClean="0"/>
              <a:t>‹#›</a:t>
            </a:fld>
            <a:endParaRPr lang="en-US"/>
          </a:p>
        </p:txBody>
      </p:sp>
    </p:spTree>
    <p:extLst>
      <p:ext uri="{BB962C8B-B14F-4D97-AF65-F5344CB8AC3E}">
        <p14:creationId xmlns:p14="http://schemas.microsoft.com/office/powerpoint/2010/main" val="1534052633"/>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558B672F-C506-BDFA-4B5E-D359283758CE}"/>
              </a:ext>
            </a:extLst>
          </p:cNvPr>
          <p:cNvSpPr>
            <a:spLocks noGrp="1"/>
          </p:cNvSpPr>
          <p:nvPr>
            <p:ph type="title"/>
          </p:nvPr>
        </p:nvSpPr>
        <p:spPr/>
        <p:txBody>
          <a:bodyPr/>
          <a:lstStyle/>
          <a:p>
            <a:r>
              <a:rPr lang="en-US"/>
              <a:t>Click to edit Master title style</a:t>
            </a:r>
          </a:p>
        </p:txBody>
      </p:sp>
      <p:sp>
        <p:nvSpPr>
          <p:cNvPr id="3" name="Vertical Text Placeholder 2">
            <a:extLst>
              <a:ext uri="{FF2B5EF4-FFF2-40B4-BE49-F238E27FC236}">
                <a16:creationId xmlns:a16="http://schemas.microsoft.com/office/drawing/2014/main" id="{02C22D33-6133-6637-7D38-B8B7E6A9F3FC}"/>
              </a:ext>
            </a:extLst>
          </p:cNvPr>
          <p:cNvSpPr>
            <a:spLocks noGrp="1"/>
          </p:cNvSpPr>
          <p:nvPr>
            <p:ph type="body" orient="vert" idx="1"/>
          </p:nvPr>
        </p:nvSpPr>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a:extLst>
              <a:ext uri="{FF2B5EF4-FFF2-40B4-BE49-F238E27FC236}">
                <a16:creationId xmlns:a16="http://schemas.microsoft.com/office/drawing/2014/main" id="{F1CFC294-41F4-F931-F69D-3EFBFCCD66B6}"/>
              </a:ext>
            </a:extLst>
          </p:cNvPr>
          <p:cNvSpPr>
            <a:spLocks noGrp="1"/>
          </p:cNvSpPr>
          <p:nvPr>
            <p:ph type="dt" sz="half" idx="10"/>
          </p:nvPr>
        </p:nvSpPr>
        <p:spPr/>
        <p:txBody>
          <a:bodyPr/>
          <a:lstStyle/>
          <a:p>
            <a:fld id="{C64E3E82-ABF5-0443-8E9E-3BF9C4DC23E8}" type="datetimeFigureOut">
              <a:rPr lang="en-US" smtClean="0"/>
              <a:t>9/30/26</a:t>
            </a:fld>
            <a:endParaRPr lang="en-US"/>
          </a:p>
        </p:txBody>
      </p:sp>
      <p:sp>
        <p:nvSpPr>
          <p:cNvPr id="5" name="Footer Placeholder 4">
            <a:extLst>
              <a:ext uri="{FF2B5EF4-FFF2-40B4-BE49-F238E27FC236}">
                <a16:creationId xmlns:a16="http://schemas.microsoft.com/office/drawing/2014/main" id="{8FC8EF21-A04F-3687-8D47-1D2F13D281B7}"/>
              </a:ext>
            </a:extLst>
          </p:cNvPr>
          <p:cNvSpPr>
            <a:spLocks noGrp="1"/>
          </p:cNvSpPr>
          <p:nvPr>
            <p:ph type="ftr" sz="quarter" idx="11"/>
          </p:nvPr>
        </p:nvSpPr>
        <p:spPr/>
        <p:txBody>
          <a:bodyPr/>
          <a:lstStyle/>
          <a:p>
            <a:endParaRPr lang="en-US"/>
          </a:p>
        </p:txBody>
      </p:sp>
      <p:sp>
        <p:nvSpPr>
          <p:cNvPr id="6" name="Slide Number Placeholder 5">
            <a:extLst>
              <a:ext uri="{FF2B5EF4-FFF2-40B4-BE49-F238E27FC236}">
                <a16:creationId xmlns:a16="http://schemas.microsoft.com/office/drawing/2014/main" id="{6A195EED-F88F-17E4-8239-44349F16DED2}"/>
              </a:ext>
            </a:extLst>
          </p:cNvPr>
          <p:cNvSpPr>
            <a:spLocks noGrp="1"/>
          </p:cNvSpPr>
          <p:nvPr>
            <p:ph type="sldNum" sz="quarter" idx="12"/>
          </p:nvPr>
        </p:nvSpPr>
        <p:spPr/>
        <p:txBody>
          <a:bodyPr/>
          <a:lstStyle/>
          <a:p>
            <a:fld id="{32FAA7EE-9DFB-FF4C-9A4A-FB7F0C86302C}" type="slidenum">
              <a:rPr lang="en-US" smtClean="0"/>
              <a:t>‹#›</a:t>
            </a:fld>
            <a:endParaRPr lang="en-US"/>
          </a:p>
        </p:txBody>
      </p:sp>
    </p:spTree>
    <p:extLst>
      <p:ext uri="{BB962C8B-B14F-4D97-AF65-F5344CB8AC3E}">
        <p14:creationId xmlns:p14="http://schemas.microsoft.com/office/powerpoint/2010/main" val="574457342"/>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a:extLst>
              <a:ext uri="{FF2B5EF4-FFF2-40B4-BE49-F238E27FC236}">
                <a16:creationId xmlns:a16="http://schemas.microsoft.com/office/drawing/2014/main" id="{DD814D8B-C5B6-6107-7699-727DDE8FABB1}"/>
              </a:ext>
            </a:extLst>
          </p:cNvPr>
          <p:cNvSpPr>
            <a:spLocks noGrp="1"/>
          </p:cNvSpPr>
          <p:nvPr>
            <p:ph type="title" orient="vert"/>
          </p:nvPr>
        </p:nvSpPr>
        <p:spPr>
          <a:xfrm>
            <a:off x="8724900" y="365125"/>
            <a:ext cx="2628900" cy="5811838"/>
          </a:xfrm>
        </p:spPr>
        <p:txBody>
          <a:bodyPr vert="eaVert"/>
          <a:lstStyle/>
          <a:p>
            <a:r>
              <a:rPr lang="en-US"/>
              <a:t>Click to edit Master title style</a:t>
            </a:r>
          </a:p>
        </p:txBody>
      </p:sp>
      <p:sp>
        <p:nvSpPr>
          <p:cNvPr id="3" name="Vertical Text Placeholder 2">
            <a:extLst>
              <a:ext uri="{FF2B5EF4-FFF2-40B4-BE49-F238E27FC236}">
                <a16:creationId xmlns:a16="http://schemas.microsoft.com/office/drawing/2014/main" id="{20253157-2E98-5845-A6F2-06BDC0F8F7D8}"/>
              </a:ext>
            </a:extLst>
          </p:cNvPr>
          <p:cNvSpPr>
            <a:spLocks noGrp="1"/>
          </p:cNvSpPr>
          <p:nvPr>
            <p:ph type="body" orient="vert" idx="1"/>
          </p:nvPr>
        </p:nvSpPr>
        <p:spPr>
          <a:xfrm>
            <a:off x="838200" y="365125"/>
            <a:ext cx="7734300" cy="5811838"/>
          </a:xfrm>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a:extLst>
              <a:ext uri="{FF2B5EF4-FFF2-40B4-BE49-F238E27FC236}">
                <a16:creationId xmlns:a16="http://schemas.microsoft.com/office/drawing/2014/main" id="{3B13DFC7-8FCF-4A26-76A9-2285F04FAB30}"/>
              </a:ext>
            </a:extLst>
          </p:cNvPr>
          <p:cNvSpPr>
            <a:spLocks noGrp="1"/>
          </p:cNvSpPr>
          <p:nvPr>
            <p:ph type="dt" sz="half" idx="10"/>
          </p:nvPr>
        </p:nvSpPr>
        <p:spPr/>
        <p:txBody>
          <a:bodyPr/>
          <a:lstStyle/>
          <a:p>
            <a:fld id="{C64E3E82-ABF5-0443-8E9E-3BF9C4DC23E8}" type="datetimeFigureOut">
              <a:rPr lang="en-US" smtClean="0"/>
              <a:t>9/30/26</a:t>
            </a:fld>
            <a:endParaRPr lang="en-US"/>
          </a:p>
        </p:txBody>
      </p:sp>
      <p:sp>
        <p:nvSpPr>
          <p:cNvPr id="5" name="Footer Placeholder 4">
            <a:extLst>
              <a:ext uri="{FF2B5EF4-FFF2-40B4-BE49-F238E27FC236}">
                <a16:creationId xmlns:a16="http://schemas.microsoft.com/office/drawing/2014/main" id="{50FDBED2-46E1-1B51-93E4-CA39B7E83BE9}"/>
              </a:ext>
            </a:extLst>
          </p:cNvPr>
          <p:cNvSpPr>
            <a:spLocks noGrp="1"/>
          </p:cNvSpPr>
          <p:nvPr>
            <p:ph type="ftr" sz="quarter" idx="11"/>
          </p:nvPr>
        </p:nvSpPr>
        <p:spPr/>
        <p:txBody>
          <a:bodyPr/>
          <a:lstStyle/>
          <a:p>
            <a:endParaRPr lang="en-US"/>
          </a:p>
        </p:txBody>
      </p:sp>
      <p:sp>
        <p:nvSpPr>
          <p:cNvPr id="6" name="Slide Number Placeholder 5">
            <a:extLst>
              <a:ext uri="{FF2B5EF4-FFF2-40B4-BE49-F238E27FC236}">
                <a16:creationId xmlns:a16="http://schemas.microsoft.com/office/drawing/2014/main" id="{7B523B04-6B5D-F8B0-56E7-E2234072FF9A}"/>
              </a:ext>
            </a:extLst>
          </p:cNvPr>
          <p:cNvSpPr>
            <a:spLocks noGrp="1"/>
          </p:cNvSpPr>
          <p:nvPr>
            <p:ph type="sldNum" sz="quarter" idx="12"/>
          </p:nvPr>
        </p:nvSpPr>
        <p:spPr/>
        <p:txBody>
          <a:bodyPr/>
          <a:lstStyle/>
          <a:p>
            <a:fld id="{32FAA7EE-9DFB-FF4C-9A4A-FB7F0C86302C}" type="slidenum">
              <a:rPr lang="en-US" smtClean="0"/>
              <a:t>‹#›</a:t>
            </a:fld>
            <a:endParaRPr lang="en-US"/>
          </a:p>
        </p:txBody>
      </p:sp>
    </p:spTree>
    <p:extLst>
      <p:ext uri="{BB962C8B-B14F-4D97-AF65-F5344CB8AC3E}">
        <p14:creationId xmlns:p14="http://schemas.microsoft.com/office/powerpoint/2010/main" val="1910800653"/>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a:extLst>
              <a:ext uri="{FF2B5EF4-FFF2-40B4-BE49-F238E27FC236}">
                <a16:creationId xmlns:a16="http://schemas.microsoft.com/office/drawing/2014/main" id="{AEFEF6B6-C5F9-031A-2E05-29DDE9F77202}"/>
              </a:ext>
            </a:extLst>
          </p:cNvPr>
          <p:cNvSpPr>
            <a:spLocks noGrp="1"/>
          </p:cNvSpPr>
          <p:nvPr>
            <p:ph type="title"/>
          </p:nvPr>
        </p:nvSpPr>
        <p:spPr>
          <a:xfrm>
            <a:off x="838200" y="365125"/>
            <a:ext cx="10515600" cy="1325563"/>
          </a:xfrm>
          <a:prstGeom prst="rect">
            <a:avLst/>
          </a:prstGeom>
        </p:spPr>
        <p:txBody>
          <a:bodyPr vert="horz" lIns="91440" tIns="45720" rIns="91440" bIns="45720" rtlCol="0" anchor="ctr">
            <a:normAutofit/>
          </a:bodyPr>
          <a:lstStyle/>
          <a:p>
            <a:r>
              <a:rPr lang="en-US"/>
              <a:t>Click to edit Master title style</a:t>
            </a:r>
          </a:p>
        </p:txBody>
      </p:sp>
      <p:sp>
        <p:nvSpPr>
          <p:cNvPr id="3" name="Text Placeholder 2">
            <a:extLst>
              <a:ext uri="{FF2B5EF4-FFF2-40B4-BE49-F238E27FC236}">
                <a16:creationId xmlns:a16="http://schemas.microsoft.com/office/drawing/2014/main" id="{2E5BE05B-7A50-4A14-F04C-7888F164820E}"/>
              </a:ext>
            </a:extLst>
          </p:cNvPr>
          <p:cNvSpPr>
            <a:spLocks noGrp="1"/>
          </p:cNvSpPr>
          <p:nvPr>
            <p:ph type="body" idx="1"/>
          </p:nvPr>
        </p:nvSpPr>
        <p:spPr>
          <a:xfrm>
            <a:off x="838200" y="1825625"/>
            <a:ext cx="10515600" cy="4351338"/>
          </a:xfrm>
          <a:prstGeom prst="rect">
            <a:avLst/>
          </a:prstGeom>
        </p:spPr>
        <p:txBody>
          <a:bodyPr vert="horz" lIns="91440" tIns="45720" rIns="91440" bIns="45720" rtlCol="0">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a:extLst>
              <a:ext uri="{FF2B5EF4-FFF2-40B4-BE49-F238E27FC236}">
                <a16:creationId xmlns:a16="http://schemas.microsoft.com/office/drawing/2014/main" id="{4F7A9C7D-E232-E081-8718-22B54E60548E}"/>
              </a:ext>
            </a:extLst>
          </p:cNvPr>
          <p:cNvSpPr>
            <a:spLocks noGrp="1"/>
          </p:cNvSpPr>
          <p:nvPr>
            <p:ph type="dt" sz="half" idx="2"/>
          </p:nvPr>
        </p:nvSpPr>
        <p:spPr>
          <a:xfrm>
            <a:off x="838200" y="6356350"/>
            <a:ext cx="2743200" cy="365125"/>
          </a:xfrm>
          <a:prstGeom prst="rect">
            <a:avLst/>
          </a:prstGeom>
        </p:spPr>
        <p:txBody>
          <a:bodyPr vert="horz" lIns="91440" tIns="45720" rIns="91440" bIns="45720" rtlCol="0" anchor="ctr"/>
          <a:lstStyle>
            <a:lvl1pPr algn="l">
              <a:defRPr sz="1200">
                <a:solidFill>
                  <a:schemeClr val="tx1">
                    <a:tint val="82000"/>
                  </a:schemeClr>
                </a:solidFill>
              </a:defRPr>
            </a:lvl1pPr>
          </a:lstStyle>
          <a:p>
            <a:fld id="{C64E3E82-ABF5-0443-8E9E-3BF9C4DC23E8}" type="datetimeFigureOut">
              <a:rPr lang="en-US" smtClean="0"/>
              <a:t>9/30/26</a:t>
            </a:fld>
            <a:endParaRPr lang="en-US"/>
          </a:p>
        </p:txBody>
      </p:sp>
      <p:sp>
        <p:nvSpPr>
          <p:cNvPr id="5" name="Footer Placeholder 4">
            <a:extLst>
              <a:ext uri="{FF2B5EF4-FFF2-40B4-BE49-F238E27FC236}">
                <a16:creationId xmlns:a16="http://schemas.microsoft.com/office/drawing/2014/main" id="{F9C344FD-7DC0-C478-C408-DE8A1C825FC1}"/>
              </a:ext>
            </a:extLst>
          </p:cNvPr>
          <p:cNvSpPr>
            <a:spLocks noGrp="1"/>
          </p:cNvSpPr>
          <p:nvPr>
            <p:ph type="ftr" sz="quarter" idx="3"/>
          </p:nvPr>
        </p:nvSpPr>
        <p:spPr>
          <a:xfrm>
            <a:off x="4038600" y="6356350"/>
            <a:ext cx="4114800" cy="365125"/>
          </a:xfrm>
          <a:prstGeom prst="rect">
            <a:avLst/>
          </a:prstGeom>
        </p:spPr>
        <p:txBody>
          <a:bodyPr vert="horz" lIns="91440" tIns="45720" rIns="91440" bIns="45720" rtlCol="0" anchor="ctr"/>
          <a:lstStyle>
            <a:lvl1pPr algn="ctr">
              <a:defRPr sz="1200">
                <a:solidFill>
                  <a:schemeClr val="tx1">
                    <a:tint val="82000"/>
                  </a:schemeClr>
                </a:solidFill>
              </a:defRPr>
            </a:lvl1pPr>
          </a:lstStyle>
          <a:p>
            <a:endParaRPr lang="en-US"/>
          </a:p>
        </p:txBody>
      </p:sp>
      <p:sp>
        <p:nvSpPr>
          <p:cNvPr id="6" name="Slide Number Placeholder 5">
            <a:extLst>
              <a:ext uri="{FF2B5EF4-FFF2-40B4-BE49-F238E27FC236}">
                <a16:creationId xmlns:a16="http://schemas.microsoft.com/office/drawing/2014/main" id="{1DC48A88-C62C-0783-1D31-C175AD0017A6}"/>
              </a:ext>
            </a:extLst>
          </p:cNvPr>
          <p:cNvSpPr>
            <a:spLocks noGrp="1"/>
          </p:cNvSpPr>
          <p:nvPr>
            <p:ph type="sldNum" sz="quarter" idx="4"/>
          </p:nvPr>
        </p:nvSpPr>
        <p:spPr>
          <a:xfrm>
            <a:off x="8610600" y="6356350"/>
            <a:ext cx="2743200" cy="365125"/>
          </a:xfrm>
          <a:prstGeom prst="rect">
            <a:avLst/>
          </a:prstGeom>
        </p:spPr>
        <p:txBody>
          <a:bodyPr vert="horz" lIns="91440" tIns="45720" rIns="91440" bIns="45720" rtlCol="0" anchor="ctr"/>
          <a:lstStyle>
            <a:lvl1pPr algn="r">
              <a:defRPr sz="1200">
                <a:solidFill>
                  <a:schemeClr val="tx1">
                    <a:tint val="82000"/>
                  </a:schemeClr>
                </a:solidFill>
              </a:defRPr>
            </a:lvl1pPr>
          </a:lstStyle>
          <a:p>
            <a:fld id="{32FAA7EE-9DFB-FF4C-9A4A-FB7F0C86302C}" type="slidenum">
              <a:rPr lang="en-US" smtClean="0"/>
              <a:t>‹#›</a:t>
            </a:fld>
            <a:endParaRPr lang="en-US"/>
          </a:p>
        </p:txBody>
      </p:sp>
    </p:spTree>
    <p:extLst>
      <p:ext uri="{BB962C8B-B14F-4D97-AF65-F5344CB8AC3E}">
        <p14:creationId xmlns:p14="http://schemas.microsoft.com/office/powerpoint/2010/main" val="3405713600"/>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l" defTabSz="914400" rtl="0" eaLnBrk="1" latinLnBrk="0" hangingPunct="1">
        <a:lnSpc>
          <a:spcPct val="90000"/>
        </a:lnSpc>
        <a:spcBef>
          <a:spcPct val="0"/>
        </a:spcBef>
        <a:buNone/>
        <a:defRPr sz="4400" kern="1200">
          <a:solidFill>
            <a:schemeClr val="tx1"/>
          </a:solidFill>
          <a:latin typeface="+mj-lt"/>
          <a:ea typeface="+mj-ea"/>
          <a:cs typeface="+mj-cs"/>
        </a:defRPr>
      </a:lvl1pPr>
    </p:titleStyle>
    <p:body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jpg"/><Relationship Id="rId3" Type="http://schemas.openxmlformats.org/officeDocument/2006/relationships/image" Target="../media/image2.jpg"/><Relationship Id="rId4" Type="http://schemas.openxmlformats.org/officeDocument/2006/relationships/image" Target="../media/image3.jpg"/><Relationship Id="rId5" Type="http://schemas.openxmlformats.org/officeDocument/2006/relationships/image" Target="../media/image4.jpg"/><Relationship Id="rId6" Type="http://schemas.openxmlformats.org/officeDocument/2006/relationships/image" Target="../media/image5.png"/><Relationship Id="rId7" Type="http://schemas.openxmlformats.org/officeDocument/2006/relationships/image" Target="../media/image6.jpg"/></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7.jpg"/><Relationship Id="rId3" Type="http://schemas.openxmlformats.org/officeDocument/2006/relationships/image" Target="../media/image8.png"/></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9.jpg"/><Relationship Id="rId3" Type="http://schemas.openxmlformats.org/officeDocument/2006/relationships/image" Target="../media/image10.jpg"/></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 Id="rId3" Type="http://schemas.openxmlformats.org/officeDocument/2006/relationships/image" Target="../media/image11.png"/><Relationship Id="rId4" Type="http://schemas.openxmlformats.org/officeDocument/2006/relationships/image" Target="../media/image12.png"/><Relationship Id="rId5" Type="http://schemas.openxmlformats.org/officeDocument/2006/relationships/image" Target="../media/image13.png"/></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xml"/><Relationship Id="rId3" Type="http://schemas.openxmlformats.org/officeDocument/2006/relationships/image" Target="../media/image14.jpg"/><Relationship Id="rId4" Type="http://schemas.openxmlformats.org/officeDocument/2006/relationships/image" Target="../media/image15.jpg"/><Relationship Id="rId5" Type="http://schemas.openxmlformats.org/officeDocument/2006/relationships/image" Target="../media/image16.jpg"/></Relationships>
</file>

<file path=ppt/slides/_rels/slide8.xml.rels><?xml version='1.0' encoding='UTF-8' standalone='yes'?>
<Relationships xmlns="http://schemas.openxmlformats.org/package/2006/relationships"><Relationship Id="rId1" Type="http://schemas.microsoft.com/office/2007/relationships/media" Target="../media/media1.mp4"/><Relationship Id="rId2" Type="http://schemas.openxmlformats.org/officeDocument/2006/relationships/video" Target="../media/media1.mp4"/><Relationship Id="rId3" Type="http://schemas.openxmlformats.org/officeDocument/2006/relationships/slideLayout" Target="../slideLayouts/slideLayout1.xml"/><Relationship Id="rId4" Type="http://schemas.openxmlformats.org/officeDocument/2006/relationships/notesSlide" Target="../notesSlides/notesSlide3.xml"/><Relationship Id="rId5" Type="http://schemas.openxmlformats.org/officeDocument/2006/relationships/image" Target="../media/image17.jpg"/><Relationship Id="rId6" Type="http://schemas.openxmlformats.org/officeDocument/2006/relationships/hyperlink" Target="https://archive.org/details/perceptron_documentary_excerpt" TargetMode="External"/><Relationship Id="rId7" Type="http://schemas.openxmlformats.org/officeDocument/2006/relationships/image" Target="../media/image18.png"/></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52.png"/><Relationship Id="rId3" Type="http://schemas.openxmlformats.org/officeDocument/2006/relationships/notesSlide" Target="../notesSlides/notesSlide3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xml"/><Relationship Id="rId3" Type="http://schemas.openxmlformats.org/officeDocument/2006/relationships/image" Target="../media/image19.png"/><Relationship Id="rId4" Type="http://schemas.openxmlformats.org/officeDocument/2006/relationships/image" Target="../media/image20.jpg"/><Relationship Id="rId5" Type="http://schemas.openxmlformats.org/officeDocument/2006/relationships/image" Target="../media/image21.jpg"/></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xml"/><Relationship Id="rId3" Type="http://schemas.openxmlformats.org/officeDocument/2006/relationships/image" Target="../media/image22.jpg"/><Relationship Id="rId4" Type="http://schemas.openxmlformats.org/officeDocument/2006/relationships/image" Target="../media/image23.jpg"/><Relationship Id="rId5" Type="http://schemas.openxmlformats.org/officeDocument/2006/relationships/image" Target="../media/image24.png"/></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xml"/><Relationship Id="rId3" Type="http://schemas.openxmlformats.org/officeDocument/2006/relationships/image" Target="../media/image25.png"/></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xml"/><Relationship Id="rId3" Type="http://schemas.openxmlformats.org/officeDocument/2006/relationships/image" Target="../media/image26.jpg"/><Relationship Id="rId4" Type="http://schemas.openxmlformats.org/officeDocument/2006/relationships/image" Target="../media/image27.jpg"/><Relationship Id="rId5" Type="http://schemas.openxmlformats.org/officeDocument/2006/relationships/image" Target="../media/image28.jpg"/><Relationship Id="rId6" Type="http://schemas.openxmlformats.org/officeDocument/2006/relationships/image" Target="../media/image29.jpg"/><Relationship Id="rId7" Type="http://schemas.openxmlformats.org/officeDocument/2006/relationships/image" Target="../media/image30.jpg"/></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xml"/><Relationship Id="rId3" Type="http://schemas.openxmlformats.org/officeDocument/2006/relationships/image" Target="../media/image31.jpg"/><Relationship Id="rId4" Type="http://schemas.openxmlformats.org/officeDocument/2006/relationships/image" Target="../media/image32.jpg"/><Relationship Id="rId5" Type="http://schemas.openxmlformats.org/officeDocument/2006/relationships/image" Target="../media/image57.jpg"/></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xml"/><Relationship Id="rId3" Type="http://schemas.openxmlformats.org/officeDocument/2006/relationships/image" Target="../media/image33.png"/></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1.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2.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3.xml"/><Relationship Id="rId3" Type="http://schemas.openxmlformats.org/officeDocument/2006/relationships/image" Target="../media/image34.jpg"/></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4.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5.xml"/><Relationship Id="rId3" Type="http://schemas.openxmlformats.org/officeDocument/2006/relationships/image" Target="../media/image58.png"/><Relationship Id="rId4" Type="http://schemas.openxmlformats.org/officeDocument/2006/relationships/hyperlink" Target="https://www.reddit.com/r/singularity/comments/1m5o1ll/gemini_with_deep_think_achieves_gold_medallevel/" TargetMode="Externa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6.xml"/><Relationship Id="rId3" Type="http://schemas.openxmlformats.org/officeDocument/2006/relationships/image" Target="../media/image35.jpg"/></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7.xml"/><Relationship Id="rId3" Type="http://schemas.openxmlformats.org/officeDocument/2006/relationships/image" Target="../media/image36.png"/><Relationship Id="rId4" Type="http://schemas.openxmlformats.org/officeDocument/2006/relationships/image" Target="../media/image37.png"/></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8.xml"/><Relationship Id="rId3" Type="http://schemas.openxmlformats.org/officeDocument/2006/relationships/image" Target="../media/image38.jpg"/></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9.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0.xml"/><Relationship Id="rId3" Type="http://schemas.openxmlformats.org/officeDocument/2006/relationships/image" Target="../media/image39.png"/><Relationship Id="rId4" Type="http://schemas.openxmlformats.org/officeDocument/2006/relationships/image" Target="../media/image40.png"/></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1.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2.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2.jpg"/><Relationship Id="rId3" Type="http://schemas.openxmlformats.org/officeDocument/2006/relationships/image" Target="../media/image41.png"/><Relationship Id="rId4" Type="http://schemas.openxmlformats.org/officeDocument/2006/relationships/image" Target="../media/image42.png"/><Relationship Id="rId5" Type="http://schemas.openxmlformats.org/officeDocument/2006/relationships/image" Target="../media/image43.png"/><Relationship Id="rId6" Type="http://schemas.openxmlformats.org/officeDocument/2006/relationships/notesSlide" Target="../notesSlides/notesSlide40.xm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1.xml"/></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7.xml"/></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44.png"/><Relationship Id="rId3" Type="http://schemas.openxmlformats.org/officeDocument/2006/relationships/image" Target="../media/image45.png"/><Relationship Id="rId4" Type="http://schemas.openxmlformats.org/officeDocument/2006/relationships/image" Target="../media/image40.png"/><Relationship Id="rId5" Type="http://schemas.openxmlformats.org/officeDocument/2006/relationships/image" Target="../media/image59.png"/><Relationship Id="rId6" Type="http://schemas.openxmlformats.org/officeDocument/2006/relationships/notesSlide" Target="../notesSlides/notesSlide42.xml"/></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3.xml"/></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46.png"/><Relationship Id="rId3" Type="http://schemas.openxmlformats.org/officeDocument/2006/relationships/image" Target="../media/image47.png"/><Relationship Id="rId4" Type="http://schemas.openxmlformats.org/officeDocument/2006/relationships/image" Target="../media/image48.png"/><Relationship Id="rId5" Type="http://schemas.openxmlformats.org/officeDocument/2006/relationships/notesSlide" Target="../notesSlides/notesSlide44.xml"/></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50.png"/><Relationship Id="rId3" Type="http://schemas.openxmlformats.org/officeDocument/2006/relationships/image" Target="../media/image60.png"/><Relationship Id="rId4" Type="http://schemas.openxmlformats.org/officeDocument/2006/relationships/notesSlide" Target="../notesSlides/notesSlide45.xml"/><Relationship Id="rId5" Type="http://schemas.openxmlformats.org/officeDocument/2006/relationships/image" Target="../media/image49.png"/></Relationships>
</file>

<file path=ppt/slides/_rels/slide3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61.png"/><Relationship Id="rId3" Type="http://schemas.openxmlformats.org/officeDocument/2006/relationships/image" Target="../media/image62.png"/><Relationship Id="rId4" Type="http://schemas.openxmlformats.org/officeDocument/2006/relationships/image" Target="../media/image63.png"/><Relationship Id="rId5" Type="http://schemas.openxmlformats.org/officeDocument/2006/relationships/image" Target="../media/image64.png"/><Relationship Id="rId6" Type="http://schemas.openxmlformats.org/officeDocument/2006/relationships/image" Target="../media/image53.png"/><Relationship Id="rId7" Type="http://schemas.openxmlformats.org/officeDocument/2006/relationships/image" Target="../media/image26.jpg"/><Relationship Id="rId8" Type="http://schemas.openxmlformats.org/officeDocument/2006/relationships/image" Target="../media/image27.jpg"/><Relationship Id="rId9" Type="http://schemas.openxmlformats.org/officeDocument/2006/relationships/image" Target="../media/image28.jpg"/><Relationship Id="rId10" Type="http://schemas.openxmlformats.org/officeDocument/2006/relationships/notesSlide" Target="../notesSlides/notesSlide33.xml"/></Relationships>
</file>

<file path=ppt/slides/_rels/slide3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66.png"/><Relationship Id="rId3" Type="http://schemas.openxmlformats.org/officeDocument/2006/relationships/image" Target="../media/image67.png"/><Relationship Id="rId4" Type="http://schemas.openxmlformats.org/officeDocument/2006/relationships/image" Target="../media/image68.png"/><Relationship Id="rId5" Type="http://schemas.openxmlformats.org/officeDocument/2006/relationships/image" Target="../media/image55.png"/><Relationship Id="rId6" Type="http://schemas.openxmlformats.org/officeDocument/2006/relationships/image" Target="../media/image56.png"/><Relationship Id="rId7" Type="http://schemas.openxmlformats.org/officeDocument/2006/relationships/notesSlide" Target="../notesSlides/notesSlide47.xml"/></Relationships>
</file>

<file path=ppt/slides/_rels/slide3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8.xml"/></Relationships>
</file>

<file path=ppt/slides/_rels/slide3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51.png"/><Relationship Id="rId3" Type="http://schemas.openxmlformats.org/officeDocument/2006/relationships/notesSlide" Target="../notesSlides/notesSlide48.xml"/></Relationships>
</file>

<file path=ppt/slides/_rels/slide4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9.xml"/></Relationships>
</file>

<file path=ppt/slides/_rels/slide4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76.jpg"/><Relationship Id="rId3" Type="http://schemas.openxmlformats.org/officeDocument/2006/relationships/image" Target="../media/image77.jpg"/><Relationship Id="rId4" Type="http://schemas.openxmlformats.org/officeDocument/2006/relationships/image" Target="../media/image78.png"/><Relationship Id="rId5" Type="http://schemas.openxmlformats.org/officeDocument/2006/relationships/image" Target="../media/image79.jpg"/><Relationship Id="rId6" Type="http://schemas.openxmlformats.org/officeDocument/2006/relationships/image" Target="../media/image80.png"/><Relationship Id="rId7" Type="http://schemas.openxmlformats.org/officeDocument/2006/relationships/image" Target="../media/image81.png"/><Relationship Id="rId8" Type="http://schemas.openxmlformats.org/officeDocument/2006/relationships/image" Target="../media/image82.png"/><Relationship Id="rId9" Type="http://schemas.openxmlformats.org/officeDocument/2006/relationships/notesSlide" Target="../notesSlides/notesSlide51.xml"/></Relationships>
</file>

<file path=ppt/slides/_rels/slide4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85.png"/><Relationship Id="rId3" Type="http://schemas.openxmlformats.org/officeDocument/2006/relationships/image" Target="../media/image86.png"/><Relationship Id="rId4" Type="http://schemas.openxmlformats.org/officeDocument/2006/relationships/notesSlide" Target="../notesSlides/notesSlide53.xml"/></Relationships>
</file>

<file path=ppt/slides/_rels/slide4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90.png"/><Relationship Id="rId3" Type="http://schemas.openxmlformats.org/officeDocument/2006/relationships/image" Target="../media/image91.jpg"/><Relationship Id="rId4" Type="http://schemas.openxmlformats.org/officeDocument/2006/relationships/notesSlide" Target="../notesSlides/notesSlide34.xml"/></Relationships>
</file>

<file path=ppt/slides/_rels/slide4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92.jpg"/><Relationship Id="rId3" Type="http://schemas.openxmlformats.org/officeDocument/2006/relationships/image" Target="../media/image93.png"/><Relationship Id="rId4" Type="http://schemas.openxmlformats.org/officeDocument/2006/relationships/image" Target="../media/image50.png"/><Relationship Id="rId5" Type="http://schemas.openxmlformats.org/officeDocument/2006/relationships/notesSlide" Target="../notesSlides/notesSlide55.xml"/></Relationships>
</file>

<file path=ppt/slides/_rels/slide4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94.png"/><Relationship Id="rId3" Type="http://schemas.openxmlformats.org/officeDocument/2006/relationships/image" Target="../media/image95.png"/><Relationship Id="rId4" Type="http://schemas.openxmlformats.org/officeDocument/2006/relationships/image" Target="../media/image96.png"/><Relationship Id="rId5" Type="http://schemas.openxmlformats.org/officeDocument/2006/relationships/image" Target="../media/image81.png"/><Relationship Id="rId6" Type="http://schemas.openxmlformats.org/officeDocument/2006/relationships/image" Target="../media/image97.png"/><Relationship Id="rId7" Type="http://schemas.openxmlformats.org/officeDocument/2006/relationships/image" Target="../media/image98.png"/><Relationship Id="rId8" Type="http://schemas.openxmlformats.org/officeDocument/2006/relationships/notesSlide" Target="../notesSlides/notesSlide56.xml"/></Relationships>
</file>

<file path=ppt/slides/_rels/slide4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99.png"/><Relationship Id="rId3" Type="http://schemas.openxmlformats.org/officeDocument/2006/relationships/image" Target="../media/image60.png"/><Relationship Id="rId4" Type="http://schemas.openxmlformats.org/officeDocument/2006/relationships/image" Target="../media/image100.png"/><Relationship Id="rId5" Type="http://schemas.openxmlformats.org/officeDocument/2006/relationships/image" Target="../media/image101.png"/><Relationship Id="rId6" Type="http://schemas.openxmlformats.org/officeDocument/2006/relationships/image" Target="../media/image102.png"/><Relationship Id="rId7" Type="http://schemas.openxmlformats.org/officeDocument/2006/relationships/image" Target="../media/image33.png"/><Relationship Id="rId8" Type="http://schemas.openxmlformats.org/officeDocument/2006/relationships/image" Target="../media/image103.png"/><Relationship Id="rId9" Type="http://schemas.openxmlformats.org/officeDocument/2006/relationships/image" Target="../media/image104.png"/><Relationship Id="rId10" Type="http://schemas.openxmlformats.org/officeDocument/2006/relationships/image" Target="../media/image105.png"/><Relationship Id="rId11" Type="http://schemas.openxmlformats.org/officeDocument/2006/relationships/notesSlide" Target="../notesSlides/notesSlide57.xml"/></Relationships>
</file>

<file path=ppt/slides/_rels/slide4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06.jpg"/><Relationship Id="rId3" Type="http://schemas.openxmlformats.org/officeDocument/2006/relationships/image" Target="../media/image107.png"/><Relationship Id="rId4" Type="http://schemas.openxmlformats.org/officeDocument/2006/relationships/image" Target="../media/image108.png"/><Relationship Id="rId5" Type="http://schemas.openxmlformats.org/officeDocument/2006/relationships/image" Target="../media/image109.png"/><Relationship Id="rId6" Type="http://schemas.openxmlformats.org/officeDocument/2006/relationships/image" Target="../media/image110.png"/><Relationship Id="rId7" Type="http://schemas.openxmlformats.org/officeDocument/2006/relationships/notesSlide" Target="../notesSlides/notesSlide58.xml"/></Relationships>
</file>

<file path=ppt/slides/_rels/slide5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4.jpg"/><Relationship Id="rId3" Type="http://schemas.openxmlformats.org/officeDocument/2006/relationships/image" Target="../media/image115.png"/><Relationship Id="rId4" Type="http://schemas.openxmlformats.org/officeDocument/2006/relationships/image" Target="../media/image116.jpg"/><Relationship Id="rId5" Type="http://schemas.openxmlformats.org/officeDocument/2006/relationships/image" Target="../media/image117.png"/><Relationship Id="rId6" Type="http://schemas.openxmlformats.org/officeDocument/2006/relationships/notesSlide" Target="../notesSlides/notesSlide60.xml"/></Relationships>
</file>

<file path=ppt/slides/_rels/slide5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18.jpg"/><Relationship Id="rId3" Type="http://schemas.openxmlformats.org/officeDocument/2006/relationships/image" Target="../media/image119.jpg"/><Relationship Id="rId4" Type="http://schemas.openxmlformats.org/officeDocument/2006/relationships/image" Target="../media/image120.png"/><Relationship Id="rId5" Type="http://schemas.openxmlformats.org/officeDocument/2006/relationships/notesSlide" Target="../notesSlides/notesSlide61.xml"/></Relationships>
</file>

<file path=ppt/slides/_rels/slide5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21.png"/><Relationship Id="rId3" Type="http://schemas.openxmlformats.org/officeDocument/2006/relationships/image" Target="../media/image122.png"/><Relationship Id="rId4" Type="http://schemas.openxmlformats.org/officeDocument/2006/relationships/image" Target="../media/image123.png"/><Relationship Id="rId5" Type="http://schemas.openxmlformats.org/officeDocument/2006/relationships/notesSlide" Target="../notesSlides/notesSlide62.xml"/></Relationships>
</file>

<file path=ppt/slides/_rels/slide5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6.jpg"/><Relationship Id="rId3" Type="http://schemas.openxmlformats.org/officeDocument/2006/relationships/image" Target="../media/image124.png"/><Relationship Id="rId4" Type="http://schemas.openxmlformats.org/officeDocument/2006/relationships/image" Target="../media/image125.png"/><Relationship Id="rId5" Type="http://schemas.openxmlformats.org/officeDocument/2006/relationships/image" Target="../media/image126.png"/><Relationship Id="rId6" Type="http://schemas.openxmlformats.org/officeDocument/2006/relationships/notesSlide" Target="../notesSlides/notesSlide63.xml"/></Relationships>
</file>

<file path=ppt/slides/_rels/slide6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9.xml"/></Relationships>
</file>

<file path=ppt/slides/_rels/slide6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39.png"/><Relationship Id="rId3" Type="http://schemas.openxmlformats.org/officeDocument/2006/relationships/image" Target="../media/image140.png"/><Relationship Id="rId4" Type="http://schemas.openxmlformats.org/officeDocument/2006/relationships/image" Target="../media/image141.png"/><Relationship Id="rId5" Type="http://schemas.openxmlformats.org/officeDocument/2006/relationships/image" Target="../media/image142.png"/><Relationship Id="rId6" Type="http://schemas.openxmlformats.org/officeDocument/2006/relationships/notesSlide" Target="../notesSlides/notesSlide70.xml"/></Relationships>
</file>

<file path=ppt/slides/_rels/slide6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43.png"/><Relationship Id="rId3" Type="http://schemas.openxmlformats.org/officeDocument/2006/relationships/image" Target="../media/image144.png"/><Relationship Id="rId4" Type="http://schemas.openxmlformats.org/officeDocument/2006/relationships/notesSlide" Target="../notesSlides/notesSlide71.xml"/></Relationships>
</file>

<file path=ppt/slides/_rels/slide6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45.png"/><Relationship Id="rId3" Type="http://schemas.openxmlformats.org/officeDocument/2006/relationships/notesSlide" Target="../notesSlides/notesSlide72.xml"/></Relationships>
</file>

<file path=ppt/slides/_rels/slide6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46.png"/><Relationship Id="rId3" Type="http://schemas.openxmlformats.org/officeDocument/2006/relationships/image" Target="../media/image147.png"/><Relationship Id="rId4" Type="http://schemas.openxmlformats.org/officeDocument/2006/relationships/image" Target="../media/image148.png"/><Relationship Id="rId5" Type="http://schemas.openxmlformats.org/officeDocument/2006/relationships/image" Target="../media/image149.png"/><Relationship Id="rId6" Type="http://schemas.openxmlformats.org/officeDocument/2006/relationships/image" Target="../media/image150.png"/><Relationship Id="rId7" Type="http://schemas.openxmlformats.org/officeDocument/2006/relationships/image" Target="../media/image151.png"/><Relationship Id="rId8" Type="http://schemas.openxmlformats.org/officeDocument/2006/relationships/image" Target="../media/image152.png"/><Relationship Id="rId9" Type="http://schemas.openxmlformats.org/officeDocument/2006/relationships/notesSlide" Target="../notesSlides/notesSlide73.xml"/></Relationships>
</file>

<file path=ppt/slides/_rels/slide6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53.png"/><Relationship Id="rId3" Type="http://schemas.openxmlformats.org/officeDocument/2006/relationships/image" Target="../media/image142.png"/><Relationship Id="rId4" Type="http://schemas.openxmlformats.org/officeDocument/2006/relationships/notesSlide" Target="../notesSlides/notesSlide74.xml"/></Relationships>
</file>

<file path=ppt/slides/_rels/slide6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hyperlink" Target="https://github.com/mathrulestheworld/tinylm" TargetMode="External"/><Relationship Id="rId3" Type="http://schemas.openxmlformats.org/officeDocument/2006/relationships/image" Target="../media/image154.png"/><Relationship Id="rId4" Type="http://schemas.openxmlformats.org/officeDocument/2006/relationships/notesSlide" Target="../notesSlides/notesSlide75.xml"/></Relationships>
</file>

<file path=ppt/slides/_rels/slide6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40.png"/><Relationship Id="rId3" Type="http://schemas.openxmlformats.org/officeDocument/2006/relationships/image" Target="../media/image155.png"/><Relationship Id="rId4" Type="http://schemas.openxmlformats.org/officeDocument/2006/relationships/notesSlide" Target="../notesSlides/notesSlide76.xml"/></Relationships>
</file>

<file path=ppt/slides/_rels/slide6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20.png"/><Relationship Id="rId3" Type="http://schemas.openxmlformats.org/officeDocument/2006/relationships/image" Target="../media/image156.png"/><Relationship Id="rId4" Type="http://schemas.openxmlformats.org/officeDocument/2006/relationships/image" Target="../media/image125.png"/><Relationship Id="rId5" Type="http://schemas.openxmlformats.org/officeDocument/2006/relationships/notesSlide" Target="../notesSlides/notesSlide77.xml"/></Relationships>
</file>

<file path=ppt/slides/_rels/slide6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69.jpg"/><Relationship Id="rId3" Type="http://schemas.openxmlformats.org/officeDocument/2006/relationships/image" Target="../media/image70.jpg"/><Relationship Id="rId4" Type="http://schemas.openxmlformats.org/officeDocument/2006/relationships/image" Target="../media/image71.jpg"/><Relationship Id="rId5" Type="http://schemas.openxmlformats.org/officeDocument/2006/relationships/image" Target="../media/image72.jpg"/><Relationship Id="rId6" Type="http://schemas.openxmlformats.org/officeDocument/2006/relationships/image" Target="../media/image7.jpg"/><Relationship Id="rId7" Type="http://schemas.openxmlformats.org/officeDocument/2006/relationships/image" Target="../media/image73.png"/><Relationship Id="rId8" Type="http://schemas.openxmlformats.org/officeDocument/2006/relationships/image" Target="../media/image74.png"/><Relationship Id="rId9" Type="http://schemas.openxmlformats.org/officeDocument/2006/relationships/image" Target="../media/image75.jpg"/><Relationship Id="rId10" Type="http://schemas.openxmlformats.org/officeDocument/2006/relationships/image" Target="../media/image87.png"/><Relationship Id="rId11" Type="http://schemas.openxmlformats.org/officeDocument/2006/relationships/image" Target="../media/image88.jpg"/><Relationship Id="rId12" Type="http://schemas.openxmlformats.org/officeDocument/2006/relationships/notesSlide" Target="../notesSlides/notesSlide54.xml"/></Relationships>
</file>

<file path=ppt/slides/_rels/slide7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83.png"/><Relationship Id="rId3" Type="http://schemas.openxmlformats.org/officeDocument/2006/relationships/image" Target="../media/image84.png"/><Relationship Id="rId4" Type="http://schemas.openxmlformats.org/officeDocument/2006/relationships/notesSlide" Target="../notesSlides/notesSlide52.xml"/></Relationships>
</file>

<file path=ppt/slides/_rels/slide7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hyperlink" Target="https://nathan.rs/posts/gzip-lm/" TargetMode="External"/><Relationship Id="rId3" Type="http://schemas.openxmlformats.org/officeDocument/2006/relationships/image" Target="../media/image112.png"/><Relationship Id="rId4" Type="http://schemas.openxmlformats.org/officeDocument/2006/relationships/image" Target="../media/image113.png"/><Relationship Id="rId5" Type="http://schemas.openxmlformats.org/officeDocument/2006/relationships/hyperlink" Target="https://www.youtube.com/watch?v=GlYgs6v2YfU" TargetMode="External"/><Relationship Id="rId6" Type="http://schemas.openxmlformats.org/officeDocument/2006/relationships/image" Target="../media/image114.png"/><Relationship Id="rId7" Type="http://schemas.openxmlformats.org/officeDocument/2006/relationships/image" Target="../media/image54.png"/><Relationship Id="rId8" Type="http://schemas.openxmlformats.org/officeDocument/2006/relationships/image" Target="../media/image111.png"/><Relationship Id="rId9" Type="http://schemas.openxmlformats.org/officeDocument/2006/relationships/notesSlide" Target="../notesSlides/notesSlide50.xml"/></Relationships>
</file>

<file path=ppt/slides/_rels/slide7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65.png"/><Relationship Id="rId3" Type="http://schemas.openxmlformats.org/officeDocument/2006/relationships/image" Target="../media/image128.png"/><Relationship Id="rId4" Type="http://schemas.openxmlformats.org/officeDocument/2006/relationships/image" Target="../media/image157.png"/><Relationship Id="rId5" Type="http://schemas.openxmlformats.org/officeDocument/2006/relationships/notesSlide" Target="../notesSlides/notesSlide46.xml"/></Relationships>
</file>

<file path=ppt/slides/_rels/slide7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30.jpg"/><Relationship Id="rId3" Type="http://schemas.openxmlformats.org/officeDocument/2006/relationships/image" Target="../media/image116.jpg"/><Relationship Id="rId4" Type="http://schemas.openxmlformats.org/officeDocument/2006/relationships/image" Target="../media/image131.png"/><Relationship Id="rId5" Type="http://schemas.openxmlformats.org/officeDocument/2006/relationships/image" Target="../media/image132.png"/><Relationship Id="rId6" Type="http://schemas.openxmlformats.org/officeDocument/2006/relationships/image" Target="../media/image117.png"/><Relationship Id="rId7" Type="http://schemas.openxmlformats.org/officeDocument/2006/relationships/notesSlide" Target="../notesSlides/notesSlide32.xml"/></Relationships>
</file>

<file path=ppt/slides/_rels/slide7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58.png"/><Relationship Id="rId3" Type="http://schemas.openxmlformats.org/officeDocument/2006/relationships/image" Target="../media/image159.png"/><Relationship Id="rId4" Type="http://schemas.openxmlformats.org/officeDocument/2006/relationships/image" Target="../media/image160.png"/><Relationship Id="rId5" Type="http://schemas.openxmlformats.org/officeDocument/2006/relationships/notesSlide" Target="../notesSlides/notesSlide31.xml"/></Relationships>
</file>

<file path=ppt/slides/_rels/slide7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61.png"/><Relationship Id="rId3" Type="http://schemas.openxmlformats.org/officeDocument/2006/relationships/image" Target="../media/image162.png"/><Relationship Id="rId4" Type="http://schemas.openxmlformats.org/officeDocument/2006/relationships/image" Target="../media/image137.png"/><Relationship Id="rId5" Type="http://schemas.openxmlformats.org/officeDocument/2006/relationships/notesSlide" Target="../notesSlides/notesSlide30.xml"/></Relationships>
</file>

<file path=ppt/slides/_rels/slide7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6.jpg"/><Relationship Id="rId3" Type="http://schemas.openxmlformats.org/officeDocument/2006/relationships/image" Target="../media/image138.png"/><Relationship Id="rId4" Type="http://schemas.openxmlformats.org/officeDocument/2006/relationships/notesSlide" Target="../notesSlides/notesSlide29.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DA487008-DDB5-00BF-0C09-888F02CCDDC8}"/>
            </a:ext>
          </a:extLst>
        </p:cNvPr>
        <p:cNvGrpSpPr/>
        <p:nvPr/>
      </p:nvGrpSpPr>
      <p:grpSpPr>
        <a:xfrm>
          <a:off x="0" y="0"/>
          <a:ext cx="0" cy="0"/>
          <a:chOff x="0" y="0"/>
          <a:chExt cx="0" cy="0"/>
        </a:xfrm>
      </p:grpSpPr>
      <p:sp>
        <p:nvSpPr>
          <p:cNvPr id="4" name="TextBox 3">
            <a:extLst>
              <a:ext uri="{FF2B5EF4-FFF2-40B4-BE49-F238E27FC236}">
                <a16:creationId xmlns:a16="http://schemas.microsoft.com/office/drawing/2014/main" id="{9882C727-FAB8-065D-16C1-056F0139C24F}"/>
              </a:ext>
            </a:extLst>
          </p:cNvPr>
          <p:cNvSpPr txBox="1"/>
          <p:nvPr/>
        </p:nvSpPr>
        <p:spPr>
          <a:xfrm>
            <a:off x="247111" y="2309634"/>
            <a:ext cx="11697778" cy="707886"/>
          </a:xfrm>
          <a:prstGeom prst="rect">
            <a:avLst/>
          </a:prstGeom>
          <a:noFill/>
        </p:spPr>
        <p:txBody>
          <a:bodyPr wrap="square" rtlCol="0">
            <a:spAutoFit/>
          </a:bodyPr>
          <a:lstStyle/>
          <a:p>
            <a:pPr algn="ctr"/>
            <a:r>
              <a:rPr lang="en-US" sz="4000" b="1" dirty="0">
                <a:solidFill>
                  <a:srgbClr val="362FEC"/>
                </a:solidFill>
                <a:latin typeface="Calibri" panose="020F0502020204030204" pitchFamily="34" charset="0"/>
                <a:cs typeface="Calibri" panose="020F0502020204030204" pitchFamily="34" charset="0"/>
              </a:rPr>
              <a:t>Generative AI from first principles</a:t>
            </a:r>
          </a:p>
        </p:txBody>
      </p:sp>
      <p:sp>
        <p:nvSpPr>
          <p:cNvPr id="2" name="b0_3">
            <a:extLst>
              <a:ext uri="{FF2B5EF4-FFF2-40B4-BE49-F238E27FC236}">
                <a16:creationId xmlns:a16="http://schemas.microsoft.com/office/drawing/2014/main" id="{AF1D8FC7-FA0E-7DF3-5733-731751796C82}"/>
              </a:ext>
            </a:extLst>
          </p:cNvPr>
          <p:cNvSpPr txBox="1"/>
          <p:nvPr/>
        </p:nvSpPr>
        <p:spPr>
          <a:xfrm>
            <a:off x="3215640" y="3017521"/>
            <a:ext cx="5760720" cy="822960"/>
          </a:xfrm>
          <a:prstGeom prst="rect">
            <a:avLst/>
          </a:prstGeom>
          <a:noFill/>
          <a:ln>
            <a:noFill/>
          </a:ln>
        </p:spPr>
        <p:txBody>
          <a:bodyPr wrap="square" rtlCol="0" anchor="ctr"/>
          <a:lstStyle/>
          <a:p>
            <a:pPr marL="0" indent="0" algn="ctr">
              <a:buNone/>
            </a:pPr>
            <a:r>
              <a:rPr lang="en-US" sz="2400" b="1" dirty="0">
                <a:solidFill>
                  <a:srgbClr val="44546A"/>
                </a:solidFill>
                <a:latin typeface="Calibri" pitchFamily="34" charset="0"/>
                <a:ea typeface="Calibri" pitchFamily="34" charset="-122"/>
                <a:cs typeface="Calibri" pitchFamily="34" charset="-120"/>
              </a:rPr>
              <a:t>Madhusudhan Reddy Pittu</a:t>
            </a:r>
            <a:endParaRPr lang="en-US" sz="2400" dirty="0"/>
          </a:p>
        </p:txBody>
      </p:sp>
    </p:spTree>
    <p:extLst>
      <p:ext uri="{BB962C8B-B14F-4D97-AF65-F5344CB8AC3E}">
        <p14:creationId xmlns:p14="http://schemas.microsoft.com/office/powerpoint/2010/main" val="1800425357"/>
      </p:ext>
    </p:extLst>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10FB11EC-9042-C87B-148A-DF8AB479A87D}"/>
            </a:ext>
          </a:extLst>
        </p:cNvPr>
        <p:cNvGrpSpPr/>
        <p:nvPr/>
      </p:nvGrpSpPr>
      <p:grpSpPr>
        <a:xfrm>
          <a:off x="0" y="0"/>
          <a:ext cx="0" cy="0"/>
          <a:chOff x="0" y="0"/>
          <a:chExt cx="0" cy="0"/>
        </a:xfrm>
      </p:grpSpPr>
      <p:sp>
        <p:nvSpPr>
          <p:cNvPr id="3" name="b0_2">
            <a:extLst>
              <a:ext uri="{FF2B5EF4-FFF2-40B4-BE49-F238E27FC236}">
                <a16:creationId xmlns:a16="http://schemas.microsoft.com/office/drawing/2014/main" id="{63D8B88D-36C4-45E1-74C8-A7D5EAB586FB}"/>
              </a:ext>
            </a:extLst>
          </p:cNvPr>
          <p:cNvSpPr txBox="1"/>
          <p:nvPr/>
        </p:nvSpPr>
        <p:spPr>
          <a:xfrm>
            <a:off x="0" y="148566"/>
            <a:ext cx="11680992" cy="548640"/>
          </a:xfrm>
          <a:prstGeom prst="rect">
            <a:avLst/>
          </a:prstGeom>
          <a:noFill/>
          <a:ln>
            <a:noFill/>
          </a:ln>
        </p:spPr>
        <p:txBody>
          <a:bodyPr wrap="square" rtlCol="0" anchor="ctr"/>
          <a:lstStyle/>
          <a:p>
            <a:pPr marL="0" indent="0">
              <a:buNone/>
            </a:pPr>
            <a:r>
              <a:rPr lang="en-US" sz="3200" b="1" dirty="0">
                <a:solidFill>
                  <a:srgbClr val="362FEC"/>
                </a:solidFill>
                <a:latin typeface="Calibri" pitchFamily="34" charset="0"/>
                <a:ea typeface="Calibri" pitchFamily="34" charset="-122"/>
                <a:cs typeface="Calibri" pitchFamily="34" charset="-120"/>
              </a:rPr>
              <a:t>Lecture 1</a:t>
            </a:r>
            <a:r>
              <a:rPr lang="en-US" sz="3200" b="1" dirty="0">
                <a:latin typeface="Calibri" pitchFamily="34" charset="0"/>
                <a:ea typeface="Calibri" pitchFamily="34" charset="-122"/>
                <a:cs typeface="Calibri" pitchFamily="34" charset="-120"/>
              </a:rPr>
              <a:t>:</a:t>
            </a:r>
            <a:r>
              <a:rPr lang="en-US" sz="3200" b="1" dirty="0">
                <a:solidFill>
                  <a:srgbClr val="00B050"/>
                </a:solidFill>
                <a:latin typeface="Calibri" pitchFamily="34" charset="0"/>
                <a:ea typeface="Calibri" pitchFamily="34" charset="-122"/>
                <a:cs typeface="Calibri" pitchFamily="34" charset="-120"/>
              </a:rPr>
              <a:t> </a:t>
            </a:r>
            <a:r>
              <a:rPr lang="en-US" sz="3200" b="1" dirty="0">
                <a:solidFill>
                  <a:srgbClr val="000000"/>
                </a:solidFill>
                <a:latin typeface="Calibri" pitchFamily="34" charset="0"/>
                <a:ea typeface="Calibri" pitchFamily="34" charset="-122"/>
                <a:cs typeface="Calibri" pitchFamily="34" charset="-120"/>
              </a:rPr>
              <a:t>(Artificial) </a:t>
            </a:r>
            <a:r>
              <a:rPr lang="en-US" sz="3200" b="1" dirty="0">
                <a:solidFill>
                  <a:srgbClr val="FF0000"/>
                </a:solidFill>
                <a:latin typeface="Calibri" pitchFamily="34" charset="0"/>
                <a:ea typeface="Calibri" pitchFamily="34" charset="-122"/>
                <a:cs typeface="Calibri" pitchFamily="34" charset="-120"/>
              </a:rPr>
              <a:t>Intelligence</a:t>
            </a:r>
            <a:r>
              <a:rPr lang="en-US" sz="3200" b="1" dirty="0">
                <a:solidFill>
                  <a:srgbClr val="000000"/>
                </a:solidFill>
                <a:latin typeface="Calibri" pitchFamily="34" charset="0"/>
                <a:ea typeface="Calibri" pitchFamily="34" charset="-122"/>
                <a:cs typeface="Calibri" pitchFamily="34" charset="-120"/>
              </a:rPr>
              <a:t>, </a:t>
            </a:r>
            <a:r>
              <a:rPr lang="en-US" sz="3200" b="1" dirty="0">
                <a:solidFill>
                  <a:srgbClr val="00B050"/>
                </a:solidFill>
                <a:latin typeface="Calibri" pitchFamily="34" charset="0"/>
                <a:ea typeface="Calibri" pitchFamily="34" charset="-122"/>
                <a:cs typeface="Calibri" pitchFamily="34" charset="-120"/>
              </a:rPr>
              <a:t>Learning</a:t>
            </a:r>
            <a:r>
              <a:rPr lang="en-US" sz="3200" b="1" dirty="0">
                <a:solidFill>
                  <a:srgbClr val="000000"/>
                </a:solidFill>
                <a:latin typeface="Calibri" pitchFamily="34" charset="0"/>
                <a:ea typeface="Calibri" pitchFamily="34" charset="-122"/>
                <a:cs typeface="Calibri" pitchFamily="34" charset="-120"/>
              </a:rPr>
              <a:t>, </a:t>
            </a:r>
            <a:r>
              <a:rPr lang="en-US" sz="3200" b="1" dirty="0">
                <a:solidFill>
                  <a:srgbClr val="362FEC"/>
                </a:solidFill>
                <a:latin typeface="Calibri" pitchFamily="34" charset="0"/>
                <a:ea typeface="Calibri" pitchFamily="34" charset="-122"/>
                <a:cs typeface="Calibri" pitchFamily="34" charset="-120"/>
              </a:rPr>
              <a:t>Language</a:t>
            </a:r>
            <a:r>
              <a:rPr lang="en-US" sz="3200" b="1" dirty="0">
                <a:solidFill>
                  <a:srgbClr val="000000"/>
                </a:solidFill>
                <a:latin typeface="Calibri" pitchFamily="34" charset="0"/>
                <a:ea typeface="Calibri" pitchFamily="34" charset="-122"/>
                <a:cs typeface="Calibri" pitchFamily="34" charset="-120"/>
              </a:rPr>
              <a:t>, and </a:t>
            </a:r>
            <a:r>
              <a:rPr lang="en-US" sz="3200" b="1" dirty="0">
                <a:solidFill>
                  <a:schemeClr val="accent2"/>
                </a:solidFill>
                <a:latin typeface="Calibri" pitchFamily="34" charset="0"/>
                <a:ea typeface="Calibri" pitchFamily="34" charset="-122"/>
                <a:cs typeface="Calibri" pitchFamily="34" charset="-120"/>
              </a:rPr>
              <a:t>Meaning</a:t>
            </a:r>
            <a:endParaRPr lang="en-US" sz="3200" dirty="0">
              <a:solidFill>
                <a:schemeClr val="accent2"/>
              </a:solidFill>
            </a:endParaRPr>
          </a:p>
        </p:txBody>
      </p:sp>
      <p:sp>
        <p:nvSpPr>
          <p:cNvPr id="5" name="TextBox 4">
            <a:extLst>
              <a:ext uri="{FF2B5EF4-FFF2-40B4-BE49-F238E27FC236}">
                <a16:creationId xmlns:a16="http://schemas.microsoft.com/office/drawing/2014/main" id="{66572BAD-DD8C-3E32-5E0A-D54192545328}"/>
              </a:ext>
            </a:extLst>
          </p:cNvPr>
          <p:cNvSpPr txBox="1"/>
          <p:nvPr/>
        </p:nvSpPr>
        <p:spPr>
          <a:xfrm>
            <a:off x="599290" y="1382286"/>
            <a:ext cx="6646637" cy="3785652"/>
          </a:xfrm>
          <a:prstGeom prst="rect">
            <a:avLst/>
          </a:prstGeom>
          <a:noFill/>
        </p:spPr>
        <p:txBody>
          <a:bodyPr wrap="square" rtlCol="0">
            <a:spAutoFit/>
          </a:bodyPr>
          <a:lstStyle/>
          <a:p>
            <a:pPr marL="342900" indent="-342900">
              <a:buFont typeface="+mj-lt"/>
              <a:buAutoNum type="arabicPeriod"/>
            </a:pPr>
            <a:r>
              <a:rPr lang="en-US" sz="2000" dirty="0">
                <a:latin typeface="Calibri" panose="020F0502020204030204" pitchFamily="34" charset="0"/>
                <a:cs typeface="Calibri" panose="020F0502020204030204" pitchFamily="34" charset="0"/>
              </a:rPr>
              <a:t>Short timeline highlighting language and its modeling, course description: what we will study and build</a:t>
            </a:r>
          </a:p>
          <a:p>
            <a:pPr marL="342900" indent="-342900">
              <a:buFont typeface="+mj-lt"/>
              <a:buAutoNum type="arabicPeriod"/>
            </a:pPr>
            <a:endParaRPr lang="en-US" sz="2000" dirty="0">
              <a:latin typeface="Calibri" panose="020F0502020204030204" pitchFamily="34" charset="0"/>
              <a:cs typeface="Calibri" panose="020F0502020204030204" pitchFamily="34" charset="0"/>
            </a:endParaRPr>
          </a:p>
          <a:p>
            <a:pPr marL="342900" indent="-342900">
              <a:buFont typeface="+mj-lt"/>
              <a:buAutoNum type="arabicPeriod"/>
            </a:pPr>
            <a:r>
              <a:rPr lang="en-US" sz="2000" dirty="0">
                <a:latin typeface="Calibri" panose="020F0502020204030204" pitchFamily="34" charset="0"/>
                <a:cs typeface="Calibri" panose="020F0502020204030204" pitchFamily="34" charset="0"/>
              </a:rPr>
              <a:t>Basic AI/ML/DL terminology</a:t>
            </a:r>
          </a:p>
          <a:p>
            <a:pPr marL="342900" indent="-342900">
              <a:buFont typeface="+mj-lt"/>
              <a:buAutoNum type="arabicPeriod"/>
            </a:pPr>
            <a:endParaRPr lang="en-US" sz="2000" dirty="0">
              <a:latin typeface="Calibri" panose="020F0502020204030204" pitchFamily="34" charset="0"/>
              <a:cs typeface="Calibri" panose="020F0502020204030204" pitchFamily="34" charset="0"/>
            </a:endParaRPr>
          </a:p>
          <a:p>
            <a:pPr marL="342900" indent="-342900">
              <a:buFont typeface="+mj-lt"/>
              <a:buAutoNum type="arabicPeriod"/>
            </a:pPr>
            <a:r>
              <a:rPr lang="en-US" sz="2000" dirty="0">
                <a:latin typeface="Calibri" panose="020F0502020204030204" pitchFamily="34" charset="0"/>
                <a:cs typeface="Calibri" panose="020F0502020204030204" pitchFamily="34" charset="0"/>
              </a:rPr>
              <a:t>Understanding </a:t>
            </a:r>
          </a:p>
          <a:p>
            <a:pPr marL="800100" lvl="1" indent="-342900">
              <a:buFont typeface="Arial" panose="020B0604020202020204" pitchFamily="34" charset="0"/>
              <a:buChar char="•"/>
            </a:pPr>
            <a:r>
              <a:rPr lang="en-US" sz="2000" dirty="0">
                <a:latin typeface="Calibri" pitchFamily="34" charset="0"/>
                <a:ea typeface="Calibri" pitchFamily="34" charset="-122"/>
                <a:cs typeface="Calibri" pitchFamily="34" charset="-120"/>
              </a:rPr>
              <a:t>Intelligence</a:t>
            </a:r>
          </a:p>
          <a:p>
            <a:pPr marL="800100" lvl="1" indent="-342900">
              <a:buFont typeface="Arial" panose="020B0604020202020204" pitchFamily="34" charset="0"/>
              <a:buChar char="•"/>
            </a:pPr>
            <a:r>
              <a:rPr lang="en-US" sz="2000" dirty="0">
                <a:latin typeface="Calibri" pitchFamily="34" charset="0"/>
                <a:ea typeface="Calibri" pitchFamily="34" charset="-122"/>
                <a:cs typeface="Calibri" pitchFamily="34" charset="-120"/>
              </a:rPr>
              <a:t>Learning</a:t>
            </a:r>
          </a:p>
          <a:p>
            <a:pPr marL="800100" lvl="1" indent="-342900">
              <a:buFont typeface="Arial" panose="020B0604020202020204" pitchFamily="34" charset="0"/>
              <a:buChar char="•"/>
            </a:pPr>
            <a:r>
              <a:rPr lang="en-US" sz="2000" dirty="0">
                <a:latin typeface="Calibri" pitchFamily="34" charset="0"/>
                <a:ea typeface="Calibri" pitchFamily="34" charset="-122"/>
                <a:cs typeface="Calibri" pitchFamily="34" charset="-120"/>
              </a:rPr>
              <a:t>Language</a:t>
            </a:r>
          </a:p>
          <a:p>
            <a:pPr marL="800100" lvl="1" indent="-342900">
              <a:buFont typeface="Arial" panose="020B0604020202020204" pitchFamily="34" charset="0"/>
              <a:buChar char="•"/>
            </a:pPr>
            <a:r>
              <a:rPr lang="en-US" sz="2000" dirty="0">
                <a:latin typeface="Calibri" pitchFamily="34" charset="0"/>
                <a:ea typeface="Calibri" pitchFamily="34" charset="-122"/>
                <a:cs typeface="Calibri" pitchFamily="34" charset="-120"/>
              </a:rPr>
              <a:t>Meaning</a:t>
            </a:r>
            <a:endParaRPr lang="en-US" sz="2000" dirty="0">
              <a:latin typeface="Calibri" panose="020F0502020204030204" pitchFamily="34" charset="0"/>
              <a:cs typeface="Calibri" panose="020F0502020204030204" pitchFamily="34" charset="0"/>
            </a:endParaRPr>
          </a:p>
          <a:p>
            <a:pPr lvl="1"/>
            <a:endParaRPr lang="en-US" sz="2000" dirty="0">
              <a:latin typeface="Calibri" panose="020F0502020204030204" pitchFamily="34" charset="0"/>
              <a:cs typeface="Calibri" panose="020F0502020204030204" pitchFamily="34" charset="0"/>
            </a:endParaRPr>
          </a:p>
          <a:p>
            <a:pPr marL="457200" indent="-457200">
              <a:buFont typeface="+mj-lt"/>
              <a:buAutoNum type="arabicPeriod"/>
            </a:pPr>
            <a:r>
              <a:rPr lang="en-US" sz="2000" dirty="0">
                <a:latin typeface="Calibri" panose="020F0502020204030204" pitchFamily="34" charset="0"/>
                <a:cs typeface="Calibri" panose="020F0502020204030204" pitchFamily="34" charset="0"/>
              </a:rPr>
              <a:t>Hands-on: an autograd engine</a:t>
            </a:r>
          </a:p>
        </p:txBody>
      </p:sp>
      <p:sp>
        <p:nvSpPr>
          <p:cNvPr id="7" name="Rectangle 6">
            <a:extLst>
              <a:ext uri="{FF2B5EF4-FFF2-40B4-BE49-F238E27FC236}">
                <a16:creationId xmlns:a16="http://schemas.microsoft.com/office/drawing/2014/main" id="{614C2DA7-5561-EFDE-A18D-698F7356000C}"/>
              </a:ext>
            </a:extLst>
          </p:cNvPr>
          <p:cNvSpPr/>
          <p:nvPr/>
        </p:nvSpPr>
        <p:spPr>
          <a:xfrm>
            <a:off x="955964" y="1382286"/>
            <a:ext cx="5694218" cy="377241"/>
          </a:xfrm>
          <a:prstGeom prst="rect">
            <a:avLst/>
          </a:prstGeom>
          <a:noFill/>
          <a:ln w="28575">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Tree>
    <p:extLst>
      <p:ext uri="{BB962C8B-B14F-4D97-AF65-F5344CB8AC3E}">
        <p14:creationId xmlns:p14="http://schemas.microsoft.com/office/powerpoint/2010/main" val="461185883"/>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5">
                                            <p:txEl>
                                              <p:pRg st="0" end="0"/>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5">
                                            <p:txEl>
                                              <p:pRg st="2" end="2"/>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5">
                                            <p:txEl>
                                              <p:pRg st="4" end="4"/>
                                            </p:txEl>
                                          </p:spTgt>
                                        </p:tgtEl>
                                        <p:attrNameLst>
                                          <p:attrName>style.visibility</p:attrName>
                                        </p:attrNameLst>
                                      </p:cBhvr>
                                      <p:to>
                                        <p:strVal val="visible"/>
                                      </p:to>
                                    </p:set>
                                  </p:childTnLst>
                                </p:cTn>
                              </p:par>
                              <p:par>
                                <p:cTn id="15" presetID="1" presetClass="entr" presetSubtype="0" fill="hold" grpId="0" nodeType="withEffect">
                                  <p:stCondLst>
                                    <p:cond delay="0"/>
                                  </p:stCondLst>
                                  <p:childTnLst>
                                    <p:set>
                                      <p:cBhvr>
                                        <p:cTn id="16" dur="1" fill="hold">
                                          <p:stCondLst>
                                            <p:cond delay="0"/>
                                          </p:stCondLst>
                                        </p:cTn>
                                        <p:tgtEl>
                                          <p:spTgt spid="5">
                                            <p:txEl>
                                              <p:pRg st="5" end="5"/>
                                            </p:txEl>
                                          </p:spTgt>
                                        </p:tgtEl>
                                        <p:attrNameLst>
                                          <p:attrName>style.visibility</p:attrName>
                                        </p:attrNameLst>
                                      </p:cBhvr>
                                      <p:to>
                                        <p:strVal val="visible"/>
                                      </p:to>
                                    </p:set>
                                  </p:childTnLst>
                                </p:cTn>
                              </p:par>
                              <p:par>
                                <p:cTn id="17" presetID="1" presetClass="entr" presetSubtype="0" fill="hold" grpId="0" nodeType="withEffect">
                                  <p:stCondLst>
                                    <p:cond delay="0"/>
                                  </p:stCondLst>
                                  <p:childTnLst>
                                    <p:set>
                                      <p:cBhvr>
                                        <p:cTn id="18" dur="1" fill="hold">
                                          <p:stCondLst>
                                            <p:cond delay="0"/>
                                          </p:stCondLst>
                                        </p:cTn>
                                        <p:tgtEl>
                                          <p:spTgt spid="5">
                                            <p:txEl>
                                              <p:pRg st="6" end="6"/>
                                            </p:txEl>
                                          </p:spTgt>
                                        </p:tgtEl>
                                        <p:attrNameLst>
                                          <p:attrName>style.visibility</p:attrName>
                                        </p:attrNameLst>
                                      </p:cBhvr>
                                      <p:to>
                                        <p:strVal val="visible"/>
                                      </p:to>
                                    </p:set>
                                  </p:childTnLst>
                                </p:cTn>
                              </p:par>
                              <p:par>
                                <p:cTn id="19" presetID="1" presetClass="entr" presetSubtype="0" fill="hold" grpId="0" nodeType="withEffect">
                                  <p:stCondLst>
                                    <p:cond delay="0"/>
                                  </p:stCondLst>
                                  <p:childTnLst>
                                    <p:set>
                                      <p:cBhvr>
                                        <p:cTn id="20" dur="1" fill="hold">
                                          <p:stCondLst>
                                            <p:cond delay="0"/>
                                          </p:stCondLst>
                                        </p:cTn>
                                        <p:tgtEl>
                                          <p:spTgt spid="5">
                                            <p:txEl>
                                              <p:pRg st="7" end="7"/>
                                            </p:txEl>
                                          </p:spTgt>
                                        </p:tgtEl>
                                        <p:attrNameLst>
                                          <p:attrName>style.visibility</p:attrName>
                                        </p:attrNameLst>
                                      </p:cBhvr>
                                      <p:to>
                                        <p:strVal val="visible"/>
                                      </p:to>
                                    </p:set>
                                  </p:childTnLst>
                                </p:cTn>
                              </p:par>
                              <p:par>
                                <p:cTn id="21" presetID="1" presetClass="entr" presetSubtype="0" fill="hold" grpId="0" nodeType="withEffect">
                                  <p:stCondLst>
                                    <p:cond delay="0"/>
                                  </p:stCondLst>
                                  <p:childTnLst>
                                    <p:set>
                                      <p:cBhvr>
                                        <p:cTn id="22" dur="1" fill="hold">
                                          <p:stCondLst>
                                            <p:cond delay="0"/>
                                          </p:stCondLst>
                                        </p:cTn>
                                        <p:tgtEl>
                                          <p:spTgt spid="5">
                                            <p:txEl>
                                              <p:pRg st="8" end="8"/>
                                            </p:txEl>
                                          </p:spTgt>
                                        </p:tgtEl>
                                        <p:attrNameLst>
                                          <p:attrName>style.visibility</p:attrName>
                                        </p:attrNameLst>
                                      </p:cBhvr>
                                      <p:to>
                                        <p:strVal val="visible"/>
                                      </p:to>
                                    </p:set>
                                  </p:childTnLst>
                                </p:cTn>
                              </p:par>
                            </p:childTnLst>
                          </p:cTn>
                        </p:par>
                      </p:childTnLst>
                    </p:cTn>
                  </p:par>
                  <p:par>
                    <p:cTn id="23" fill="hold">
                      <p:stCondLst>
                        <p:cond delay="indefinite"/>
                      </p:stCondLst>
                      <p:childTnLst>
                        <p:par>
                          <p:cTn id="24" fill="hold">
                            <p:stCondLst>
                              <p:cond delay="0"/>
                            </p:stCondLst>
                            <p:childTnLst>
                              <p:par>
                                <p:cTn id="25" presetID="1" presetClass="entr" presetSubtype="0" fill="hold" grpId="0" nodeType="clickEffect">
                                  <p:stCondLst>
                                    <p:cond delay="0"/>
                                  </p:stCondLst>
                                  <p:childTnLst>
                                    <p:set>
                                      <p:cBhvr>
                                        <p:cTn id="26" dur="1" fill="hold">
                                          <p:stCondLst>
                                            <p:cond delay="0"/>
                                          </p:stCondLst>
                                        </p:cTn>
                                        <p:tgtEl>
                                          <p:spTgt spid="5">
                                            <p:txEl>
                                              <p:pRg st="10" end="10"/>
                                            </p:txEl>
                                          </p:spTgt>
                                        </p:tgtEl>
                                        <p:attrNameLst>
                                          <p:attrName>style.visibility</p:attrName>
                                        </p:attrNameLst>
                                      </p:cBhvr>
                                      <p:to>
                                        <p:strVal val="visible"/>
                                      </p:to>
                                    </p:set>
                                  </p:childTnLst>
                                </p:cTn>
                              </p:par>
                            </p:childTnLst>
                          </p:cTn>
                        </p:par>
                      </p:childTnLst>
                    </p:cTn>
                  </p:par>
                  <p:par>
                    <p:cTn id="27" fill="hold">
                      <p:stCondLst>
                        <p:cond delay="indefinite"/>
                      </p:stCondLst>
                      <p:childTnLst>
                        <p:par>
                          <p:cTn id="28" fill="hold">
                            <p:stCondLst>
                              <p:cond delay="0"/>
                            </p:stCondLst>
                            <p:childTnLst>
                              <p:par>
                                <p:cTn id="29" presetID="1" presetClass="entr" presetSubtype="0" fill="hold" grpId="0" nodeType="clickEffect">
                                  <p:stCondLst>
                                    <p:cond delay="0"/>
                                  </p:stCondLst>
                                  <p:childTnLst>
                                    <p:set>
                                      <p:cBhvr>
                                        <p:cTn id="30" dur="1" fill="hold">
                                          <p:stCondLst>
                                            <p:cond delay="0"/>
                                          </p:stCondLst>
                                        </p:cTn>
                                        <p:tgtEl>
                                          <p:spTgt spid="7"/>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5" grpId="0" build="p"/>
      <p:bldP spid="7" grpId="0" animBg="1"/>
    </p:bldLst>
  </p:timing>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1474636-D0E0-1848-79F2-3E20B5D789FB}"/>
            </a:ext>
          </a:extLst>
        </p:cNvPr>
        <p:cNvGrpSpPr/>
        <p:nvPr/>
      </p:nvGrpSpPr>
      <p:grpSpPr>
        <a:xfrm>
          <a:off x="0" y="0"/>
          <a:ext cx="0" cy="0"/>
          <a:chOff x="0" y="0"/>
          <a:chExt cx="0" cy="0"/>
        </a:xfrm>
      </p:grpSpPr>
      <p:sp>
        <p:nvSpPr>
          <p:cNvPr id="4" name="TextBox 3">
            <a:extLst>
              <a:ext uri="{FF2B5EF4-FFF2-40B4-BE49-F238E27FC236}">
                <a16:creationId xmlns:a16="http://schemas.microsoft.com/office/drawing/2014/main" id="{FBE81AF2-D034-9FD5-284A-3CF70C6BA449}"/>
              </a:ext>
            </a:extLst>
          </p:cNvPr>
          <p:cNvSpPr txBox="1"/>
          <p:nvPr/>
        </p:nvSpPr>
        <p:spPr>
          <a:xfrm>
            <a:off x="209903" y="1243335"/>
            <a:ext cx="9179026" cy="1323439"/>
          </a:xfrm>
          <a:prstGeom prst="rect">
            <a:avLst/>
          </a:prstGeom>
          <a:noFill/>
        </p:spPr>
        <p:txBody>
          <a:bodyPr wrap="square" rtlCol="0">
            <a:spAutoFit/>
          </a:bodyPr>
          <a:lstStyle/>
          <a:p>
            <a:r>
              <a:rPr lang="en-US" sz="2000" dirty="0">
                <a:latin typeface="Calibri" panose="020F0502020204030204" pitchFamily="34" charset="0"/>
                <a:cs typeface="Calibri" panose="020F0502020204030204" pitchFamily="34" charset="0"/>
              </a:rPr>
              <a:t>Humans stand out among all other in one respect above all: </a:t>
            </a:r>
          </a:p>
          <a:p>
            <a:endParaRPr lang="en-US" sz="2000" dirty="0">
              <a:latin typeface="Calibri" panose="020F0502020204030204" pitchFamily="34" charset="0"/>
              <a:cs typeface="Calibri" panose="020F0502020204030204" pitchFamily="34" charset="0"/>
            </a:endParaRPr>
          </a:p>
          <a:p>
            <a:pPr marL="457200" indent="-457200">
              <a:buFont typeface="+mj-lt"/>
              <a:buAutoNum type="arabicPeriod"/>
            </a:pPr>
            <a:r>
              <a:rPr lang="en-US" sz="2000" dirty="0">
                <a:latin typeface="Calibri" panose="020F0502020204030204" pitchFamily="34" charset="0"/>
                <a:cs typeface="Calibri" panose="020F0502020204030204" pitchFamily="34" charset="0"/>
              </a:rPr>
              <a:t>we build tools that make our lives better.</a:t>
            </a:r>
          </a:p>
          <a:p>
            <a:pPr marL="457200" indent="-457200">
              <a:buFont typeface="+mj-lt"/>
              <a:buAutoNum type="arabicPeriod"/>
            </a:pPr>
            <a:r>
              <a:rPr lang="en-US" sz="2000" dirty="0">
                <a:latin typeface="Calibri" panose="020F0502020204030204" pitchFamily="34" charset="0"/>
                <a:cs typeface="Calibri" panose="020F0502020204030204" pitchFamily="34" charset="0"/>
              </a:rPr>
              <a:t>we pass those tools on.</a:t>
            </a:r>
          </a:p>
        </p:txBody>
      </p:sp>
      <p:sp>
        <p:nvSpPr>
          <p:cNvPr id="8" name="b0_2">
            <a:extLst>
              <a:ext uri="{FF2B5EF4-FFF2-40B4-BE49-F238E27FC236}">
                <a16:creationId xmlns:a16="http://schemas.microsoft.com/office/drawing/2014/main" id="{B8A9EA57-26EC-32D9-652E-62D254B159D4}"/>
              </a:ext>
            </a:extLst>
          </p:cNvPr>
          <p:cNvSpPr txBox="1"/>
          <p:nvPr/>
        </p:nvSpPr>
        <p:spPr>
          <a:xfrm>
            <a:off x="0" y="148566"/>
            <a:ext cx="11680992" cy="548640"/>
          </a:xfrm>
          <a:prstGeom prst="rect">
            <a:avLst/>
          </a:prstGeom>
          <a:noFill/>
          <a:ln>
            <a:noFill/>
          </a:ln>
        </p:spPr>
        <p:txBody>
          <a:bodyPr wrap="square" rtlCol="0" anchor="ctr"/>
          <a:lstStyle/>
          <a:p>
            <a:r>
              <a:rPr lang="en-US" sz="3200" b="1" dirty="0">
                <a:latin typeface="Calibri" pitchFamily="34" charset="0"/>
                <a:ea typeface="Calibri" pitchFamily="34" charset="-122"/>
                <a:cs typeface="Calibri" pitchFamily="34" charset="-120"/>
              </a:rPr>
              <a:t>From </a:t>
            </a:r>
            <a:r>
              <a:rPr lang="en-US" sz="3200" b="1" dirty="0">
                <a:solidFill>
                  <a:srgbClr val="FF0000"/>
                </a:solidFill>
                <a:latin typeface="Calibri" pitchFamily="34" charset="0"/>
                <a:ea typeface="Calibri" pitchFamily="34" charset="-122"/>
                <a:cs typeface="Calibri" pitchFamily="34" charset="-120"/>
              </a:rPr>
              <a:t>Computation</a:t>
            </a:r>
            <a:r>
              <a:rPr lang="en-US" sz="3200" b="1" dirty="0">
                <a:latin typeface="Calibri" pitchFamily="34" charset="0"/>
                <a:ea typeface="Calibri" pitchFamily="34" charset="-122"/>
                <a:cs typeface="Calibri" pitchFamily="34" charset="-120"/>
              </a:rPr>
              <a:t> to </a:t>
            </a:r>
            <a:r>
              <a:rPr lang="en-US" sz="3200" b="1" dirty="0">
                <a:solidFill>
                  <a:srgbClr val="362FEC"/>
                </a:solidFill>
                <a:latin typeface="Calibri" pitchFamily="34" charset="0"/>
                <a:ea typeface="Calibri" pitchFamily="34" charset="-122"/>
                <a:cs typeface="Calibri" pitchFamily="34" charset="-120"/>
              </a:rPr>
              <a:t>Language Models</a:t>
            </a:r>
            <a:endParaRPr lang="en-US" sz="3200" dirty="0">
              <a:solidFill>
                <a:srgbClr val="362FEC"/>
              </a:solidFill>
            </a:endParaRPr>
          </a:p>
        </p:txBody>
      </p:sp>
      <p:grpSp>
        <p:nvGrpSpPr>
          <p:cNvPr id="23" name="Group 22">
            <a:extLst>
              <a:ext uri="{FF2B5EF4-FFF2-40B4-BE49-F238E27FC236}">
                <a16:creationId xmlns:a16="http://schemas.microsoft.com/office/drawing/2014/main" id="{62179787-30A5-FC28-E58D-2145CB4431B1}"/>
              </a:ext>
            </a:extLst>
          </p:cNvPr>
          <p:cNvGrpSpPr/>
          <p:nvPr/>
        </p:nvGrpSpPr>
        <p:grpSpPr>
          <a:xfrm>
            <a:off x="7230014" y="964083"/>
            <a:ext cx="2336813" cy="4579890"/>
            <a:chOff x="8129042" y="1050357"/>
            <a:chExt cx="2904190" cy="5691886"/>
          </a:xfrm>
        </p:grpSpPr>
        <p:pic>
          <p:nvPicPr>
            <p:cNvPr id="9" name="b1_18" descr="img/fire.jpg">
              <a:extLst>
                <a:ext uri="{FF2B5EF4-FFF2-40B4-BE49-F238E27FC236}">
                  <a16:creationId xmlns:a16="http://schemas.microsoft.com/office/drawing/2014/main" id="{80FE5C0B-D26F-6C9E-35D3-C04431F07565}"/>
                </a:ext>
              </a:extLst>
            </p:cNvPr>
            <p:cNvPicPr>
              <a:picLocks noChangeAspect="1"/>
            </p:cNvPicPr>
            <p:nvPr/>
          </p:nvPicPr>
          <p:blipFill>
            <a:blip r:embed="rId2"/>
            <a:srcRect t="5242" b="5242"/>
            <a:stretch/>
          </p:blipFill>
          <p:spPr>
            <a:xfrm>
              <a:off x="8442252" y="1050357"/>
              <a:ext cx="2134888" cy="1274046"/>
            </a:xfrm>
            <a:prstGeom prst="rect">
              <a:avLst/>
            </a:prstGeom>
          </p:spPr>
        </p:pic>
        <p:sp>
          <p:nvSpPr>
            <p:cNvPr id="10" name="b1_19">
              <a:extLst>
                <a:ext uri="{FF2B5EF4-FFF2-40B4-BE49-F238E27FC236}">
                  <a16:creationId xmlns:a16="http://schemas.microsoft.com/office/drawing/2014/main" id="{7700CBBA-B611-CA96-2563-69B5CE535159}"/>
                </a:ext>
              </a:extLst>
            </p:cNvPr>
            <p:cNvSpPr txBox="1"/>
            <p:nvPr/>
          </p:nvSpPr>
          <p:spPr>
            <a:xfrm>
              <a:off x="8129042" y="2421918"/>
              <a:ext cx="2834640" cy="365760"/>
            </a:xfrm>
            <a:prstGeom prst="rect">
              <a:avLst/>
            </a:prstGeom>
            <a:noFill/>
            <a:ln>
              <a:noFill/>
            </a:ln>
          </p:spPr>
          <p:txBody>
            <a:bodyPr wrap="square" lIns="38100" tIns="38100" rIns="38100" bIns="38100" rtlCol="0" anchor="t"/>
            <a:lstStyle/>
            <a:p>
              <a:pPr marL="0" indent="0" algn="ctr">
                <a:spcAft>
                  <a:spcPts val="600"/>
                </a:spcAft>
                <a:buNone/>
              </a:pPr>
              <a:r>
                <a:rPr lang="en-US" sz="1600" dirty="0">
                  <a:solidFill>
                    <a:srgbClr val="595959"/>
                  </a:solidFill>
                  <a:latin typeface="Calibri" pitchFamily="34" charset="0"/>
                  <a:ea typeface="Calibri" pitchFamily="34" charset="-122"/>
                  <a:cs typeface="Calibri" pitchFamily="34" charset="-120"/>
                </a:rPr>
                <a:t>control of fire</a:t>
              </a:r>
              <a:endParaRPr lang="en-US" sz="1600" dirty="0"/>
            </a:p>
          </p:txBody>
        </p:sp>
        <p:pic>
          <p:nvPicPr>
            <p:cNvPr id="11" name="b2_20" descr="img/wheel.jpg">
              <a:extLst>
                <a:ext uri="{FF2B5EF4-FFF2-40B4-BE49-F238E27FC236}">
                  <a16:creationId xmlns:a16="http://schemas.microsoft.com/office/drawing/2014/main" id="{B6088E86-6210-14B6-BB10-2A9390FB5A04}"/>
                </a:ext>
              </a:extLst>
            </p:cNvPr>
            <p:cNvPicPr>
              <a:picLocks noChangeAspect="1"/>
            </p:cNvPicPr>
            <p:nvPr/>
          </p:nvPicPr>
          <p:blipFill>
            <a:blip r:embed="rId3"/>
            <a:srcRect t="11038" b="11038"/>
            <a:stretch/>
          </p:blipFill>
          <p:spPr>
            <a:xfrm>
              <a:off x="8442252" y="2862179"/>
              <a:ext cx="2134888" cy="1274046"/>
            </a:xfrm>
            <a:prstGeom prst="rect">
              <a:avLst/>
            </a:prstGeom>
          </p:spPr>
        </p:pic>
        <p:sp>
          <p:nvSpPr>
            <p:cNvPr id="12" name="b2_21">
              <a:extLst>
                <a:ext uri="{FF2B5EF4-FFF2-40B4-BE49-F238E27FC236}">
                  <a16:creationId xmlns:a16="http://schemas.microsoft.com/office/drawing/2014/main" id="{AF46B968-063E-13C7-67AB-CC65393AA45E}"/>
                </a:ext>
              </a:extLst>
            </p:cNvPr>
            <p:cNvSpPr txBox="1"/>
            <p:nvPr/>
          </p:nvSpPr>
          <p:spPr>
            <a:xfrm>
              <a:off x="8129042" y="4226975"/>
              <a:ext cx="2834640" cy="365760"/>
            </a:xfrm>
            <a:prstGeom prst="rect">
              <a:avLst/>
            </a:prstGeom>
            <a:noFill/>
            <a:ln>
              <a:noFill/>
            </a:ln>
          </p:spPr>
          <p:txBody>
            <a:bodyPr wrap="square" lIns="38100" tIns="38100" rIns="38100" bIns="38100" rtlCol="0" anchor="t"/>
            <a:lstStyle/>
            <a:p>
              <a:pPr marL="0" indent="0" algn="ctr">
                <a:spcAft>
                  <a:spcPts val="600"/>
                </a:spcAft>
                <a:buNone/>
              </a:pPr>
              <a:r>
                <a:rPr lang="en-US" sz="1600" dirty="0">
                  <a:solidFill>
                    <a:srgbClr val="595959"/>
                  </a:solidFill>
                  <a:latin typeface="Calibri" pitchFamily="34" charset="0"/>
                  <a:ea typeface="Calibri" pitchFamily="34" charset="-122"/>
                  <a:cs typeface="Calibri" pitchFamily="34" charset="-120"/>
                </a:rPr>
                <a:t>the wheel</a:t>
              </a:r>
              <a:endParaRPr lang="en-US" sz="1600" dirty="0"/>
            </a:p>
          </p:txBody>
        </p:sp>
        <p:pic>
          <p:nvPicPr>
            <p:cNvPr id="13" name="b3_22" descr="img/steam.jpg">
              <a:extLst>
                <a:ext uri="{FF2B5EF4-FFF2-40B4-BE49-F238E27FC236}">
                  <a16:creationId xmlns:a16="http://schemas.microsoft.com/office/drawing/2014/main" id="{071AEA8A-C717-011B-3C7B-F7F8E2EA8E93}"/>
                </a:ext>
              </a:extLst>
            </p:cNvPr>
            <p:cNvPicPr>
              <a:picLocks noChangeAspect="1"/>
            </p:cNvPicPr>
            <p:nvPr/>
          </p:nvPicPr>
          <p:blipFill>
            <a:blip r:embed="rId4"/>
            <a:srcRect t="30033" b="30033"/>
            <a:stretch/>
          </p:blipFill>
          <p:spPr>
            <a:xfrm>
              <a:off x="8478917" y="5004922"/>
              <a:ext cx="2134888" cy="1274046"/>
            </a:xfrm>
            <a:prstGeom prst="rect">
              <a:avLst/>
            </a:prstGeom>
          </p:spPr>
        </p:pic>
        <p:sp>
          <p:nvSpPr>
            <p:cNvPr id="14" name="b3_23">
              <a:extLst>
                <a:ext uri="{FF2B5EF4-FFF2-40B4-BE49-F238E27FC236}">
                  <a16:creationId xmlns:a16="http://schemas.microsoft.com/office/drawing/2014/main" id="{F6035CC1-3004-E232-E791-5154E65D5B64}"/>
                </a:ext>
              </a:extLst>
            </p:cNvPr>
            <p:cNvSpPr txBox="1"/>
            <p:nvPr/>
          </p:nvSpPr>
          <p:spPr>
            <a:xfrm>
              <a:off x="8198592" y="6376483"/>
              <a:ext cx="2834640" cy="365760"/>
            </a:xfrm>
            <a:prstGeom prst="rect">
              <a:avLst/>
            </a:prstGeom>
            <a:noFill/>
            <a:ln>
              <a:noFill/>
            </a:ln>
          </p:spPr>
          <p:txBody>
            <a:bodyPr wrap="square" lIns="38100" tIns="38100" rIns="38100" bIns="38100" rtlCol="0" anchor="t"/>
            <a:lstStyle/>
            <a:p>
              <a:pPr marL="0" indent="0" algn="ctr">
                <a:spcAft>
                  <a:spcPts val="600"/>
                </a:spcAft>
                <a:buNone/>
              </a:pPr>
              <a:r>
                <a:rPr lang="en-US" sz="1600" dirty="0">
                  <a:solidFill>
                    <a:srgbClr val="595959"/>
                  </a:solidFill>
                  <a:latin typeface="Calibri" pitchFamily="34" charset="0"/>
                  <a:ea typeface="Calibri" pitchFamily="34" charset="-122"/>
                  <a:cs typeface="Calibri" pitchFamily="34" charset="-120"/>
                </a:rPr>
                <a:t>steam power</a:t>
              </a:r>
              <a:endParaRPr lang="en-US" sz="1600" dirty="0"/>
            </a:p>
          </p:txBody>
        </p:sp>
      </p:grpSp>
      <p:grpSp>
        <p:nvGrpSpPr>
          <p:cNvPr id="24" name="Group 23">
            <a:extLst>
              <a:ext uri="{FF2B5EF4-FFF2-40B4-BE49-F238E27FC236}">
                <a16:creationId xmlns:a16="http://schemas.microsoft.com/office/drawing/2014/main" id="{E008FC86-DF32-F452-2A9E-FF161C2776A3}"/>
              </a:ext>
            </a:extLst>
          </p:cNvPr>
          <p:cNvGrpSpPr/>
          <p:nvPr/>
        </p:nvGrpSpPr>
        <p:grpSpPr>
          <a:xfrm>
            <a:off x="9792039" y="697206"/>
            <a:ext cx="1918461" cy="5058615"/>
            <a:chOff x="9532152" y="697206"/>
            <a:chExt cx="2197763" cy="5795082"/>
          </a:xfrm>
        </p:grpSpPr>
        <p:pic>
          <p:nvPicPr>
            <p:cNvPr id="15" name="b4_24" descr="img/cuneiform.jpg">
              <a:extLst>
                <a:ext uri="{FF2B5EF4-FFF2-40B4-BE49-F238E27FC236}">
                  <a16:creationId xmlns:a16="http://schemas.microsoft.com/office/drawing/2014/main" id="{8B2288C8-AAC4-47FC-D7F7-B0FCCFEE42FA}"/>
                </a:ext>
              </a:extLst>
            </p:cNvPr>
            <p:cNvPicPr>
              <a:picLocks noChangeAspect="1"/>
            </p:cNvPicPr>
            <p:nvPr/>
          </p:nvPicPr>
          <p:blipFill>
            <a:blip r:embed="rId5"/>
            <a:srcRect t="13754" b="13754"/>
            <a:stretch/>
          </p:blipFill>
          <p:spPr>
            <a:xfrm>
              <a:off x="9709104" y="697206"/>
              <a:ext cx="1892783" cy="1490063"/>
            </a:xfrm>
            <a:prstGeom prst="rect">
              <a:avLst/>
            </a:prstGeom>
          </p:spPr>
        </p:pic>
        <p:sp>
          <p:nvSpPr>
            <p:cNvPr id="16" name="b4_25">
              <a:extLst>
                <a:ext uri="{FF2B5EF4-FFF2-40B4-BE49-F238E27FC236}">
                  <a16:creationId xmlns:a16="http://schemas.microsoft.com/office/drawing/2014/main" id="{9708FBC8-1681-C39F-1C40-E4EDA3AA8C5D}"/>
                </a:ext>
              </a:extLst>
            </p:cNvPr>
            <p:cNvSpPr txBox="1"/>
            <p:nvPr/>
          </p:nvSpPr>
          <p:spPr>
            <a:xfrm>
              <a:off x="9532152" y="2227250"/>
              <a:ext cx="2148840" cy="365759"/>
            </a:xfrm>
            <a:prstGeom prst="rect">
              <a:avLst/>
            </a:prstGeom>
            <a:noFill/>
            <a:ln>
              <a:noFill/>
            </a:ln>
          </p:spPr>
          <p:txBody>
            <a:bodyPr wrap="square" lIns="38100" tIns="38100" rIns="38100" bIns="38100" rtlCol="0" anchor="t"/>
            <a:lstStyle/>
            <a:p>
              <a:pPr marL="0" indent="0" algn="ctr">
                <a:spcAft>
                  <a:spcPts val="600"/>
                </a:spcAft>
                <a:buNone/>
              </a:pPr>
              <a:r>
                <a:rPr lang="en-US" sz="1600" dirty="0">
                  <a:solidFill>
                    <a:srgbClr val="595959"/>
                  </a:solidFill>
                  <a:latin typeface="Calibri" pitchFamily="34" charset="0"/>
                  <a:ea typeface="Calibri" pitchFamily="34" charset="-122"/>
                  <a:cs typeface="Calibri" pitchFamily="34" charset="-120"/>
                </a:rPr>
                <a:t>writing</a:t>
              </a:r>
              <a:endParaRPr lang="en-US" sz="1600" dirty="0"/>
            </a:p>
          </p:txBody>
        </p:sp>
        <p:pic>
          <p:nvPicPr>
            <p:cNvPr id="19" name="b6_28" descr="img/printing.png">
              <a:extLst>
                <a:ext uri="{FF2B5EF4-FFF2-40B4-BE49-F238E27FC236}">
                  <a16:creationId xmlns:a16="http://schemas.microsoft.com/office/drawing/2014/main" id="{67277317-E1BF-A10D-5F19-D7A391ED8A4D}"/>
                </a:ext>
              </a:extLst>
            </p:cNvPr>
            <p:cNvPicPr>
              <a:picLocks noChangeAspect="1"/>
            </p:cNvPicPr>
            <p:nvPr/>
          </p:nvPicPr>
          <p:blipFill>
            <a:blip r:embed="rId6"/>
            <a:srcRect t="20479" b="20479"/>
            <a:stretch/>
          </p:blipFill>
          <p:spPr>
            <a:xfrm>
              <a:off x="9709104" y="2632992"/>
              <a:ext cx="1971888" cy="1344949"/>
            </a:xfrm>
            <a:prstGeom prst="rect">
              <a:avLst/>
            </a:prstGeom>
          </p:spPr>
        </p:pic>
        <p:sp>
          <p:nvSpPr>
            <p:cNvPr id="20" name="b6_29">
              <a:extLst>
                <a:ext uri="{FF2B5EF4-FFF2-40B4-BE49-F238E27FC236}">
                  <a16:creationId xmlns:a16="http://schemas.microsoft.com/office/drawing/2014/main" id="{722E6661-A1AA-1FE6-7495-93B1DD331D7A}"/>
                </a:ext>
              </a:extLst>
            </p:cNvPr>
            <p:cNvSpPr txBox="1"/>
            <p:nvPr/>
          </p:nvSpPr>
          <p:spPr>
            <a:xfrm>
              <a:off x="9532152" y="3977904"/>
              <a:ext cx="2148840" cy="365759"/>
            </a:xfrm>
            <a:prstGeom prst="rect">
              <a:avLst/>
            </a:prstGeom>
            <a:noFill/>
            <a:ln>
              <a:noFill/>
            </a:ln>
          </p:spPr>
          <p:txBody>
            <a:bodyPr wrap="square" lIns="38100" tIns="38100" rIns="38100" bIns="38100" rtlCol="0" anchor="t"/>
            <a:lstStyle/>
            <a:p>
              <a:pPr marL="0" indent="0" algn="ctr">
                <a:spcAft>
                  <a:spcPts val="600"/>
                </a:spcAft>
                <a:buNone/>
              </a:pPr>
              <a:r>
                <a:rPr lang="en-US" sz="1600" dirty="0">
                  <a:solidFill>
                    <a:srgbClr val="595959"/>
                  </a:solidFill>
                  <a:latin typeface="Calibri" pitchFamily="34" charset="0"/>
                  <a:ea typeface="Calibri" pitchFamily="34" charset="-122"/>
                  <a:cs typeface="Calibri" pitchFamily="34" charset="-120"/>
                </a:rPr>
                <a:t>printing</a:t>
              </a:r>
              <a:endParaRPr lang="en-US" sz="1600" dirty="0"/>
            </a:p>
          </p:txBody>
        </p:sp>
        <p:pic>
          <p:nvPicPr>
            <p:cNvPr id="21" name="b7_30" descr="img/telegraph.jpg">
              <a:extLst>
                <a:ext uri="{FF2B5EF4-FFF2-40B4-BE49-F238E27FC236}">
                  <a16:creationId xmlns:a16="http://schemas.microsoft.com/office/drawing/2014/main" id="{8D75A517-83B4-9691-0816-E6A4AD5393C4}"/>
                </a:ext>
              </a:extLst>
            </p:cNvPr>
            <p:cNvPicPr>
              <a:picLocks noChangeAspect="1"/>
            </p:cNvPicPr>
            <p:nvPr/>
          </p:nvPicPr>
          <p:blipFill>
            <a:blip r:embed="rId7"/>
            <a:srcRect l="142" r="142"/>
            <a:stretch/>
          </p:blipFill>
          <p:spPr>
            <a:xfrm>
              <a:off x="9788209" y="4532003"/>
              <a:ext cx="1892783" cy="1490063"/>
            </a:xfrm>
            <a:prstGeom prst="rect">
              <a:avLst/>
            </a:prstGeom>
          </p:spPr>
        </p:pic>
        <p:sp>
          <p:nvSpPr>
            <p:cNvPr id="22" name="b7_31">
              <a:extLst>
                <a:ext uri="{FF2B5EF4-FFF2-40B4-BE49-F238E27FC236}">
                  <a16:creationId xmlns:a16="http://schemas.microsoft.com/office/drawing/2014/main" id="{90FA6759-8505-9C58-68EF-BB26DBC25323}"/>
                </a:ext>
              </a:extLst>
            </p:cNvPr>
            <p:cNvSpPr txBox="1"/>
            <p:nvPr/>
          </p:nvSpPr>
          <p:spPr>
            <a:xfrm>
              <a:off x="9581075" y="6126528"/>
              <a:ext cx="2148840" cy="365760"/>
            </a:xfrm>
            <a:prstGeom prst="rect">
              <a:avLst/>
            </a:prstGeom>
            <a:noFill/>
            <a:ln>
              <a:noFill/>
            </a:ln>
          </p:spPr>
          <p:txBody>
            <a:bodyPr wrap="square" lIns="38100" tIns="38100" rIns="38100" bIns="38100" rtlCol="0" anchor="t"/>
            <a:lstStyle/>
            <a:p>
              <a:pPr marL="0" indent="0" algn="ctr">
                <a:spcAft>
                  <a:spcPts val="600"/>
                </a:spcAft>
                <a:buNone/>
              </a:pPr>
              <a:r>
                <a:rPr lang="en-US" sz="1600" dirty="0">
                  <a:solidFill>
                    <a:srgbClr val="595959"/>
                  </a:solidFill>
                  <a:latin typeface="Calibri" pitchFamily="34" charset="0"/>
                  <a:ea typeface="Calibri" pitchFamily="34" charset="-122"/>
                  <a:cs typeface="Calibri" pitchFamily="34" charset="-120"/>
                </a:rPr>
                <a:t>the telegraph</a:t>
              </a:r>
              <a:endParaRPr lang="en-US" sz="1600" dirty="0"/>
            </a:p>
          </p:txBody>
        </p:sp>
      </p:grpSp>
      <p:sp>
        <p:nvSpPr>
          <p:cNvPr id="26" name="TextBox 25">
            <a:extLst>
              <a:ext uri="{FF2B5EF4-FFF2-40B4-BE49-F238E27FC236}">
                <a16:creationId xmlns:a16="http://schemas.microsoft.com/office/drawing/2014/main" id="{B10226C1-4A95-2B5C-B7D7-48905C531444}"/>
              </a:ext>
            </a:extLst>
          </p:cNvPr>
          <p:cNvSpPr txBox="1"/>
          <p:nvPr/>
        </p:nvSpPr>
        <p:spPr>
          <a:xfrm>
            <a:off x="7230013" y="5827219"/>
            <a:ext cx="2280851" cy="400110"/>
          </a:xfrm>
          <a:prstGeom prst="rect">
            <a:avLst/>
          </a:prstGeom>
          <a:noFill/>
        </p:spPr>
        <p:txBody>
          <a:bodyPr wrap="square">
            <a:spAutoFit/>
          </a:bodyPr>
          <a:lstStyle/>
          <a:p>
            <a:pPr marL="0" indent="0" algn="ctr">
              <a:buNone/>
            </a:pPr>
            <a:r>
              <a:rPr lang="en-US" sz="2000" b="1" dirty="0">
                <a:solidFill>
                  <a:srgbClr val="FF0000"/>
                </a:solidFill>
                <a:latin typeface="Calibri" pitchFamily="34" charset="0"/>
                <a:ea typeface="Calibri" pitchFamily="34" charset="-122"/>
                <a:cs typeface="Calibri" pitchFamily="34" charset="-120"/>
              </a:rPr>
              <a:t>Physical</a:t>
            </a:r>
            <a:endParaRPr lang="en-US" sz="2000" dirty="0"/>
          </a:p>
        </p:txBody>
      </p:sp>
      <p:sp>
        <p:nvSpPr>
          <p:cNvPr id="27" name="TextBox 26">
            <a:extLst>
              <a:ext uri="{FF2B5EF4-FFF2-40B4-BE49-F238E27FC236}">
                <a16:creationId xmlns:a16="http://schemas.microsoft.com/office/drawing/2014/main" id="{7F6837D1-B16C-42EB-2016-219046A37A4C}"/>
              </a:ext>
            </a:extLst>
          </p:cNvPr>
          <p:cNvSpPr txBox="1"/>
          <p:nvPr/>
        </p:nvSpPr>
        <p:spPr>
          <a:xfrm>
            <a:off x="9701246" y="5827219"/>
            <a:ext cx="2280851" cy="400110"/>
          </a:xfrm>
          <a:prstGeom prst="rect">
            <a:avLst/>
          </a:prstGeom>
          <a:noFill/>
        </p:spPr>
        <p:txBody>
          <a:bodyPr wrap="square">
            <a:spAutoFit/>
          </a:bodyPr>
          <a:lstStyle/>
          <a:p>
            <a:pPr marL="0" indent="0" algn="ctr">
              <a:buNone/>
            </a:pPr>
            <a:r>
              <a:rPr lang="en-US" sz="2000" b="1" dirty="0">
                <a:solidFill>
                  <a:srgbClr val="362FEC"/>
                </a:solidFill>
                <a:latin typeface="Calibri" pitchFamily="34" charset="0"/>
                <a:ea typeface="Calibri" pitchFamily="34" charset="-122"/>
                <a:cs typeface="Calibri" pitchFamily="34" charset="-120"/>
              </a:rPr>
              <a:t>Informational</a:t>
            </a:r>
            <a:endParaRPr lang="en-US" sz="2000" dirty="0">
              <a:solidFill>
                <a:srgbClr val="362FEC"/>
              </a:solidFill>
            </a:endParaRPr>
          </a:p>
        </p:txBody>
      </p:sp>
      <p:sp>
        <p:nvSpPr>
          <p:cNvPr id="28" name="!!computation">
            <a:extLst>
              <a:ext uri="{FF2B5EF4-FFF2-40B4-BE49-F238E27FC236}">
                <a16:creationId xmlns:a16="http://schemas.microsoft.com/office/drawing/2014/main" id="{548A8046-8F3E-4096-10C3-C642D4944F12}"/>
              </a:ext>
            </a:extLst>
          </p:cNvPr>
          <p:cNvSpPr txBox="1"/>
          <p:nvPr/>
        </p:nvSpPr>
        <p:spPr>
          <a:xfrm>
            <a:off x="209903" y="2973996"/>
            <a:ext cx="6273448" cy="707886"/>
          </a:xfrm>
          <a:prstGeom prst="rect">
            <a:avLst/>
          </a:prstGeom>
          <a:noFill/>
        </p:spPr>
        <p:txBody>
          <a:bodyPr wrap="square" rtlCol="0">
            <a:spAutoFit/>
          </a:bodyPr>
          <a:lstStyle/>
          <a:p>
            <a:r>
              <a:rPr lang="en-US" sz="2000" dirty="0">
                <a:latin typeface="Calibri" panose="020F0502020204030204" pitchFamily="34" charset="0"/>
                <a:cs typeface="Calibri" panose="020F0502020204030204" pitchFamily="34" charset="0"/>
              </a:rPr>
              <a:t>This is taken even further by the ability to transform information: Computation.  </a:t>
            </a:r>
          </a:p>
        </p:txBody>
      </p:sp>
    </p:spTree>
    <p:extLst>
      <p:ext uri="{BB962C8B-B14F-4D97-AF65-F5344CB8AC3E}">
        <p14:creationId xmlns:p14="http://schemas.microsoft.com/office/powerpoint/2010/main" val="2712818043"/>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4">
                                            <p:txEl>
                                              <p:pRg st="0" end="0"/>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4">
                                            <p:txEl>
                                              <p:pRg st="2" end="2"/>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nodeType="clickEffect">
                                  <p:stCondLst>
                                    <p:cond delay="0"/>
                                  </p:stCondLst>
                                  <p:childTnLst>
                                    <p:set>
                                      <p:cBhvr>
                                        <p:cTn id="14" dur="1" fill="hold">
                                          <p:stCondLst>
                                            <p:cond delay="0"/>
                                          </p:stCondLst>
                                        </p:cTn>
                                        <p:tgtEl>
                                          <p:spTgt spid="23"/>
                                        </p:tgtEl>
                                        <p:attrNameLst>
                                          <p:attrName>style.visibility</p:attrName>
                                        </p:attrNameLst>
                                      </p:cBhvr>
                                      <p:to>
                                        <p:strVal val="visible"/>
                                      </p:to>
                                    </p:set>
                                  </p:childTnLst>
                                </p:cTn>
                              </p:par>
                              <p:par>
                                <p:cTn id="15" presetID="1" presetClass="entr" presetSubtype="0" fill="hold" grpId="0" nodeType="withEffect">
                                  <p:stCondLst>
                                    <p:cond delay="0"/>
                                  </p:stCondLst>
                                  <p:childTnLst>
                                    <p:set>
                                      <p:cBhvr>
                                        <p:cTn id="16" dur="1" fill="hold">
                                          <p:stCondLst>
                                            <p:cond delay="0"/>
                                          </p:stCondLst>
                                        </p:cTn>
                                        <p:tgtEl>
                                          <p:spTgt spid="26"/>
                                        </p:tgtEl>
                                        <p:attrNameLst>
                                          <p:attrName>style.visibility</p:attrName>
                                        </p:attrNameLst>
                                      </p:cBhvr>
                                      <p:to>
                                        <p:strVal val="visible"/>
                                      </p:to>
                                    </p:set>
                                  </p:childTnLst>
                                </p:cTn>
                              </p:par>
                            </p:childTnLst>
                          </p:cTn>
                        </p:par>
                      </p:childTnLst>
                    </p:cTn>
                  </p:par>
                  <p:par>
                    <p:cTn id="17" fill="hold">
                      <p:stCondLst>
                        <p:cond delay="indefinite"/>
                      </p:stCondLst>
                      <p:childTnLst>
                        <p:par>
                          <p:cTn id="18" fill="hold">
                            <p:stCondLst>
                              <p:cond delay="0"/>
                            </p:stCondLst>
                            <p:childTnLst>
                              <p:par>
                                <p:cTn id="19" presetID="1" presetClass="entr" presetSubtype="0" fill="hold" grpId="0" nodeType="clickEffect">
                                  <p:stCondLst>
                                    <p:cond delay="0"/>
                                  </p:stCondLst>
                                  <p:childTnLst>
                                    <p:set>
                                      <p:cBhvr>
                                        <p:cTn id="20" dur="1" fill="hold">
                                          <p:stCondLst>
                                            <p:cond delay="0"/>
                                          </p:stCondLst>
                                        </p:cTn>
                                        <p:tgtEl>
                                          <p:spTgt spid="4">
                                            <p:txEl>
                                              <p:pRg st="3" end="3"/>
                                            </p:txEl>
                                          </p:spTgt>
                                        </p:tgtEl>
                                        <p:attrNameLst>
                                          <p:attrName>style.visibility</p:attrName>
                                        </p:attrNameLst>
                                      </p:cBhvr>
                                      <p:to>
                                        <p:strVal val="visible"/>
                                      </p:to>
                                    </p:set>
                                  </p:childTnLst>
                                </p:cTn>
                              </p:par>
                            </p:childTnLst>
                          </p:cTn>
                        </p:par>
                      </p:childTnLst>
                    </p:cTn>
                  </p:par>
                  <p:par>
                    <p:cTn id="21" fill="hold">
                      <p:stCondLst>
                        <p:cond delay="indefinite"/>
                      </p:stCondLst>
                      <p:childTnLst>
                        <p:par>
                          <p:cTn id="22" fill="hold">
                            <p:stCondLst>
                              <p:cond delay="0"/>
                            </p:stCondLst>
                            <p:childTnLst>
                              <p:par>
                                <p:cTn id="23" presetID="1" presetClass="entr" presetSubtype="0" fill="hold" nodeType="clickEffect">
                                  <p:stCondLst>
                                    <p:cond delay="0"/>
                                  </p:stCondLst>
                                  <p:childTnLst>
                                    <p:set>
                                      <p:cBhvr>
                                        <p:cTn id="24" dur="1" fill="hold">
                                          <p:stCondLst>
                                            <p:cond delay="0"/>
                                          </p:stCondLst>
                                        </p:cTn>
                                        <p:tgtEl>
                                          <p:spTgt spid="24"/>
                                        </p:tgtEl>
                                        <p:attrNameLst>
                                          <p:attrName>style.visibility</p:attrName>
                                        </p:attrNameLst>
                                      </p:cBhvr>
                                      <p:to>
                                        <p:strVal val="visible"/>
                                      </p:to>
                                    </p:set>
                                  </p:childTnLst>
                                </p:cTn>
                              </p:par>
                              <p:par>
                                <p:cTn id="25" presetID="1" presetClass="entr" presetSubtype="0" fill="hold" grpId="0" nodeType="withEffect">
                                  <p:stCondLst>
                                    <p:cond delay="0"/>
                                  </p:stCondLst>
                                  <p:childTnLst>
                                    <p:set>
                                      <p:cBhvr>
                                        <p:cTn id="26" dur="1" fill="hold">
                                          <p:stCondLst>
                                            <p:cond delay="0"/>
                                          </p:stCondLst>
                                        </p:cTn>
                                        <p:tgtEl>
                                          <p:spTgt spid="27"/>
                                        </p:tgtEl>
                                        <p:attrNameLst>
                                          <p:attrName>style.visibility</p:attrName>
                                        </p:attrNameLst>
                                      </p:cBhvr>
                                      <p:to>
                                        <p:strVal val="visible"/>
                                      </p:to>
                                    </p:set>
                                  </p:childTnLst>
                                </p:cTn>
                              </p:par>
                            </p:childTnLst>
                          </p:cTn>
                        </p:par>
                      </p:childTnLst>
                    </p:cTn>
                  </p:par>
                  <p:par>
                    <p:cTn id="27" fill="hold">
                      <p:stCondLst>
                        <p:cond delay="indefinite"/>
                      </p:stCondLst>
                      <p:childTnLst>
                        <p:par>
                          <p:cTn id="28" fill="hold">
                            <p:stCondLst>
                              <p:cond delay="0"/>
                            </p:stCondLst>
                            <p:childTnLst>
                              <p:par>
                                <p:cTn id="29" presetID="1" presetClass="entr" presetSubtype="0" fill="hold" grpId="0" nodeType="clickEffect">
                                  <p:stCondLst>
                                    <p:cond delay="0"/>
                                  </p:stCondLst>
                                  <p:childTnLst>
                                    <p:set>
                                      <p:cBhvr>
                                        <p:cTn id="30" dur="1" fill="hold">
                                          <p:stCondLst>
                                            <p:cond delay="0"/>
                                          </p:stCondLst>
                                        </p:cTn>
                                        <p:tgtEl>
                                          <p:spTgt spid="28"/>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4" grpId="0" build="p"/>
      <p:bldP spid="26" grpId="0"/>
      <p:bldP spid="27" grpId="0"/>
      <p:bldP spid="28" grpId="0"/>
    </p:bldLst>
  </p:timing>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77CA0732-B284-6AB0-46FD-DE983AA509F7}"/>
            </a:ext>
          </a:extLst>
        </p:cNvPr>
        <p:cNvGrpSpPr/>
        <p:nvPr/>
      </p:nvGrpSpPr>
      <p:grpSpPr>
        <a:xfrm>
          <a:off x="0" y="0"/>
          <a:ext cx="0" cy="0"/>
          <a:chOff x="0" y="0"/>
          <a:chExt cx="0" cy="0"/>
        </a:xfrm>
      </p:grpSpPr>
      <p:sp>
        <p:nvSpPr>
          <p:cNvPr id="8" name="b0_2">
            <a:extLst>
              <a:ext uri="{FF2B5EF4-FFF2-40B4-BE49-F238E27FC236}">
                <a16:creationId xmlns:a16="http://schemas.microsoft.com/office/drawing/2014/main" id="{B1D4B917-EC7A-6DA6-FB99-6BB43AC74159}"/>
              </a:ext>
            </a:extLst>
          </p:cNvPr>
          <p:cNvSpPr txBox="1"/>
          <p:nvPr/>
        </p:nvSpPr>
        <p:spPr>
          <a:xfrm>
            <a:off x="0" y="148566"/>
            <a:ext cx="11680992" cy="548640"/>
          </a:xfrm>
          <a:prstGeom prst="rect">
            <a:avLst/>
          </a:prstGeom>
          <a:noFill/>
          <a:ln>
            <a:noFill/>
          </a:ln>
        </p:spPr>
        <p:txBody>
          <a:bodyPr wrap="square" rtlCol="0" anchor="ctr"/>
          <a:lstStyle/>
          <a:p>
            <a:r>
              <a:rPr lang="en-US" sz="3200" b="1" dirty="0">
                <a:latin typeface="Calibri" pitchFamily="34" charset="0"/>
                <a:ea typeface="Calibri" pitchFamily="34" charset="-122"/>
                <a:cs typeface="Calibri" pitchFamily="34" charset="-120"/>
              </a:rPr>
              <a:t>From </a:t>
            </a:r>
            <a:r>
              <a:rPr lang="en-US" sz="3200" b="1" dirty="0">
                <a:solidFill>
                  <a:srgbClr val="FF0000"/>
                </a:solidFill>
                <a:latin typeface="Calibri" pitchFamily="34" charset="0"/>
                <a:ea typeface="Calibri" pitchFamily="34" charset="-122"/>
                <a:cs typeface="Calibri" pitchFamily="34" charset="-120"/>
              </a:rPr>
              <a:t>Computation</a:t>
            </a:r>
            <a:r>
              <a:rPr lang="en-US" sz="3200" b="1" dirty="0">
                <a:latin typeface="Calibri" pitchFamily="34" charset="0"/>
                <a:ea typeface="Calibri" pitchFamily="34" charset="-122"/>
                <a:cs typeface="Calibri" pitchFamily="34" charset="-120"/>
              </a:rPr>
              <a:t> to </a:t>
            </a:r>
            <a:r>
              <a:rPr lang="en-US" sz="3200" b="1" dirty="0">
                <a:solidFill>
                  <a:srgbClr val="362FEC"/>
                </a:solidFill>
                <a:latin typeface="Calibri" pitchFamily="34" charset="0"/>
                <a:ea typeface="Calibri" pitchFamily="34" charset="-122"/>
                <a:cs typeface="Calibri" pitchFamily="34" charset="-120"/>
              </a:rPr>
              <a:t>Language Models</a:t>
            </a:r>
            <a:endParaRPr lang="en-US" sz="3200" dirty="0">
              <a:solidFill>
                <a:srgbClr val="362FEC"/>
              </a:solidFill>
            </a:endParaRPr>
          </a:p>
        </p:txBody>
      </p:sp>
      <p:pic>
        <p:nvPicPr>
          <p:cNvPr id="2" name="b1_34" descr="img/turing.jpg">
            <a:extLst>
              <a:ext uri="{FF2B5EF4-FFF2-40B4-BE49-F238E27FC236}">
                <a16:creationId xmlns:a16="http://schemas.microsoft.com/office/drawing/2014/main" id="{2BD3B4AF-E150-0598-E545-748C035C2D87}"/>
              </a:ext>
            </a:extLst>
          </p:cNvPr>
          <p:cNvPicPr>
            <a:picLocks noChangeAspect="1"/>
          </p:cNvPicPr>
          <p:nvPr/>
        </p:nvPicPr>
        <p:blipFill>
          <a:blip r:embed="rId2"/>
          <a:stretch>
            <a:fillRect/>
          </a:stretch>
        </p:blipFill>
        <p:spPr>
          <a:xfrm>
            <a:off x="8650027" y="3002467"/>
            <a:ext cx="1622368" cy="2208824"/>
          </a:xfrm>
          <a:prstGeom prst="rect">
            <a:avLst/>
          </a:prstGeom>
        </p:spPr>
      </p:pic>
      <p:sp>
        <p:nvSpPr>
          <p:cNvPr id="3" name="b1_35">
            <a:extLst>
              <a:ext uri="{FF2B5EF4-FFF2-40B4-BE49-F238E27FC236}">
                <a16:creationId xmlns:a16="http://schemas.microsoft.com/office/drawing/2014/main" id="{390D4A6E-67DC-E3BB-0A5B-2669F8314FAF}"/>
              </a:ext>
            </a:extLst>
          </p:cNvPr>
          <p:cNvSpPr txBox="1"/>
          <p:nvPr/>
        </p:nvSpPr>
        <p:spPr>
          <a:xfrm>
            <a:off x="8135331" y="5287804"/>
            <a:ext cx="2651760" cy="329184"/>
          </a:xfrm>
          <a:prstGeom prst="rect">
            <a:avLst/>
          </a:prstGeom>
          <a:noFill/>
          <a:ln>
            <a:noFill/>
          </a:ln>
        </p:spPr>
        <p:txBody>
          <a:bodyPr wrap="square" lIns="38100" tIns="38100" rIns="38100" bIns="38100" rtlCol="0" anchor="t"/>
          <a:lstStyle/>
          <a:p>
            <a:pPr marL="0" indent="0" algn="ctr">
              <a:spcAft>
                <a:spcPts val="600"/>
              </a:spcAft>
              <a:buNone/>
            </a:pPr>
            <a:r>
              <a:rPr lang="en-US" sz="1400" dirty="0">
                <a:solidFill>
                  <a:srgbClr val="595959"/>
                </a:solidFill>
                <a:latin typeface="Calibri" pitchFamily="34" charset="0"/>
                <a:ea typeface="Calibri" pitchFamily="34" charset="-122"/>
                <a:cs typeface="Calibri" pitchFamily="34" charset="-120"/>
              </a:rPr>
              <a:t>Alan Turing</a:t>
            </a:r>
            <a:endParaRPr lang="en-US" sz="1400" dirty="0"/>
          </a:p>
        </p:txBody>
      </p:sp>
      <p:sp>
        <p:nvSpPr>
          <p:cNvPr id="5" name="line 1936">
            <a:extLst>
              <a:ext uri="{FF2B5EF4-FFF2-40B4-BE49-F238E27FC236}">
                <a16:creationId xmlns:a16="http://schemas.microsoft.com/office/drawing/2014/main" id="{8BAFC252-6029-6795-9DAC-090C61319AE7}"/>
              </a:ext>
            </a:extLst>
          </p:cNvPr>
          <p:cNvSpPr txBox="1"/>
          <p:nvPr/>
        </p:nvSpPr>
        <p:spPr>
          <a:xfrm>
            <a:off x="384048" y="1920240"/>
            <a:ext cx="6309360" cy="411480"/>
          </a:xfrm>
          <a:prstGeom prst="rect">
            <a:avLst/>
          </a:prstGeom>
          <a:noFill/>
          <a:ln>
            <a:noFill/>
          </a:ln>
        </p:spPr>
        <p:txBody>
          <a:bodyPr wrap="square" lIns="0" tIns="0" rIns="0" bIns="0" rtlCol="0" anchor="ctr"/>
          <a:lstStyle/>
          <a:p>
            <a:pPr marL="0" indent="0">
              <a:buNone/>
            </a:pPr>
            <a:r>
              <a:rPr lang="en-US" sz="2000" dirty="0">
                <a:solidFill>
                  <a:srgbClr val="362FEC"/>
                </a:solidFill>
                <a:latin typeface="Calibri" pitchFamily="34" charset="0"/>
                <a:ea typeface="Calibri" pitchFamily="34" charset="-122"/>
                <a:cs typeface="Calibri" pitchFamily="34" charset="-120"/>
              </a:rPr>
              <a:t>1936</a:t>
            </a:r>
            <a:r>
              <a:rPr lang="en-US" sz="2000" dirty="0">
                <a:solidFill>
                  <a:srgbClr val="000000"/>
                </a:solidFill>
                <a:latin typeface="Calibri" pitchFamily="34" charset="0"/>
                <a:ea typeface="Calibri" pitchFamily="34" charset="-122"/>
                <a:cs typeface="Calibri" pitchFamily="34" charset="-120"/>
              </a:rPr>
              <a:t>: </a:t>
            </a:r>
            <a:r>
              <a:rPr lang="en-US" sz="2000" dirty="0">
                <a:solidFill>
                  <a:srgbClr val="00B050"/>
                </a:solidFill>
                <a:latin typeface="Calibri" pitchFamily="34" charset="0"/>
                <a:ea typeface="Calibri" pitchFamily="34" charset="-122"/>
                <a:cs typeface="Calibri" pitchFamily="34" charset="-120"/>
              </a:rPr>
              <a:t>computation becomes a mathematical object</a:t>
            </a:r>
            <a:endParaRPr lang="en-US" sz="2000" dirty="0"/>
          </a:p>
        </p:txBody>
      </p:sp>
      <p:pic>
        <p:nvPicPr>
          <p:cNvPr id="41" name="Picture 40">
            <a:extLst>
              <a:ext uri="{FF2B5EF4-FFF2-40B4-BE49-F238E27FC236}">
                <a16:creationId xmlns:a16="http://schemas.microsoft.com/office/drawing/2014/main" id="{62800D41-4B66-5F48-F28D-7C9785AC2497}"/>
              </a:ext>
            </a:extLst>
          </p:cNvPr>
          <p:cNvPicPr>
            <a:picLocks noChangeAspect="1"/>
          </p:cNvPicPr>
          <p:nvPr/>
        </p:nvPicPr>
        <p:blipFill>
          <a:blip r:embed="rId3"/>
          <a:stretch>
            <a:fillRect/>
          </a:stretch>
        </p:blipFill>
        <p:spPr>
          <a:xfrm>
            <a:off x="6896678" y="1241012"/>
            <a:ext cx="4907395" cy="1500545"/>
          </a:xfrm>
          <a:prstGeom prst="rect">
            <a:avLst/>
          </a:prstGeom>
        </p:spPr>
      </p:pic>
      <p:sp>
        <p:nvSpPr>
          <p:cNvPr id="42" name="!!computation">
            <a:extLst>
              <a:ext uri="{FF2B5EF4-FFF2-40B4-BE49-F238E27FC236}">
                <a16:creationId xmlns:a16="http://schemas.microsoft.com/office/drawing/2014/main" id="{4FE8C50E-B625-60D3-BD36-A8099EB526C4}"/>
              </a:ext>
            </a:extLst>
          </p:cNvPr>
          <p:cNvSpPr txBox="1"/>
          <p:nvPr/>
        </p:nvSpPr>
        <p:spPr>
          <a:xfrm>
            <a:off x="168339" y="980102"/>
            <a:ext cx="6355080" cy="707886"/>
          </a:xfrm>
          <a:prstGeom prst="rect">
            <a:avLst/>
          </a:prstGeom>
          <a:noFill/>
        </p:spPr>
        <p:txBody>
          <a:bodyPr wrap="square" rtlCol="0">
            <a:spAutoFit/>
          </a:bodyPr>
          <a:lstStyle/>
          <a:p>
            <a:r>
              <a:rPr lang="en-US" sz="2000" dirty="0">
                <a:latin typeface="Calibri" panose="020F0502020204030204" pitchFamily="34" charset="0"/>
                <a:cs typeface="Calibri" panose="020F0502020204030204" pitchFamily="34" charset="0"/>
              </a:rPr>
              <a:t>This is taken even further by the ability to transform information: Computation.</a:t>
            </a:r>
          </a:p>
        </p:txBody>
      </p:sp>
      <p:sp>
        <p:nvSpPr>
          <p:cNvPr id="43" name="description"/>
          <p:cNvSpPr txBox="1"/>
          <p:nvPr/>
        </p:nvSpPr>
        <p:spPr>
          <a:xfrm>
            <a:off x="6812280" y="5760720"/>
            <a:ext cx="5120640" cy="502920"/>
          </a:xfrm>
          <a:prstGeom prst="rect">
            <a:avLst/>
          </a:prstGeom>
          <a:noFill/>
        </p:spPr>
        <p:txBody>
          <a:bodyPr wrap="square" lIns="0" tIns="0" rIns="0" bIns="0" anchor="t">
            <a:spAutoFit/>
          </a:bodyPr>
          <a:lstStyle/>
          <a:p>
            <a:pPr algn="l"/>
            <a:r>
              <a:rPr sz="1400" b="0" i="0">
                <a:solidFill>
                  <a:srgbClr val="595959"/>
                </a:solidFill>
                <a:latin typeface="Calibri"/>
              </a:rPr>
              <a:t>A finite table of rules, reading and writing symbols on a tape, captures what it means to compute; one universal machine can run any other.</a:t>
            </a:r>
          </a:p>
        </p:txBody>
      </p:sp>
    </p:spTree>
    <p:extLst>
      <p:ext uri="{BB962C8B-B14F-4D97-AF65-F5344CB8AC3E}">
        <p14:creationId xmlns:p14="http://schemas.microsoft.com/office/powerpoint/2010/main" val="703146350"/>
      </p:ext>
    </p:extLst>
  </p:cSld>
  <p:clrMapOvr>
    <a:masterClrMapping/>
  </p:clrMapOvr>
  <mc:AlternateContent xmlns:mc="http://schemas.openxmlformats.org/markup-compatibility/2006" xmlns:p159="http://schemas.microsoft.com/office/powerpoint/2015/09/main">
    <mc:Choice Requires="p159">
      <p:transition spd="slow">
        <p159:morph option="byObject"/>
      </p:transition>
    </mc:Choice>
    <mc:Fallback xmlns="">
      <p:transition spd="slow">
        <p:fade/>
      </p:transition>
    </mc:Fallback>
  </mc:AlternateContent>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5"/>
                                        </p:tgtEl>
                                        <p:attrNameLst>
                                          <p:attrName>style.visibility</p:attrName>
                                        </p:attrNameLst>
                                      </p:cBhvr>
                                      <p:to>
                                        <p:strVal val="visible"/>
                                      </p:to>
                                    </p:set>
                                  </p:childTnLst>
                                </p:cTn>
                              </p:par>
                              <p:par>
                                <p:cTn id="7" presetID="1" presetClass="entr" presetSubtype="0" fill="hold" grpId="0" nodeType="withEffect">
                                  <p:stCondLst>
                                    <p:cond delay="0"/>
                                  </p:stCondLst>
                                  <p:childTnLst>
                                    <p:set>
                                      <p:cBhvr>
                                        <p:cTn id="8" dur="1" fill="hold">
                                          <p:stCondLst>
                                            <p:cond delay="0"/>
                                          </p:stCondLst>
                                        </p:cTn>
                                        <p:tgtEl>
                                          <p:spTgt spid="41"/>
                                        </p:tgtEl>
                                        <p:attrNameLst>
                                          <p:attrName>style.visibility</p:attrName>
                                        </p:attrNameLst>
                                      </p:cBhvr>
                                      <p:to>
                                        <p:strVal val="visible"/>
                                      </p:to>
                                    </p:set>
                                  </p:childTnLst>
                                </p:cTn>
                              </p:par>
                              <p:par>
                                <p:cTn id="9" presetID="1" presetClass="entr" presetSubtype="0" fill="hold" grpId="0" nodeType="withEffect">
                                  <p:stCondLst>
                                    <p:cond delay="0"/>
                                  </p:stCondLst>
                                  <p:childTnLst>
                                    <p:set>
                                      <p:cBhvr>
                                        <p:cTn id="10" dur="1" fill="hold">
                                          <p:stCondLst>
                                            <p:cond delay="0"/>
                                          </p:stCondLst>
                                        </p:cTn>
                                        <p:tgtEl>
                                          <p:spTgt spid="2"/>
                                        </p:tgtEl>
                                        <p:attrNameLst>
                                          <p:attrName>style.visibility</p:attrName>
                                        </p:attrNameLst>
                                      </p:cBhvr>
                                      <p:to>
                                        <p:strVal val="visible"/>
                                      </p:to>
                                    </p:set>
                                  </p:childTnLst>
                                </p:cTn>
                              </p:par>
                              <p:par>
                                <p:cTn id="11" presetID="1" presetClass="entr" presetSubtype="0" fill="hold" grpId="0" nodeType="withEffect">
                                  <p:stCondLst>
                                    <p:cond delay="0"/>
                                  </p:stCondLst>
                                  <p:childTnLst>
                                    <p:set>
                                      <p:cBhvr>
                                        <p:cTn id="12" dur="1" fill="hold">
                                          <p:stCondLst>
                                            <p:cond delay="0"/>
                                          </p:stCondLst>
                                        </p:cTn>
                                        <p:tgtEl>
                                          <p:spTgt spid="3"/>
                                        </p:tgtEl>
                                        <p:attrNameLst>
                                          <p:attrName>style.visibility</p:attrName>
                                        </p:attrNameLst>
                                      </p:cBhvr>
                                      <p:to>
                                        <p:strVal val="visible"/>
                                      </p:to>
                                    </p:set>
                                  </p:childTnLst>
                                </p:cTn>
                              </p:par>
                              <p:par>
                                <p:cTn id="13" presetID="1" presetClass="entr" presetSubtype="0" fill="hold" grpId="0" nodeType="withEffect">
                                  <p:stCondLst>
                                    <p:cond delay="0"/>
                                  </p:stCondLst>
                                  <p:childTnLst>
                                    <p:set>
                                      <p:cBhvr>
                                        <p:cTn id="14" dur="1" fill="hold">
                                          <p:stCondLst>
                                            <p:cond delay="0"/>
                                          </p:stCondLst>
                                        </p:cTn>
                                        <p:tgtEl>
                                          <p:spTgt spid="43"/>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5" grpId="0"/>
      <p:bldP spid="3" grpId="0"/>
      <p:bldP spid="43" grpId="0"/>
    </p:bldLst>
  </p:timing>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CC28FBF5-F94D-1D86-356A-4B3B98E3B010}"/>
            </a:ext>
          </a:extLst>
        </p:cNvPr>
        <p:cNvGrpSpPr/>
        <p:nvPr/>
      </p:nvGrpSpPr>
      <p:grpSpPr>
        <a:xfrm>
          <a:off x="0" y="0"/>
          <a:ext cx="0" cy="0"/>
          <a:chOff x="0" y="0"/>
          <a:chExt cx="0" cy="0"/>
        </a:xfrm>
      </p:grpSpPr>
      <p:sp>
        <p:nvSpPr>
          <p:cNvPr id="8" name="b0_2">
            <a:extLst>
              <a:ext uri="{FF2B5EF4-FFF2-40B4-BE49-F238E27FC236}">
                <a16:creationId xmlns:a16="http://schemas.microsoft.com/office/drawing/2014/main" id="{2BEE631D-71D0-C172-CB4C-F8D514EE049F}"/>
              </a:ext>
            </a:extLst>
          </p:cNvPr>
          <p:cNvSpPr txBox="1"/>
          <p:nvPr/>
        </p:nvSpPr>
        <p:spPr>
          <a:xfrm>
            <a:off x="0" y="148566"/>
            <a:ext cx="11680992" cy="548640"/>
          </a:xfrm>
          <a:prstGeom prst="rect">
            <a:avLst/>
          </a:prstGeom>
          <a:noFill/>
          <a:ln>
            <a:noFill/>
          </a:ln>
        </p:spPr>
        <p:txBody>
          <a:bodyPr wrap="square" rtlCol="0" anchor="ctr"/>
          <a:lstStyle/>
          <a:p>
            <a:r>
              <a:rPr lang="en-US" sz="3200" b="1" dirty="0">
                <a:latin typeface="Calibri" pitchFamily="34" charset="0"/>
                <a:ea typeface="Calibri" pitchFamily="34" charset="-122"/>
                <a:cs typeface="Calibri" pitchFamily="34" charset="-120"/>
              </a:rPr>
              <a:t>From </a:t>
            </a:r>
            <a:r>
              <a:rPr lang="en-US" sz="3200" b="1" dirty="0">
                <a:solidFill>
                  <a:srgbClr val="FF0000"/>
                </a:solidFill>
                <a:latin typeface="Calibri" pitchFamily="34" charset="0"/>
                <a:ea typeface="Calibri" pitchFamily="34" charset="-122"/>
                <a:cs typeface="Calibri" pitchFamily="34" charset="-120"/>
              </a:rPr>
              <a:t>Computation</a:t>
            </a:r>
            <a:r>
              <a:rPr lang="en-US" sz="3200" b="1" dirty="0">
                <a:latin typeface="Calibri" pitchFamily="34" charset="0"/>
                <a:ea typeface="Calibri" pitchFamily="34" charset="-122"/>
                <a:cs typeface="Calibri" pitchFamily="34" charset="-120"/>
              </a:rPr>
              <a:t> to </a:t>
            </a:r>
            <a:r>
              <a:rPr lang="en-US" sz="3200" b="1" dirty="0">
                <a:solidFill>
                  <a:srgbClr val="362FEC"/>
                </a:solidFill>
                <a:latin typeface="Calibri" pitchFamily="34" charset="0"/>
                <a:ea typeface="Calibri" pitchFamily="34" charset="-122"/>
                <a:cs typeface="Calibri" pitchFamily="34" charset="-120"/>
              </a:rPr>
              <a:t>Language Models</a:t>
            </a:r>
            <a:endParaRPr lang="en-US" sz="3200" dirty="0">
              <a:solidFill>
                <a:srgbClr val="362FEC"/>
              </a:solidFill>
            </a:endParaRPr>
          </a:p>
        </p:txBody>
      </p:sp>
      <p:sp>
        <p:nvSpPr>
          <p:cNvPr id="28" name="!!computation">
            <a:extLst>
              <a:ext uri="{FF2B5EF4-FFF2-40B4-BE49-F238E27FC236}">
                <a16:creationId xmlns:a16="http://schemas.microsoft.com/office/drawing/2014/main" id="{24318C8D-4B51-C175-BBF7-28B6C807AC22}"/>
              </a:ext>
            </a:extLst>
          </p:cNvPr>
          <p:cNvSpPr txBox="1"/>
          <p:nvPr/>
        </p:nvSpPr>
        <p:spPr>
          <a:xfrm>
            <a:off x="168339" y="980102"/>
            <a:ext cx="6355080" cy="707886"/>
          </a:xfrm>
          <a:prstGeom prst="rect">
            <a:avLst/>
          </a:prstGeom>
          <a:noFill/>
        </p:spPr>
        <p:txBody>
          <a:bodyPr wrap="square" rtlCol="0">
            <a:spAutoFit/>
          </a:bodyPr>
          <a:lstStyle/>
          <a:p>
            <a:r>
              <a:rPr lang="en-US" sz="2000" dirty="0">
                <a:latin typeface="Calibri" panose="020F0502020204030204" pitchFamily="34" charset="0"/>
                <a:cs typeface="Calibri" panose="020F0502020204030204" pitchFamily="34" charset="0"/>
              </a:rPr>
              <a:t>This is taken even further by the ability to transform information: Computation.</a:t>
            </a:r>
          </a:p>
        </p:txBody>
      </p:sp>
      <p:sp>
        <p:nvSpPr>
          <p:cNvPr id="5" name="line 1936">
            <a:extLst>
              <a:ext uri="{FF2B5EF4-FFF2-40B4-BE49-F238E27FC236}">
                <a16:creationId xmlns:a16="http://schemas.microsoft.com/office/drawing/2014/main" id="{7E819589-10E2-4866-1ACA-93305F3A174C}"/>
              </a:ext>
            </a:extLst>
          </p:cNvPr>
          <p:cNvSpPr txBox="1"/>
          <p:nvPr/>
        </p:nvSpPr>
        <p:spPr>
          <a:xfrm>
            <a:off x="384048" y="1920240"/>
            <a:ext cx="6309360" cy="411480"/>
          </a:xfrm>
          <a:prstGeom prst="rect">
            <a:avLst/>
          </a:prstGeom>
          <a:noFill/>
          <a:ln>
            <a:noFill/>
          </a:ln>
        </p:spPr>
        <p:txBody>
          <a:bodyPr wrap="square" lIns="0" tIns="0" rIns="0" bIns="0" rtlCol="0" anchor="ctr"/>
          <a:lstStyle/>
          <a:p>
            <a:pPr marL="0" indent="0">
              <a:buNone/>
            </a:pPr>
            <a:r>
              <a:rPr lang="en-US" sz="2000" dirty="0">
                <a:solidFill>
                  <a:srgbClr val="362FEC"/>
                </a:solidFill>
                <a:latin typeface="Calibri" pitchFamily="34" charset="0"/>
                <a:ea typeface="Calibri" pitchFamily="34" charset="-122"/>
                <a:cs typeface="Calibri" pitchFamily="34" charset="-120"/>
              </a:rPr>
              <a:t>1936</a:t>
            </a:r>
            <a:r>
              <a:rPr lang="en-US" sz="2000" dirty="0">
                <a:solidFill>
                  <a:srgbClr val="000000"/>
                </a:solidFill>
                <a:latin typeface="Calibri" pitchFamily="34" charset="0"/>
                <a:ea typeface="Calibri" pitchFamily="34" charset="-122"/>
                <a:cs typeface="Calibri" pitchFamily="34" charset="-120"/>
              </a:rPr>
              <a:t>: </a:t>
            </a:r>
            <a:r>
              <a:rPr lang="en-US" sz="2000" dirty="0">
                <a:solidFill>
                  <a:srgbClr val="00B050"/>
                </a:solidFill>
                <a:latin typeface="Calibri" pitchFamily="34" charset="0"/>
                <a:ea typeface="Calibri" pitchFamily="34" charset="-122"/>
                <a:cs typeface="Calibri" pitchFamily="34" charset="-120"/>
              </a:rPr>
              <a:t>computation becomes a mathematical object</a:t>
            </a:r>
            <a:endParaRPr lang="en-US" sz="2000" dirty="0"/>
          </a:p>
        </p:txBody>
      </p:sp>
      <p:sp>
        <p:nvSpPr>
          <p:cNvPr id="4" name="line 1946">
            <a:extLst>
              <a:ext uri="{FF2B5EF4-FFF2-40B4-BE49-F238E27FC236}">
                <a16:creationId xmlns:a16="http://schemas.microsoft.com/office/drawing/2014/main" id="{C9DF67C1-43FB-2996-59BA-F404CC84075C}"/>
              </a:ext>
            </a:extLst>
          </p:cNvPr>
          <p:cNvSpPr txBox="1"/>
          <p:nvPr/>
        </p:nvSpPr>
        <p:spPr>
          <a:xfrm>
            <a:off x="384048" y="2340864"/>
            <a:ext cx="6309360" cy="411480"/>
          </a:xfrm>
          <a:prstGeom prst="rect">
            <a:avLst/>
          </a:prstGeom>
          <a:noFill/>
          <a:ln>
            <a:noFill/>
          </a:ln>
        </p:spPr>
        <p:txBody>
          <a:bodyPr wrap="square" lIns="0" tIns="0" rIns="0" bIns="0" rtlCol="0" anchor="ctr"/>
          <a:lstStyle/>
          <a:p>
            <a:pPr marL="0" indent="0">
              <a:buNone/>
            </a:pPr>
            <a:r>
              <a:rPr lang="en-US" sz="2000" dirty="0">
                <a:solidFill>
                  <a:srgbClr val="362FEC"/>
                </a:solidFill>
                <a:latin typeface="Calibri" pitchFamily="34" charset="0"/>
                <a:ea typeface="Calibri" pitchFamily="34" charset="-122"/>
                <a:cs typeface="Calibri" pitchFamily="34" charset="-120"/>
              </a:rPr>
              <a:t>1946–1947</a:t>
            </a:r>
            <a:r>
              <a:rPr lang="en-US" sz="2000" dirty="0">
                <a:solidFill>
                  <a:srgbClr val="000000"/>
                </a:solidFill>
                <a:latin typeface="Calibri" pitchFamily="34" charset="0"/>
                <a:ea typeface="Calibri" pitchFamily="34" charset="-122"/>
                <a:cs typeface="Calibri" pitchFamily="34" charset="-120"/>
              </a:rPr>
              <a:t>: </a:t>
            </a:r>
            <a:r>
              <a:rPr lang="en-US" sz="2000" dirty="0">
                <a:solidFill>
                  <a:srgbClr val="00B050"/>
                </a:solidFill>
                <a:latin typeface="Calibri" pitchFamily="34" charset="0"/>
                <a:ea typeface="Calibri" pitchFamily="34" charset="-122"/>
                <a:cs typeface="Calibri" pitchFamily="34" charset="-120"/>
              </a:rPr>
              <a:t>computers become physical objects</a:t>
            </a:r>
            <a:endParaRPr lang="en-US" sz="2000" dirty="0"/>
          </a:p>
        </p:txBody>
      </p:sp>
      <p:pic>
        <p:nvPicPr>
          <p:cNvPr id="6" name="b1_54" descr="img/eniac.jpg">
            <a:extLst>
              <a:ext uri="{FF2B5EF4-FFF2-40B4-BE49-F238E27FC236}">
                <a16:creationId xmlns:a16="http://schemas.microsoft.com/office/drawing/2014/main" id="{BF7876DF-6FC3-17F6-E73A-9158BDD17DC1}"/>
              </a:ext>
            </a:extLst>
          </p:cNvPr>
          <p:cNvPicPr>
            <a:picLocks noChangeAspect="1"/>
          </p:cNvPicPr>
          <p:nvPr/>
        </p:nvPicPr>
        <p:blipFill>
          <a:blip r:embed="rId2"/>
          <a:stretch>
            <a:fillRect/>
          </a:stretch>
        </p:blipFill>
        <p:spPr>
          <a:xfrm>
            <a:off x="8160925" y="1076557"/>
            <a:ext cx="3286757" cy="2511630"/>
          </a:xfrm>
          <a:prstGeom prst="rect">
            <a:avLst/>
          </a:prstGeom>
        </p:spPr>
      </p:pic>
      <p:sp>
        <p:nvSpPr>
          <p:cNvPr id="7" name="b1_55">
            <a:extLst>
              <a:ext uri="{FF2B5EF4-FFF2-40B4-BE49-F238E27FC236}">
                <a16:creationId xmlns:a16="http://schemas.microsoft.com/office/drawing/2014/main" id="{76A466B2-FF27-DF88-68B2-C7D21CD2582D}"/>
              </a:ext>
            </a:extLst>
          </p:cNvPr>
          <p:cNvSpPr txBox="1"/>
          <p:nvPr/>
        </p:nvSpPr>
        <p:spPr>
          <a:xfrm>
            <a:off x="8160925" y="3714134"/>
            <a:ext cx="2105448" cy="365760"/>
          </a:xfrm>
          <a:prstGeom prst="rect">
            <a:avLst/>
          </a:prstGeom>
          <a:noFill/>
          <a:ln>
            <a:noFill/>
          </a:ln>
        </p:spPr>
        <p:txBody>
          <a:bodyPr wrap="square" lIns="38100" tIns="38100" rIns="38100" bIns="38100" rtlCol="0" anchor="t"/>
          <a:lstStyle/>
          <a:p>
            <a:pPr marL="0" indent="0">
              <a:spcAft>
                <a:spcPts val="600"/>
              </a:spcAft>
              <a:buNone/>
            </a:pPr>
            <a:r>
              <a:rPr lang="en-US" sz="1400" dirty="0">
                <a:solidFill>
                  <a:srgbClr val="595959"/>
                </a:solidFill>
                <a:latin typeface="Calibri" pitchFamily="34" charset="0"/>
                <a:ea typeface="Calibri" pitchFamily="34" charset="-122"/>
                <a:cs typeface="Calibri" pitchFamily="34" charset="-120"/>
              </a:rPr>
              <a:t>ENIAC, announced 1946</a:t>
            </a:r>
            <a:endParaRPr lang="en-US" sz="1400" dirty="0"/>
          </a:p>
        </p:txBody>
      </p:sp>
      <p:pic>
        <p:nvPicPr>
          <p:cNvPr id="9" name="b2_56" descr="img/transistor.jpg">
            <a:extLst>
              <a:ext uri="{FF2B5EF4-FFF2-40B4-BE49-F238E27FC236}">
                <a16:creationId xmlns:a16="http://schemas.microsoft.com/office/drawing/2014/main" id="{71078A93-A2DE-82F2-3EFD-F4A42363A86C}"/>
              </a:ext>
            </a:extLst>
          </p:cNvPr>
          <p:cNvPicPr>
            <a:picLocks noChangeAspect="1"/>
          </p:cNvPicPr>
          <p:nvPr/>
        </p:nvPicPr>
        <p:blipFill>
          <a:blip r:embed="rId3"/>
          <a:stretch>
            <a:fillRect/>
          </a:stretch>
        </p:blipFill>
        <p:spPr>
          <a:xfrm>
            <a:off x="8993433" y="4205841"/>
            <a:ext cx="1621739" cy="1874842"/>
          </a:xfrm>
          <a:prstGeom prst="rect">
            <a:avLst/>
          </a:prstGeom>
        </p:spPr>
      </p:pic>
      <p:sp>
        <p:nvSpPr>
          <p:cNvPr id="10" name="b2_57">
            <a:extLst>
              <a:ext uri="{FF2B5EF4-FFF2-40B4-BE49-F238E27FC236}">
                <a16:creationId xmlns:a16="http://schemas.microsoft.com/office/drawing/2014/main" id="{325FC1B0-392B-66C6-B913-7B03142CF988}"/>
              </a:ext>
            </a:extLst>
          </p:cNvPr>
          <p:cNvSpPr txBox="1"/>
          <p:nvPr/>
        </p:nvSpPr>
        <p:spPr>
          <a:xfrm>
            <a:off x="8980933" y="6147851"/>
            <a:ext cx="2514830" cy="241915"/>
          </a:xfrm>
          <a:prstGeom prst="rect">
            <a:avLst/>
          </a:prstGeom>
          <a:noFill/>
          <a:ln>
            <a:noFill/>
          </a:ln>
        </p:spPr>
        <p:txBody>
          <a:bodyPr wrap="square" lIns="38100" tIns="38100" rIns="38100" bIns="38100" rtlCol="0" anchor="t"/>
          <a:lstStyle/>
          <a:p>
            <a:pPr marL="0" indent="0" algn="ctr">
              <a:spcAft>
                <a:spcPts val="600"/>
              </a:spcAft>
              <a:buNone/>
            </a:pPr>
            <a:r>
              <a:rPr lang="en-US" sz="1400" dirty="0">
                <a:solidFill>
                  <a:srgbClr val="595959"/>
                </a:solidFill>
                <a:latin typeface="Calibri" pitchFamily="34" charset="0"/>
                <a:ea typeface="Calibri" pitchFamily="34" charset="-122"/>
                <a:cs typeface="Calibri" pitchFamily="34" charset="-120"/>
              </a:rPr>
              <a:t>the first transistor (replica), 1947</a:t>
            </a:r>
            <a:endParaRPr lang="en-US" sz="1400" dirty="0"/>
          </a:p>
        </p:txBody>
      </p:sp>
      <p:sp>
        <p:nvSpPr>
          <p:cNvPr id="29" name="description"/>
          <p:cNvSpPr txBox="1"/>
          <p:nvPr/>
        </p:nvSpPr>
        <p:spPr>
          <a:xfrm>
            <a:off x="6812280" y="4343400"/>
            <a:ext cx="2057400" cy="1645920"/>
          </a:xfrm>
          <a:prstGeom prst="rect">
            <a:avLst/>
          </a:prstGeom>
          <a:noFill/>
        </p:spPr>
        <p:txBody>
          <a:bodyPr wrap="square" lIns="0" tIns="0" rIns="0" bIns="0" anchor="t">
            <a:spAutoFit/>
          </a:bodyPr>
          <a:lstStyle/>
          <a:p>
            <a:pPr algn="l"/>
            <a:r>
              <a:rPr sz="1400" b="0" i="0">
                <a:solidFill>
                  <a:srgbClr val="595959"/>
                </a:solidFill>
                <a:latin typeface="Calibri"/>
              </a:rPr>
              <a:t>ENIAC: about 18,000 vacuum tubes, reprogrammed by rewiring. The transistor (Bell Labs, 1947) made computers small, cheap, and reliable.</a:t>
            </a:r>
          </a:p>
        </p:txBody>
      </p:sp>
    </p:spTree>
    <p:extLst>
      <p:ext uri="{BB962C8B-B14F-4D97-AF65-F5344CB8AC3E}">
        <p14:creationId xmlns:p14="http://schemas.microsoft.com/office/powerpoint/2010/main" val="2067478249"/>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4"/>
                                        </p:tgtEl>
                                        <p:attrNameLst>
                                          <p:attrName>style.visibility</p:attrName>
                                        </p:attrNameLst>
                                      </p:cBhvr>
                                      <p:to>
                                        <p:strVal val="visible"/>
                                      </p:to>
                                    </p:set>
                                  </p:childTnLst>
                                </p:cTn>
                              </p:par>
                              <p:par>
                                <p:cTn id="7" presetID="1" presetClass="entr" presetSubtype="0" fill="hold" grpId="0" nodeType="withEffect">
                                  <p:stCondLst>
                                    <p:cond delay="0"/>
                                  </p:stCondLst>
                                  <p:childTnLst>
                                    <p:set>
                                      <p:cBhvr>
                                        <p:cTn id="8" dur="1" fill="hold">
                                          <p:stCondLst>
                                            <p:cond delay="0"/>
                                          </p:stCondLst>
                                        </p:cTn>
                                        <p:tgtEl>
                                          <p:spTgt spid="6"/>
                                        </p:tgtEl>
                                        <p:attrNameLst>
                                          <p:attrName>style.visibility</p:attrName>
                                        </p:attrNameLst>
                                      </p:cBhvr>
                                      <p:to>
                                        <p:strVal val="visible"/>
                                      </p:to>
                                    </p:set>
                                  </p:childTnLst>
                                </p:cTn>
                              </p:par>
                              <p:par>
                                <p:cTn id="9" presetID="1" presetClass="entr" presetSubtype="0" fill="hold" grpId="0" nodeType="withEffect">
                                  <p:stCondLst>
                                    <p:cond delay="0"/>
                                  </p:stCondLst>
                                  <p:childTnLst>
                                    <p:set>
                                      <p:cBhvr>
                                        <p:cTn id="10" dur="1" fill="hold">
                                          <p:stCondLst>
                                            <p:cond delay="0"/>
                                          </p:stCondLst>
                                        </p:cTn>
                                        <p:tgtEl>
                                          <p:spTgt spid="7"/>
                                        </p:tgtEl>
                                        <p:attrNameLst>
                                          <p:attrName>style.visibility</p:attrName>
                                        </p:attrNameLst>
                                      </p:cBhvr>
                                      <p:to>
                                        <p:strVal val="visible"/>
                                      </p:to>
                                    </p:set>
                                  </p:childTnLst>
                                </p:cTn>
                              </p:par>
                              <p:par>
                                <p:cTn id="11" presetID="1" presetClass="entr" presetSubtype="0" fill="hold" grpId="0" nodeType="withEffect">
                                  <p:stCondLst>
                                    <p:cond delay="0"/>
                                  </p:stCondLst>
                                  <p:childTnLst>
                                    <p:set>
                                      <p:cBhvr>
                                        <p:cTn id="12" dur="1" fill="hold">
                                          <p:stCondLst>
                                            <p:cond delay="0"/>
                                          </p:stCondLst>
                                        </p:cTn>
                                        <p:tgtEl>
                                          <p:spTgt spid="9"/>
                                        </p:tgtEl>
                                        <p:attrNameLst>
                                          <p:attrName>style.visibility</p:attrName>
                                        </p:attrNameLst>
                                      </p:cBhvr>
                                      <p:to>
                                        <p:strVal val="visible"/>
                                      </p:to>
                                    </p:set>
                                  </p:childTnLst>
                                </p:cTn>
                              </p:par>
                              <p:par>
                                <p:cTn id="13" presetID="1" presetClass="entr" presetSubtype="0" fill="hold" grpId="0" nodeType="withEffect">
                                  <p:stCondLst>
                                    <p:cond delay="0"/>
                                  </p:stCondLst>
                                  <p:childTnLst>
                                    <p:set>
                                      <p:cBhvr>
                                        <p:cTn id="14" dur="1" fill="hold">
                                          <p:stCondLst>
                                            <p:cond delay="0"/>
                                          </p:stCondLst>
                                        </p:cTn>
                                        <p:tgtEl>
                                          <p:spTgt spid="10"/>
                                        </p:tgtEl>
                                        <p:attrNameLst>
                                          <p:attrName>style.visibility</p:attrName>
                                        </p:attrNameLst>
                                      </p:cBhvr>
                                      <p:to>
                                        <p:strVal val="visible"/>
                                      </p:to>
                                    </p:set>
                                  </p:childTnLst>
                                </p:cTn>
                              </p:par>
                              <p:par>
                                <p:cTn id="15" presetID="1" presetClass="entr" presetSubtype="0" fill="hold" grpId="0" nodeType="withEffect">
                                  <p:stCondLst>
                                    <p:cond delay="0"/>
                                  </p:stCondLst>
                                  <p:childTnLst>
                                    <p:set>
                                      <p:cBhvr>
                                        <p:cTn id="16" dur="1" fill="hold">
                                          <p:stCondLst>
                                            <p:cond delay="0"/>
                                          </p:stCondLst>
                                        </p:cTn>
                                        <p:tgtEl>
                                          <p:spTgt spid="29"/>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4" grpId="0"/>
      <p:bldP spid="7" grpId="0"/>
      <p:bldP spid="10" grpId="0"/>
      <p:bldP spid="29" grpId="0"/>
    </p:bldLst>
  </p:timing>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b0_2">
            <a:extLst>
              <a:ext uri="{FF2B5EF4-FFF2-40B4-BE49-F238E27FC236}">
                <a16:creationId xmlns:a16="http://schemas.microsoft.com/office/drawing/2014/main" id="{2BEE631D-71D0-C172-CB4C-F8D514EE049F}"/>
              </a:ext>
            </a:extLst>
          </p:cNvPr>
          <p:cNvSpPr txBox="1"/>
          <p:nvPr/>
        </p:nvSpPr>
        <p:spPr>
          <a:xfrm>
            <a:off x="0" y="148566"/>
            <a:ext cx="11680992" cy="548640"/>
          </a:xfrm>
          <a:prstGeom prst="rect">
            <a:avLst/>
          </a:prstGeom>
          <a:noFill/>
          <a:ln>
            <a:noFill/>
          </a:ln>
        </p:spPr>
        <p:txBody>
          <a:bodyPr wrap="square" rtlCol="0" anchor="ctr"/>
          <a:lstStyle/>
          <a:p>
            <a:r>
              <a:rPr lang="en-US" sz="3200" b="1" dirty="0">
                <a:latin typeface="Calibri" pitchFamily="34" charset="0"/>
                <a:ea typeface="Calibri" pitchFamily="34" charset="-122"/>
                <a:cs typeface="Calibri" pitchFamily="34" charset="-120"/>
              </a:rPr>
              <a:t>From </a:t>
            </a:r>
            <a:r>
              <a:rPr lang="en-US" sz="3200" b="1" dirty="0">
                <a:solidFill>
                  <a:srgbClr val="FF0000"/>
                </a:solidFill>
                <a:latin typeface="Calibri" pitchFamily="34" charset="0"/>
                <a:ea typeface="Calibri" pitchFamily="34" charset="-122"/>
                <a:cs typeface="Calibri" pitchFamily="34" charset="-120"/>
              </a:rPr>
              <a:t>Computation</a:t>
            </a:r>
            <a:r>
              <a:rPr lang="en-US" sz="3200" b="1" dirty="0">
                <a:latin typeface="Calibri" pitchFamily="34" charset="0"/>
                <a:ea typeface="Calibri" pitchFamily="34" charset="-122"/>
                <a:cs typeface="Calibri" pitchFamily="34" charset="-120"/>
              </a:rPr>
              <a:t> to </a:t>
            </a:r>
            <a:r>
              <a:rPr lang="en-US" sz="3200" b="1" dirty="0">
                <a:solidFill>
                  <a:srgbClr val="362FEC"/>
                </a:solidFill>
                <a:latin typeface="Calibri" pitchFamily="34" charset="0"/>
                <a:ea typeface="Calibri" pitchFamily="34" charset="-122"/>
                <a:cs typeface="Calibri" pitchFamily="34" charset="-120"/>
              </a:rPr>
              <a:t>Language Models</a:t>
            </a:r>
            <a:endParaRPr lang="en-US" sz="3200" dirty="0">
              <a:solidFill>
                <a:srgbClr val="362FEC"/>
              </a:solidFill>
            </a:endParaRPr>
          </a:p>
        </p:txBody>
      </p:sp>
      <p:sp>
        <p:nvSpPr>
          <p:cNvPr id="3" name="!!computation">
            <a:extLst>
              <a:ext uri="{FF2B5EF4-FFF2-40B4-BE49-F238E27FC236}">
                <a16:creationId xmlns:a16="http://schemas.microsoft.com/office/drawing/2014/main" id="{24318C8D-4B51-C175-BBF7-28B6C807AC22}"/>
              </a:ext>
            </a:extLst>
          </p:cNvPr>
          <p:cNvSpPr txBox="1"/>
          <p:nvPr/>
        </p:nvSpPr>
        <p:spPr>
          <a:xfrm>
            <a:off x="168339" y="980102"/>
            <a:ext cx="6355080" cy="707886"/>
          </a:xfrm>
          <a:prstGeom prst="rect">
            <a:avLst/>
          </a:prstGeom>
          <a:noFill/>
        </p:spPr>
        <p:txBody>
          <a:bodyPr wrap="square" rtlCol="0">
            <a:spAutoFit/>
          </a:bodyPr>
          <a:lstStyle/>
          <a:p>
            <a:r>
              <a:rPr lang="en-US" sz="2000" dirty="0">
                <a:latin typeface="Calibri" panose="020F0502020204030204" pitchFamily="34" charset="0"/>
                <a:cs typeface="Calibri" panose="020F0502020204030204" pitchFamily="34" charset="0"/>
              </a:rPr>
              <a:t>This is taken even further by the ability to transform information: Computation.</a:t>
            </a:r>
          </a:p>
        </p:txBody>
      </p:sp>
      <p:sp>
        <p:nvSpPr>
          <p:cNvPr id="4" name="line 1936">
            <a:extLst>
              <a:ext uri="{FF2B5EF4-FFF2-40B4-BE49-F238E27FC236}">
                <a16:creationId xmlns:a16="http://schemas.microsoft.com/office/drawing/2014/main" id="{C9DF67C1-43FB-2996-59BA-F404CC84075C}"/>
              </a:ext>
            </a:extLst>
          </p:cNvPr>
          <p:cNvSpPr txBox="1"/>
          <p:nvPr/>
        </p:nvSpPr>
        <p:spPr>
          <a:xfrm>
            <a:off x="384048" y="1920240"/>
            <a:ext cx="6309360" cy="411480"/>
          </a:xfrm>
          <a:prstGeom prst="rect">
            <a:avLst/>
          </a:prstGeom>
          <a:noFill/>
          <a:ln>
            <a:noFill/>
          </a:ln>
        </p:spPr>
        <p:txBody>
          <a:bodyPr wrap="square" lIns="0" tIns="0" rIns="0" bIns="0" rtlCol="0" anchor="ctr"/>
          <a:lstStyle/>
          <a:p>
            <a:pPr marL="0" indent="0">
              <a:buNone/>
            </a:pPr>
            <a:r>
              <a:rPr lang="en-US" sz="2000" dirty="0">
                <a:solidFill>
                  <a:srgbClr val="362FEC"/>
                </a:solidFill>
                <a:latin typeface="Calibri" pitchFamily="34" charset="0"/>
                <a:ea typeface="Calibri" pitchFamily="34" charset="-122"/>
                <a:cs typeface="Calibri" pitchFamily="34" charset="-120"/>
              </a:rPr>
              <a:t>1936</a:t>
            </a:r>
            <a:r>
              <a:rPr lang="en-US" sz="2000" dirty="0">
                <a:solidFill>
                  <a:srgbClr val="000000"/>
                </a:solidFill>
                <a:latin typeface="Calibri" pitchFamily="34" charset="0"/>
                <a:ea typeface="Calibri" pitchFamily="34" charset="-122"/>
                <a:cs typeface="Calibri" pitchFamily="34" charset="-120"/>
              </a:rPr>
              <a:t>: </a:t>
            </a:r>
            <a:r>
              <a:rPr lang="en-US" sz="2000" dirty="0">
                <a:solidFill>
                  <a:srgbClr val="00B050"/>
                </a:solidFill>
                <a:latin typeface="Calibri" pitchFamily="34" charset="0"/>
                <a:ea typeface="Calibri" pitchFamily="34" charset="-122"/>
                <a:cs typeface="Calibri" pitchFamily="34" charset="-120"/>
              </a:rPr>
              <a:t>computation becomes a mathematical object</a:t>
            </a:r>
            <a:endParaRPr lang="en-US" sz="2000" dirty="0"/>
          </a:p>
        </p:txBody>
      </p:sp>
      <p:sp>
        <p:nvSpPr>
          <p:cNvPr id="5" name="line 1946">
            <a:extLst>
              <a:ext uri="{FF2B5EF4-FFF2-40B4-BE49-F238E27FC236}">
                <a16:creationId xmlns:a16="http://schemas.microsoft.com/office/drawing/2014/main" id="{C9DF67C1-43FB-2996-59BA-F404CC84075C}"/>
              </a:ext>
            </a:extLst>
          </p:cNvPr>
          <p:cNvSpPr txBox="1"/>
          <p:nvPr/>
        </p:nvSpPr>
        <p:spPr>
          <a:xfrm>
            <a:off x="384048" y="2340864"/>
            <a:ext cx="6309360" cy="411480"/>
          </a:xfrm>
          <a:prstGeom prst="rect">
            <a:avLst/>
          </a:prstGeom>
          <a:noFill/>
          <a:ln>
            <a:noFill/>
          </a:ln>
        </p:spPr>
        <p:txBody>
          <a:bodyPr wrap="square" lIns="0" tIns="0" rIns="0" bIns="0" rtlCol="0" anchor="ctr"/>
          <a:lstStyle/>
          <a:p>
            <a:pPr marL="0" indent="0">
              <a:buNone/>
            </a:pPr>
            <a:r>
              <a:rPr lang="en-US" sz="2000" dirty="0">
                <a:solidFill>
                  <a:srgbClr val="362FEC"/>
                </a:solidFill>
                <a:latin typeface="Calibri" pitchFamily="34" charset="0"/>
                <a:ea typeface="Calibri" pitchFamily="34" charset="-122"/>
                <a:cs typeface="Calibri" pitchFamily="34" charset="-120"/>
              </a:rPr>
              <a:t>1946–1947</a:t>
            </a:r>
            <a:r>
              <a:rPr lang="en-US" sz="2000" dirty="0">
                <a:solidFill>
                  <a:srgbClr val="000000"/>
                </a:solidFill>
                <a:latin typeface="Calibri" pitchFamily="34" charset="0"/>
                <a:ea typeface="Calibri" pitchFamily="34" charset="-122"/>
                <a:cs typeface="Calibri" pitchFamily="34" charset="-120"/>
              </a:rPr>
              <a:t>: </a:t>
            </a:r>
            <a:r>
              <a:rPr lang="en-US" sz="2000" dirty="0">
                <a:solidFill>
                  <a:srgbClr val="00B050"/>
                </a:solidFill>
                <a:latin typeface="Calibri" pitchFamily="34" charset="0"/>
                <a:ea typeface="Calibri" pitchFamily="34" charset="-122"/>
                <a:cs typeface="Calibri" pitchFamily="34" charset="-120"/>
              </a:rPr>
              <a:t>computers become physical objects</a:t>
            </a:r>
            <a:endParaRPr lang="en-US" sz="2000" dirty="0"/>
          </a:p>
        </p:txBody>
      </p:sp>
      <p:sp>
        <p:nvSpPr>
          <p:cNvPr id="6" name="line 1950">
            <a:extLst>
              <a:ext uri="{FF2B5EF4-FFF2-40B4-BE49-F238E27FC236}">
                <a16:creationId xmlns:a16="http://schemas.microsoft.com/office/drawing/2014/main" id="{C9DF67C1-43FB-2996-59BA-F404CC84075C}"/>
              </a:ext>
            </a:extLst>
          </p:cNvPr>
          <p:cNvSpPr txBox="1"/>
          <p:nvPr/>
        </p:nvSpPr>
        <p:spPr>
          <a:xfrm>
            <a:off x="384048" y="2761488"/>
            <a:ext cx="6309360" cy="411480"/>
          </a:xfrm>
          <a:prstGeom prst="rect">
            <a:avLst/>
          </a:prstGeom>
          <a:noFill/>
          <a:ln>
            <a:noFill/>
          </a:ln>
        </p:spPr>
        <p:txBody>
          <a:bodyPr wrap="square" lIns="0" tIns="0" rIns="0" bIns="0" rtlCol="0" anchor="ctr"/>
          <a:lstStyle/>
          <a:p>
            <a:pPr marL="0" indent="0">
              <a:buNone/>
            </a:pPr>
            <a:r>
              <a:rPr lang="en-US" sz="2000" dirty="0">
                <a:solidFill>
                  <a:srgbClr val="362FEC"/>
                </a:solidFill>
                <a:latin typeface="Calibri" pitchFamily="34" charset="0"/>
                <a:ea typeface="Calibri" pitchFamily="34" charset="-122"/>
                <a:cs typeface="Calibri" pitchFamily="34" charset="-120"/>
              </a:rPr>
              <a:t>1950</a:t>
            </a:r>
            <a:r>
              <a:rPr lang="en-US" sz="2000" dirty="0">
                <a:solidFill>
                  <a:srgbClr val="000000"/>
                </a:solidFill>
                <a:latin typeface="Calibri" pitchFamily="34" charset="0"/>
                <a:ea typeface="Calibri" pitchFamily="34" charset="-122"/>
                <a:cs typeface="Calibri" pitchFamily="34" charset="-120"/>
              </a:rPr>
              <a:t>: </a:t>
            </a:r>
            <a:r>
              <a:rPr lang="en-US" sz="2000" dirty="0">
                <a:solidFill>
                  <a:srgbClr val="00B050"/>
                </a:solidFill>
                <a:latin typeface="Calibri" pitchFamily="34" charset="0"/>
                <a:ea typeface="Calibri" pitchFamily="34" charset="-122"/>
                <a:cs typeface="Calibri" pitchFamily="34" charset="-120"/>
              </a:rPr>
              <a:t>the imitation game</a:t>
            </a:r>
            <a:endParaRPr lang="en-US" sz="2000" dirty="0"/>
          </a:p>
        </p:txBody>
      </p:sp>
      <p:grpSp>
        <p:nvGrpSpPr>
          <p:cNvPr id="7" name="imitation game"/>
          <p:cNvGrpSpPr/>
          <p:nvPr/>
        </p:nvGrpSpPr>
        <p:grpSpPr>
          <a:xfrm>
            <a:off x="6812280" y="1828800"/>
            <a:ext cx="4918556" cy="2945282"/>
            <a:chOff x="6812280" y="1828800"/>
            <a:chExt cx="4918556" cy="2945282"/>
          </a:xfrm>
        </p:grpSpPr>
        <p:pic>
          <p:nvPicPr>
            <p:cNvPr id="8" name="Picture 7" descr="user_blue.png"/>
            <p:cNvPicPr>
              <a:picLocks noChangeAspect="1"/>
            </p:cNvPicPr>
            <p:nvPr/>
          </p:nvPicPr>
          <p:blipFill>
            <a:blip r:embed="rId3"/>
            <a:stretch>
              <a:fillRect/>
            </a:stretch>
          </p:blipFill>
          <p:spPr>
            <a:xfrm>
              <a:off x="7023506" y="2432304"/>
              <a:ext cx="814730" cy="814730"/>
            </a:xfrm>
            <a:prstGeom prst="rect">
              <a:avLst/>
            </a:prstGeom>
          </p:spPr>
        </p:pic>
        <p:sp>
          <p:nvSpPr>
            <p:cNvPr id="9" name="TextBox 8"/>
            <p:cNvSpPr txBox="1"/>
            <p:nvPr/>
          </p:nvSpPr>
          <p:spPr>
            <a:xfrm>
              <a:off x="6812280" y="3277209"/>
              <a:ext cx="1267358" cy="274320"/>
            </a:xfrm>
            <a:prstGeom prst="rect">
              <a:avLst/>
            </a:prstGeom>
            <a:noFill/>
          </p:spPr>
          <p:txBody>
            <a:bodyPr wrap="square" lIns="0" tIns="0" rIns="0" bIns="0" anchor="t">
              <a:spAutoFit/>
            </a:bodyPr>
            <a:lstStyle/>
            <a:p>
              <a:pPr algn="ctr"/>
              <a:r>
                <a:rPr sz="1400" b="0" i="0">
                  <a:solidFill>
                    <a:srgbClr val="362FEC"/>
                  </a:solidFill>
                  <a:latin typeface="Calibri"/>
                </a:rPr>
                <a:t>interrogator</a:t>
              </a:r>
            </a:p>
          </p:txBody>
        </p:sp>
        <p:sp>
          <p:nvSpPr>
            <p:cNvPr id="10" name="Rectangle 9"/>
            <p:cNvSpPr/>
            <p:nvPr/>
          </p:nvSpPr>
          <p:spPr>
            <a:xfrm>
              <a:off x="9497872" y="1828800"/>
              <a:ext cx="2232964" cy="2444191"/>
            </a:xfrm>
            <a:prstGeom prst="rect">
              <a:avLst/>
            </a:prstGeom>
            <a:noFill/>
            <a:ln w="15875">
              <a:solidFill>
                <a:srgbClr val="595959"/>
              </a:solidFill>
              <a:prstDash val="dash"/>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1" name="TextBox 10"/>
            <p:cNvSpPr txBox="1"/>
            <p:nvPr/>
          </p:nvSpPr>
          <p:spPr>
            <a:xfrm>
              <a:off x="9558223" y="1858975"/>
              <a:ext cx="905256" cy="228600"/>
            </a:xfrm>
            <a:prstGeom prst="rect">
              <a:avLst/>
            </a:prstGeom>
            <a:noFill/>
          </p:spPr>
          <p:txBody>
            <a:bodyPr wrap="square" lIns="0" tIns="0" rIns="0" bIns="0" anchor="t">
              <a:spAutoFit/>
            </a:bodyPr>
            <a:lstStyle/>
            <a:p>
              <a:pPr algn="l"/>
              <a:r>
                <a:rPr sz="1200" b="0" i="1">
                  <a:solidFill>
                    <a:srgbClr val="595959"/>
                  </a:solidFill>
                  <a:latin typeface="Calibri"/>
                </a:rPr>
                <a:t>hidden</a:t>
              </a:r>
            </a:p>
          </p:txBody>
        </p:sp>
        <p:pic>
          <p:nvPicPr>
            <p:cNvPr id="12" name="Picture 11" descr="user_green.png"/>
            <p:cNvPicPr>
              <a:picLocks noChangeAspect="1"/>
            </p:cNvPicPr>
            <p:nvPr/>
          </p:nvPicPr>
          <p:blipFill>
            <a:blip r:embed="rId4"/>
            <a:stretch>
              <a:fillRect/>
            </a:stretch>
          </p:blipFill>
          <p:spPr>
            <a:xfrm>
              <a:off x="9799624" y="2100376"/>
              <a:ext cx="603504" cy="603504"/>
            </a:xfrm>
            <a:prstGeom prst="rect">
              <a:avLst/>
            </a:prstGeom>
          </p:spPr>
        </p:pic>
        <p:sp>
          <p:nvSpPr>
            <p:cNvPr id="13" name="TextBox 12"/>
            <p:cNvSpPr txBox="1"/>
            <p:nvPr/>
          </p:nvSpPr>
          <p:spPr>
            <a:xfrm>
              <a:off x="10463479" y="2281428"/>
              <a:ext cx="1207008" cy="274320"/>
            </a:xfrm>
            <a:prstGeom prst="rect">
              <a:avLst/>
            </a:prstGeom>
            <a:noFill/>
          </p:spPr>
          <p:txBody>
            <a:bodyPr wrap="square" lIns="0" tIns="0" rIns="0" bIns="0" anchor="t">
              <a:spAutoFit/>
            </a:bodyPr>
            <a:lstStyle/>
            <a:p>
              <a:pPr algn="l"/>
              <a:r>
                <a:rPr sz="1400" b="1" i="0">
                  <a:solidFill>
                    <a:srgbClr val="00843D"/>
                  </a:solidFill>
                  <a:latin typeface="Calibri"/>
                </a:rPr>
                <a:t>A:</a:t>
              </a:r>
              <a:r>
                <a:rPr sz="1400" b="0" i="0">
                  <a:solidFill>
                    <a:srgbClr val="00843D"/>
                  </a:solidFill>
                  <a:latin typeface="Calibri"/>
                </a:rPr>
                <a:t> a person</a:t>
              </a:r>
            </a:p>
          </p:txBody>
        </p:sp>
        <p:pic>
          <p:nvPicPr>
            <p:cNvPr id="14" name="Picture 13" descr="desktop_red.png"/>
            <p:cNvPicPr>
              <a:picLocks noChangeAspect="1"/>
            </p:cNvPicPr>
            <p:nvPr/>
          </p:nvPicPr>
          <p:blipFill>
            <a:blip r:embed="rId5"/>
            <a:stretch>
              <a:fillRect/>
            </a:stretch>
          </p:blipFill>
          <p:spPr>
            <a:xfrm>
              <a:off x="9799624" y="3337560"/>
              <a:ext cx="603504" cy="603504"/>
            </a:xfrm>
            <a:prstGeom prst="rect">
              <a:avLst/>
            </a:prstGeom>
          </p:spPr>
        </p:pic>
        <p:sp>
          <p:nvSpPr>
            <p:cNvPr id="15" name="TextBox 14"/>
            <p:cNvSpPr txBox="1"/>
            <p:nvPr/>
          </p:nvSpPr>
          <p:spPr>
            <a:xfrm>
              <a:off x="10463479" y="3518611"/>
              <a:ext cx="1207008" cy="274320"/>
            </a:xfrm>
            <a:prstGeom prst="rect">
              <a:avLst/>
            </a:prstGeom>
            <a:noFill/>
          </p:spPr>
          <p:txBody>
            <a:bodyPr wrap="square" lIns="0" tIns="0" rIns="0" bIns="0" anchor="t">
              <a:spAutoFit/>
            </a:bodyPr>
            <a:lstStyle/>
            <a:p>
              <a:pPr algn="l"/>
              <a:r>
                <a:rPr sz="1400" b="1" i="0">
                  <a:solidFill>
                    <a:srgbClr val="FF0000"/>
                  </a:solidFill>
                  <a:latin typeface="Calibri"/>
                </a:rPr>
                <a:t>B:</a:t>
              </a:r>
              <a:r>
                <a:rPr sz="1400" b="0" i="0">
                  <a:solidFill>
                    <a:srgbClr val="FF0000"/>
                  </a:solidFill>
                  <a:latin typeface="Calibri"/>
                </a:rPr>
                <a:t> a machine</a:t>
              </a:r>
            </a:p>
          </p:txBody>
        </p:sp>
        <p:cxnSp>
          <p:nvCxnSpPr>
            <p:cNvPr id="16" name="Connector 15"/>
            <p:cNvCxnSpPr/>
            <p:nvPr/>
          </p:nvCxnSpPr>
          <p:spPr>
            <a:xfrm flipV="1">
              <a:off x="7958937" y="2402128"/>
              <a:ext cx="1750162" cy="301752"/>
            </a:xfrm>
            <a:prstGeom prst="line">
              <a:avLst/>
            </a:prstGeom>
            <a:ln w="19050">
              <a:solidFill>
                <a:srgbClr val="362FEC"/>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17" name="Connector 16"/>
            <p:cNvCxnSpPr/>
            <p:nvPr/>
          </p:nvCxnSpPr>
          <p:spPr>
            <a:xfrm>
              <a:off x="7958937" y="2975457"/>
              <a:ext cx="1750162" cy="663855"/>
            </a:xfrm>
            <a:prstGeom prst="line">
              <a:avLst/>
            </a:prstGeom>
            <a:ln w="19050">
              <a:solidFill>
                <a:srgbClr val="362FEC"/>
              </a:solidFill>
              <a:tailEnd type="triangle" w="med" len="med"/>
            </a:ln>
          </p:spPr>
          <p:style>
            <a:lnRef idx="2">
              <a:schemeClr val="accent1"/>
            </a:lnRef>
            <a:fillRef idx="0">
              <a:schemeClr val="accent1"/>
            </a:fillRef>
            <a:effectRef idx="1">
              <a:schemeClr val="accent1"/>
            </a:effectRef>
            <a:fontRef idx="minor">
              <a:schemeClr val="tx1"/>
            </a:fontRef>
          </p:style>
        </p:cxnSp>
        <p:sp>
          <p:nvSpPr>
            <p:cNvPr id="18" name="TextBox 17"/>
            <p:cNvSpPr txBox="1"/>
            <p:nvPr/>
          </p:nvSpPr>
          <p:spPr>
            <a:xfrm>
              <a:off x="8049463" y="2190902"/>
              <a:ext cx="1448409" cy="274320"/>
            </a:xfrm>
            <a:prstGeom prst="rect">
              <a:avLst/>
            </a:prstGeom>
            <a:noFill/>
          </p:spPr>
          <p:txBody>
            <a:bodyPr wrap="square" lIns="0" tIns="0" rIns="0" bIns="0" anchor="t">
              <a:spAutoFit/>
            </a:bodyPr>
            <a:lstStyle/>
            <a:p>
              <a:pPr algn="l"/>
              <a:r>
                <a:rPr sz="1200" b="0" i="0">
                  <a:solidFill>
                    <a:srgbClr val="362FEC"/>
                  </a:solidFill>
                  <a:latin typeface="Calibri"/>
                </a:rPr>
                <a:t>typed questions</a:t>
              </a:r>
            </a:p>
          </p:txBody>
        </p:sp>
        <p:sp>
          <p:nvSpPr>
            <p:cNvPr id="19" name="TextBox 18"/>
            <p:cNvSpPr txBox="1"/>
            <p:nvPr/>
          </p:nvSpPr>
          <p:spPr>
            <a:xfrm>
              <a:off x="6812280" y="4454042"/>
              <a:ext cx="4888382" cy="320040"/>
            </a:xfrm>
            <a:prstGeom prst="rect">
              <a:avLst/>
            </a:prstGeom>
            <a:noFill/>
          </p:spPr>
          <p:txBody>
            <a:bodyPr wrap="square" lIns="0" tIns="0" rIns="0" bIns="0" anchor="t">
              <a:spAutoFit/>
            </a:bodyPr>
            <a:lstStyle/>
            <a:p>
              <a:pPr algn="ctr"/>
              <a:r>
                <a:rPr sz="1600" b="1" i="0">
                  <a:solidFill>
                    <a:srgbClr val="000000"/>
                  </a:solidFill>
                  <a:latin typeface="Calibri"/>
                </a:rPr>
                <a:t>Which one is the machine?</a:t>
              </a:r>
            </a:p>
          </p:txBody>
        </p:sp>
      </p:grpSp>
      <p:sp>
        <p:nvSpPr>
          <p:cNvPr id="20" name="description"/>
          <p:cNvSpPr txBox="1"/>
          <p:nvPr/>
        </p:nvSpPr>
        <p:spPr>
          <a:xfrm>
            <a:off x="6812280" y="5029200"/>
            <a:ext cx="5120640" cy="502920"/>
          </a:xfrm>
          <a:prstGeom prst="rect">
            <a:avLst/>
          </a:prstGeom>
          <a:noFill/>
        </p:spPr>
        <p:txBody>
          <a:bodyPr wrap="square" lIns="0" tIns="0" rIns="0" bIns="0" anchor="t">
            <a:spAutoFit/>
          </a:bodyPr>
          <a:lstStyle/>
          <a:p>
            <a:pPr algn="l"/>
            <a:r>
              <a:rPr sz="1400" b="0" i="0">
                <a:solidFill>
                  <a:srgbClr val="595959"/>
                </a:solidFill>
                <a:latin typeface="Calibri"/>
              </a:rPr>
              <a:t>Typed conversation only. If the interrogator cannot reliably tell which is the machine, the machine passes.</a:t>
            </a:r>
          </a:p>
        </p:txBody>
      </p:sp>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6"/>
                                        </p:tgtEl>
                                        <p:attrNameLst>
                                          <p:attrName>style.visibility</p:attrName>
                                        </p:attrNameLst>
                                      </p:cBhvr>
                                      <p:to>
                                        <p:strVal val="visible"/>
                                      </p:to>
                                    </p:set>
                                  </p:childTnLst>
                                </p:cTn>
                              </p:par>
                              <p:par>
                                <p:cTn id="7" presetID="1" presetClass="entr" presetSubtype="0" fill="hold" grpId="0" nodeType="withEffect">
                                  <p:stCondLst>
                                    <p:cond delay="0"/>
                                  </p:stCondLst>
                                  <p:childTnLst>
                                    <p:set>
                                      <p:cBhvr>
                                        <p:cTn id="8" dur="1" fill="hold">
                                          <p:stCondLst>
                                            <p:cond delay="0"/>
                                          </p:stCondLst>
                                        </p:cTn>
                                        <p:tgtEl>
                                          <p:spTgt spid="7"/>
                                        </p:tgtEl>
                                        <p:attrNameLst>
                                          <p:attrName>style.visibility</p:attrName>
                                        </p:attrNameLst>
                                      </p:cBhvr>
                                      <p:to>
                                        <p:strVal val="visible"/>
                                      </p:to>
                                    </p:set>
                                  </p:childTnLst>
                                </p:cTn>
                              </p:par>
                              <p:par>
                                <p:cTn id="9" presetID="1" presetClass="entr" presetSubtype="0" fill="hold" grpId="0" nodeType="withEffect">
                                  <p:stCondLst>
                                    <p:cond delay="0"/>
                                  </p:stCondLst>
                                  <p:childTnLst>
                                    <p:set>
                                      <p:cBhvr>
                                        <p:cTn id="10" dur="1" fill="hold">
                                          <p:stCondLst>
                                            <p:cond delay="0"/>
                                          </p:stCondLst>
                                        </p:cTn>
                                        <p:tgtEl>
                                          <p:spTgt spid="20"/>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6" grpId="0"/>
      <p:bldP spid="20" grpId="0"/>
    </p:bldLst>
  </p:timing>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b0_2">
            <a:extLst>
              <a:ext uri="{FF2B5EF4-FFF2-40B4-BE49-F238E27FC236}">
                <a16:creationId xmlns:a16="http://schemas.microsoft.com/office/drawing/2014/main" id="{2BEE631D-71D0-C172-CB4C-F8D514EE049F}"/>
              </a:ext>
            </a:extLst>
          </p:cNvPr>
          <p:cNvSpPr txBox="1"/>
          <p:nvPr/>
        </p:nvSpPr>
        <p:spPr>
          <a:xfrm>
            <a:off x="0" y="148566"/>
            <a:ext cx="11680992" cy="548640"/>
          </a:xfrm>
          <a:prstGeom prst="rect">
            <a:avLst/>
          </a:prstGeom>
          <a:noFill/>
          <a:ln>
            <a:noFill/>
          </a:ln>
        </p:spPr>
        <p:txBody>
          <a:bodyPr wrap="square" rtlCol="0" anchor="ctr"/>
          <a:lstStyle/>
          <a:p>
            <a:r>
              <a:rPr lang="en-US" sz="3200" b="1" dirty="0">
                <a:latin typeface="Calibri" pitchFamily="34" charset="0"/>
                <a:ea typeface="Calibri" pitchFamily="34" charset="-122"/>
                <a:cs typeface="Calibri" pitchFamily="34" charset="-120"/>
              </a:rPr>
              <a:t>From </a:t>
            </a:r>
            <a:r>
              <a:rPr lang="en-US" sz="3200" b="1" dirty="0">
                <a:solidFill>
                  <a:srgbClr val="FF0000"/>
                </a:solidFill>
                <a:latin typeface="Calibri" pitchFamily="34" charset="0"/>
                <a:ea typeface="Calibri" pitchFamily="34" charset="-122"/>
                <a:cs typeface="Calibri" pitchFamily="34" charset="-120"/>
              </a:rPr>
              <a:t>Computation</a:t>
            </a:r>
            <a:r>
              <a:rPr lang="en-US" sz="3200" b="1" dirty="0">
                <a:latin typeface="Calibri" pitchFamily="34" charset="0"/>
                <a:ea typeface="Calibri" pitchFamily="34" charset="-122"/>
                <a:cs typeface="Calibri" pitchFamily="34" charset="-120"/>
              </a:rPr>
              <a:t> to </a:t>
            </a:r>
            <a:r>
              <a:rPr lang="en-US" sz="3200" b="1" dirty="0">
                <a:solidFill>
                  <a:srgbClr val="362FEC"/>
                </a:solidFill>
                <a:latin typeface="Calibri" pitchFamily="34" charset="0"/>
                <a:ea typeface="Calibri" pitchFamily="34" charset="-122"/>
                <a:cs typeface="Calibri" pitchFamily="34" charset="-120"/>
              </a:rPr>
              <a:t>Language Models</a:t>
            </a:r>
            <a:endParaRPr lang="en-US" sz="3200" dirty="0">
              <a:solidFill>
                <a:srgbClr val="362FEC"/>
              </a:solidFill>
            </a:endParaRPr>
          </a:p>
        </p:txBody>
      </p:sp>
      <p:sp>
        <p:nvSpPr>
          <p:cNvPr id="3" name="!!computation">
            <a:extLst>
              <a:ext uri="{FF2B5EF4-FFF2-40B4-BE49-F238E27FC236}">
                <a16:creationId xmlns:a16="http://schemas.microsoft.com/office/drawing/2014/main" id="{24318C8D-4B51-C175-BBF7-28B6C807AC22}"/>
              </a:ext>
            </a:extLst>
          </p:cNvPr>
          <p:cNvSpPr txBox="1"/>
          <p:nvPr/>
        </p:nvSpPr>
        <p:spPr>
          <a:xfrm>
            <a:off x="168339" y="980102"/>
            <a:ext cx="6355080" cy="707886"/>
          </a:xfrm>
          <a:prstGeom prst="rect">
            <a:avLst/>
          </a:prstGeom>
          <a:noFill/>
        </p:spPr>
        <p:txBody>
          <a:bodyPr wrap="square" rtlCol="0">
            <a:spAutoFit/>
          </a:bodyPr>
          <a:lstStyle/>
          <a:p>
            <a:r>
              <a:rPr lang="en-US" sz="2000" dirty="0">
                <a:latin typeface="Calibri" panose="020F0502020204030204" pitchFamily="34" charset="0"/>
                <a:cs typeface="Calibri" panose="020F0502020204030204" pitchFamily="34" charset="0"/>
              </a:rPr>
              <a:t>This is taken even further by the ability to transform information: Computation.</a:t>
            </a:r>
          </a:p>
        </p:txBody>
      </p:sp>
      <p:sp>
        <p:nvSpPr>
          <p:cNvPr id="4" name="line 1936">
            <a:extLst>
              <a:ext uri="{FF2B5EF4-FFF2-40B4-BE49-F238E27FC236}">
                <a16:creationId xmlns:a16="http://schemas.microsoft.com/office/drawing/2014/main" id="{C9DF67C1-43FB-2996-59BA-F404CC84075C}"/>
              </a:ext>
            </a:extLst>
          </p:cNvPr>
          <p:cNvSpPr txBox="1"/>
          <p:nvPr/>
        </p:nvSpPr>
        <p:spPr>
          <a:xfrm>
            <a:off x="384048" y="1920240"/>
            <a:ext cx="6309360" cy="411480"/>
          </a:xfrm>
          <a:prstGeom prst="rect">
            <a:avLst/>
          </a:prstGeom>
          <a:noFill/>
          <a:ln>
            <a:noFill/>
          </a:ln>
        </p:spPr>
        <p:txBody>
          <a:bodyPr wrap="square" lIns="0" tIns="0" rIns="0" bIns="0" rtlCol="0" anchor="ctr"/>
          <a:lstStyle/>
          <a:p>
            <a:pPr marL="0" indent="0">
              <a:buNone/>
            </a:pPr>
            <a:r>
              <a:rPr lang="en-US" sz="2000" dirty="0">
                <a:solidFill>
                  <a:srgbClr val="362FEC"/>
                </a:solidFill>
                <a:latin typeface="Calibri" pitchFamily="34" charset="0"/>
                <a:ea typeface="Calibri" pitchFamily="34" charset="-122"/>
                <a:cs typeface="Calibri" pitchFamily="34" charset="-120"/>
              </a:rPr>
              <a:t>1936</a:t>
            </a:r>
            <a:r>
              <a:rPr lang="en-US" sz="2000" dirty="0">
                <a:solidFill>
                  <a:srgbClr val="000000"/>
                </a:solidFill>
                <a:latin typeface="Calibri" pitchFamily="34" charset="0"/>
                <a:ea typeface="Calibri" pitchFamily="34" charset="-122"/>
                <a:cs typeface="Calibri" pitchFamily="34" charset="-120"/>
              </a:rPr>
              <a:t>: </a:t>
            </a:r>
            <a:r>
              <a:rPr lang="en-US" sz="2000" dirty="0">
                <a:solidFill>
                  <a:srgbClr val="00B050"/>
                </a:solidFill>
                <a:latin typeface="Calibri" pitchFamily="34" charset="0"/>
                <a:ea typeface="Calibri" pitchFamily="34" charset="-122"/>
                <a:cs typeface="Calibri" pitchFamily="34" charset="-120"/>
              </a:rPr>
              <a:t>computation becomes a mathematical object</a:t>
            </a:r>
            <a:endParaRPr lang="en-US" sz="2000" dirty="0"/>
          </a:p>
        </p:txBody>
      </p:sp>
      <p:sp>
        <p:nvSpPr>
          <p:cNvPr id="5" name="line 1946">
            <a:extLst>
              <a:ext uri="{FF2B5EF4-FFF2-40B4-BE49-F238E27FC236}">
                <a16:creationId xmlns:a16="http://schemas.microsoft.com/office/drawing/2014/main" id="{C9DF67C1-43FB-2996-59BA-F404CC84075C}"/>
              </a:ext>
            </a:extLst>
          </p:cNvPr>
          <p:cNvSpPr txBox="1"/>
          <p:nvPr/>
        </p:nvSpPr>
        <p:spPr>
          <a:xfrm>
            <a:off x="384048" y="2340864"/>
            <a:ext cx="6309360" cy="411480"/>
          </a:xfrm>
          <a:prstGeom prst="rect">
            <a:avLst/>
          </a:prstGeom>
          <a:noFill/>
          <a:ln>
            <a:noFill/>
          </a:ln>
        </p:spPr>
        <p:txBody>
          <a:bodyPr wrap="square" lIns="0" tIns="0" rIns="0" bIns="0" rtlCol="0" anchor="ctr"/>
          <a:lstStyle/>
          <a:p>
            <a:pPr marL="0" indent="0">
              <a:buNone/>
            </a:pPr>
            <a:r>
              <a:rPr lang="en-US" sz="2000" dirty="0">
                <a:solidFill>
                  <a:srgbClr val="362FEC"/>
                </a:solidFill>
                <a:latin typeface="Calibri" pitchFamily="34" charset="0"/>
                <a:ea typeface="Calibri" pitchFamily="34" charset="-122"/>
                <a:cs typeface="Calibri" pitchFamily="34" charset="-120"/>
              </a:rPr>
              <a:t>1946–1947</a:t>
            </a:r>
            <a:r>
              <a:rPr lang="en-US" sz="2000" dirty="0">
                <a:solidFill>
                  <a:srgbClr val="000000"/>
                </a:solidFill>
                <a:latin typeface="Calibri" pitchFamily="34" charset="0"/>
                <a:ea typeface="Calibri" pitchFamily="34" charset="-122"/>
                <a:cs typeface="Calibri" pitchFamily="34" charset="-120"/>
              </a:rPr>
              <a:t>: </a:t>
            </a:r>
            <a:r>
              <a:rPr lang="en-US" sz="2000" dirty="0">
                <a:solidFill>
                  <a:srgbClr val="00B050"/>
                </a:solidFill>
                <a:latin typeface="Calibri" pitchFamily="34" charset="0"/>
                <a:ea typeface="Calibri" pitchFamily="34" charset="-122"/>
                <a:cs typeface="Calibri" pitchFamily="34" charset="-120"/>
              </a:rPr>
              <a:t>computers become physical objects</a:t>
            </a:r>
            <a:endParaRPr lang="en-US" sz="2000" dirty="0"/>
          </a:p>
        </p:txBody>
      </p:sp>
      <p:sp>
        <p:nvSpPr>
          <p:cNvPr id="6" name="line 1950">
            <a:extLst>
              <a:ext uri="{FF2B5EF4-FFF2-40B4-BE49-F238E27FC236}">
                <a16:creationId xmlns:a16="http://schemas.microsoft.com/office/drawing/2014/main" id="{C9DF67C1-43FB-2996-59BA-F404CC84075C}"/>
              </a:ext>
            </a:extLst>
          </p:cNvPr>
          <p:cNvSpPr txBox="1"/>
          <p:nvPr/>
        </p:nvSpPr>
        <p:spPr>
          <a:xfrm>
            <a:off x="384048" y="2761488"/>
            <a:ext cx="6309360" cy="411480"/>
          </a:xfrm>
          <a:prstGeom prst="rect">
            <a:avLst/>
          </a:prstGeom>
          <a:noFill/>
          <a:ln>
            <a:noFill/>
          </a:ln>
        </p:spPr>
        <p:txBody>
          <a:bodyPr wrap="square" lIns="0" tIns="0" rIns="0" bIns="0" rtlCol="0" anchor="ctr"/>
          <a:lstStyle/>
          <a:p>
            <a:pPr marL="0" indent="0">
              <a:buNone/>
            </a:pPr>
            <a:r>
              <a:rPr lang="en-US" sz="2000" dirty="0">
                <a:solidFill>
                  <a:srgbClr val="362FEC"/>
                </a:solidFill>
                <a:latin typeface="Calibri" pitchFamily="34" charset="0"/>
                <a:ea typeface="Calibri" pitchFamily="34" charset="-122"/>
                <a:cs typeface="Calibri" pitchFamily="34" charset="-120"/>
              </a:rPr>
              <a:t>1950</a:t>
            </a:r>
            <a:r>
              <a:rPr lang="en-US" sz="2000" dirty="0">
                <a:solidFill>
                  <a:srgbClr val="000000"/>
                </a:solidFill>
                <a:latin typeface="Calibri" pitchFamily="34" charset="0"/>
                <a:ea typeface="Calibri" pitchFamily="34" charset="-122"/>
                <a:cs typeface="Calibri" pitchFamily="34" charset="-120"/>
              </a:rPr>
              <a:t>: </a:t>
            </a:r>
            <a:r>
              <a:rPr lang="en-US" sz="2000" dirty="0">
                <a:solidFill>
                  <a:srgbClr val="00B050"/>
                </a:solidFill>
                <a:latin typeface="Calibri" pitchFamily="34" charset="0"/>
                <a:ea typeface="Calibri" pitchFamily="34" charset="-122"/>
                <a:cs typeface="Calibri" pitchFamily="34" charset="-120"/>
              </a:rPr>
              <a:t>the imitation game</a:t>
            </a:r>
            <a:endParaRPr lang="en-US" sz="2000" dirty="0"/>
          </a:p>
        </p:txBody>
      </p:sp>
      <p:sp>
        <p:nvSpPr>
          <p:cNvPr id="7" name="line 1955">
            <a:extLst>
              <a:ext uri="{FF2B5EF4-FFF2-40B4-BE49-F238E27FC236}">
                <a16:creationId xmlns:a16="http://schemas.microsoft.com/office/drawing/2014/main" id="{C9DF67C1-43FB-2996-59BA-F404CC84075C}"/>
              </a:ext>
            </a:extLst>
          </p:cNvPr>
          <p:cNvSpPr txBox="1"/>
          <p:nvPr/>
        </p:nvSpPr>
        <p:spPr>
          <a:xfrm>
            <a:off x="384048" y="3182112"/>
            <a:ext cx="6309360" cy="411480"/>
          </a:xfrm>
          <a:prstGeom prst="rect">
            <a:avLst/>
          </a:prstGeom>
          <a:noFill/>
          <a:ln>
            <a:noFill/>
          </a:ln>
        </p:spPr>
        <p:txBody>
          <a:bodyPr wrap="square" lIns="0" tIns="0" rIns="0" bIns="0" rtlCol="0" anchor="ctr"/>
          <a:lstStyle/>
          <a:p>
            <a:pPr marL="0" indent="0">
              <a:buNone/>
            </a:pPr>
            <a:r>
              <a:rPr lang="en-US" sz="2000" dirty="0">
                <a:solidFill>
                  <a:srgbClr val="362FEC"/>
                </a:solidFill>
                <a:latin typeface="Calibri" pitchFamily="34" charset="0"/>
                <a:ea typeface="Calibri" pitchFamily="34" charset="-122"/>
                <a:cs typeface="Calibri" pitchFamily="34" charset="-120"/>
              </a:rPr>
              <a:t>1955–1956</a:t>
            </a:r>
            <a:r>
              <a:rPr lang="en-US" sz="2000" dirty="0">
                <a:solidFill>
                  <a:srgbClr val="000000"/>
                </a:solidFill>
                <a:latin typeface="Calibri" pitchFamily="34" charset="0"/>
                <a:ea typeface="Calibri" pitchFamily="34" charset="-122"/>
                <a:cs typeface="Calibri" pitchFamily="34" charset="-120"/>
              </a:rPr>
              <a:t>: </a:t>
            </a:r>
            <a:r>
              <a:rPr lang="en-US" sz="2000" dirty="0">
                <a:solidFill>
                  <a:srgbClr val="00B050"/>
                </a:solidFill>
                <a:latin typeface="Calibri" pitchFamily="34" charset="0"/>
                <a:ea typeface="Calibri" pitchFamily="34" charset="-122"/>
                <a:cs typeface="Calibri" pitchFamily="34" charset="-120"/>
              </a:rPr>
              <a:t>artificial intelligence gets a name</a:t>
            </a:r>
            <a:endParaRPr lang="en-US" sz="2000" dirty="0"/>
          </a:p>
        </p:txBody>
      </p:sp>
      <p:sp>
        <p:nvSpPr>
          <p:cNvPr id="8" name="Dartmouth quote"/>
          <p:cNvSpPr/>
          <p:nvPr/>
        </p:nvSpPr>
        <p:spPr>
          <a:xfrm>
            <a:off x="6812280" y="1188720"/>
            <a:ext cx="5120640" cy="1600200"/>
          </a:xfrm>
          <a:prstGeom prst="roundRect">
            <a:avLst>
              <a:gd name="adj" fmla="val 12000"/>
            </a:avLst>
          </a:prstGeom>
          <a:solidFill>
            <a:srgbClr val="E3E2FD"/>
          </a:solidFill>
          <a:ln>
            <a:noFill/>
          </a:ln>
        </p:spPr>
        <p:style>
          <a:lnRef idx="1">
            <a:schemeClr val="accent1"/>
          </a:lnRef>
          <a:fillRef idx="3">
            <a:schemeClr val="accent1"/>
          </a:fillRef>
          <a:effectRef idx="2">
            <a:schemeClr val="accent1"/>
          </a:effectRef>
          <a:fontRef idx="minor">
            <a:schemeClr val="lt1"/>
          </a:fontRef>
        </p:style>
        <p:txBody>
          <a:bodyPr wrap="square" lIns="182880" rIns="182880" rtlCol="0" anchor="ctr"/>
          <a:lstStyle/>
          <a:p>
            <a:pPr algn="l"/>
            <a:r>
              <a:rPr sz="1800" b="0" i="1">
                <a:solidFill>
                  <a:srgbClr val="000000"/>
                </a:solidFill>
                <a:latin typeface="Calibri"/>
              </a:rPr>
              <a:t>“Every aspect of learning or any other feature of intelligence can in principle be so precisely described that a machine can be made to simulate it.”</a:t>
            </a:r>
          </a:p>
          <a:p>
            <a:pPr algn="r"/>
            <a:r>
              <a:rPr sz="1400">
                <a:solidFill>
                  <a:srgbClr val="595959"/>
                </a:solidFill>
                <a:latin typeface="Calibri"/>
              </a:rPr>
              <a:t>the Dartmouth proposal, 1955</a:t>
            </a:r>
          </a:p>
        </p:txBody>
      </p:sp>
      <p:grpSp>
        <p:nvGrpSpPr>
          <p:cNvPr id="9" name="Dartmouth proposers"/>
          <p:cNvGrpSpPr/>
          <p:nvPr/>
        </p:nvGrpSpPr>
        <p:grpSpPr>
          <a:xfrm>
            <a:off x="6812280" y="3108960"/>
            <a:ext cx="5120640" cy="2514600"/>
            <a:chOff x="6812280" y="3108960"/>
            <a:chExt cx="5120640" cy="2514600"/>
          </a:xfrm>
        </p:grpSpPr>
        <p:pic>
          <p:nvPicPr>
            <p:cNvPr id="10" name="Picture 9" descr="mccarthy.jpg"/>
            <p:cNvPicPr>
              <a:picLocks noChangeAspect="1"/>
            </p:cNvPicPr>
            <p:nvPr/>
          </p:nvPicPr>
          <p:blipFill>
            <a:blip r:embed="rId3"/>
            <a:stretch>
              <a:fillRect/>
            </a:stretch>
          </p:blipFill>
          <p:spPr>
            <a:xfrm>
              <a:off x="7040880" y="3108960"/>
              <a:ext cx="1463040" cy="1694640"/>
            </a:xfrm>
            <a:prstGeom prst="rect">
              <a:avLst/>
            </a:prstGeom>
          </p:spPr>
        </p:pic>
        <p:sp>
          <p:nvSpPr>
            <p:cNvPr id="11" name="TextBox 10"/>
            <p:cNvSpPr txBox="1"/>
            <p:nvPr/>
          </p:nvSpPr>
          <p:spPr>
            <a:xfrm>
              <a:off x="6949440" y="4858464"/>
              <a:ext cx="1645920" cy="274320"/>
            </a:xfrm>
            <a:prstGeom prst="rect">
              <a:avLst/>
            </a:prstGeom>
            <a:noFill/>
          </p:spPr>
          <p:txBody>
            <a:bodyPr wrap="square" lIns="0" tIns="0" rIns="0" bIns="0" anchor="t">
              <a:spAutoFit/>
            </a:bodyPr>
            <a:lstStyle/>
            <a:p>
              <a:pPr algn="ctr"/>
              <a:r>
                <a:rPr sz="1400" b="0" i="0">
                  <a:solidFill>
                    <a:srgbClr val="595959"/>
                  </a:solidFill>
                  <a:latin typeface="Calibri"/>
                </a:rPr>
                <a:t>John McCarthy</a:t>
              </a:r>
            </a:p>
          </p:txBody>
        </p:sp>
        <p:pic>
          <p:nvPicPr>
            <p:cNvPr id="12" name="Picture 11" descr="minsky.jpg"/>
            <p:cNvPicPr>
              <a:picLocks noChangeAspect="1"/>
            </p:cNvPicPr>
            <p:nvPr/>
          </p:nvPicPr>
          <p:blipFill>
            <a:blip r:embed="rId4"/>
            <a:stretch>
              <a:fillRect/>
            </a:stretch>
          </p:blipFill>
          <p:spPr>
            <a:xfrm>
              <a:off x="8686800" y="3108960"/>
              <a:ext cx="1463040" cy="1464468"/>
            </a:xfrm>
            <a:prstGeom prst="rect">
              <a:avLst/>
            </a:prstGeom>
          </p:spPr>
        </p:pic>
        <p:sp>
          <p:nvSpPr>
            <p:cNvPr id="13" name="TextBox 12"/>
            <p:cNvSpPr txBox="1"/>
            <p:nvPr/>
          </p:nvSpPr>
          <p:spPr>
            <a:xfrm>
              <a:off x="8595360" y="4628292"/>
              <a:ext cx="1645920" cy="274320"/>
            </a:xfrm>
            <a:prstGeom prst="rect">
              <a:avLst/>
            </a:prstGeom>
            <a:noFill/>
          </p:spPr>
          <p:txBody>
            <a:bodyPr wrap="square" lIns="0" tIns="0" rIns="0" bIns="0" anchor="t">
              <a:spAutoFit/>
            </a:bodyPr>
            <a:lstStyle/>
            <a:p>
              <a:pPr algn="ctr"/>
              <a:r>
                <a:rPr sz="1400" b="0" i="0">
                  <a:solidFill>
                    <a:srgbClr val="595959"/>
                  </a:solidFill>
                  <a:latin typeface="Calibri"/>
                </a:rPr>
                <a:t>Marvin Minsky</a:t>
              </a:r>
            </a:p>
          </p:txBody>
        </p:sp>
        <p:pic>
          <p:nvPicPr>
            <p:cNvPr id="14" name="Picture 13" descr="shannon.jpg"/>
            <p:cNvPicPr>
              <a:picLocks noChangeAspect="1"/>
            </p:cNvPicPr>
            <p:nvPr/>
          </p:nvPicPr>
          <p:blipFill>
            <a:blip r:embed="rId5"/>
            <a:stretch>
              <a:fillRect/>
            </a:stretch>
          </p:blipFill>
          <p:spPr>
            <a:xfrm>
              <a:off x="10431246" y="3108960"/>
              <a:ext cx="1265986" cy="1783080"/>
            </a:xfrm>
            <a:prstGeom prst="rect">
              <a:avLst/>
            </a:prstGeom>
          </p:spPr>
        </p:pic>
        <p:sp>
          <p:nvSpPr>
            <p:cNvPr id="15" name="TextBox 14"/>
            <p:cNvSpPr txBox="1"/>
            <p:nvPr/>
          </p:nvSpPr>
          <p:spPr>
            <a:xfrm>
              <a:off x="10241280" y="4946903"/>
              <a:ext cx="1645920" cy="274320"/>
            </a:xfrm>
            <a:prstGeom prst="rect">
              <a:avLst/>
            </a:prstGeom>
            <a:noFill/>
          </p:spPr>
          <p:txBody>
            <a:bodyPr wrap="square" lIns="0" tIns="0" rIns="0" bIns="0" anchor="t">
              <a:spAutoFit/>
            </a:bodyPr>
            <a:lstStyle/>
            <a:p>
              <a:pPr algn="ctr"/>
              <a:r>
                <a:rPr sz="1400" b="0" i="0">
                  <a:solidFill>
                    <a:srgbClr val="595959"/>
                  </a:solidFill>
                  <a:latin typeface="Calibri"/>
                </a:rPr>
                <a:t>Claude Shannon</a:t>
              </a:r>
            </a:p>
          </p:txBody>
        </p:sp>
        <p:sp>
          <p:nvSpPr>
            <p:cNvPr id="16" name="TextBox 15"/>
            <p:cNvSpPr txBox="1"/>
            <p:nvPr/>
          </p:nvSpPr>
          <p:spPr>
            <a:xfrm>
              <a:off x="6812280" y="5349240"/>
              <a:ext cx="5120640" cy="274320"/>
            </a:xfrm>
            <a:prstGeom prst="rect">
              <a:avLst/>
            </a:prstGeom>
            <a:noFill/>
          </p:spPr>
          <p:txBody>
            <a:bodyPr wrap="square" lIns="0" tIns="0" rIns="0" bIns="0" anchor="t">
              <a:spAutoFit/>
            </a:bodyPr>
            <a:lstStyle/>
            <a:p>
              <a:pPr algn="ctr"/>
              <a:r>
                <a:rPr sz="1400" b="0" i="0">
                  <a:solidFill>
                    <a:srgbClr val="595959"/>
                  </a:solidFill>
                  <a:latin typeface="Calibri"/>
                </a:rPr>
                <a:t>with Nathaniel Rochester of IBM, the fourth author</a:t>
              </a:r>
            </a:p>
          </p:txBody>
        </p:sp>
      </p:grpSp>
      <p:sp>
        <p:nvSpPr>
          <p:cNvPr id="17" name="description"/>
          <p:cNvSpPr txBox="1"/>
          <p:nvPr/>
        </p:nvSpPr>
        <p:spPr>
          <a:xfrm>
            <a:off x="6812280" y="5806440"/>
            <a:ext cx="5120640" cy="502920"/>
          </a:xfrm>
          <a:prstGeom prst="rect">
            <a:avLst/>
          </a:prstGeom>
          <a:noFill/>
        </p:spPr>
        <p:txBody>
          <a:bodyPr wrap="square" lIns="0" tIns="0" rIns="0" bIns="0" anchor="t">
            <a:spAutoFit/>
          </a:bodyPr>
          <a:lstStyle/>
          <a:p>
            <a:pPr algn="l"/>
            <a:r>
              <a:rPr sz="1400" b="0" i="0">
                <a:solidFill>
                  <a:srgbClr val="595959"/>
                </a:solidFill>
                <a:latin typeface="Calibri"/>
              </a:rPr>
              <a:t>The proposal (August 1955) coined the name “artificial intelligence”; the summer workshop of 1956 started the field.</a:t>
            </a:r>
          </a:p>
        </p:txBody>
      </p:sp>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7"/>
                                        </p:tgtEl>
                                        <p:attrNameLst>
                                          <p:attrName>style.visibility</p:attrName>
                                        </p:attrNameLst>
                                      </p:cBhvr>
                                      <p:to>
                                        <p:strVal val="visible"/>
                                      </p:to>
                                    </p:set>
                                  </p:childTnLst>
                                </p:cTn>
                              </p:par>
                              <p:par>
                                <p:cTn id="7" presetID="1" presetClass="entr" presetSubtype="0" fill="hold" grpId="0" nodeType="withEffect">
                                  <p:stCondLst>
                                    <p:cond delay="0"/>
                                  </p:stCondLst>
                                  <p:childTnLst>
                                    <p:set>
                                      <p:cBhvr>
                                        <p:cTn id="8" dur="1" fill="hold">
                                          <p:stCondLst>
                                            <p:cond delay="0"/>
                                          </p:stCondLst>
                                        </p:cTn>
                                        <p:tgtEl>
                                          <p:spTgt spid="8"/>
                                        </p:tgtEl>
                                        <p:attrNameLst>
                                          <p:attrName>style.visibility</p:attrName>
                                        </p:attrNameLst>
                                      </p:cBhvr>
                                      <p:to>
                                        <p:strVal val="visible"/>
                                      </p:to>
                                    </p:set>
                                  </p:childTnLst>
                                </p:cTn>
                              </p:par>
                              <p:par>
                                <p:cTn id="9" presetID="1" presetClass="entr" presetSubtype="0" fill="hold" grpId="0" nodeType="withEffect">
                                  <p:stCondLst>
                                    <p:cond delay="0"/>
                                  </p:stCondLst>
                                  <p:childTnLst>
                                    <p:set>
                                      <p:cBhvr>
                                        <p:cTn id="10" dur="1" fill="hold">
                                          <p:stCondLst>
                                            <p:cond delay="0"/>
                                          </p:stCondLst>
                                        </p:cTn>
                                        <p:tgtEl>
                                          <p:spTgt spid="9"/>
                                        </p:tgtEl>
                                        <p:attrNameLst>
                                          <p:attrName>style.visibility</p:attrName>
                                        </p:attrNameLst>
                                      </p:cBhvr>
                                      <p:to>
                                        <p:strVal val="visible"/>
                                      </p:to>
                                    </p:set>
                                  </p:childTnLst>
                                </p:cTn>
                              </p:par>
                              <p:par>
                                <p:cTn id="11" presetID="1" presetClass="entr" presetSubtype="0" fill="hold" grpId="0" nodeType="withEffect">
                                  <p:stCondLst>
                                    <p:cond delay="0"/>
                                  </p:stCondLst>
                                  <p:childTnLst>
                                    <p:set>
                                      <p:cBhvr>
                                        <p:cTn id="12" dur="1" fill="hold">
                                          <p:stCondLst>
                                            <p:cond delay="0"/>
                                          </p:stCondLst>
                                        </p:cTn>
                                        <p:tgtEl>
                                          <p:spTgt spid="17"/>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7" grpId="0"/>
      <p:bldP spid="8" grpId="0" animBg="1"/>
      <p:bldP spid="17" grpId="0"/>
    </p:bldLst>
  </p:timing>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b0_2">
            <a:extLst>
              <a:ext uri="{FF2B5EF4-FFF2-40B4-BE49-F238E27FC236}">
                <a16:creationId xmlns:a16="http://schemas.microsoft.com/office/drawing/2014/main" id="{2BEE631D-71D0-C172-CB4C-F8D514EE049F}"/>
              </a:ext>
            </a:extLst>
          </p:cNvPr>
          <p:cNvSpPr txBox="1"/>
          <p:nvPr/>
        </p:nvSpPr>
        <p:spPr>
          <a:xfrm>
            <a:off x="0" y="148566"/>
            <a:ext cx="11680992" cy="548640"/>
          </a:xfrm>
          <a:prstGeom prst="rect">
            <a:avLst/>
          </a:prstGeom>
          <a:noFill/>
          <a:ln>
            <a:noFill/>
          </a:ln>
        </p:spPr>
        <p:txBody>
          <a:bodyPr wrap="square" rtlCol="0" anchor="ctr"/>
          <a:lstStyle/>
          <a:p>
            <a:r>
              <a:rPr lang="en-US" sz="3200" b="1" dirty="0">
                <a:latin typeface="Calibri" pitchFamily="34" charset="0"/>
                <a:ea typeface="Calibri" pitchFamily="34" charset="-122"/>
                <a:cs typeface="Calibri" pitchFamily="34" charset="-120"/>
              </a:rPr>
              <a:t>From </a:t>
            </a:r>
            <a:r>
              <a:rPr lang="en-US" sz="3200" b="1" dirty="0">
                <a:solidFill>
                  <a:srgbClr val="FF0000"/>
                </a:solidFill>
                <a:latin typeface="Calibri" pitchFamily="34" charset="0"/>
                <a:ea typeface="Calibri" pitchFamily="34" charset="-122"/>
                <a:cs typeface="Calibri" pitchFamily="34" charset="-120"/>
              </a:rPr>
              <a:t>Computation</a:t>
            </a:r>
            <a:r>
              <a:rPr lang="en-US" sz="3200" b="1" dirty="0">
                <a:latin typeface="Calibri" pitchFamily="34" charset="0"/>
                <a:ea typeface="Calibri" pitchFamily="34" charset="-122"/>
                <a:cs typeface="Calibri" pitchFamily="34" charset="-120"/>
              </a:rPr>
              <a:t> to </a:t>
            </a:r>
            <a:r>
              <a:rPr lang="en-US" sz="3200" b="1" dirty="0">
                <a:solidFill>
                  <a:srgbClr val="362FEC"/>
                </a:solidFill>
                <a:latin typeface="Calibri" pitchFamily="34" charset="0"/>
                <a:ea typeface="Calibri" pitchFamily="34" charset="-122"/>
                <a:cs typeface="Calibri" pitchFamily="34" charset="-120"/>
              </a:rPr>
              <a:t>Language Models</a:t>
            </a:r>
            <a:endParaRPr lang="en-US" sz="3200" dirty="0">
              <a:solidFill>
                <a:srgbClr val="362FEC"/>
              </a:solidFill>
            </a:endParaRPr>
          </a:p>
        </p:txBody>
      </p:sp>
      <p:sp>
        <p:nvSpPr>
          <p:cNvPr id="3" name="!!computation">
            <a:extLst>
              <a:ext uri="{FF2B5EF4-FFF2-40B4-BE49-F238E27FC236}">
                <a16:creationId xmlns:a16="http://schemas.microsoft.com/office/drawing/2014/main" id="{24318C8D-4B51-C175-BBF7-28B6C807AC22}"/>
              </a:ext>
            </a:extLst>
          </p:cNvPr>
          <p:cNvSpPr txBox="1"/>
          <p:nvPr/>
        </p:nvSpPr>
        <p:spPr>
          <a:xfrm>
            <a:off x="168339" y="980102"/>
            <a:ext cx="6355080" cy="707886"/>
          </a:xfrm>
          <a:prstGeom prst="rect">
            <a:avLst/>
          </a:prstGeom>
          <a:noFill/>
        </p:spPr>
        <p:txBody>
          <a:bodyPr wrap="square" rtlCol="0">
            <a:spAutoFit/>
          </a:bodyPr>
          <a:lstStyle/>
          <a:p>
            <a:r>
              <a:rPr lang="en-US" sz="2000" dirty="0">
                <a:latin typeface="Calibri" panose="020F0502020204030204" pitchFamily="34" charset="0"/>
                <a:cs typeface="Calibri" panose="020F0502020204030204" pitchFamily="34" charset="0"/>
              </a:rPr>
              <a:t>This is taken even further by the ability to transform information: Computation.</a:t>
            </a:r>
          </a:p>
        </p:txBody>
      </p:sp>
      <p:sp>
        <p:nvSpPr>
          <p:cNvPr id="4" name="line 1936">
            <a:extLst>
              <a:ext uri="{FF2B5EF4-FFF2-40B4-BE49-F238E27FC236}">
                <a16:creationId xmlns:a16="http://schemas.microsoft.com/office/drawing/2014/main" id="{C9DF67C1-43FB-2996-59BA-F404CC84075C}"/>
              </a:ext>
            </a:extLst>
          </p:cNvPr>
          <p:cNvSpPr txBox="1"/>
          <p:nvPr/>
        </p:nvSpPr>
        <p:spPr>
          <a:xfrm>
            <a:off x="384048" y="1920240"/>
            <a:ext cx="6309360" cy="411480"/>
          </a:xfrm>
          <a:prstGeom prst="rect">
            <a:avLst/>
          </a:prstGeom>
          <a:noFill/>
          <a:ln>
            <a:noFill/>
          </a:ln>
        </p:spPr>
        <p:txBody>
          <a:bodyPr wrap="square" lIns="0" tIns="0" rIns="0" bIns="0" rtlCol="0" anchor="ctr"/>
          <a:lstStyle/>
          <a:p>
            <a:pPr marL="0" indent="0">
              <a:buNone/>
            </a:pPr>
            <a:r>
              <a:rPr lang="en-US" sz="2000" dirty="0">
                <a:solidFill>
                  <a:srgbClr val="362FEC"/>
                </a:solidFill>
                <a:latin typeface="Calibri" pitchFamily="34" charset="0"/>
                <a:ea typeface="Calibri" pitchFamily="34" charset="-122"/>
                <a:cs typeface="Calibri" pitchFamily="34" charset="-120"/>
              </a:rPr>
              <a:t>1936</a:t>
            </a:r>
            <a:r>
              <a:rPr lang="en-US" sz="2000" dirty="0">
                <a:solidFill>
                  <a:srgbClr val="000000"/>
                </a:solidFill>
                <a:latin typeface="Calibri" pitchFamily="34" charset="0"/>
                <a:ea typeface="Calibri" pitchFamily="34" charset="-122"/>
                <a:cs typeface="Calibri" pitchFamily="34" charset="-120"/>
              </a:rPr>
              <a:t>: </a:t>
            </a:r>
            <a:r>
              <a:rPr lang="en-US" sz="2000" dirty="0">
                <a:solidFill>
                  <a:srgbClr val="00B050"/>
                </a:solidFill>
                <a:latin typeface="Calibri" pitchFamily="34" charset="0"/>
                <a:ea typeface="Calibri" pitchFamily="34" charset="-122"/>
                <a:cs typeface="Calibri" pitchFamily="34" charset="-120"/>
              </a:rPr>
              <a:t>computation becomes a mathematical object</a:t>
            </a:r>
            <a:endParaRPr lang="en-US" sz="2000" dirty="0"/>
          </a:p>
        </p:txBody>
      </p:sp>
      <p:sp>
        <p:nvSpPr>
          <p:cNvPr id="5" name="line 1946">
            <a:extLst>
              <a:ext uri="{FF2B5EF4-FFF2-40B4-BE49-F238E27FC236}">
                <a16:creationId xmlns:a16="http://schemas.microsoft.com/office/drawing/2014/main" id="{C9DF67C1-43FB-2996-59BA-F404CC84075C}"/>
              </a:ext>
            </a:extLst>
          </p:cNvPr>
          <p:cNvSpPr txBox="1"/>
          <p:nvPr/>
        </p:nvSpPr>
        <p:spPr>
          <a:xfrm>
            <a:off x="384048" y="2340864"/>
            <a:ext cx="6309360" cy="411480"/>
          </a:xfrm>
          <a:prstGeom prst="rect">
            <a:avLst/>
          </a:prstGeom>
          <a:noFill/>
          <a:ln>
            <a:noFill/>
          </a:ln>
        </p:spPr>
        <p:txBody>
          <a:bodyPr wrap="square" lIns="0" tIns="0" rIns="0" bIns="0" rtlCol="0" anchor="ctr"/>
          <a:lstStyle/>
          <a:p>
            <a:pPr marL="0" indent="0">
              <a:buNone/>
            </a:pPr>
            <a:r>
              <a:rPr lang="en-US" sz="2000" dirty="0">
                <a:solidFill>
                  <a:srgbClr val="362FEC"/>
                </a:solidFill>
                <a:latin typeface="Calibri" pitchFamily="34" charset="0"/>
                <a:ea typeface="Calibri" pitchFamily="34" charset="-122"/>
                <a:cs typeface="Calibri" pitchFamily="34" charset="-120"/>
              </a:rPr>
              <a:t>1946–1947</a:t>
            </a:r>
            <a:r>
              <a:rPr lang="en-US" sz="2000" dirty="0">
                <a:solidFill>
                  <a:srgbClr val="000000"/>
                </a:solidFill>
                <a:latin typeface="Calibri" pitchFamily="34" charset="0"/>
                <a:ea typeface="Calibri" pitchFamily="34" charset="-122"/>
                <a:cs typeface="Calibri" pitchFamily="34" charset="-120"/>
              </a:rPr>
              <a:t>: </a:t>
            </a:r>
            <a:r>
              <a:rPr lang="en-US" sz="2000" dirty="0">
                <a:solidFill>
                  <a:srgbClr val="00B050"/>
                </a:solidFill>
                <a:latin typeface="Calibri" pitchFamily="34" charset="0"/>
                <a:ea typeface="Calibri" pitchFamily="34" charset="-122"/>
                <a:cs typeface="Calibri" pitchFamily="34" charset="-120"/>
              </a:rPr>
              <a:t>computers become physical objects</a:t>
            </a:r>
            <a:endParaRPr lang="en-US" sz="2000" dirty="0"/>
          </a:p>
        </p:txBody>
      </p:sp>
      <p:sp>
        <p:nvSpPr>
          <p:cNvPr id="6" name="line 1950">
            <a:extLst>
              <a:ext uri="{FF2B5EF4-FFF2-40B4-BE49-F238E27FC236}">
                <a16:creationId xmlns:a16="http://schemas.microsoft.com/office/drawing/2014/main" id="{C9DF67C1-43FB-2996-59BA-F404CC84075C}"/>
              </a:ext>
            </a:extLst>
          </p:cNvPr>
          <p:cNvSpPr txBox="1"/>
          <p:nvPr/>
        </p:nvSpPr>
        <p:spPr>
          <a:xfrm>
            <a:off x="384048" y="2761488"/>
            <a:ext cx="6309360" cy="411480"/>
          </a:xfrm>
          <a:prstGeom prst="rect">
            <a:avLst/>
          </a:prstGeom>
          <a:noFill/>
          <a:ln>
            <a:noFill/>
          </a:ln>
        </p:spPr>
        <p:txBody>
          <a:bodyPr wrap="square" lIns="0" tIns="0" rIns="0" bIns="0" rtlCol="0" anchor="ctr"/>
          <a:lstStyle/>
          <a:p>
            <a:pPr marL="0" indent="0">
              <a:buNone/>
            </a:pPr>
            <a:r>
              <a:rPr lang="en-US" sz="2000" dirty="0">
                <a:solidFill>
                  <a:srgbClr val="362FEC"/>
                </a:solidFill>
                <a:latin typeface="Calibri" pitchFamily="34" charset="0"/>
                <a:ea typeface="Calibri" pitchFamily="34" charset="-122"/>
                <a:cs typeface="Calibri" pitchFamily="34" charset="-120"/>
              </a:rPr>
              <a:t>1950</a:t>
            </a:r>
            <a:r>
              <a:rPr lang="en-US" sz="2000" dirty="0">
                <a:solidFill>
                  <a:srgbClr val="000000"/>
                </a:solidFill>
                <a:latin typeface="Calibri" pitchFamily="34" charset="0"/>
                <a:ea typeface="Calibri" pitchFamily="34" charset="-122"/>
                <a:cs typeface="Calibri" pitchFamily="34" charset="-120"/>
              </a:rPr>
              <a:t>: </a:t>
            </a:r>
            <a:r>
              <a:rPr lang="en-US" sz="2000" dirty="0">
                <a:solidFill>
                  <a:srgbClr val="00B050"/>
                </a:solidFill>
                <a:latin typeface="Calibri" pitchFamily="34" charset="0"/>
                <a:ea typeface="Calibri" pitchFamily="34" charset="-122"/>
                <a:cs typeface="Calibri" pitchFamily="34" charset="-120"/>
              </a:rPr>
              <a:t>the imitation game</a:t>
            </a:r>
            <a:endParaRPr lang="en-US" sz="2000" dirty="0"/>
          </a:p>
        </p:txBody>
      </p:sp>
      <p:sp>
        <p:nvSpPr>
          <p:cNvPr id="7" name="line 1955">
            <a:extLst>
              <a:ext uri="{FF2B5EF4-FFF2-40B4-BE49-F238E27FC236}">
                <a16:creationId xmlns:a16="http://schemas.microsoft.com/office/drawing/2014/main" id="{C9DF67C1-43FB-2996-59BA-F404CC84075C}"/>
              </a:ext>
            </a:extLst>
          </p:cNvPr>
          <p:cNvSpPr txBox="1"/>
          <p:nvPr/>
        </p:nvSpPr>
        <p:spPr>
          <a:xfrm>
            <a:off x="384048" y="3182112"/>
            <a:ext cx="6309360" cy="411480"/>
          </a:xfrm>
          <a:prstGeom prst="rect">
            <a:avLst/>
          </a:prstGeom>
          <a:noFill/>
          <a:ln>
            <a:noFill/>
          </a:ln>
        </p:spPr>
        <p:txBody>
          <a:bodyPr wrap="square" lIns="0" tIns="0" rIns="0" bIns="0" rtlCol="0" anchor="ctr"/>
          <a:lstStyle/>
          <a:p>
            <a:pPr marL="0" indent="0">
              <a:buNone/>
            </a:pPr>
            <a:r>
              <a:rPr lang="en-US" sz="2000" dirty="0">
                <a:solidFill>
                  <a:srgbClr val="362FEC"/>
                </a:solidFill>
                <a:latin typeface="Calibri" pitchFamily="34" charset="0"/>
                <a:ea typeface="Calibri" pitchFamily="34" charset="-122"/>
                <a:cs typeface="Calibri" pitchFamily="34" charset="-120"/>
              </a:rPr>
              <a:t>1955–1956</a:t>
            </a:r>
            <a:r>
              <a:rPr lang="en-US" sz="2000" dirty="0">
                <a:solidFill>
                  <a:srgbClr val="000000"/>
                </a:solidFill>
                <a:latin typeface="Calibri" pitchFamily="34" charset="0"/>
                <a:ea typeface="Calibri" pitchFamily="34" charset="-122"/>
                <a:cs typeface="Calibri" pitchFamily="34" charset="-120"/>
              </a:rPr>
              <a:t>: </a:t>
            </a:r>
            <a:r>
              <a:rPr lang="en-US" sz="2000" dirty="0">
                <a:solidFill>
                  <a:srgbClr val="00B050"/>
                </a:solidFill>
                <a:latin typeface="Calibri" pitchFamily="34" charset="0"/>
                <a:ea typeface="Calibri" pitchFamily="34" charset="-122"/>
                <a:cs typeface="Calibri" pitchFamily="34" charset="-120"/>
              </a:rPr>
              <a:t>artificial intelligence gets a name</a:t>
            </a:r>
            <a:endParaRPr lang="en-US" sz="2000" dirty="0"/>
          </a:p>
        </p:txBody>
      </p:sp>
      <p:sp>
        <p:nvSpPr>
          <p:cNvPr id="8" name="line 1958">
            <a:extLst>
              <a:ext uri="{FF2B5EF4-FFF2-40B4-BE49-F238E27FC236}">
                <a16:creationId xmlns:a16="http://schemas.microsoft.com/office/drawing/2014/main" id="{C9DF67C1-43FB-2996-59BA-F404CC84075C}"/>
              </a:ext>
            </a:extLst>
          </p:cNvPr>
          <p:cNvSpPr txBox="1"/>
          <p:nvPr/>
        </p:nvSpPr>
        <p:spPr>
          <a:xfrm>
            <a:off x="384048" y="3602736"/>
            <a:ext cx="6309360" cy="411480"/>
          </a:xfrm>
          <a:prstGeom prst="rect">
            <a:avLst/>
          </a:prstGeom>
          <a:noFill/>
          <a:ln>
            <a:noFill/>
          </a:ln>
        </p:spPr>
        <p:txBody>
          <a:bodyPr wrap="square" lIns="0" tIns="0" rIns="0" bIns="0" rtlCol="0" anchor="ctr"/>
          <a:lstStyle/>
          <a:p>
            <a:pPr marL="0" indent="0">
              <a:buNone/>
            </a:pPr>
            <a:r>
              <a:rPr lang="en-US" sz="2000" dirty="0">
                <a:solidFill>
                  <a:srgbClr val="362FEC"/>
                </a:solidFill>
                <a:latin typeface="Calibri" pitchFamily="34" charset="0"/>
                <a:ea typeface="Calibri" pitchFamily="34" charset="-122"/>
                <a:cs typeface="Calibri" pitchFamily="34" charset="-120"/>
              </a:rPr>
              <a:t>1958</a:t>
            </a:r>
            <a:r>
              <a:rPr lang="en-US" sz="2000" dirty="0">
                <a:solidFill>
                  <a:srgbClr val="000000"/>
                </a:solidFill>
                <a:latin typeface="Calibri" pitchFamily="34" charset="0"/>
                <a:ea typeface="Calibri" pitchFamily="34" charset="-122"/>
                <a:cs typeface="Calibri" pitchFamily="34" charset="-120"/>
              </a:rPr>
              <a:t>: </a:t>
            </a:r>
            <a:r>
              <a:rPr lang="en-US" sz="2000" dirty="0">
                <a:solidFill>
                  <a:srgbClr val="00B050"/>
                </a:solidFill>
                <a:latin typeface="Calibri" pitchFamily="34" charset="0"/>
                <a:ea typeface="Calibri" pitchFamily="34" charset="-122"/>
                <a:cs typeface="Calibri" pitchFamily="34" charset="-120"/>
              </a:rPr>
              <a:t>the perceptron learns from examples</a:t>
            </a:r>
            <a:endParaRPr lang="en-US" sz="2000" dirty="0"/>
          </a:p>
        </p:txBody>
      </p:sp>
      <p:pic>
        <p:nvPicPr>
          <p:cNvPr id="9" name="Mark I Perceptron film">
            <a:hlinkClick r:id="" action="ppaction://media"/>
          </p:cNvPr>
          <p:cNvPicPr>
            <a:picLocks noChangeAspect="1"/>
          </p:cNvPicPr>
          <p:nvPr>
            <a:videoFile r:link="rId2"/>
            <p:extLst>
              <p:ext uri="{DAA4B4D4-6D71-4841-9C94-3DE7FCFB9230}">
                <p14:media xmlns:p14="http://schemas.microsoft.com/office/powerpoint/2010/main" r:embed="rId1"/>
              </p:ext>
            </p:extLst>
          </p:nvPr>
        </p:nvPicPr>
        <p:blipFill>
          <a:blip r:embed="rId5"/>
          <a:stretch>
            <a:fillRect/>
          </a:stretch>
        </p:blipFill>
        <p:spPr>
          <a:xfrm>
            <a:off x="8013759" y="1097280"/>
            <a:ext cx="3291840" cy="2468880"/>
          </a:xfrm>
          <a:prstGeom prst="rect">
            <a:avLst/>
          </a:prstGeom>
        </p:spPr>
      </p:pic>
      <p:sp>
        <p:nvSpPr>
          <p:cNvPr id="10" name="TextBox 9"/>
          <p:cNvSpPr txBox="1"/>
          <p:nvPr/>
        </p:nvSpPr>
        <p:spPr>
          <a:xfrm>
            <a:off x="8013759" y="3680459"/>
            <a:ext cx="3291840" cy="274320"/>
          </a:xfrm>
          <a:prstGeom prst="rect">
            <a:avLst/>
          </a:prstGeom>
          <a:noFill/>
        </p:spPr>
        <p:txBody>
          <a:bodyPr wrap="square" lIns="0" tIns="0" rIns="0" bIns="0" anchor="t">
            <a:spAutoFit/>
          </a:bodyPr>
          <a:lstStyle/>
          <a:p>
            <a:pPr algn="ctr"/>
            <a:r>
              <a:rPr sz="1200" b="0" i="0">
                <a:solidFill>
                  <a:srgbClr val="595959"/>
                </a:solidFill>
                <a:latin typeface="Calibri"/>
              </a:rPr>
              <a:t>The Mark I Perceptron at work (</a:t>
            </a:r>
            <a:r>
              <a:rPr sz="1200" b="0" i="0">
                <a:solidFill>
                  <a:srgbClr val="595959"/>
                </a:solidFill>
                <a:latin typeface="Calibri"/>
                <a:hlinkClick r:id="rId6"/>
              </a:rPr>
              <a:t>film clip</a:t>
            </a:r>
            <a:r>
              <a:rPr sz="1200" b="0" i="0">
                <a:solidFill>
                  <a:srgbClr val="595959"/>
                </a:solidFill>
                <a:latin typeface="Calibri"/>
              </a:rPr>
              <a:t>)</a:t>
            </a:r>
          </a:p>
        </p:txBody>
      </p:sp>
      <p:pic>
        <p:nvPicPr>
          <p:cNvPr id="11" name="perceptron separating line" descr="perceptron.png"/>
          <p:cNvPicPr>
            <a:picLocks noChangeAspect="1"/>
          </p:cNvPicPr>
          <p:nvPr/>
        </p:nvPicPr>
        <p:blipFill>
          <a:blip r:embed="rId7"/>
          <a:stretch>
            <a:fillRect/>
          </a:stretch>
        </p:blipFill>
        <p:spPr>
          <a:xfrm>
            <a:off x="8288079" y="4034160"/>
            <a:ext cx="2743200" cy="2547257"/>
          </a:xfrm>
          <a:prstGeom prst="rect">
            <a:avLst/>
          </a:prstGeom>
        </p:spPr>
      </p:pic>
      <p:sp>
        <p:nvSpPr>
          <p:cNvPr id="23" name="description"/>
          <p:cNvSpPr txBox="1"/>
          <p:nvPr/>
        </p:nvSpPr>
        <p:spPr>
          <a:xfrm>
            <a:off x="6675120" y="4114800"/>
            <a:ext cx="1554480" cy="2468880"/>
          </a:xfrm>
          <a:prstGeom prst="rect">
            <a:avLst/>
          </a:prstGeom>
          <a:noFill/>
        </p:spPr>
        <p:txBody>
          <a:bodyPr wrap="square" lIns="0" tIns="0" rIns="0" bIns="0" anchor="t">
            <a:spAutoFit/>
          </a:bodyPr>
          <a:lstStyle/>
          <a:p>
            <a:pPr algn="l"/>
            <a:r>
              <a:rPr sz="1300" b="0" i="0">
                <a:solidFill>
                  <a:srgbClr val="595959"/>
                </a:solidFill>
                <a:latin typeface="Calibri"/>
              </a:rPr>
              <a:t>Rosenblatt's perceptron nudges its weights after each mistake, until a line separates the two classes: an early landmark of machine learning.</a:t>
            </a:r>
          </a:p>
        </p:txBody>
      </p:sp>
      <p:sp>
        <p:nvSpPr>
          <p:cNvPr id="24" name="tag ML"/>
          <p:cNvSpPr/>
          <p:nvPr/>
        </p:nvSpPr>
        <p:spPr>
          <a:xfrm>
            <a:off x="4971391" y="3671315"/>
            <a:ext cx="438912" cy="274320"/>
          </a:xfrm>
          <a:prstGeom prst="roundRect">
            <a:avLst>
              <a:gd name="adj" fmla="val 12000"/>
            </a:avLst>
          </a:prstGeom>
          <a:solidFill>
            <a:srgbClr val="D9F2E4"/>
          </a:solidFill>
          <a:ln w="15875">
            <a:solidFill>
              <a:srgbClr val="00B050"/>
            </a:solidFill>
          </a:ln>
        </p:spPr>
        <p:style>
          <a:lnRef idx="1">
            <a:schemeClr val="accent1"/>
          </a:lnRef>
          <a:fillRef idx="3">
            <a:schemeClr val="accent1"/>
          </a:fillRef>
          <a:effectRef idx="2">
            <a:schemeClr val="accent1"/>
          </a:effectRef>
          <a:fontRef idx="minor">
            <a:schemeClr val="lt1"/>
          </a:fontRef>
        </p:style>
        <p:txBody>
          <a:bodyPr rtlCol="0" anchor="ctr" wrap="square" lIns="45720" rIns="45720"/>
          <a:lstStyle/>
          <a:p>
            <a:pPr algn="ctr"/>
            <a:r>
              <a:rPr sz="1300" b="1">
                <a:solidFill>
                  <a:srgbClr val="00B050"/>
                </a:solidFill>
                <a:latin typeface="Calibri"/>
              </a:rPr>
              <a:t>ML</a:t>
            </a:r>
          </a:p>
        </p:txBody>
      </p:sp>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8"/>
                                        </p:tgtEl>
                                        <p:attrNameLst>
                                          <p:attrName>style.visibility</p:attrName>
                                        </p:attrNameLst>
                                      </p:cBhvr>
                                      <p:to>
                                        <p:strVal val="visible"/>
                                      </p:to>
                                    </p:set>
                                  </p:childTnLst>
                                </p:cTn>
                              </p:par>
                              <p:par>
                                <p:cTn id="7" presetID="1" presetClass="entr" presetSubtype="0" fill="hold" grpId="0" nodeType="withEffect">
                                  <p:stCondLst>
                                    <p:cond delay="0"/>
                                  </p:stCondLst>
                                  <p:childTnLst>
                                    <p:set>
                                      <p:cBhvr>
                                        <p:cTn id="8" dur="1" fill="hold">
                                          <p:stCondLst>
                                            <p:cond delay="0"/>
                                          </p:stCondLst>
                                        </p:cTn>
                                        <p:tgtEl>
                                          <p:spTgt spid="9"/>
                                        </p:tgtEl>
                                        <p:attrNameLst>
                                          <p:attrName>style.visibility</p:attrName>
                                        </p:attrNameLst>
                                      </p:cBhvr>
                                      <p:to>
                                        <p:strVal val="visible"/>
                                      </p:to>
                                    </p:set>
                                  </p:childTnLst>
                                </p:cTn>
                              </p:par>
                              <p:par>
                                <p:cTn id="9" presetID="1" presetClass="entr" presetSubtype="0" fill="hold" grpId="0" nodeType="withEffect">
                                  <p:stCondLst>
                                    <p:cond delay="0"/>
                                  </p:stCondLst>
                                  <p:childTnLst>
                                    <p:set>
                                      <p:cBhvr>
                                        <p:cTn id="10" dur="1" fill="hold">
                                          <p:stCondLst>
                                            <p:cond delay="0"/>
                                          </p:stCondLst>
                                        </p:cTn>
                                        <p:tgtEl>
                                          <p:spTgt spid="10"/>
                                        </p:tgtEl>
                                        <p:attrNameLst>
                                          <p:attrName>style.visibility</p:attrName>
                                        </p:attrNameLst>
                                      </p:cBhvr>
                                      <p:to>
                                        <p:strVal val="visible"/>
                                      </p:to>
                                    </p:set>
                                  </p:childTnLst>
                                </p:cTn>
                              </p:par>
                              <p:par>
                                <p:cTn id="11" presetID="1" presetClass="entr" presetSubtype="0" fill="hold" grpId="0" nodeType="withEffect">
                                  <p:stCondLst>
                                    <p:cond delay="0"/>
                                  </p:stCondLst>
                                  <p:childTnLst>
                                    <p:set>
                                      <p:cBhvr>
                                        <p:cTn id="12" dur="1" fill="hold">
                                          <p:stCondLst>
                                            <p:cond delay="0"/>
                                          </p:stCondLst>
                                        </p:cTn>
                                        <p:tgtEl>
                                          <p:spTgt spid="11"/>
                                        </p:tgtEl>
                                        <p:attrNameLst>
                                          <p:attrName>style.visibility</p:attrName>
                                        </p:attrNameLst>
                                      </p:cBhvr>
                                      <p:to>
                                        <p:strVal val="visible"/>
                                      </p:to>
                                    </p:set>
                                  </p:childTnLst>
                                </p:cTn>
                              </p:par>
                              <p:par>
                                <p:cTn id="13" presetID="1" presetClass="entr" presetSubtype="0" fill="hold" grpId="0" nodeType="withEffect">
                                  <p:stCondLst>
                                    <p:cond delay="0"/>
                                  </p:stCondLst>
                                  <p:childTnLst>
                                    <p:set>
                                      <p:cBhvr>
                                        <p:cTn id="14" dur="1" fill="hold">
                                          <p:stCondLst>
                                            <p:cond delay="0"/>
                                          </p:stCondLst>
                                        </p:cTn>
                                        <p:tgtEl>
                                          <p:spTgt spid="23"/>
                                        </p:tgtEl>
                                        <p:attrNameLst>
                                          <p:attrName>style.visibility</p:attrName>
                                        </p:attrNameLst>
                                      </p:cBhvr>
                                      <p:to>
                                        <p:strVal val="visible"/>
                                      </p:to>
                                    </p:set>
                                  </p:childTnLst>
                                </p:cTn>
                              </p:par>
                              <p:par>
                                <p:cTn id="15" presetID="1" presetClass="entr" presetSubtype="0" fill="hold" grpId="0" nodeType="withEffect">
                                  <p:stCondLst>
                                    <p:cond delay="0"/>
                                  </p:stCondLst>
                                  <p:childTnLst>
                                    <p:set>
                                      <p:cBhvr>
                                        <p:cTn id="16" dur="1" fill="hold">
                                          <p:stCondLst>
                                            <p:cond delay="0"/>
                                          </p:stCondLst>
                                        </p:cTn>
                                        <p:tgtEl>
                                          <p:spTgt spid="24"/>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seq concurrent="1" nextAc="seek">
              <p:cTn id="17" restart="whenNotActive" fill="hold" evtFilter="cancelBubble" nodeType="interactiveSeq">
                <p:stCondLst>
                  <p:cond evt="onClick" delay="0">
                    <p:tgtEl>
                      <p:spTgt spid="9"/>
                    </p:tgtEl>
                  </p:cond>
                </p:stCondLst>
                <p:endSync evt="end" delay="0">
                  <p:rtn val="all"/>
                </p:endSync>
                <p:childTnLst>
                  <p:par>
                    <p:cTn id="18" fill="hold">
                      <p:stCondLst>
                        <p:cond delay="0"/>
                      </p:stCondLst>
                      <p:childTnLst>
                        <p:par>
                          <p:cTn id="19" fill="hold">
                            <p:stCondLst>
                              <p:cond delay="0"/>
                            </p:stCondLst>
                            <p:childTnLst>
                              <p:par>
                                <p:cTn id="20" presetID="2" presetClass="mediacall" presetSubtype="0" fill="hold" nodeType="clickEffect">
                                  <p:stCondLst>
                                    <p:cond delay="0"/>
                                  </p:stCondLst>
                                  <p:childTnLst>
                                    <p:cmd type="call" cmd="togglePause">
                                      <p:cBhvr>
                                        <p:cTn id="21" dur="1" fill="hold"/>
                                        <p:tgtEl>
                                          <p:spTgt spid="9"/>
                                        </p:tgtEl>
                                      </p:cBhvr>
                                    </p:cmd>
                                  </p:childTnLst>
                                </p:cTn>
                              </p:par>
                            </p:childTnLst>
                          </p:cTn>
                        </p:par>
                      </p:childTnLst>
                    </p:cTn>
                  </p:par>
                </p:childTnLst>
              </p:cTn>
              <p:nextCondLst>
                <p:cond evt="onNext" delay="0">
                  <p:tgtEl>
                    <p:spTgt spid="9"/>
                  </p:tgtEl>
                </p:cond>
              </p:nextCondLst>
            </p:seq>
            <p:video>
              <p:cMediaNode vol="80000">
                <p:cTn id="22" fill="hold" display="0">
                  <p:stCondLst>
                    <p:cond delay="indefinite"/>
                  </p:stCondLst>
                </p:cTn>
                <p:tgtEl>
                  <p:spTgt spid="9"/>
                </p:tgtEl>
              </p:cMediaNode>
            </p:video>
          </p:childTnLst>
        </p:cTn>
      </p:par>
    </p:tnLst>
    <p:bldLst>
      <p:bldP spid="8" grpId="0"/>
      <p:bldP spid="10" grpId="0"/>
      <p:bldP spid="23" grpId="0"/>
      <p:bldP spid="24" grpId="0" animBg="1"/>
    </p:bldLst>
  </p:timing>
</p:sld>
</file>

<file path=ppt/slides/slide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b0_2">
            <a:extLst>
              <a:ext uri="{FF2B5EF4-FFF2-40B4-BE49-F238E27FC236}">
                <a16:creationId xmlns:a16="http://schemas.microsoft.com/office/drawing/2014/main" id="{2BEE631D-71D0-C172-CB4C-F8D514EE049F}"/>
              </a:ext>
            </a:extLst>
          </p:cNvPr>
          <p:cNvSpPr txBox="1"/>
          <p:nvPr/>
        </p:nvSpPr>
        <p:spPr>
          <a:xfrm>
            <a:off x="0" y="148566"/>
            <a:ext cx="11680992" cy="548640"/>
          </a:xfrm>
          <a:prstGeom prst="rect">
            <a:avLst/>
          </a:prstGeom>
          <a:noFill/>
          <a:ln>
            <a:noFill/>
          </a:ln>
        </p:spPr>
        <p:txBody>
          <a:bodyPr wrap="square" rtlCol="0" anchor="ctr"/>
          <a:lstStyle/>
          <a:p>
            <a:r>
              <a:rPr lang="en-US" sz="3200" b="1" dirty="0">
                <a:latin typeface="Calibri" pitchFamily="34" charset="0"/>
                <a:ea typeface="Calibri" pitchFamily="34" charset="-122"/>
                <a:cs typeface="Calibri" pitchFamily="34" charset="-120"/>
              </a:rPr>
              <a:t>From </a:t>
            </a:r>
            <a:r>
              <a:rPr lang="en-US" sz="3200" b="1" dirty="0">
                <a:solidFill>
                  <a:srgbClr val="FF0000"/>
                </a:solidFill>
                <a:latin typeface="Calibri" pitchFamily="34" charset="0"/>
                <a:ea typeface="Calibri" pitchFamily="34" charset="-122"/>
                <a:cs typeface="Calibri" pitchFamily="34" charset="-120"/>
              </a:rPr>
              <a:t>Computation</a:t>
            </a:r>
            <a:r>
              <a:rPr lang="en-US" sz="3200" b="1" dirty="0">
                <a:latin typeface="Calibri" pitchFamily="34" charset="0"/>
                <a:ea typeface="Calibri" pitchFamily="34" charset="-122"/>
                <a:cs typeface="Calibri" pitchFamily="34" charset="-120"/>
              </a:rPr>
              <a:t> to </a:t>
            </a:r>
            <a:r>
              <a:rPr lang="en-US" sz="3200" b="1" dirty="0">
                <a:solidFill>
                  <a:srgbClr val="362FEC"/>
                </a:solidFill>
                <a:latin typeface="Calibri" pitchFamily="34" charset="0"/>
                <a:ea typeface="Calibri" pitchFamily="34" charset="-122"/>
                <a:cs typeface="Calibri" pitchFamily="34" charset="-120"/>
              </a:rPr>
              <a:t>Language Models</a:t>
            </a:r>
            <a:endParaRPr lang="en-US" sz="3200" dirty="0">
              <a:solidFill>
                <a:srgbClr val="362FEC"/>
              </a:solidFill>
            </a:endParaRPr>
          </a:p>
        </p:txBody>
      </p:sp>
      <p:sp>
        <p:nvSpPr>
          <p:cNvPr id="3" name="!!computation">
            <a:extLst>
              <a:ext uri="{FF2B5EF4-FFF2-40B4-BE49-F238E27FC236}">
                <a16:creationId xmlns:a16="http://schemas.microsoft.com/office/drawing/2014/main" id="{24318C8D-4B51-C175-BBF7-28B6C807AC22}"/>
              </a:ext>
            </a:extLst>
          </p:cNvPr>
          <p:cNvSpPr txBox="1"/>
          <p:nvPr/>
        </p:nvSpPr>
        <p:spPr>
          <a:xfrm>
            <a:off x="168339" y="980102"/>
            <a:ext cx="6355080" cy="707886"/>
          </a:xfrm>
          <a:prstGeom prst="rect">
            <a:avLst/>
          </a:prstGeom>
          <a:noFill/>
        </p:spPr>
        <p:txBody>
          <a:bodyPr wrap="square" rtlCol="0">
            <a:spAutoFit/>
          </a:bodyPr>
          <a:lstStyle/>
          <a:p>
            <a:r>
              <a:rPr lang="en-US" sz="2000" dirty="0">
                <a:latin typeface="Calibri" panose="020F0502020204030204" pitchFamily="34" charset="0"/>
                <a:cs typeface="Calibri" panose="020F0502020204030204" pitchFamily="34" charset="0"/>
              </a:rPr>
              <a:t>This is taken even further by the ability to transform information: Computation.</a:t>
            </a:r>
          </a:p>
        </p:txBody>
      </p:sp>
      <p:sp>
        <p:nvSpPr>
          <p:cNvPr id="4" name="line 1936">
            <a:extLst>
              <a:ext uri="{FF2B5EF4-FFF2-40B4-BE49-F238E27FC236}">
                <a16:creationId xmlns:a16="http://schemas.microsoft.com/office/drawing/2014/main" id="{C9DF67C1-43FB-2996-59BA-F404CC84075C}"/>
              </a:ext>
            </a:extLst>
          </p:cNvPr>
          <p:cNvSpPr txBox="1"/>
          <p:nvPr/>
        </p:nvSpPr>
        <p:spPr>
          <a:xfrm>
            <a:off x="384048" y="1920240"/>
            <a:ext cx="6309360" cy="411480"/>
          </a:xfrm>
          <a:prstGeom prst="rect">
            <a:avLst/>
          </a:prstGeom>
          <a:noFill/>
          <a:ln>
            <a:noFill/>
          </a:ln>
        </p:spPr>
        <p:txBody>
          <a:bodyPr wrap="square" lIns="0" tIns="0" rIns="0" bIns="0" rtlCol="0" anchor="ctr"/>
          <a:lstStyle/>
          <a:p>
            <a:pPr marL="0" indent="0">
              <a:buNone/>
            </a:pPr>
            <a:r>
              <a:rPr lang="en-US" sz="2000" dirty="0">
                <a:solidFill>
                  <a:srgbClr val="362FEC"/>
                </a:solidFill>
                <a:latin typeface="Calibri" pitchFamily="34" charset="0"/>
                <a:ea typeface="Calibri" pitchFamily="34" charset="-122"/>
                <a:cs typeface="Calibri" pitchFamily="34" charset="-120"/>
              </a:rPr>
              <a:t>1936</a:t>
            </a:r>
            <a:r>
              <a:rPr lang="en-US" sz="2000" dirty="0">
                <a:solidFill>
                  <a:srgbClr val="000000"/>
                </a:solidFill>
                <a:latin typeface="Calibri" pitchFamily="34" charset="0"/>
                <a:ea typeface="Calibri" pitchFamily="34" charset="-122"/>
                <a:cs typeface="Calibri" pitchFamily="34" charset="-120"/>
              </a:rPr>
              <a:t>: </a:t>
            </a:r>
            <a:r>
              <a:rPr lang="en-US" sz="2000" dirty="0">
                <a:solidFill>
                  <a:srgbClr val="00B050"/>
                </a:solidFill>
                <a:latin typeface="Calibri" pitchFamily="34" charset="0"/>
                <a:ea typeface="Calibri" pitchFamily="34" charset="-122"/>
                <a:cs typeface="Calibri" pitchFamily="34" charset="-120"/>
              </a:rPr>
              <a:t>computation becomes a mathematical object</a:t>
            </a:r>
            <a:endParaRPr lang="en-US" sz="2000" dirty="0"/>
          </a:p>
        </p:txBody>
      </p:sp>
      <p:sp>
        <p:nvSpPr>
          <p:cNvPr id="5" name="line 1946">
            <a:extLst>
              <a:ext uri="{FF2B5EF4-FFF2-40B4-BE49-F238E27FC236}">
                <a16:creationId xmlns:a16="http://schemas.microsoft.com/office/drawing/2014/main" id="{C9DF67C1-43FB-2996-59BA-F404CC84075C}"/>
              </a:ext>
            </a:extLst>
          </p:cNvPr>
          <p:cNvSpPr txBox="1"/>
          <p:nvPr/>
        </p:nvSpPr>
        <p:spPr>
          <a:xfrm>
            <a:off x="384048" y="2340864"/>
            <a:ext cx="6309360" cy="411480"/>
          </a:xfrm>
          <a:prstGeom prst="rect">
            <a:avLst/>
          </a:prstGeom>
          <a:noFill/>
          <a:ln>
            <a:noFill/>
          </a:ln>
        </p:spPr>
        <p:txBody>
          <a:bodyPr wrap="square" lIns="0" tIns="0" rIns="0" bIns="0" rtlCol="0" anchor="ctr"/>
          <a:lstStyle/>
          <a:p>
            <a:pPr marL="0" indent="0">
              <a:buNone/>
            </a:pPr>
            <a:r>
              <a:rPr lang="en-US" sz="2000" dirty="0">
                <a:solidFill>
                  <a:srgbClr val="362FEC"/>
                </a:solidFill>
                <a:latin typeface="Calibri" pitchFamily="34" charset="0"/>
                <a:ea typeface="Calibri" pitchFamily="34" charset="-122"/>
                <a:cs typeface="Calibri" pitchFamily="34" charset="-120"/>
              </a:rPr>
              <a:t>1946–1947</a:t>
            </a:r>
            <a:r>
              <a:rPr lang="en-US" sz="2000" dirty="0">
                <a:solidFill>
                  <a:srgbClr val="000000"/>
                </a:solidFill>
                <a:latin typeface="Calibri" pitchFamily="34" charset="0"/>
                <a:ea typeface="Calibri" pitchFamily="34" charset="-122"/>
                <a:cs typeface="Calibri" pitchFamily="34" charset="-120"/>
              </a:rPr>
              <a:t>: </a:t>
            </a:r>
            <a:r>
              <a:rPr lang="en-US" sz="2000" dirty="0">
                <a:solidFill>
                  <a:srgbClr val="00B050"/>
                </a:solidFill>
                <a:latin typeface="Calibri" pitchFamily="34" charset="0"/>
                <a:ea typeface="Calibri" pitchFamily="34" charset="-122"/>
                <a:cs typeface="Calibri" pitchFamily="34" charset="-120"/>
              </a:rPr>
              <a:t>computers become physical objects</a:t>
            </a:r>
            <a:endParaRPr lang="en-US" sz="2000" dirty="0"/>
          </a:p>
        </p:txBody>
      </p:sp>
      <p:sp>
        <p:nvSpPr>
          <p:cNvPr id="6" name="line 1950">
            <a:extLst>
              <a:ext uri="{FF2B5EF4-FFF2-40B4-BE49-F238E27FC236}">
                <a16:creationId xmlns:a16="http://schemas.microsoft.com/office/drawing/2014/main" id="{C9DF67C1-43FB-2996-59BA-F404CC84075C}"/>
              </a:ext>
            </a:extLst>
          </p:cNvPr>
          <p:cNvSpPr txBox="1"/>
          <p:nvPr/>
        </p:nvSpPr>
        <p:spPr>
          <a:xfrm>
            <a:off x="384048" y="2761488"/>
            <a:ext cx="6309360" cy="411480"/>
          </a:xfrm>
          <a:prstGeom prst="rect">
            <a:avLst/>
          </a:prstGeom>
          <a:noFill/>
          <a:ln>
            <a:noFill/>
          </a:ln>
        </p:spPr>
        <p:txBody>
          <a:bodyPr wrap="square" lIns="0" tIns="0" rIns="0" bIns="0" rtlCol="0" anchor="ctr"/>
          <a:lstStyle/>
          <a:p>
            <a:pPr marL="0" indent="0">
              <a:buNone/>
            </a:pPr>
            <a:r>
              <a:rPr lang="en-US" sz="2000" dirty="0">
                <a:solidFill>
                  <a:srgbClr val="362FEC"/>
                </a:solidFill>
                <a:latin typeface="Calibri" pitchFamily="34" charset="0"/>
                <a:ea typeface="Calibri" pitchFamily="34" charset="-122"/>
                <a:cs typeface="Calibri" pitchFamily="34" charset="-120"/>
              </a:rPr>
              <a:t>1950</a:t>
            </a:r>
            <a:r>
              <a:rPr lang="en-US" sz="2000" dirty="0">
                <a:solidFill>
                  <a:srgbClr val="000000"/>
                </a:solidFill>
                <a:latin typeface="Calibri" pitchFamily="34" charset="0"/>
                <a:ea typeface="Calibri" pitchFamily="34" charset="-122"/>
                <a:cs typeface="Calibri" pitchFamily="34" charset="-120"/>
              </a:rPr>
              <a:t>: </a:t>
            </a:r>
            <a:r>
              <a:rPr lang="en-US" sz="2000" dirty="0">
                <a:solidFill>
                  <a:srgbClr val="00B050"/>
                </a:solidFill>
                <a:latin typeface="Calibri" pitchFamily="34" charset="0"/>
                <a:ea typeface="Calibri" pitchFamily="34" charset="-122"/>
                <a:cs typeface="Calibri" pitchFamily="34" charset="-120"/>
              </a:rPr>
              <a:t>the imitation game</a:t>
            </a:r>
            <a:endParaRPr lang="en-US" sz="2000" dirty="0"/>
          </a:p>
        </p:txBody>
      </p:sp>
      <p:sp>
        <p:nvSpPr>
          <p:cNvPr id="7" name="line 1955">
            <a:extLst>
              <a:ext uri="{FF2B5EF4-FFF2-40B4-BE49-F238E27FC236}">
                <a16:creationId xmlns:a16="http://schemas.microsoft.com/office/drawing/2014/main" id="{C9DF67C1-43FB-2996-59BA-F404CC84075C}"/>
              </a:ext>
            </a:extLst>
          </p:cNvPr>
          <p:cNvSpPr txBox="1"/>
          <p:nvPr/>
        </p:nvSpPr>
        <p:spPr>
          <a:xfrm>
            <a:off x="384048" y="3182112"/>
            <a:ext cx="6309360" cy="411480"/>
          </a:xfrm>
          <a:prstGeom prst="rect">
            <a:avLst/>
          </a:prstGeom>
          <a:noFill/>
          <a:ln>
            <a:noFill/>
          </a:ln>
        </p:spPr>
        <p:txBody>
          <a:bodyPr wrap="square" lIns="0" tIns="0" rIns="0" bIns="0" rtlCol="0" anchor="ctr"/>
          <a:lstStyle/>
          <a:p>
            <a:pPr marL="0" indent="0">
              <a:buNone/>
            </a:pPr>
            <a:r>
              <a:rPr lang="en-US" sz="2000" dirty="0">
                <a:solidFill>
                  <a:srgbClr val="362FEC"/>
                </a:solidFill>
                <a:latin typeface="Calibri" pitchFamily="34" charset="0"/>
                <a:ea typeface="Calibri" pitchFamily="34" charset="-122"/>
                <a:cs typeface="Calibri" pitchFamily="34" charset="-120"/>
              </a:rPr>
              <a:t>1955–1956</a:t>
            </a:r>
            <a:r>
              <a:rPr lang="en-US" sz="2000" dirty="0">
                <a:solidFill>
                  <a:srgbClr val="000000"/>
                </a:solidFill>
                <a:latin typeface="Calibri" pitchFamily="34" charset="0"/>
                <a:ea typeface="Calibri" pitchFamily="34" charset="-122"/>
                <a:cs typeface="Calibri" pitchFamily="34" charset="-120"/>
              </a:rPr>
              <a:t>: </a:t>
            </a:r>
            <a:r>
              <a:rPr lang="en-US" sz="2000" dirty="0">
                <a:solidFill>
                  <a:srgbClr val="00B050"/>
                </a:solidFill>
                <a:latin typeface="Calibri" pitchFamily="34" charset="0"/>
                <a:ea typeface="Calibri" pitchFamily="34" charset="-122"/>
                <a:cs typeface="Calibri" pitchFamily="34" charset="-120"/>
              </a:rPr>
              <a:t>artificial intelligence gets a name</a:t>
            </a:r>
            <a:endParaRPr lang="en-US" sz="2000" dirty="0"/>
          </a:p>
        </p:txBody>
      </p:sp>
      <p:sp>
        <p:nvSpPr>
          <p:cNvPr id="8" name="line 1958">
            <a:extLst>
              <a:ext uri="{FF2B5EF4-FFF2-40B4-BE49-F238E27FC236}">
                <a16:creationId xmlns:a16="http://schemas.microsoft.com/office/drawing/2014/main" id="{C9DF67C1-43FB-2996-59BA-F404CC84075C}"/>
              </a:ext>
            </a:extLst>
          </p:cNvPr>
          <p:cNvSpPr txBox="1"/>
          <p:nvPr/>
        </p:nvSpPr>
        <p:spPr>
          <a:xfrm>
            <a:off x="384048" y="3602736"/>
            <a:ext cx="6309360" cy="411480"/>
          </a:xfrm>
          <a:prstGeom prst="rect">
            <a:avLst/>
          </a:prstGeom>
          <a:noFill/>
          <a:ln>
            <a:noFill/>
          </a:ln>
        </p:spPr>
        <p:txBody>
          <a:bodyPr wrap="square" lIns="0" tIns="0" rIns="0" bIns="0" rtlCol="0" anchor="ctr"/>
          <a:lstStyle/>
          <a:p>
            <a:pPr marL="0" indent="0">
              <a:buNone/>
            </a:pPr>
            <a:r>
              <a:rPr lang="en-US" sz="2000" dirty="0">
                <a:solidFill>
                  <a:srgbClr val="362FEC"/>
                </a:solidFill>
                <a:latin typeface="Calibri" pitchFamily="34" charset="0"/>
                <a:ea typeface="Calibri" pitchFamily="34" charset="-122"/>
                <a:cs typeface="Calibri" pitchFamily="34" charset="-120"/>
              </a:rPr>
              <a:t>1958</a:t>
            </a:r>
            <a:r>
              <a:rPr lang="en-US" sz="2000" dirty="0">
                <a:solidFill>
                  <a:srgbClr val="000000"/>
                </a:solidFill>
                <a:latin typeface="Calibri" pitchFamily="34" charset="0"/>
                <a:ea typeface="Calibri" pitchFamily="34" charset="-122"/>
                <a:cs typeface="Calibri" pitchFamily="34" charset="-120"/>
              </a:rPr>
              <a:t>: </a:t>
            </a:r>
            <a:r>
              <a:rPr lang="en-US" sz="2000" dirty="0">
                <a:solidFill>
                  <a:srgbClr val="00B050"/>
                </a:solidFill>
                <a:latin typeface="Calibri" pitchFamily="34" charset="0"/>
                <a:ea typeface="Calibri" pitchFamily="34" charset="-122"/>
                <a:cs typeface="Calibri" pitchFamily="34" charset="-120"/>
              </a:rPr>
              <a:t>the perceptron learns from examples</a:t>
            </a:r>
            <a:endParaRPr lang="en-US" sz="2000" dirty="0"/>
          </a:p>
        </p:txBody>
      </p:sp>
      <p:sp>
        <p:nvSpPr>
          <p:cNvPr id="9" name="line 1959"/>
          <p:cNvSpPr txBox="1"/>
          <p:nvPr/>
        </p:nvSpPr>
        <p:spPr>
          <a:xfrm>
            <a:off x="384048" y="4023360"/>
            <a:ext cx="6309360" cy="411480"/>
          </a:xfrm>
          <a:prstGeom prst="rect">
            <a:avLst/>
          </a:prstGeom>
          <a:noFill/>
          <a:ln>
            <a:noFill/>
          </a:ln>
        </p:spPr>
        <p:txBody>
          <a:bodyPr wrap="square" lIns="0" tIns="0" rIns="0" bIns="0" rtlCol="0" anchor="ctr"/>
          <a:lstStyle/>
          <a:p>
            <a:pPr marL="0" indent="0">
              <a:buNone/>
            </a:pPr>
            <a:r>
              <a:rPr lang="en-US" sz="2000" dirty="0">
                <a:solidFill>
                  <a:srgbClr val="362FEC"/>
                </a:solidFill>
                <a:latin typeface="Calibri" pitchFamily="34" charset="0"/>
                <a:ea typeface="Calibri" pitchFamily="34" charset="-122"/>
                <a:cs typeface="Calibri" pitchFamily="34" charset="-120"/>
              </a:rPr>
              <a:t>1959</a:t>
            </a:r>
            <a:r>
              <a:rPr lang="en-US" sz="2000" dirty="0">
                <a:solidFill>
                  <a:srgbClr val="000000"/>
                </a:solidFill>
                <a:latin typeface="Calibri" pitchFamily="34" charset="0"/>
                <a:ea typeface="Calibri" pitchFamily="34" charset="-122"/>
                <a:cs typeface="Calibri" pitchFamily="34" charset="-120"/>
              </a:rPr>
              <a:t>: </a:t>
            </a:r>
            <a:r>
              <a:rPr lang="en-US" sz="2000" dirty="0">
                <a:solidFill>
                  <a:srgbClr val="00B050"/>
                </a:solidFill>
                <a:latin typeface="Calibri" pitchFamily="34" charset="0"/>
                <a:ea typeface="Calibri" pitchFamily="34" charset="-122"/>
                <a:cs typeface="Calibri" pitchFamily="34" charset="-120"/>
              </a:rPr>
              <a:t>Samuel's checkers player learns from self-play</a:t>
            </a:r>
            <a:endParaRPr lang="en-US" sz="2000" dirty="0"/>
          </a:p>
        </p:txBody>
      </p:sp>
      <p:pic>
        <p:nvPicPr>
          <p:cNvPr id="10" name="checkers board" descr="checkers.png"/>
          <p:cNvPicPr>
            <a:picLocks noChangeAspect="1"/>
          </p:cNvPicPr>
          <p:nvPr/>
        </p:nvPicPr>
        <p:blipFill>
          <a:blip r:embed="rId2"/>
          <a:stretch>
            <a:fillRect/>
          </a:stretch>
        </p:blipFill>
        <p:spPr>
          <a:xfrm>
            <a:off x="7635240" y="1188720"/>
            <a:ext cx="3474720" cy="2258568"/>
          </a:xfrm>
          <a:prstGeom prst="rect">
            <a:avLst/>
          </a:prstGeom>
        </p:spPr>
      </p:pic>
      <p:grpSp>
        <p:nvGrpSpPr>
          <p:cNvPr id="11" name="how the program learned"/>
          <p:cNvGrpSpPr/>
          <p:nvPr/>
        </p:nvGrpSpPr>
        <p:grpSpPr>
          <a:xfrm>
            <a:off x="6812280" y="3721607"/>
            <a:ext cx="5120640" cy="1143001"/>
            <a:chOff x="6812280" y="3721607"/>
            <a:chExt cx="5120640" cy="1143001"/>
          </a:xfrm>
        </p:grpSpPr>
        <p:sp>
          <p:nvSpPr>
            <p:cNvPr id="12" name="Rounded Rectangle 11"/>
            <p:cNvSpPr/>
            <p:nvPr/>
          </p:nvSpPr>
          <p:spPr>
            <a:xfrm>
              <a:off x="6812280" y="3721607"/>
              <a:ext cx="1554480" cy="822960"/>
            </a:xfrm>
            <a:prstGeom prst="roundRect">
              <a:avLst>
                <a:gd name="adj" fmla="val 12000"/>
              </a:avLst>
            </a:prstGeom>
            <a:solidFill>
              <a:srgbClr val="EDEDED"/>
            </a:solidFill>
            <a:ln>
              <a:noFill/>
            </a:ln>
          </p:spPr>
          <p:style>
            <a:lnRef idx="1">
              <a:schemeClr val="accent1"/>
            </a:lnRef>
            <a:fillRef idx="3">
              <a:schemeClr val="accent1"/>
            </a:fillRef>
            <a:effectRef idx="2">
              <a:schemeClr val="accent1"/>
            </a:effectRef>
            <a:fontRef idx="minor">
              <a:schemeClr val="lt1"/>
            </a:fontRef>
          </p:style>
          <p:txBody>
            <a:bodyPr rtlCol="0" anchor="ctr" wrap="square" lIns="45720" rIns="45720"/>
            <a:lstStyle/>
            <a:p>
              <a:pPr algn="ctr"/>
              <a:r>
                <a:rPr sz="1300" b="1">
                  <a:solidFill>
                    <a:srgbClr val="000000"/>
                  </a:solidFill>
                  <a:latin typeface="Calibri"/>
                </a:rPr>
                <a:t>play against a copy of itself</a:t>
              </a:r>
            </a:p>
          </p:txBody>
        </p:sp>
        <p:cxnSp>
          <p:nvCxnSpPr>
            <p:cNvPr id="13" name="Connector 12"/>
            <p:cNvCxnSpPr/>
            <p:nvPr/>
          </p:nvCxnSpPr>
          <p:spPr>
            <a:xfrm>
              <a:off x="8385048" y="4133087"/>
              <a:ext cx="192024" cy="0"/>
            </a:xfrm>
            <a:prstGeom prst="line">
              <a:avLst/>
            </a:prstGeom>
            <a:ln w="19050">
              <a:solidFill>
                <a:srgbClr val="595959"/>
              </a:solidFill>
              <a:tailEnd type="triangle" w="med" len="med"/>
            </a:ln>
          </p:spPr>
          <p:style>
            <a:lnRef idx="2">
              <a:schemeClr val="accent1"/>
            </a:lnRef>
            <a:fillRef idx="0">
              <a:schemeClr val="accent1"/>
            </a:fillRef>
            <a:effectRef idx="1">
              <a:schemeClr val="accent1"/>
            </a:effectRef>
            <a:fontRef idx="minor">
              <a:schemeClr val="tx1"/>
            </a:fontRef>
          </p:style>
        </p:cxnSp>
        <p:sp>
          <p:nvSpPr>
            <p:cNvPr id="14" name="Rounded Rectangle 13"/>
            <p:cNvSpPr/>
            <p:nvPr/>
          </p:nvSpPr>
          <p:spPr>
            <a:xfrm>
              <a:off x="8595360" y="3721607"/>
              <a:ext cx="1554480" cy="822960"/>
            </a:xfrm>
            <a:prstGeom prst="roundRect">
              <a:avLst>
                <a:gd name="adj" fmla="val 12000"/>
              </a:avLst>
            </a:prstGeom>
            <a:solidFill>
              <a:srgbClr val="E3E2FD"/>
            </a:solidFill>
            <a:ln>
              <a:noFill/>
            </a:ln>
          </p:spPr>
          <p:style>
            <a:lnRef idx="1">
              <a:schemeClr val="accent1"/>
            </a:lnRef>
            <a:fillRef idx="3">
              <a:schemeClr val="accent1"/>
            </a:fillRef>
            <a:effectRef idx="2">
              <a:schemeClr val="accent1"/>
            </a:effectRef>
            <a:fontRef idx="minor">
              <a:schemeClr val="lt1"/>
            </a:fontRef>
          </p:style>
          <p:txBody>
            <a:bodyPr rtlCol="0" anchor="ctr" wrap="square" lIns="45720" rIns="45720"/>
            <a:lstStyle/>
            <a:p>
              <a:pPr algn="ctr"/>
              <a:r>
                <a:rPr sz="1300" b="1">
                  <a:solidFill>
                    <a:srgbClr val="362FEC"/>
                  </a:solidFill>
                  <a:latin typeface="Calibri"/>
                </a:rPr>
                <a:t>look ahead: a better estimate of the position</a:t>
              </a:r>
            </a:p>
          </p:txBody>
        </p:sp>
        <p:cxnSp>
          <p:nvCxnSpPr>
            <p:cNvPr id="15" name="Connector 14"/>
            <p:cNvCxnSpPr/>
            <p:nvPr/>
          </p:nvCxnSpPr>
          <p:spPr>
            <a:xfrm>
              <a:off x="10168128" y="4133087"/>
              <a:ext cx="192024" cy="0"/>
            </a:xfrm>
            <a:prstGeom prst="line">
              <a:avLst/>
            </a:prstGeom>
            <a:ln w="19050">
              <a:solidFill>
                <a:srgbClr val="595959"/>
              </a:solidFill>
              <a:tailEnd type="triangle" w="med" len="med"/>
            </a:ln>
          </p:spPr>
          <p:style>
            <a:lnRef idx="2">
              <a:schemeClr val="accent1"/>
            </a:lnRef>
            <a:fillRef idx="0">
              <a:schemeClr val="accent1"/>
            </a:fillRef>
            <a:effectRef idx="1">
              <a:schemeClr val="accent1"/>
            </a:effectRef>
            <a:fontRef idx="minor">
              <a:schemeClr val="tx1"/>
            </a:fontRef>
          </p:style>
        </p:cxnSp>
        <p:sp>
          <p:nvSpPr>
            <p:cNvPr id="16" name="Rounded Rectangle 15"/>
            <p:cNvSpPr/>
            <p:nvPr/>
          </p:nvSpPr>
          <p:spPr>
            <a:xfrm>
              <a:off x="10378440" y="3721607"/>
              <a:ext cx="1554480" cy="822960"/>
            </a:xfrm>
            <a:prstGeom prst="roundRect">
              <a:avLst>
                <a:gd name="adj" fmla="val 12000"/>
              </a:avLst>
            </a:prstGeom>
            <a:solidFill>
              <a:srgbClr val="D9F2E4"/>
            </a:solidFill>
            <a:ln>
              <a:noFill/>
            </a:ln>
          </p:spPr>
          <p:style>
            <a:lnRef idx="1">
              <a:schemeClr val="accent1"/>
            </a:lnRef>
            <a:fillRef idx="3">
              <a:schemeClr val="accent1"/>
            </a:fillRef>
            <a:effectRef idx="2">
              <a:schemeClr val="accent1"/>
            </a:effectRef>
            <a:fontRef idx="minor">
              <a:schemeClr val="lt1"/>
            </a:fontRef>
          </p:style>
          <p:txBody>
            <a:bodyPr rtlCol="0" anchor="ctr" wrap="square" lIns="45720" rIns="45720"/>
            <a:lstStyle/>
            <a:p>
              <a:pPr algn="ctr"/>
              <a:r>
                <a:rPr sz="1300" b="1">
                  <a:solidFill>
                    <a:srgbClr val="00843D"/>
                  </a:solidFill>
                  <a:latin typeface="Calibri"/>
                </a:rPr>
                <a:t>move the evaluation toward that estimate</a:t>
              </a:r>
            </a:p>
          </p:txBody>
        </p:sp>
        <p:sp>
          <p:nvSpPr>
            <p:cNvPr id="17" name="TextBox 16"/>
            <p:cNvSpPr txBox="1"/>
            <p:nvPr/>
          </p:nvSpPr>
          <p:spPr>
            <a:xfrm>
              <a:off x="6812280" y="4590288"/>
              <a:ext cx="5120640" cy="274320"/>
            </a:xfrm>
            <a:prstGeom prst="rect">
              <a:avLst/>
            </a:prstGeom>
            <a:noFill/>
          </p:spPr>
          <p:txBody>
            <a:bodyPr wrap="square" anchor="t" lIns="0" rIns="0" tIns="0" bIns="0">
              <a:spAutoFit/>
            </a:bodyPr>
            <a:lstStyle/>
            <a:p>
              <a:pPr algn="ctr"/>
              <a:r>
                <a:rPr sz="1200" b="0" i="0">
                  <a:solidFill>
                    <a:srgbClr val="595959"/>
                  </a:solidFill>
                  <a:latin typeface="Calibri"/>
                </a:rPr>
                <a:t>repeat, game after game</a:t>
              </a:r>
            </a:p>
          </p:txBody>
        </p:sp>
      </p:grpSp>
      <p:sp>
        <p:nvSpPr>
          <p:cNvPr id="18" name="description"/>
          <p:cNvSpPr txBox="1"/>
          <p:nvPr/>
        </p:nvSpPr>
        <p:spPr>
          <a:xfrm>
            <a:off x="6812280" y="4956048"/>
            <a:ext cx="5120640" cy="822960"/>
          </a:xfrm>
          <a:prstGeom prst="rect">
            <a:avLst/>
          </a:prstGeom>
          <a:noFill/>
        </p:spPr>
        <p:txBody>
          <a:bodyPr wrap="square" anchor="t" lIns="0" rIns="0" tIns="0" bIns="0">
            <a:spAutoFit/>
          </a:bodyPr>
          <a:lstStyle/>
          <a:p>
            <a:pPr algn="l"/>
            <a:r>
              <a:rPr sz="1400" b="0" i="0">
                <a:solidFill>
                  <a:srgbClr val="595959"/>
                </a:solidFill>
                <a:latin typeface="Calibri"/>
              </a:rPr>
              <a:t>Arthur Samuel's program played checkers against itself and moved its evaluation of positions toward what looking ahead revealed: an early landmark of reinforcement learning. His paper's title is an early use of the phrase “machine learning”.</a:t>
            </a:r>
          </a:p>
        </p:txBody>
      </p:sp>
      <p:sp>
        <p:nvSpPr>
          <p:cNvPr id="19" name="tag ML"/>
          <p:cNvSpPr/>
          <p:nvPr/>
        </p:nvSpPr>
        <p:spPr>
          <a:xfrm>
            <a:off x="4971391" y="3671315"/>
            <a:ext cx="438912" cy="274320"/>
          </a:xfrm>
          <a:prstGeom prst="roundRect">
            <a:avLst>
              <a:gd name="adj" fmla="val 12000"/>
            </a:avLst>
          </a:prstGeom>
          <a:solidFill>
            <a:srgbClr val="D9F2E4"/>
          </a:solidFill>
          <a:ln w="15875">
            <a:solidFill>
              <a:srgbClr val="00B050"/>
            </a:solidFill>
          </a:ln>
        </p:spPr>
        <p:style>
          <a:lnRef idx="1">
            <a:schemeClr val="accent1"/>
          </a:lnRef>
          <a:fillRef idx="3">
            <a:schemeClr val="accent1"/>
          </a:fillRef>
          <a:effectRef idx="2">
            <a:schemeClr val="accent1"/>
          </a:effectRef>
          <a:fontRef idx="minor">
            <a:schemeClr val="lt1"/>
          </a:fontRef>
        </p:style>
        <p:txBody>
          <a:bodyPr rtlCol="0" anchor="ctr" wrap="square" lIns="45720" rIns="45720"/>
          <a:lstStyle/>
          <a:p>
            <a:pPr algn="ctr"/>
            <a:r>
              <a:rPr sz="1300" b="1">
                <a:solidFill>
                  <a:srgbClr val="00B050"/>
                </a:solidFill>
                <a:latin typeface="Calibri"/>
              </a:rPr>
              <a:t>ML</a:t>
            </a:r>
          </a:p>
        </p:txBody>
      </p:sp>
      <p:sp>
        <p:nvSpPr>
          <p:cNvPr id="20" name="tag RL"/>
          <p:cNvSpPr/>
          <p:nvPr/>
        </p:nvSpPr>
        <p:spPr>
          <a:xfrm>
            <a:off x="5864498" y="4091940"/>
            <a:ext cx="438912" cy="274320"/>
          </a:xfrm>
          <a:prstGeom prst="roundRect">
            <a:avLst>
              <a:gd name="adj" fmla="val 12000"/>
            </a:avLst>
          </a:prstGeom>
          <a:solidFill>
            <a:srgbClr val="FBE5D6"/>
          </a:solidFill>
          <a:ln w="15875">
            <a:solidFill>
              <a:srgbClr val="ED7D31"/>
            </a:solidFill>
          </a:ln>
        </p:spPr>
        <p:style>
          <a:lnRef idx="1">
            <a:schemeClr val="accent1"/>
          </a:lnRef>
          <a:fillRef idx="3">
            <a:schemeClr val="accent1"/>
          </a:fillRef>
          <a:effectRef idx="2">
            <a:schemeClr val="accent1"/>
          </a:effectRef>
          <a:fontRef idx="minor">
            <a:schemeClr val="lt1"/>
          </a:fontRef>
        </p:style>
        <p:txBody>
          <a:bodyPr rtlCol="0" anchor="ctr" wrap="square" lIns="45720" rIns="45720"/>
          <a:lstStyle/>
          <a:p>
            <a:pPr algn="ctr"/>
            <a:r>
              <a:rPr sz="1300" b="1">
                <a:solidFill>
                  <a:srgbClr val="ED7D31"/>
                </a:solidFill>
                <a:latin typeface="Calibri"/>
              </a:rPr>
              <a:t>RL</a:t>
            </a:r>
          </a:p>
        </p:txBody>
      </p:sp>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9"/>
                                        </p:tgtEl>
                                        <p:attrNameLst>
                                          <p:attrName>style.visibility</p:attrName>
                                        </p:attrNameLst>
                                      </p:cBhvr>
                                      <p:to>
                                        <p:strVal val="visible"/>
                                      </p:to>
                                    </p:set>
                                  </p:childTnLst>
                                </p:cTn>
                              </p:par>
                              <p:par>
                                <p:cTn id="7" presetID="1" presetClass="entr" presetSubtype="0" fill="hold" grpId="0" nodeType="withEffect">
                                  <p:stCondLst>
                                    <p:cond delay="0"/>
                                  </p:stCondLst>
                                  <p:childTnLst>
                                    <p:set>
                                      <p:cBhvr>
                                        <p:cTn id="8" dur="1" fill="hold">
                                          <p:stCondLst>
                                            <p:cond delay="0"/>
                                          </p:stCondLst>
                                        </p:cTn>
                                        <p:tgtEl>
                                          <p:spTgt spid="20"/>
                                        </p:tgtEl>
                                        <p:attrNameLst>
                                          <p:attrName>style.visibility</p:attrName>
                                        </p:attrNameLst>
                                      </p:cBhvr>
                                      <p:to>
                                        <p:strVal val="visible"/>
                                      </p:to>
                                    </p:set>
                                  </p:childTnLst>
                                </p:cTn>
                              </p:par>
                              <p:par>
                                <p:cTn id="9" presetID="1" presetClass="entr" presetSubtype="0" fill="hold" grpId="0" nodeType="withEffect">
                                  <p:stCondLst>
                                    <p:cond delay="0"/>
                                  </p:stCondLst>
                                  <p:childTnLst>
                                    <p:set>
                                      <p:cBhvr>
                                        <p:cTn id="10" dur="1" fill="hold">
                                          <p:stCondLst>
                                            <p:cond delay="0"/>
                                          </p:stCondLst>
                                        </p:cTn>
                                        <p:tgtEl>
                                          <p:spTgt spid="10"/>
                                        </p:tgtEl>
                                        <p:attrNameLst>
                                          <p:attrName>style.visibility</p:attrName>
                                        </p:attrNameLst>
                                      </p:cBhvr>
                                      <p:to>
                                        <p:strVal val="visible"/>
                                      </p:to>
                                    </p:set>
                                  </p:childTnLst>
                                </p:cTn>
                              </p:par>
                              <p:par>
                                <p:cTn id="11" presetID="1" presetClass="entr" presetSubtype="0" fill="hold" grpId="0" nodeType="withEffect">
                                  <p:stCondLst>
                                    <p:cond delay="0"/>
                                  </p:stCondLst>
                                  <p:childTnLst>
                                    <p:set>
                                      <p:cBhvr>
                                        <p:cTn id="12" dur="1" fill="hold">
                                          <p:stCondLst>
                                            <p:cond delay="0"/>
                                          </p:stCondLst>
                                        </p:cTn>
                                        <p:tgtEl>
                                          <p:spTgt spid="11"/>
                                        </p:tgtEl>
                                        <p:attrNameLst>
                                          <p:attrName>style.visibility</p:attrName>
                                        </p:attrNameLst>
                                      </p:cBhvr>
                                      <p:to>
                                        <p:strVal val="visible"/>
                                      </p:to>
                                    </p:set>
                                  </p:childTnLst>
                                </p:cTn>
                              </p:par>
                              <p:par>
                                <p:cTn id="13" presetID="1" presetClass="entr" presetSubtype="0" fill="hold" grpId="0" nodeType="withEffect">
                                  <p:stCondLst>
                                    <p:cond delay="0"/>
                                  </p:stCondLst>
                                  <p:childTnLst>
                                    <p:set>
                                      <p:cBhvr>
                                        <p:cTn id="14" dur="1" fill="hold">
                                          <p:stCondLst>
                                            <p:cond delay="0"/>
                                          </p:stCondLst>
                                        </p:cTn>
                                        <p:tgtEl>
                                          <p:spTgt spid="18"/>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9" grpId="0"/>
      <p:bldP spid="20" grpId="0" animBg="1"/>
      <p:bldP spid="18" grpId="0"/>
    </p:bldLst>
  </p:timing>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b0_2">
            <a:extLst>
              <a:ext uri="{FF2B5EF4-FFF2-40B4-BE49-F238E27FC236}">
                <a16:creationId xmlns:a16="http://schemas.microsoft.com/office/drawing/2014/main" id="{2BEE631D-71D0-C172-CB4C-F8D514EE049F}"/>
              </a:ext>
            </a:extLst>
          </p:cNvPr>
          <p:cNvSpPr txBox="1"/>
          <p:nvPr/>
        </p:nvSpPr>
        <p:spPr>
          <a:xfrm>
            <a:off x="0" y="148566"/>
            <a:ext cx="11680992" cy="548640"/>
          </a:xfrm>
          <a:prstGeom prst="rect">
            <a:avLst/>
          </a:prstGeom>
          <a:noFill/>
          <a:ln>
            <a:noFill/>
          </a:ln>
        </p:spPr>
        <p:txBody>
          <a:bodyPr wrap="square" rtlCol="0" anchor="ctr"/>
          <a:lstStyle/>
          <a:p>
            <a:r>
              <a:rPr lang="en-US" sz="3200" b="1" dirty="0">
                <a:latin typeface="Calibri" pitchFamily="34" charset="0"/>
                <a:ea typeface="Calibri" pitchFamily="34" charset="-122"/>
                <a:cs typeface="Calibri" pitchFamily="34" charset="-120"/>
              </a:rPr>
              <a:t>From </a:t>
            </a:r>
            <a:r>
              <a:rPr lang="en-US" sz="3200" b="1" dirty="0">
                <a:solidFill>
                  <a:srgbClr val="FF0000"/>
                </a:solidFill>
                <a:latin typeface="Calibri" pitchFamily="34" charset="0"/>
                <a:ea typeface="Calibri" pitchFamily="34" charset="-122"/>
                <a:cs typeface="Calibri" pitchFamily="34" charset="-120"/>
              </a:rPr>
              <a:t>Computation</a:t>
            </a:r>
            <a:r>
              <a:rPr lang="en-US" sz="3200" b="1" dirty="0">
                <a:latin typeface="Calibri" pitchFamily="34" charset="0"/>
                <a:ea typeface="Calibri" pitchFamily="34" charset="-122"/>
                <a:cs typeface="Calibri" pitchFamily="34" charset="-120"/>
              </a:rPr>
              <a:t> to </a:t>
            </a:r>
            <a:r>
              <a:rPr lang="en-US" sz="3200" b="1" dirty="0">
                <a:solidFill>
                  <a:srgbClr val="362FEC"/>
                </a:solidFill>
                <a:latin typeface="Calibri" pitchFamily="34" charset="0"/>
                <a:ea typeface="Calibri" pitchFamily="34" charset="-122"/>
                <a:cs typeface="Calibri" pitchFamily="34" charset="-120"/>
              </a:rPr>
              <a:t>Language Models</a:t>
            </a:r>
            <a:endParaRPr lang="en-US" sz="3200" dirty="0">
              <a:solidFill>
                <a:srgbClr val="362FEC"/>
              </a:solidFill>
            </a:endParaRPr>
          </a:p>
        </p:txBody>
      </p:sp>
      <p:sp>
        <p:nvSpPr>
          <p:cNvPr id="3" name="!!computation">
            <a:extLst>
              <a:ext uri="{FF2B5EF4-FFF2-40B4-BE49-F238E27FC236}">
                <a16:creationId xmlns:a16="http://schemas.microsoft.com/office/drawing/2014/main" id="{24318C8D-4B51-C175-BBF7-28B6C807AC22}"/>
              </a:ext>
            </a:extLst>
          </p:cNvPr>
          <p:cNvSpPr txBox="1"/>
          <p:nvPr/>
        </p:nvSpPr>
        <p:spPr>
          <a:xfrm>
            <a:off x="168339" y="980102"/>
            <a:ext cx="6355080" cy="707886"/>
          </a:xfrm>
          <a:prstGeom prst="rect">
            <a:avLst/>
          </a:prstGeom>
          <a:noFill/>
        </p:spPr>
        <p:txBody>
          <a:bodyPr wrap="square" rtlCol="0">
            <a:spAutoFit/>
          </a:bodyPr>
          <a:lstStyle/>
          <a:p>
            <a:r>
              <a:rPr lang="en-US" sz="2000" dirty="0">
                <a:latin typeface="Calibri" panose="020F0502020204030204" pitchFamily="34" charset="0"/>
                <a:cs typeface="Calibri" panose="020F0502020204030204" pitchFamily="34" charset="0"/>
              </a:rPr>
              <a:t>This is taken even further by the ability to transform information: Computation.</a:t>
            </a:r>
          </a:p>
        </p:txBody>
      </p:sp>
      <p:sp>
        <p:nvSpPr>
          <p:cNvPr id="4" name="line 1936">
            <a:extLst>
              <a:ext uri="{FF2B5EF4-FFF2-40B4-BE49-F238E27FC236}">
                <a16:creationId xmlns:a16="http://schemas.microsoft.com/office/drawing/2014/main" id="{C9DF67C1-43FB-2996-59BA-F404CC84075C}"/>
              </a:ext>
            </a:extLst>
          </p:cNvPr>
          <p:cNvSpPr txBox="1"/>
          <p:nvPr/>
        </p:nvSpPr>
        <p:spPr>
          <a:xfrm>
            <a:off x="384048" y="1920240"/>
            <a:ext cx="6309360" cy="411480"/>
          </a:xfrm>
          <a:prstGeom prst="rect">
            <a:avLst/>
          </a:prstGeom>
          <a:noFill/>
          <a:ln>
            <a:noFill/>
          </a:ln>
        </p:spPr>
        <p:txBody>
          <a:bodyPr wrap="square" lIns="0" tIns="0" rIns="0" bIns="0" rtlCol="0" anchor="ctr"/>
          <a:lstStyle/>
          <a:p>
            <a:pPr marL="0" indent="0">
              <a:buNone/>
            </a:pPr>
            <a:r>
              <a:rPr lang="en-US" sz="2000" dirty="0">
                <a:solidFill>
                  <a:srgbClr val="362FEC"/>
                </a:solidFill>
                <a:latin typeface="Calibri" pitchFamily="34" charset="0"/>
                <a:ea typeface="Calibri" pitchFamily="34" charset="-122"/>
                <a:cs typeface="Calibri" pitchFamily="34" charset="-120"/>
              </a:rPr>
              <a:t>1936</a:t>
            </a:r>
            <a:r>
              <a:rPr lang="en-US" sz="2000" dirty="0">
                <a:solidFill>
                  <a:srgbClr val="000000"/>
                </a:solidFill>
                <a:latin typeface="Calibri" pitchFamily="34" charset="0"/>
                <a:ea typeface="Calibri" pitchFamily="34" charset="-122"/>
                <a:cs typeface="Calibri" pitchFamily="34" charset="-120"/>
              </a:rPr>
              <a:t>: </a:t>
            </a:r>
            <a:r>
              <a:rPr lang="en-US" sz="2000" dirty="0">
                <a:solidFill>
                  <a:srgbClr val="00B050"/>
                </a:solidFill>
                <a:latin typeface="Calibri" pitchFamily="34" charset="0"/>
                <a:ea typeface="Calibri" pitchFamily="34" charset="-122"/>
                <a:cs typeface="Calibri" pitchFamily="34" charset="-120"/>
              </a:rPr>
              <a:t>computation becomes a mathematical object</a:t>
            </a:r>
            <a:endParaRPr lang="en-US" sz="2000" dirty="0"/>
          </a:p>
        </p:txBody>
      </p:sp>
      <p:sp>
        <p:nvSpPr>
          <p:cNvPr id="5" name="line 1946">
            <a:extLst>
              <a:ext uri="{FF2B5EF4-FFF2-40B4-BE49-F238E27FC236}">
                <a16:creationId xmlns:a16="http://schemas.microsoft.com/office/drawing/2014/main" id="{C9DF67C1-43FB-2996-59BA-F404CC84075C}"/>
              </a:ext>
            </a:extLst>
          </p:cNvPr>
          <p:cNvSpPr txBox="1"/>
          <p:nvPr/>
        </p:nvSpPr>
        <p:spPr>
          <a:xfrm>
            <a:off x="384048" y="2340864"/>
            <a:ext cx="6309360" cy="411480"/>
          </a:xfrm>
          <a:prstGeom prst="rect">
            <a:avLst/>
          </a:prstGeom>
          <a:noFill/>
          <a:ln>
            <a:noFill/>
          </a:ln>
        </p:spPr>
        <p:txBody>
          <a:bodyPr wrap="square" lIns="0" tIns="0" rIns="0" bIns="0" rtlCol="0" anchor="ctr"/>
          <a:lstStyle/>
          <a:p>
            <a:pPr marL="0" indent="0">
              <a:buNone/>
            </a:pPr>
            <a:r>
              <a:rPr lang="en-US" sz="2000" dirty="0">
                <a:solidFill>
                  <a:srgbClr val="362FEC"/>
                </a:solidFill>
                <a:latin typeface="Calibri" pitchFamily="34" charset="0"/>
                <a:ea typeface="Calibri" pitchFamily="34" charset="-122"/>
                <a:cs typeface="Calibri" pitchFamily="34" charset="-120"/>
              </a:rPr>
              <a:t>1946–1947</a:t>
            </a:r>
            <a:r>
              <a:rPr lang="en-US" sz="2000" dirty="0">
                <a:solidFill>
                  <a:srgbClr val="000000"/>
                </a:solidFill>
                <a:latin typeface="Calibri" pitchFamily="34" charset="0"/>
                <a:ea typeface="Calibri" pitchFamily="34" charset="-122"/>
                <a:cs typeface="Calibri" pitchFamily="34" charset="-120"/>
              </a:rPr>
              <a:t>: </a:t>
            </a:r>
            <a:r>
              <a:rPr lang="en-US" sz="2000" dirty="0">
                <a:solidFill>
                  <a:srgbClr val="00B050"/>
                </a:solidFill>
                <a:latin typeface="Calibri" pitchFamily="34" charset="0"/>
                <a:ea typeface="Calibri" pitchFamily="34" charset="-122"/>
                <a:cs typeface="Calibri" pitchFamily="34" charset="-120"/>
              </a:rPr>
              <a:t>computers become physical objects</a:t>
            </a:r>
            <a:endParaRPr lang="en-US" sz="2000" dirty="0"/>
          </a:p>
        </p:txBody>
      </p:sp>
      <p:sp>
        <p:nvSpPr>
          <p:cNvPr id="6" name="line 1950">
            <a:extLst>
              <a:ext uri="{FF2B5EF4-FFF2-40B4-BE49-F238E27FC236}">
                <a16:creationId xmlns:a16="http://schemas.microsoft.com/office/drawing/2014/main" id="{C9DF67C1-43FB-2996-59BA-F404CC84075C}"/>
              </a:ext>
            </a:extLst>
          </p:cNvPr>
          <p:cNvSpPr txBox="1"/>
          <p:nvPr/>
        </p:nvSpPr>
        <p:spPr>
          <a:xfrm>
            <a:off x="384048" y="2761488"/>
            <a:ext cx="6309360" cy="411480"/>
          </a:xfrm>
          <a:prstGeom prst="rect">
            <a:avLst/>
          </a:prstGeom>
          <a:noFill/>
          <a:ln>
            <a:noFill/>
          </a:ln>
        </p:spPr>
        <p:txBody>
          <a:bodyPr wrap="square" lIns="0" tIns="0" rIns="0" bIns="0" rtlCol="0" anchor="ctr"/>
          <a:lstStyle/>
          <a:p>
            <a:pPr marL="0" indent="0">
              <a:buNone/>
            </a:pPr>
            <a:r>
              <a:rPr lang="en-US" sz="2000" dirty="0">
                <a:solidFill>
                  <a:srgbClr val="362FEC"/>
                </a:solidFill>
                <a:latin typeface="Calibri" pitchFamily="34" charset="0"/>
                <a:ea typeface="Calibri" pitchFamily="34" charset="-122"/>
                <a:cs typeface="Calibri" pitchFamily="34" charset="-120"/>
              </a:rPr>
              <a:t>1950</a:t>
            </a:r>
            <a:r>
              <a:rPr lang="en-US" sz="2000" dirty="0">
                <a:solidFill>
                  <a:srgbClr val="000000"/>
                </a:solidFill>
                <a:latin typeface="Calibri" pitchFamily="34" charset="0"/>
                <a:ea typeface="Calibri" pitchFamily="34" charset="-122"/>
                <a:cs typeface="Calibri" pitchFamily="34" charset="-120"/>
              </a:rPr>
              <a:t>: </a:t>
            </a:r>
            <a:r>
              <a:rPr lang="en-US" sz="2000" dirty="0">
                <a:solidFill>
                  <a:srgbClr val="00B050"/>
                </a:solidFill>
                <a:latin typeface="Calibri" pitchFamily="34" charset="0"/>
                <a:ea typeface="Calibri" pitchFamily="34" charset="-122"/>
                <a:cs typeface="Calibri" pitchFamily="34" charset="-120"/>
              </a:rPr>
              <a:t>the imitation game</a:t>
            </a:r>
            <a:endParaRPr lang="en-US" sz="2000" dirty="0"/>
          </a:p>
        </p:txBody>
      </p:sp>
      <p:sp>
        <p:nvSpPr>
          <p:cNvPr id="7" name="line 1955">
            <a:extLst>
              <a:ext uri="{FF2B5EF4-FFF2-40B4-BE49-F238E27FC236}">
                <a16:creationId xmlns:a16="http://schemas.microsoft.com/office/drawing/2014/main" id="{C9DF67C1-43FB-2996-59BA-F404CC84075C}"/>
              </a:ext>
            </a:extLst>
          </p:cNvPr>
          <p:cNvSpPr txBox="1"/>
          <p:nvPr/>
        </p:nvSpPr>
        <p:spPr>
          <a:xfrm>
            <a:off x="384048" y="3182112"/>
            <a:ext cx="6309360" cy="411480"/>
          </a:xfrm>
          <a:prstGeom prst="rect">
            <a:avLst/>
          </a:prstGeom>
          <a:noFill/>
          <a:ln>
            <a:noFill/>
          </a:ln>
        </p:spPr>
        <p:txBody>
          <a:bodyPr wrap="square" lIns="0" tIns="0" rIns="0" bIns="0" rtlCol="0" anchor="ctr"/>
          <a:lstStyle/>
          <a:p>
            <a:pPr marL="0" indent="0">
              <a:buNone/>
            </a:pPr>
            <a:r>
              <a:rPr lang="en-US" sz="2000" dirty="0">
                <a:solidFill>
                  <a:srgbClr val="362FEC"/>
                </a:solidFill>
                <a:latin typeface="Calibri" pitchFamily="34" charset="0"/>
                <a:ea typeface="Calibri" pitchFamily="34" charset="-122"/>
                <a:cs typeface="Calibri" pitchFamily="34" charset="-120"/>
              </a:rPr>
              <a:t>1955–1956</a:t>
            </a:r>
            <a:r>
              <a:rPr lang="en-US" sz="2000" dirty="0">
                <a:solidFill>
                  <a:srgbClr val="000000"/>
                </a:solidFill>
                <a:latin typeface="Calibri" pitchFamily="34" charset="0"/>
                <a:ea typeface="Calibri" pitchFamily="34" charset="-122"/>
                <a:cs typeface="Calibri" pitchFamily="34" charset="-120"/>
              </a:rPr>
              <a:t>: </a:t>
            </a:r>
            <a:r>
              <a:rPr lang="en-US" sz="2000" dirty="0">
                <a:solidFill>
                  <a:srgbClr val="00B050"/>
                </a:solidFill>
                <a:latin typeface="Calibri" pitchFamily="34" charset="0"/>
                <a:ea typeface="Calibri" pitchFamily="34" charset="-122"/>
                <a:cs typeface="Calibri" pitchFamily="34" charset="-120"/>
              </a:rPr>
              <a:t>artificial intelligence gets a name</a:t>
            </a:r>
            <a:endParaRPr lang="en-US" sz="2000" dirty="0"/>
          </a:p>
        </p:txBody>
      </p:sp>
      <p:sp>
        <p:nvSpPr>
          <p:cNvPr id="8" name="line 1958">
            <a:extLst>
              <a:ext uri="{FF2B5EF4-FFF2-40B4-BE49-F238E27FC236}">
                <a16:creationId xmlns:a16="http://schemas.microsoft.com/office/drawing/2014/main" id="{C9DF67C1-43FB-2996-59BA-F404CC84075C}"/>
              </a:ext>
            </a:extLst>
          </p:cNvPr>
          <p:cNvSpPr txBox="1"/>
          <p:nvPr/>
        </p:nvSpPr>
        <p:spPr>
          <a:xfrm>
            <a:off x="384048" y="3602736"/>
            <a:ext cx="6309360" cy="411480"/>
          </a:xfrm>
          <a:prstGeom prst="rect">
            <a:avLst/>
          </a:prstGeom>
          <a:noFill/>
          <a:ln>
            <a:noFill/>
          </a:ln>
        </p:spPr>
        <p:txBody>
          <a:bodyPr wrap="square" lIns="0" tIns="0" rIns="0" bIns="0" rtlCol="0" anchor="ctr"/>
          <a:lstStyle/>
          <a:p>
            <a:pPr marL="0" indent="0">
              <a:buNone/>
            </a:pPr>
            <a:r>
              <a:rPr lang="en-US" sz="2000" dirty="0">
                <a:solidFill>
                  <a:srgbClr val="362FEC"/>
                </a:solidFill>
                <a:latin typeface="Calibri" pitchFamily="34" charset="0"/>
                <a:ea typeface="Calibri" pitchFamily="34" charset="-122"/>
                <a:cs typeface="Calibri" pitchFamily="34" charset="-120"/>
              </a:rPr>
              <a:t>1958</a:t>
            </a:r>
            <a:r>
              <a:rPr lang="en-US" sz="2000" dirty="0">
                <a:solidFill>
                  <a:srgbClr val="000000"/>
                </a:solidFill>
                <a:latin typeface="Calibri" pitchFamily="34" charset="0"/>
                <a:ea typeface="Calibri" pitchFamily="34" charset="-122"/>
                <a:cs typeface="Calibri" pitchFamily="34" charset="-120"/>
              </a:rPr>
              <a:t>: </a:t>
            </a:r>
            <a:r>
              <a:rPr lang="en-US" sz="2000" dirty="0">
                <a:solidFill>
                  <a:srgbClr val="00B050"/>
                </a:solidFill>
                <a:latin typeface="Calibri" pitchFamily="34" charset="0"/>
                <a:ea typeface="Calibri" pitchFamily="34" charset="-122"/>
                <a:cs typeface="Calibri" pitchFamily="34" charset="-120"/>
              </a:rPr>
              <a:t>the perceptron learns from examples</a:t>
            </a:r>
            <a:endParaRPr lang="en-US" sz="2000" dirty="0"/>
          </a:p>
        </p:txBody>
      </p:sp>
      <p:sp>
        <p:nvSpPr>
          <p:cNvPr id="9" name="line 1986">
            <a:extLst>
              <a:ext uri="{FF2B5EF4-FFF2-40B4-BE49-F238E27FC236}">
                <a16:creationId xmlns:a16="http://schemas.microsoft.com/office/drawing/2014/main" id="{C9DF67C1-43FB-2996-59BA-F404CC84075C}"/>
              </a:ext>
            </a:extLst>
          </p:cNvPr>
          <p:cNvSpPr txBox="1"/>
          <p:nvPr/>
        </p:nvSpPr>
        <p:spPr>
          <a:xfrm>
            <a:off x="384048" y="4443984"/>
            <a:ext cx="6309360" cy="411480"/>
          </a:xfrm>
          <a:prstGeom prst="rect">
            <a:avLst/>
          </a:prstGeom>
          <a:noFill/>
          <a:ln>
            <a:noFill/>
          </a:ln>
        </p:spPr>
        <p:txBody>
          <a:bodyPr wrap="square" lIns="0" tIns="0" rIns="0" bIns="0" rtlCol="0" anchor="ctr"/>
          <a:lstStyle/>
          <a:p>
            <a:pPr marL="0" indent="0">
              <a:buNone/>
            </a:pPr>
            <a:r>
              <a:rPr lang="en-US" sz="2000" dirty="0">
                <a:solidFill>
                  <a:srgbClr val="362FEC"/>
                </a:solidFill>
                <a:latin typeface="Calibri" pitchFamily="34" charset="0"/>
                <a:ea typeface="Calibri" pitchFamily="34" charset="-122"/>
                <a:cs typeface="Calibri" pitchFamily="34" charset="-120"/>
              </a:rPr>
              <a:t>1986</a:t>
            </a:r>
            <a:r>
              <a:rPr lang="en-US" sz="2000" dirty="0">
                <a:solidFill>
                  <a:srgbClr val="000000"/>
                </a:solidFill>
                <a:latin typeface="Calibri" pitchFamily="34" charset="0"/>
                <a:ea typeface="Calibri" pitchFamily="34" charset="-122"/>
                <a:cs typeface="Calibri" pitchFamily="34" charset="-120"/>
              </a:rPr>
              <a:t>: </a:t>
            </a:r>
            <a:r>
              <a:rPr lang="en-US" sz="2000" dirty="0">
                <a:solidFill>
                  <a:srgbClr val="00B050"/>
                </a:solidFill>
                <a:latin typeface="Calibri" pitchFamily="34" charset="0"/>
                <a:ea typeface="Calibri" pitchFamily="34" charset="-122"/>
                <a:cs typeface="Calibri" pitchFamily="34" charset="-120"/>
              </a:rPr>
              <a:t>networks learn their own features</a:t>
            </a:r>
            <a:endParaRPr lang="en-US" sz="2000" dirty="0"/>
          </a:p>
        </p:txBody>
      </p:sp>
      <p:pic>
        <p:nvPicPr>
          <p:cNvPr id="10" name="network with gradients" descr="mlp.png"/>
          <p:cNvPicPr>
            <a:picLocks noChangeAspect="1"/>
          </p:cNvPicPr>
          <p:nvPr/>
        </p:nvPicPr>
        <p:blipFill>
          <a:blip r:embed="rId3"/>
          <a:stretch>
            <a:fillRect/>
          </a:stretch>
        </p:blipFill>
        <p:spPr>
          <a:xfrm>
            <a:off x="7086600" y="1097280"/>
            <a:ext cx="4572000" cy="3094264"/>
          </a:xfrm>
          <a:prstGeom prst="rect">
            <a:avLst/>
          </a:prstGeom>
        </p:spPr>
      </p:pic>
      <p:grpSp>
        <p:nvGrpSpPr>
          <p:cNvPr id="11" name="Rumelhart and Hinton"/>
          <p:cNvGrpSpPr/>
          <p:nvPr/>
        </p:nvGrpSpPr>
        <p:grpSpPr>
          <a:xfrm>
            <a:off x="7635240" y="4800600"/>
            <a:ext cx="3566160" cy="1645920"/>
            <a:chOff x="7635240" y="4800600"/>
            <a:chExt cx="3566160" cy="1645920"/>
          </a:xfrm>
        </p:grpSpPr>
        <p:pic>
          <p:nvPicPr>
            <p:cNvPr id="12" name="Picture 11" descr="rumelhart.jpg"/>
            <p:cNvPicPr>
              <a:picLocks noChangeAspect="1"/>
            </p:cNvPicPr>
            <p:nvPr/>
          </p:nvPicPr>
          <p:blipFill>
            <a:blip r:embed="rId4"/>
            <a:stretch>
              <a:fillRect/>
            </a:stretch>
          </p:blipFill>
          <p:spPr>
            <a:xfrm>
              <a:off x="7884070" y="4800600"/>
              <a:ext cx="1148258" cy="1325880"/>
            </a:xfrm>
            <a:prstGeom prst="rect">
              <a:avLst/>
            </a:prstGeom>
          </p:spPr>
        </p:pic>
        <p:sp>
          <p:nvSpPr>
            <p:cNvPr id="13" name="TextBox 12"/>
            <p:cNvSpPr txBox="1"/>
            <p:nvPr/>
          </p:nvSpPr>
          <p:spPr>
            <a:xfrm>
              <a:off x="7635240" y="6172200"/>
              <a:ext cx="1645920" cy="274320"/>
            </a:xfrm>
            <a:prstGeom prst="rect">
              <a:avLst/>
            </a:prstGeom>
            <a:noFill/>
          </p:spPr>
          <p:txBody>
            <a:bodyPr wrap="square" lIns="0" tIns="0" rIns="0" bIns="0" anchor="t">
              <a:spAutoFit/>
            </a:bodyPr>
            <a:lstStyle/>
            <a:p>
              <a:pPr algn="ctr"/>
              <a:r>
                <a:rPr sz="1400" b="0" i="0">
                  <a:solidFill>
                    <a:srgbClr val="595959"/>
                  </a:solidFill>
                  <a:latin typeface="Calibri"/>
                </a:rPr>
                <a:t>David Rumelhart</a:t>
              </a:r>
            </a:p>
          </p:txBody>
        </p:sp>
        <p:pic>
          <p:nvPicPr>
            <p:cNvPr id="14" name="Picture 13" descr="hinton.jpg"/>
            <p:cNvPicPr>
              <a:picLocks noChangeAspect="1"/>
            </p:cNvPicPr>
            <p:nvPr/>
          </p:nvPicPr>
          <p:blipFill>
            <a:blip r:embed="rId5"/>
            <a:stretch>
              <a:fillRect/>
            </a:stretch>
          </p:blipFill>
          <p:spPr>
            <a:xfrm>
              <a:off x="9718250" y="4800600"/>
              <a:ext cx="1320378" cy="1325880"/>
            </a:xfrm>
            <a:prstGeom prst="rect">
              <a:avLst/>
            </a:prstGeom>
          </p:spPr>
        </p:pic>
        <p:sp>
          <p:nvSpPr>
            <p:cNvPr id="15" name="TextBox 14"/>
            <p:cNvSpPr txBox="1"/>
            <p:nvPr/>
          </p:nvSpPr>
          <p:spPr>
            <a:xfrm>
              <a:off x="9555480" y="6172200"/>
              <a:ext cx="1645920" cy="274320"/>
            </a:xfrm>
            <a:prstGeom prst="rect">
              <a:avLst/>
            </a:prstGeom>
            <a:noFill/>
          </p:spPr>
          <p:txBody>
            <a:bodyPr wrap="square" lIns="0" tIns="0" rIns="0" bIns="0" anchor="t">
              <a:spAutoFit/>
            </a:bodyPr>
            <a:lstStyle/>
            <a:p>
              <a:pPr algn="ctr"/>
              <a:r>
                <a:rPr sz="1400" b="0" i="0">
                  <a:solidFill>
                    <a:srgbClr val="595959"/>
                  </a:solidFill>
                  <a:latin typeface="Calibri"/>
                </a:rPr>
                <a:t>Geoffrey Hinton</a:t>
              </a:r>
            </a:p>
          </p:txBody>
        </p:sp>
      </p:grpSp>
      <p:sp>
        <p:nvSpPr>
          <p:cNvPr id="16" name="description"/>
          <p:cNvSpPr txBox="1"/>
          <p:nvPr/>
        </p:nvSpPr>
        <p:spPr>
          <a:xfrm>
            <a:off x="6812280" y="4251960"/>
            <a:ext cx="5120640" cy="457200"/>
          </a:xfrm>
          <a:prstGeom prst="rect">
            <a:avLst/>
          </a:prstGeom>
          <a:noFill/>
        </p:spPr>
        <p:txBody>
          <a:bodyPr wrap="square" lIns="0" tIns="0" rIns="0" bIns="0" anchor="t">
            <a:spAutoFit/>
          </a:bodyPr>
          <a:lstStyle/>
          <a:p>
            <a:pPr algn="l"/>
            <a:r>
              <a:rPr sz="1300" b="0" i="0">
                <a:solidFill>
                  <a:srgbClr val="595959"/>
                </a:solidFill>
                <a:latin typeface="Calibri"/>
              </a:rPr>
              <a:t>The chain rule, run backwards, gives every weight's gradient in one pass, so hidden layers learn their own features: an early landmark of deep learning.</a:t>
            </a:r>
          </a:p>
        </p:txBody>
      </p:sp>
      <p:sp>
        <p:nvSpPr>
          <p:cNvPr id="17" name="line 1959"/>
          <p:cNvSpPr txBox="1"/>
          <p:nvPr/>
        </p:nvSpPr>
        <p:spPr>
          <a:xfrm>
            <a:off x="384048" y="4023360"/>
            <a:ext cx="6309360" cy="411480"/>
          </a:xfrm>
          <a:prstGeom prst="rect">
            <a:avLst/>
          </a:prstGeom>
          <a:noFill/>
          <a:ln>
            <a:noFill/>
          </a:ln>
        </p:spPr>
        <p:txBody>
          <a:bodyPr wrap="square" lIns="0" tIns="0" rIns="0" bIns="0" rtlCol="0" anchor="ctr"/>
          <a:lstStyle/>
          <a:p>
            <a:pPr marL="0" indent="0">
              <a:buNone/>
            </a:pPr>
            <a:r>
              <a:rPr lang="en-US" sz="2000" dirty="0">
                <a:solidFill>
                  <a:srgbClr val="362FEC"/>
                </a:solidFill>
                <a:latin typeface="Calibri" pitchFamily="34" charset="0"/>
                <a:ea typeface="Calibri" pitchFamily="34" charset="-122"/>
                <a:cs typeface="Calibri" pitchFamily="34" charset="-120"/>
              </a:rPr>
              <a:t>1959</a:t>
            </a:r>
            <a:r>
              <a:rPr lang="en-US" sz="2000" dirty="0">
                <a:solidFill>
                  <a:srgbClr val="000000"/>
                </a:solidFill>
                <a:latin typeface="Calibri" pitchFamily="34" charset="0"/>
                <a:ea typeface="Calibri" pitchFamily="34" charset="-122"/>
                <a:cs typeface="Calibri" pitchFamily="34" charset="-120"/>
              </a:rPr>
              <a:t>: </a:t>
            </a:r>
            <a:r>
              <a:rPr lang="en-US" sz="2000" dirty="0">
                <a:solidFill>
                  <a:srgbClr val="00B050"/>
                </a:solidFill>
                <a:latin typeface="Calibri" pitchFamily="34" charset="0"/>
                <a:ea typeface="Calibri" pitchFamily="34" charset="-122"/>
                <a:cs typeface="Calibri" pitchFamily="34" charset="-120"/>
              </a:rPr>
              <a:t>Samuel's checkers player learns from self-play</a:t>
            </a:r>
            <a:endParaRPr lang="en-US" sz="2000" dirty="0"/>
          </a:p>
        </p:txBody>
      </p:sp>
      <p:sp>
        <p:nvSpPr>
          <p:cNvPr id="18" name="tag ML"/>
          <p:cNvSpPr/>
          <p:nvPr/>
        </p:nvSpPr>
        <p:spPr>
          <a:xfrm>
            <a:off x="4971391" y="3671315"/>
            <a:ext cx="438912" cy="274320"/>
          </a:xfrm>
          <a:prstGeom prst="roundRect">
            <a:avLst>
              <a:gd name="adj" fmla="val 12000"/>
            </a:avLst>
          </a:prstGeom>
          <a:solidFill>
            <a:srgbClr val="D9F2E4"/>
          </a:solidFill>
          <a:ln w="15875">
            <a:solidFill>
              <a:srgbClr val="00B050"/>
            </a:solidFill>
          </a:ln>
        </p:spPr>
        <p:style>
          <a:lnRef idx="1">
            <a:schemeClr val="accent1"/>
          </a:lnRef>
          <a:fillRef idx="3">
            <a:schemeClr val="accent1"/>
          </a:fillRef>
          <a:effectRef idx="2">
            <a:schemeClr val="accent1"/>
          </a:effectRef>
          <a:fontRef idx="minor">
            <a:schemeClr val="lt1"/>
          </a:fontRef>
        </p:style>
        <p:txBody>
          <a:bodyPr rtlCol="0" anchor="ctr" wrap="square" lIns="45720" rIns="45720"/>
          <a:lstStyle/>
          <a:p>
            <a:pPr algn="ctr"/>
            <a:r>
              <a:rPr sz="1300" b="1">
                <a:solidFill>
                  <a:srgbClr val="00B050"/>
                </a:solidFill>
                <a:latin typeface="Calibri"/>
              </a:rPr>
              <a:t>ML</a:t>
            </a:r>
          </a:p>
        </p:txBody>
      </p:sp>
      <p:sp>
        <p:nvSpPr>
          <p:cNvPr id="19" name="tag RL"/>
          <p:cNvSpPr/>
          <p:nvPr/>
        </p:nvSpPr>
        <p:spPr>
          <a:xfrm>
            <a:off x="5864498" y="4091940"/>
            <a:ext cx="438912" cy="274320"/>
          </a:xfrm>
          <a:prstGeom prst="roundRect">
            <a:avLst>
              <a:gd name="adj" fmla="val 12000"/>
            </a:avLst>
          </a:prstGeom>
          <a:solidFill>
            <a:srgbClr val="FBE5D6"/>
          </a:solidFill>
          <a:ln w="15875">
            <a:solidFill>
              <a:srgbClr val="ED7D31"/>
            </a:solidFill>
          </a:ln>
        </p:spPr>
        <p:style>
          <a:lnRef idx="1">
            <a:schemeClr val="accent1"/>
          </a:lnRef>
          <a:fillRef idx="3">
            <a:schemeClr val="accent1"/>
          </a:fillRef>
          <a:effectRef idx="2">
            <a:schemeClr val="accent1"/>
          </a:effectRef>
          <a:fontRef idx="minor">
            <a:schemeClr val="lt1"/>
          </a:fontRef>
        </p:style>
        <p:txBody>
          <a:bodyPr rtlCol="0" anchor="ctr" wrap="square" lIns="45720" rIns="45720"/>
          <a:lstStyle/>
          <a:p>
            <a:pPr algn="ctr"/>
            <a:r>
              <a:rPr sz="1300" b="1">
                <a:solidFill>
                  <a:srgbClr val="ED7D31"/>
                </a:solidFill>
                <a:latin typeface="Calibri"/>
              </a:rPr>
              <a:t>RL</a:t>
            </a:r>
          </a:p>
        </p:txBody>
      </p:sp>
      <p:sp>
        <p:nvSpPr>
          <p:cNvPr id="20" name="tag DL"/>
          <p:cNvSpPr/>
          <p:nvPr/>
        </p:nvSpPr>
        <p:spPr>
          <a:xfrm>
            <a:off x="4654327" y="4512564"/>
            <a:ext cx="438912" cy="274320"/>
          </a:xfrm>
          <a:prstGeom prst="roundRect">
            <a:avLst>
              <a:gd name="adj" fmla="val 12000"/>
            </a:avLst>
          </a:prstGeom>
          <a:solidFill>
            <a:srgbClr val="E3E2FD"/>
          </a:solidFill>
          <a:ln w="15875">
            <a:solidFill>
              <a:srgbClr val="362FEC"/>
            </a:solidFill>
          </a:ln>
        </p:spPr>
        <p:style>
          <a:lnRef idx="1">
            <a:schemeClr val="accent1"/>
          </a:lnRef>
          <a:fillRef idx="3">
            <a:schemeClr val="accent1"/>
          </a:fillRef>
          <a:effectRef idx="2">
            <a:schemeClr val="accent1"/>
          </a:effectRef>
          <a:fontRef idx="minor">
            <a:schemeClr val="lt1"/>
          </a:fontRef>
        </p:style>
        <p:txBody>
          <a:bodyPr rtlCol="0" anchor="ctr" wrap="square" lIns="45720" rIns="45720"/>
          <a:lstStyle/>
          <a:p>
            <a:pPr algn="ctr"/>
            <a:r>
              <a:rPr sz="1300" b="1">
                <a:solidFill>
                  <a:srgbClr val="362FEC"/>
                </a:solidFill>
                <a:latin typeface="Calibri"/>
              </a:rPr>
              <a:t>DL</a:t>
            </a:r>
          </a:p>
        </p:txBody>
      </p:sp>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9"/>
                                        </p:tgtEl>
                                        <p:attrNameLst>
                                          <p:attrName>style.visibility</p:attrName>
                                        </p:attrNameLst>
                                      </p:cBhvr>
                                      <p:to>
                                        <p:strVal val="visible"/>
                                      </p:to>
                                    </p:set>
                                  </p:childTnLst>
                                </p:cTn>
                              </p:par>
                              <p:par>
                                <p:cTn id="7" presetID="1" presetClass="entr" presetSubtype="0" fill="hold" grpId="0" nodeType="withEffect">
                                  <p:stCondLst>
                                    <p:cond delay="0"/>
                                  </p:stCondLst>
                                  <p:childTnLst>
                                    <p:set>
                                      <p:cBhvr>
                                        <p:cTn id="8" dur="1" fill="hold">
                                          <p:stCondLst>
                                            <p:cond delay="0"/>
                                          </p:stCondLst>
                                        </p:cTn>
                                        <p:tgtEl>
                                          <p:spTgt spid="10"/>
                                        </p:tgtEl>
                                        <p:attrNameLst>
                                          <p:attrName>style.visibility</p:attrName>
                                        </p:attrNameLst>
                                      </p:cBhvr>
                                      <p:to>
                                        <p:strVal val="visible"/>
                                      </p:to>
                                    </p:set>
                                  </p:childTnLst>
                                </p:cTn>
                              </p:par>
                              <p:par>
                                <p:cTn id="9" presetID="1" presetClass="entr" presetSubtype="0" fill="hold" grpId="0" nodeType="withEffect">
                                  <p:stCondLst>
                                    <p:cond delay="0"/>
                                  </p:stCondLst>
                                  <p:childTnLst>
                                    <p:set>
                                      <p:cBhvr>
                                        <p:cTn id="10" dur="1" fill="hold">
                                          <p:stCondLst>
                                            <p:cond delay="0"/>
                                          </p:stCondLst>
                                        </p:cTn>
                                        <p:tgtEl>
                                          <p:spTgt spid="16"/>
                                        </p:tgtEl>
                                        <p:attrNameLst>
                                          <p:attrName>style.visibility</p:attrName>
                                        </p:attrNameLst>
                                      </p:cBhvr>
                                      <p:to>
                                        <p:strVal val="visible"/>
                                      </p:to>
                                    </p:set>
                                  </p:childTnLst>
                                </p:cTn>
                              </p:par>
                              <p:par>
                                <p:cTn id="11" presetID="1" presetClass="entr" presetSubtype="0" fill="hold" grpId="0" nodeType="withEffect">
                                  <p:stCondLst>
                                    <p:cond delay="0"/>
                                  </p:stCondLst>
                                  <p:childTnLst>
                                    <p:set>
                                      <p:cBhvr>
                                        <p:cTn id="12" dur="1" fill="hold">
                                          <p:stCondLst>
                                            <p:cond delay="0"/>
                                          </p:stCondLst>
                                        </p:cTn>
                                        <p:tgtEl>
                                          <p:spTgt spid="11"/>
                                        </p:tgtEl>
                                        <p:attrNameLst>
                                          <p:attrName>style.visibility</p:attrName>
                                        </p:attrNameLst>
                                      </p:cBhvr>
                                      <p:to>
                                        <p:strVal val="visible"/>
                                      </p:to>
                                    </p:set>
                                  </p:childTnLst>
                                </p:cTn>
                              </p:par>
                              <p:par>
                                <p:cTn id="13" presetID="1" presetClass="entr" presetSubtype="0" fill="hold" grpId="0" nodeType="withEffect">
                                  <p:stCondLst>
                                    <p:cond delay="0"/>
                                  </p:stCondLst>
                                  <p:childTnLst>
                                    <p:set>
                                      <p:cBhvr>
                                        <p:cTn id="14" dur="1" fill="hold">
                                          <p:stCondLst>
                                            <p:cond delay="0"/>
                                          </p:stCondLst>
                                        </p:cTn>
                                        <p:tgtEl>
                                          <p:spTgt spid="20"/>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9" grpId="0"/>
      <p:bldP spid="16" grpId="0"/>
      <p:bldP spid="20" grpId="0" animBg="1"/>
    </p:bldLst>
  </p:timing>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b0_2">
            <a:extLst>
              <a:ext uri="{FF2B5EF4-FFF2-40B4-BE49-F238E27FC236}">
                <a16:creationId xmlns:a16="http://schemas.microsoft.com/office/drawing/2014/main" id="{2BEE631D-71D0-C172-CB4C-F8D514EE049F}"/>
              </a:ext>
            </a:extLst>
          </p:cNvPr>
          <p:cNvSpPr txBox="1"/>
          <p:nvPr/>
        </p:nvSpPr>
        <p:spPr>
          <a:xfrm>
            <a:off x="0" y="148566"/>
            <a:ext cx="11680992" cy="548640"/>
          </a:xfrm>
          <a:prstGeom prst="rect">
            <a:avLst/>
          </a:prstGeom>
          <a:noFill/>
          <a:ln>
            <a:noFill/>
          </a:ln>
        </p:spPr>
        <p:txBody>
          <a:bodyPr wrap="square" rtlCol="0" anchor="ctr"/>
          <a:lstStyle/>
          <a:p>
            <a:r>
              <a:rPr lang="en-US" sz="3200" b="1" dirty="0">
                <a:latin typeface="Calibri" pitchFamily="34" charset="0"/>
                <a:ea typeface="Calibri" pitchFamily="34" charset="-122"/>
                <a:cs typeface="Calibri" pitchFamily="34" charset="-120"/>
              </a:rPr>
              <a:t>From </a:t>
            </a:r>
            <a:r>
              <a:rPr lang="en-US" sz="3200" b="1" dirty="0">
                <a:solidFill>
                  <a:srgbClr val="FF0000"/>
                </a:solidFill>
                <a:latin typeface="Calibri" pitchFamily="34" charset="0"/>
                <a:ea typeface="Calibri" pitchFamily="34" charset="-122"/>
                <a:cs typeface="Calibri" pitchFamily="34" charset="-120"/>
              </a:rPr>
              <a:t>Computation</a:t>
            </a:r>
            <a:r>
              <a:rPr lang="en-US" sz="3200" b="1" dirty="0">
                <a:latin typeface="Calibri" pitchFamily="34" charset="0"/>
                <a:ea typeface="Calibri" pitchFamily="34" charset="-122"/>
                <a:cs typeface="Calibri" pitchFamily="34" charset="-120"/>
              </a:rPr>
              <a:t> to </a:t>
            </a:r>
            <a:r>
              <a:rPr lang="en-US" sz="3200" b="1" dirty="0">
                <a:solidFill>
                  <a:srgbClr val="362FEC"/>
                </a:solidFill>
                <a:latin typeface="Calibri" pitchFamily="34" charset="0"/>
                <a:ea typeface="Calibri" pitchFamily="34" charset="-122"/>
                <a:cs typeface="Calibri" pitchFamily="34" charset="-120"/>
              </a:rPr>
              <a:t>Language Models</a:t>
            </a:r>
            <a:endParaRPr lang="en-US" sz="3200" dirty="0">
              <a:solidFill>
                <a:srgbClr val="362FEC"/>
              </a:solidFill>
            </a:endParaRPr>
          </a:p>
        </p:txBody>
      </p:sp>
      <p:sp>
        <p:nvSpPr>
          <p:cNvPr id="3" name="!!computation">
            <a:extLst>
              <a:ext uri="{FF2B5EF4-FFF2-40B4-BE49-F238E27FC236}">
                <a16:creationId xmlns:a16="http://schemas.microsoft.com/office/drawing/2014/main" id="{24318C8D-4B51-C175-BBF7-28B6C807AC22}"/>
              </a:ext>
            </a:extLst>
          </p:cNvPr>
          <p:cNvSpPr txBox="1"/>
          <p:nvPr/>
        </p:nvSpPr>
        <p:spPr>
          <a:xfrm>
            <a:off x="168339" y="980102"/>
            <a:ext cx="6355080" cy="707886"/>
          </a:xfrm>
          <a:prstGeom prst="rect">
            <a:avLst/>
          </a:prstGeom>
          <a:noFill/>
        </p:spPr>
        <p:txBody>
          <a:bodyPr wrap="square" rtlCol="0">
            <a:spAutoFit/>
          </a:bodyPr>
          <a:lstStyle/>
          <a:p>
            <a:r>
              <a:rPr lang="en-US" sz="2000" dirty="0">
                <a:latin typeface="Calibri" panose="020F0502020204030204" pitchFamily="34" charset="0"/>
                <a:cs typeface="Calibri" panose="020F0502020204030204" pitchFamily="34" charset="0"/>
              </a:rPr>
              <a:t>This is taken even further by the ability to transform information: Computation.</a:t>
            </a:r>
          </a:p>
        </p:txBody>
      </p:sp>
      <p:sp>
        <p:nvSpPr>
          <p:cNvPr id="4" name="line 1936">
            <a:extLst>
              <a:ext uri="{FF2B5EF4-FFF2-40B4-BE49-F238E27FC236}">
                <a16:creationId xmlns:a16="http://schemas.microsoft.com/office/drawing/2014/main" id="{C9DF67C1-43FB-2996-59BA-F404CC84075C}"/>
              </a:ext>
            </a:extLst>
          </p:cNvPr>
          <p:cNvSpPr txBox="1"/>
          <p:nvPr/>
        </p:nvSpPr>
        <p:spPr>
          <a:xfrm>
            <a:off x="384048" y="1920240"/>
            <a:ext cx="6309360" cy="411480"/>
          </a:xfrm>
          <a:prstGeom prst="rect">
            <a:avLst/>
          </a:prstGeom>
          <a:noFill/>
          <a:ln>
            <a:noFill/>
          </a:ln>
        </p:spPr>
        <p:txBody>
          <a:bodyPr wrap="square" lIns="0" tIns="0" rIns="0" bIns="0" rtlCol="0" anchor="ctr"/>
          <a:lstStyle/>
          <a:p>
            <a:pPr marL="0" indent="0">
              <a:buNone/>
            </a:pPr>
            <a:r>
              <a:rPr lang="en-US" sz="2000" dirty="0">
                <a:solidFill>
                  <a:srgbClr val="362FEC"/>
                </a:solidFill>
                <a:latin typeface="Calibri" pitchFamily="34" charset="0"/>
                <a:ea typeface="Calibri" pitchFamily="34" charset="-122"/>
                <a:cs typeface="Calibri" pitchFamily="34" charset="-120"/>
              </a:rPr>
              <a:t>1936</a:t>
            </a:r>
            <a:r>
              <a:rPr lang="en-US" sz="2000" dirty="0">
                <a:solidFill>
                  <a:srgbClr val="000000"/>
                </a:solidFill>
                <a:latin typeface="Calibri" pitchFamily="34" charset="0"/>
                <a:ea typeface="Calibri" pitchFamily="34" charset="-122"/>
                <a:cs typeface="Calibri" pitchFamily="34" charset="-120"/>
              </a:rPr>
              <a:t>: </a:t>
            </a:r>
            <a:r>
              <a:rPr lang="en-US" sz="2000" dirty="0">
                <a:solidFill>
                  <a:srgbClr val="00B050"/>
                </a:solidFill>
                <a:latin typeface="Calibri" pitchFamily="34" charset="0"/>
                <a:ea typeface="Calibri" pitchFamily="34" charset="-122"/>
                <a:cs typeface="Calibri" pitchFamily="34" charset="-120"/>
              </a:rPr>
              <a:t>computation becomes a mathematical object</a:t>
            </a:r>
            <a:endParaRPr lang="en-US" sz="2000" dirty="0"/>
          </a:p>
        </p:txBody>
      </p:sp>
      <p:sp>
        <p:nvSpPr>
          <p:cNvPr id="5" name="line 1946">
            <a:extLst>
              <a:ext uri="{FF2B5EF4-FFF2-40B4-BE49-F238E27FC236}">
                <a16:creationId xmlns:a16="http://schemas.microsoft.com/office/drawing/2014/main" id="{C9DF67C1-43FB-2996-59BA-F404CC84075C}"/>
              </a:ext>
            </a:extLst>
          </p:cNvPr>
          <p:cNvSpPr txBox="1"/>
          <p:nvPr/>
        </p:nvSpPr>
        <p:spPr>
          <a:xfrm>
            <a:off x="384048" y="2340864"/>
            <a:ext cx="6309360" cy="411480"/>
          </a:xfrm>
          <a:prstGeom prst="rect">
            <a:avLst/>
          </a:prstGeom>
          <a:noFill/>
          <a:ln>
            <a:noFill/>
          </a:ln>
        </p:spPr>
        <p:txBody>
          <a:bodyPr wrap="square" lIns="0" tIns="0" rIns="0" bIns="0" rtlCol="0" anchor="ctr"/>
          <a:lstStyle/>
          <a:p>
            <a:pPr marL="0" indent="0">
              <a:buNone/>
            </a:pPr>
            <a:r>
              <a:rPr lang="en-US" sz="2000" dirty="0">
                <a:solidFill>
                  <a:srgbClr val="362FEC"/>
                </a:solidFill>
                <a:latin typeface="Calibri" pitchFamily="34" charset="0"/>
                <a:ea typeface="Calibri" pitchFamily="34" charset="-122"/>
                <a:cs typeface="Calibri" pitchFamily="34" charset="-120"/>
              </a:rPr>
              <a:t>1946–1947</a:t>
            </a:r>
            <a:r>
              <a:rPr lang="en-US" sz="2000" dirty="0">
                <a:solidFill>
                  <a:srgbClr val="000000"/>
                </a:solidFill>
                <a:latin typeface="Calibri" pitchFamily="34" charset="0"/>
                <a:ea typeface="Calibri" pitchFamily="34" charset="-122"/>
                <a:cs typeface="Calibri" pitchFamily="34" charset="-120"/>
              </a:rPr>
              <a:t>: </a:t>
            </a:r>
            <a:r>
              <a:rPr lang="en-US" sz="2000" dirty="0">
                <a:solidFill>
                  <a:srgbClr val="00B050"/>
                </a:solidFill>
                <a:latin typeface="Calibri" pitchFamily="34" charset="0"/>
                <a:ea typeface="Calibri" pitchFamily="34" charset="-122"/>
                <a:cs typeface="Calibri" pitchFamily="34" charset="-120"/>
              </a:rPr>
              <a:t>computers become physical objects</a:t>
            </a:r>
            <a:endParaRPr lang="en-US" sz="2000" dirty="0"/>
          </a:p>
        </p:txBody>
      </p:sp>
      <p:sp>
        <p:nvSpPr>
          <p:cNvPr id="6" name="line 1950">
            <a:extLst>
              <a:ext uri="{FF2B5EF4-FFF2-40B4-BE49-F238E27FC236}">
                <a16:creationId xmlns:a16="http://schemas.microsoft.com/office/drawing/2014/main" id="{C9DF67C1-43FB-2996-59BA-F404CC84075C}"/>
              </a:ext>
            </a:extLst>
          </p:cNvPr>
          <p:cNvSpPr txBox="1"/>
          <p:nvPr/>
        </p:nvSpPr>
        <p:spPr>
          <a:xfrm>
            <a:off x="384048" y="2761488"/>
            <a:ext cx="6309360" cy="411480"/>
          </a:xfrm>
          <a:prstGeom prst="rect">
            <a:avLst/>
          </a:prstGeom>
          <a:noFill/>
          <a:ln>
            <a:noFill/>
          </a:ln>
        </p:spPr>
        <p:txBody>
          <a:bodyPr wrap="square" lIns="0" tIns="0" rIns="0" bIns="0" rtlCol="0" anchor="ctr"/>
          <a:lstStyle/>
          <a:p>
            <a:pPr marL="0" indent="0">
              <a:buNone/>
            </a:pPr>
            <a:r>
              <a:rPr lang="en-US" sz="2000" dirty="0">
                <a:solidFill>
                  <a:srgbClr val="362FEC"/>
                </a:solidFill>
                <a:latin typeface="Calibri" pitchFamily="34" charset="0"/>
                <a:ea typeface="Calibri" pitchFamily="34" charset="-122"/>
                <a:cs typeface="Calibri" pitchFamily="34" charset="-120"/>
              </a:rPr>
              <a:t>1950</a:t>
            </a:r>
            <a:r>
              <a:rPr lang="en-US" sz="2000" dirty="0">
                <a:solidFill>
                  <a:srgbClr val="000000"/>
                </a:solidFill>
                <a:latin typeface="Calibri" pitchFamily="34" charset="0"/>
                <a:ea typeface="Calibri" pitchFamily="34" charset="-122"/>
                <a:cs typeface="Calibri" pitchFamily="34" charset="-120"/>
              </a:rPr>
              <a:t>: </a:t>
            </a:r>
            <a:r>
              <a:rPr lang="en-US" sz="2000" dirty="0">
                <a:solidFill>
                  <a:srgbClr val="00B050"/>
                </a:solidFill>
                <a:latin typeface="Calibri" pitchFamily="34" charset="0"/>
                <a:ea typeface="Calibri" pitchFamily="34" charset="-122"/>
                <a:cs typeface="Calibri" pitchFamily="34" charset="-120"/>
              </a:rPr>
              <a:t>the imitation game</a:t>
            </a:r>
            <a:endParaRPr lang="en-US" sz="2000" dirty="0"/>
          </a:p>
        </p:txBody>
      </p:sp>
      <p:sp>
        <p:nvSpPr>
          <p:cNvPr id="7" name="line 1955">
            <a:extLst>
              <a:ext uri="{FF2B5EF4-FFF2-40B4-BE49-F238E27FC236}">
                <a16:creationId xmlns:a16="http://schemas.microsoft.com/office/drawing/2014/main" id="{C9DF67C1-43FB-2996-59BA-F404CC84075C}"/>
              </a:ext>
            </a:extLst>
          </p:cNvPr>
          <p:cNvSpPr txBox="1"/>
          <p:nvPr/>
        </p:nvSpPr>
        <p:spPr>
          <a:xfrm>
            <a:off x="384048" y="3182112"/>
            <a:ext cx="6309360" cy="411480"/>
          </a:xfrm>
          <a:prstGeom prst="rect">
            <a:avLst/>
          </a:prstGeom>
          <a:noFill/>
          <a:ln>
            <a:noFill/>
          </a:ln>
        </p:spPr>
        <p:txBody>
          <a:bodyPr wrap="square" lIns="0" tIns="0" rIns="0" bIns="0" rtlCol="0" anchor="ctr"/>
          <a:lstStyle/>
          <a:p>
            <a:pPr marL="0" indent="0">
              <a:buNone/>
            </a:pPr>
            <a:r>
              <a:rPr lang="en-US" sz="2000" dirty="0">
                <a:solidFill>
                  <a:srgbClr val="362FEC"/>
                </a:solidFill>
                <a:latin typeface="Calibri" pitchFamily="34" charset="0"/>
                <a:ea typeface="Calibri" pitchFamily="34" charset="-122"/>
                <a:cs typeface="Calibri" pitchFamily="34" charset="-120"/>
              </a:rPr>
              <a:t>1955–1956</a:t>
            </a:r>
            <a:r>
              <a:rPr lang="en-US" sz="2000" dirty="0">
                <a:solidFill>
                  <a:srgbClr val="000000"/>
                </a:solidFill>
                <a:latin typeface="Calibri" pitchFamily="34" charset="0"/>
                <a:ea typeface="Calibri" pitchFamily="34" charset="-122"/>
                <a:cs typeface="Calibri" pitchFamily="34" charset="-120"/>
              </a:rPr>
              <a:t>: </a:t>
            </a:r>
            <a:r>
              <a:rPr lang="en-US" sz="2000" dirty="0">
                <a:solidFill>
                  <a:srgbClr val="00B050"/>
                </a:solidFill>
                <a:latin typeface="Calibri" pitchFamily="34" charset="0"/>
                <a:ea typeface="Calibri" pitchFamily="34" charset="-122"/>
                <a:cs typeface="Calibri" pitchFamily="34" charset="-120"/>
              </a:rPr>
              <a:t>artificial intelligence gets a name</a:t>
            </a:r>
            <a:endParaRPr lang="en-US" sz="2000" dirty="0"/>
          </a:p>
        </p:txBody>
      </p:sp>
      <p:sp>
        <p:nvSpPr>
          <p:cNvPr id="8" name="line 1958">
            <a:extLst>
              <a:ext uri="{FF2B5EF4-FFF2-40B4-BE49-F238E27FC236}">
                <a16:creationId xmlns:a16="http://schemas.microsoft.com/office/drawing/2014/main" id="{C9DF67C1-43FB-2996-59BA-F404CC84075C}"/>
              </a:ext>
            </a:extLst>
          </p:cNvPr>
          <p:cNvSpPr txBox="1"/>
          <p:nvPr/>
        </p:nvSpPr>
        <p:spPr>
          <a:xfrm>
            <a:off x="384048" y="3602736"/>
            <a:ext cx="6309360" cy="411480"/>
          </a:xfrm>
          <a:prstGeom prst="rect">
            <a:avLst/>
          </a:prstGeom>
          <a:noFill/>
          <a:ln>
            <a:noFill/>
          </a:ln>
        </p:spPr>
        <p:txBody>
          <a:bodyPr wrap="square" lIns="0" tIns="0" rIns="0" bIns="0" rtlCol="0" anchor="ctr"/>
          <a:lstStyle/>
          <a:p>
            <a:pPr marL="0" indent="0">
              <a:buNone/>
            </a:pPr>
            <a:r>
              <a:rPr lang="en-US" sz="2000" dirty="0">
                <a:solidFill>
                  <a:srgbClr val="362FEC"/>
                </a:solidFill>
                <a:latin typeface="Calibri" pitchFamily="34" charset="0"/>
                <a:ea typeface="Calibri" pitchFamily="34" charset="-122"/>
                <a:cs typeface="Calibri" pitchFamily="34" charset="-120"/>
              </a:rPr>
              <a:t>1958</a:t>
            </a:r>
            <a:r>
              <a:rPr lang="en-US" sz="2000" dirty="0">
                <a:solidFill>
                  <a:srgbClr val="000000"/>
                </a:solidFill>
                <a:latin typeface="Calibri" pitchFamily="34" charset="0"/>
                <a:ea typeface="Calibri" pitchFamily="34" charset="-122"/>
                <a:cs typeface="Calibri" pitchFamily="34" charset="-120"/>
              </a:rPr>
              <a:t>: </a:t>
            </a:r>
            <a:r>
              <a:rPr lang="en-US" sz="2000" dirty="0">
                <a:solidFill>
                  <a:srgbClr val="00B050"/>
                </a:solidFill>
                <a:latin typeface="Calibri" pitchFamily="34" charset="0"/>
                <a:ea typeface="Calibri" pitchFamily="34" charset="-122"/>
                <a:cs typeface="Calibri" pitchFamily="34" charset="-120"/>
              </a:rPr>
              <a:t>the perceptron learns from examples</a:t>
            </a:r>
            <a:endParaRPr lang="en-US" sz="2000" dirty="0"/>
          </a:p>
        </p:txBody>
      </p:sp>
      <p:sp>
        <p:nvSpPr>
          <p:cNvPr id="9" name="line 1986">
            <a:extLst>
              <a:ext uri="{FF2B5EF4-FFF2-40B4-BE49-F238E27FC236}">
                <a16:creationId xmlns:a16="http://schemas.microsoft.com/office/drawing/2014/main" id="{C9DF67C1-43FB-2996-59BA-F404CC84075C}"/>
              </a:ext>
            </a:extLst>
          </p:cNvPr>
          <p:cNvSpPr txBox="1"/>
          <p:nvPr/>
        </p:nvSpPr>
        <p:spPr>
          <a:xfrm>
            <a:off x="384048" y="4443984"/>
            <a:ext cx="6309360" cy="411480"/>
          </a:xfrm>
          <a:prstGeom prst="rect">
            <a:avLst/>
          </a:prstGeom>
          <a:noFill/>
          <a:ln>
            <a:noFill/>
          </a:ln>
        </p:spPr>
        <p:txBody>
          <a:bodyPr wrap="square" lIns="0" tIns="0" rIns="0" bIns="0" rtlCol="0" anchor="ctr"/>
          <a:lstStyle/>
          <a:p>
            <a:pPr marL="0" indent="0">
              <a:buNone/>
            </a:pPr>
            <a:r>
              <a:rPr lang="en-US" sz="2000" dirty="0">
                <a:solidFill>
                  <a:srgbClr val="362FEC"/>
                </a:solidFill>
                <a:latin typeface="Calibri" pitchFamily="34" charset="0"/>
                <a:ea typeface="Calibri" pitchFamily="34" charset="-122"/>
                <a:cs typeface="Calibri" pitchFamily="34" charset="-120"/>
              </a:rPr>
              <a:t>1986</a:t>
            </a:r>
            <a:r>
              <a:rPr lang="en-US" sz="2000" dirty="0">
                <a:solidFill>
                  <a:srgbClr val="000000"/>
                </a:solidFill>
                <a:latin typeface="Calibri" pitchFamily="34" charset="0"/>
                <a:ea typeface="Calibri" pitchFamily="34" charset="-122"/>
                <a:cs typeface="Calibri" pitchFamily="34" charset="-120"/>
              </a:rPr>
              <a:t>: </a:t>
            </a:r>
            <a:r>
              <a:rPr lang="en-US" sz="2000" dirty="0">
                <a:solidFill>
                  <a:srgbClr val="00B050"/>
                </a:solidFill>
                <a:latin typeface="Calibri" pitchFamily="34" charset="0"/>
                <a:ea typeface="Calibri" pitchFamily="34" charset="-122"/>
                <a:cs typeface="Calibri" pitchFamily="34" charset="-120"/>
              </a:rPr>
              <a:t>networks learn their own features</a:t>
            </a:r>
            <a:endParaRPr lang="en-US" sz="2000" dirty="0"/>
          </a:p>
        </p:txBody>
      </p:sp>
      <p:sp>
        <p:nvSpPr>
          <p:cNvPr id="10" name="line 1997">
            <a:extLst>
              <a:ext uri="{FF2B5EF4-FFF2-40B4-BE49-F238E27FC236}">
                <a16:creationId xmlns:a16="http://schemas.microsoft.com/office/drawing/2014/main" id="{C9DF67C1-43FB-2996-59BA-F404CC84075C}"/>
              </a:ext>
            </a:extLst>
          </p:cNvPr>
          <p:cNvSpPr txBox="1"/>
          <p:nvPr/>
        </p:nvSpPr>
        <p:spPr>
          <a:xfrm>
            <a:off x="384048" y="4864608"/>
            <a:ext cx="6309360" cy="411480"/>
          </a:xfrm>
          <a:prstGeom prst="rect">
            <a:avLst/>
          </a:prstGeom>
          <a:noFill/>
          <a:ln>
            <a:noFill/>
          </a:ln>
        </p:spPr>
        <p:txBody>
          <a:bodyPr wrap="square" lIns="0" tIns="0" rIns="0" bIns="0" rtlCol="0" anchor="ctr"/>
          <a:lstStyle/>
          <a:p>
            <a:pPr marL="0" indent="0">
              <a:buNone/>
            </a:pPr>
            <a:r>
              <a:rPr lang="en-US" sz="2000" dirty="0">
                <a:solidFill>
                  <a:srgbClr val="362FEC"/>
                </a:solidFill>
                <a:latin typeface="Calibri" pitchFamily="34" charset="0"/>
                <a:ea typeface="Calibri" pitchFamily="34" charset="-122"/>
                <a:cs typeface="Calibri" pitchFamily="34" charset="-120"/>
              </a:rPr>
              <a:t>1997</a:t>
            </a:r>
            <a:r>
              <a:rPr lang="en-US" sz="2000" dirty="0">
                <a:solidFill>
                  <a:srgbClr val="000000"/>
                </a:solidFill>
                <a:latin typeface="Calibri" pitchFamily="34" charset="0"/>
                <a:ea typeface="Calibri" pitchFamily="34" charset="-122"/>
                <a:cs typeface="Calibri" pitchFamily="34" charset="-120"/>
              </a:rPr>
              <a:t>: </a:t>
            </a:r>
            <a:r>
              <a:rPr lang="en-US" sz="2000" dirty="0">
                <a:solidFill>
                  <a:srgbClr val="00B050"/>
                </a:solidFill>
                <a:latin typeface="Calibri" pitchFamily="34" charset="0"/>
                <a:ea typeface="Calibri" pitchFamily="34" charset="-122"/>
                <a:cs typeface="Calibri" pitchFamily="34" charset="-120"/>
              </a:rPr>
              <a:t>Deep Blue defeats Kasparov</a:t>
            </a:r>
            <a:endParaRPr lang="en-US" sz="2000" dirty="0"/>
          </a:p>
        </p:txBody>
      </p:sp>
      <p:pic>
        <p:nvPicPr>
          <p:cNvPr id="11" name="Picture 10" descr="kasparov_terminal.jpg"/>
          <p:cNvPicPr>
            <a:picLocks noChangeAspect="1"/>
          </p:cNvPicPr>
          <p:nvPr/>
        </p:nvPicPr>
        <p:blipFill>
          <a:blip r:embed="rId3"/>
          <a:stretch>
            <a:fillRect/>
          </a:stretch>
        </p:blipFill>
        <p:spPr>
          <a:xfrm>
            <a:off x="6812280" y="1188720"/>
            <a:ext cx="3269098" cy="2103120"/>
          </a:xfrm>
          <a:prstGeom prst="rect">
            <a:avLst/>
          </a:prstGeom>
        </p:spPr>
      </p:pic>
      <p:sp>
        <p:nvSpPr>
          <p:cNvPr id="12" name="TextBox 11"/>
          <p:cNvSpPr txBox="1"/>
          <p:nvPr/>
        </p:nvSpPr>
        <p:spPr>
          <a:xfrm>
            <a:off x="6812280" y="3337559"/>
            <a:ext cx="3269098" cy="274320"/>
          </a:xfrm>
          <a:prstGeom prst="rect">
            <a:avLst/>
          </a:prstGeom>
          <a:noFill/>
        </p:spPr>
        <p:txBody>
          <a:bodyPr wrap="square" lIns="0" tIns="0" rIns="0" bIns="0" anchor="t">
            <a:spAutoFit/>
          </a:bodyPr>
          <a:lstStyle/>
          <a:p>
            <a:pPr algn="ctr"/>
            <a:r>
              <a:rPr sz="1200" b="0" i="0">
                <a:solidFill>
                  <a:srgbClr val="595959"/>
                </a:solidFill>
                <a:latin typeface="Calibri"/>
              </a:rPr>
              <a:t>Kasparov against Deep Blue, 1996</a:t>
            </a:r>
          </a:p>
        </p:txBody>
      </p:sp>
      <p:pic>
        <p:nvPicPr>
          <p:cNvPr id="13" name="Picture 12" descr="deepblue.jpg"/>
          <p:cNvPicPr>
            <a:picLocks noChangeAspect="1"/>
          </p:cNvPicPr>
          <p:nvPr/>
        </p:nvPicPr>
        <p:blipFill>
          <a:blip r:embed="rId4"/>
          <a:stretch>
            <a:fillRect/>
          </a:stretch>
        </p:blipFill>
        <p:spPr>
          <a:xfrm>
            <a:off x="10515600" y="1188720"/>
            <a:ext cx="1399747" cy="2103120"/>
          </a:xfrm>
          <a:prstGeom prst="rect">
            <a:avLst/>
          </a:prstGeom>
        </p:spPr>
      </p:pic>
      <p:sp>
        <p:nvSpPr>
          <p:cNvPr id="14" name="TextBox 13"/>
          <p:cNvSpPr txBox="1"/>
          <p:nvPr/>
        </p:nvSpPr>
        <p:spPr>
          <a:xfrm>
            <a:off x="10241280" y="3337559"/>
            <a:ext cx="1948387" cy="274320"/>
          </a:xfrm>
          <a:prstGeom prst="rect">
            <a:avLst/>
          </a:prstGeom>
          <a:noFill/>
        </p:spPr>
        <p:txBody>
          <a:bodyPr wrap="square" lIns="0" tIns="0" rIns="0" bIns="0" anchor="t">
            <a:spAutoFit/>
          </a:bodyPr>
          <a:lstStyle/>
          <a:p>
            <a:pPr algn="ctr"/>
            <a:r>
              <a:rPr sz="1200" b="0" i="0">
                <a:solidFill>
                  <a:srgbClr val="595959"/>
                </a:solidFill>
                <a:latin typeface="Calibri"/>
              </a:rPr>
              <a:t>Deep Blue</a:t>
            </a:r>
          </a:p>
        </p:txBody>
      </p:sp>
      <p:pic>
        <p:nvPicPr>
          <p:cNvPr id="15" name="game tree" descr="deepblue_tree.png"/>
          <p:cNvPicPr>
            <a:picLocks noChangeAspect="1"/>
          </p:cNvPicPr>
          <p:nvPr/>
        </p:nvPicPr>
        <p:blipFill>
          <a:blip r:embed="rId5"/>
          <a:stretch>
            <a:fillRect/>
          </a:stretch>
        </p:blipFill>
        <p:spPr>
          <a:xfrm>
            <a:off x="8823960" y="3840480"/>
            <a:ext cx="3108960" cy="2448306"/>
          </a:xfrm>
          <a:prstGeom prst="rect">
            <a:avLst/>
          </a:prstGeom>
        </p:spPr>
      </p:pic>
      <p:sp>
        <p:nvSpPr>
          <p:cNvPr id="21" name="description"/>
          <p:cNvSpPr txBox="1"/>
          <p:nvPr/>
        </p:nvSpPr>
        <p:spPr>
          <a:xfrm>
            <a:off x="6812280" y="3977639"/>
            <a:ext cx="1920240" cy="2194560"/>
          </a:xfrm>
          <a:prstGeom prst="rect">
            <a:avLst/>
          </a:prstGeom>
          <a:noFill/>
        </p:spPr>
        <p:txBody>
          <a:bodyPr wrap="square" lIns="0" tIns="0" rIns="0" bIns="0" anchor="t">
            <a:spAutoFit/>
          </a:bodyPr>
          <a:lstStyle/>
          <a:p>
            <a:pPr algn="l"/>
            <a:r>
              <a:rPr sz="1400" b="0" i="0">
                <a:solidFill>
                  <a:srgbClr val="595959"/>
                </a:solidFill>
                <a:latin typeface="Calibri"/>
              </a:rPr>
              <a:t>Deep Blue searched up to 200 million positions a second and scored them with an evaluation function written by chess experts: a landmark of classical, search-based AI.</a:t>
            </a:r>
          </a:p>
        </p:txBody>
      </p:sp>
      <p:sp>
        <p:nvSpPr>
          <p:cNvPr id="22" name="line 1959"/>
          <p:cNvSpPr txBox="1"/>
          <p:nvPr/>
        </p:nvSpPr>
        <p:spPr>
          <a:xfrm>
            <a:off x="384048" y="4023360"/>
            <a:ext cx="6309360" cy="411480"/>
          </a:xfrm>
          <a:prstGeom prst="rect">
            <a:avLst/>
          </a:prstGeom>
          <a:noFill/>
          <a:ln>
            <a:noFill/>
          </a:ln>
        </p:spPr>
        <p:txBody>
          <a:bodyPr wrap="square" lIns="0" tIns="0" rIns="0" bIns="0" rtlCol="0" anchor="ctr"/>
          <a:lstStyle/>
          <a:p>
            <a:pPr marL="0" indent="0">
              <a:buNone/>
            </a:pPr>
            <a:r>
              <a:rPr lang="en-US" sz="2000" dirty="0">
                <a:solidFill>
                  <a:srgbClr val="362FEC"/>
                </a:solidFill>
                <a:latin typeface="Calibri" pitchFamily="34" charset="0"/>
                <a:ea typeface="Calibri" pitchFamily="34" charset="-122"/>
                <a:cs typeface="Calibri" pitchFamily="34" charset="-120"/>
              </a:rPr>
              <a:t>1959</a:t>
            </a:r>
            <a:r>
              <a:rPr lang="en-US" sz="2000" dirty="0">
                <a:solidFill>
                  <a:srgbClr val="000000"/>
                </a:solidFill>
                <a:latin typeface="Calibri" pitchFamily="34" charset="0"/>
                <a:ea typeface="Calibri" pitchFamily="34" charset="-122"/>
                <a:cs typeface="Calibri" pitchFamily="34" charset="-120"/>
              </a:rPr>
              <a:t>: </a:t>
            </a:r>
            <a:r>
              <a:rPr lang="en-US" sz="2000" dirty="0">
                <a:solidFill>
                  <a:srgbClr val="00B050"/>
                </a:solidFill>
                <a:latin typeface="Calibri" pitchFamily="34" charset="0"/>
                <a:ea typeface="Calibri" pitchFamily="34" charset="-122"/>
                <a:cs typeface="Calibri" pitchFamily="34" charset="-120"/>
              </a:rPr>
              <a:t>Samuel's checkers player learns from self-play</a:t>
            </a:r>
            <a:endParaRPr lang="en-US" sz="2000" dirty="0"/>
          </a:p>
        </p:txBody>
      </p:sp>
      <p:sp>
        <p:nvSpPr>
          <p:cNvPr id="23" name="tag ML"/>
          <p:cNvSpPr/>
          <p:nvPr/>
        </p:nvSpPr>
        <p:spPr>
          <a:xfrm>
            <a:off x="4971391" y="3671315"/>
            <a:ext cx="438912" cy="274320"/>
          </a:xfrm>
          <a:prstGeom prst="roundRect">
            <a:avLst>
              <a:gd name="adj" fmla="val 12000"/>
            </a:avLst>
          </a:prstGeom>
          <a:solidFill>
            <a:srgbClr val="D9F2E4"/>
          </a:solidFill>
          <a:ln w="15875">
            <a:solidFill>
              <a:srgbClr val="00B050"/>
            </a:solidFill>
          </a:ln>
        </p:spPr>
        <p:style>
          <a:lnRef idx="1">
            <a:schemeClr val="accent1"/>
          </a:lnRef>
          <a:fillRef idx="3">
            <a:schemeClr val="accent1"/>
          </a:fillRef>
          <a:effectRef idx="2">
            <a:schemeClr val="accent1"/>
          </a:effectRef>
          <a:fontRef idx="minor">
            <a:schemeClr val="lt1"/>
          </a:fontRef>
        </p:style>
        <p:txBody>
          <a:bodyPr rtlCol="0" anchor="ctr" wrap="square" lIns="45720" rIns="45720"/>
          <a:lstStyle/>
          <a:p>
            <a:pPr algn="ctr"/>
            <a:r>
              <a:rPr sz="1300" b="1">
                <a:solidFill>
                  <a:srgbClr val="00B050"/>
                </a:solidFill>
                <a:latin typeface="Calibri"/>
              </a:rPr>
              <a:t>ML</a:t>
            </a:r>
          </a:p>
        </p:txBody>
      </p:sp>
      <p:sp>
        <p:nvSpPr>
          <p:cNvPr id="24" name="tag RL"/>
          <p:cNvSpPr/>
          <p:nvPr/>
        </p:nvSpPr>
        <p:spPr>
          <a:xfrm>
            <a:off x="5864498" y="4091940"/>
            <a:ext cx="438912" cy="274320"/>
          </a:xfrm>
          <a:prstGeom prst="roundRect">
            <a:avLst>
              <a:gd name="adj" fmla="val 12000"/>
            </a:avLst>
          </a:prstGeom>
          <a:solidFill>
            <a:srgbClr val="FBE5D6"/>
          </a:solidFill>
          <a:ln w="15875">
            <a:solidFill>
              <a:srgbClr val="ED7D31"/>
            </a:solidFill>
          </a:ln>
        </p:spPr>
        <p:style>
          <a:lnRef idx="1">
            <a:schemeClr val="accent1"/>
          </a:lnRef>
          <a:fillRef idx="3">
            <a:schemeClr val="accent1"/>
          </a:fillRef>
          <a:effectRef idx="2">
            <a:schemeClr val="accent1"/>
          </a:effectRef>
          <a:fontRef idx="minor">
            <a:schemeClr val="lt1"/>
          </a:fontRef>
        </p:style>
        <p:txBody>
          <a:bodyPr rtlCol="0" anchor="ctr" wrap="square" lIns="45720" rIns="45720"/>
          <a:lstStyle/>
          <a:p>
            <a:pPr algn="ctr"/>
            <a:r>
              <a:rPr sz="1300" b="1">
                <a:solidFill>
                  <a:srgbClr val="ED7D31"/>
                </a:solidFill>
                <a:latin typeface="Calibri"/>
              </a:rPr>
              <a:t>RL</a:t>
            </a:r>
          </a:p>
        </p:txBody>
      </p:sp>
      <p:sp>
        <p:nvSpPr>
          <p:cNvPr id="25" name="tag DL"/>
          <p:cNvSpPr/>
          <p:nvPr/>
        </p:nvSpPr>
        <p:spPr>
          <a:xfrm>
            <a:off x="4654327" y="4512564"/>
            <a:ext cx="438912" cy="274320"/>
          </a:xfrm>
          <a:prstGeom prst="roundRect">
            <a:avLst>
              <a:gd name="adj" fmla="val 12000"/>
            </a:avLst>
          </a:prstGeom>
          <a:solidFill>
            <a:srgbClr val="E3E2FD"/>
          </a:solidFill>
          <a:ln w="15875">
            <a:solidFill>
              <a:srgbClr val="362FEC"/>
            </a:solidFill>
          </a:ln>
        </p:spPr>
        <p:style>
          <a:lnRef idx="1">
            <a:schemeClr val="accent1"/>
          </a:lnRef>
          <a:fillRef idx="3">
            <a:schemeClr val="accent1"/>
          </a:fillRef>
          <a:effectRef idx="2">
            <a:schemeClr val="accent1"/>
          </a:effectRef>
          <a:fontRef idx="minor">
            <a:schemeClr val="lt1"/>
          </a:fontRef>
        </p:style>
        <p:txBody>
          <a:bodyPr rtlCol="0" anchor="ctr" wrap="square" lIns="45720" rIns="45720"/>
          <a:lstStyle/>
          <a:p>
            <a:pPr algn="ctr"/>
            <a:r>
              <a:rPr sz="1300" b="1">
                <a:solidFill>
                  <a:srgbClr val="362FEC"/>
                </a:solidFill>
                <a:latin typeface="Calibri"/>
              </a:rPr>
              <a:t>DL</a:t>
            </a:r>
          </a:p>
        </p:txBody>
      </p:sp>
      <p:sp>
        <p:nvSpPr>
          <p:cNvPr id="26" name="tag AI"/>
          <p:cNvSpPr/>
          <p:nvPr/>
        </p:nvSpPr>
        <p:spPr>
          <a:xfrm>
            <a:off x="4018315" y="4933188"/>
            <a:ext cx="438912" cy="274320"/>
          </a:xfrm>
          <a:prstGeom prst="roundRect">
            <a:avLst>
              <a:gd name="adj" fmla="val 12000"/>
            </a:avLst>
          </a:prstGeom>
          <a:solidFill>
            <a:srgbClr val="FFE0E0"/>
          </a:solidFill>
          <a:ln w="15875">
            <a:solidFill>
              <a:srgbClr val="FF0000"/>
            </a:solidFill>
          </a:ln>
        </p:spPr>
        <p:style>
          <a:lnRef idx="1">
            <a:schemeClr val="accent1"/>
          </a:lnRef>
          <a:fillRef idx="3">
            <a:schemeClr val="accent1"/>
          </a:fillRef>
          <a:effectRef idx="2">
            <a:schemeClr val="accent1"/>
          </a:effectRef>
          <a:fontRef idx="minor">
            <a:schemeClr val="lt1"/>
          </a:fontRef>
        </p:style>
        <p:txBody>
          <a:bodyPr rtlCol="0" anchor="ctr" wrap="square" lIns="45720" rIns="45720"/>
          <a:lstStyle/>
          <a:p>
            <a:pPr algn="ctr"/>
            <a:r>
              <a:rPr sz="1300" b="1">
                <a:solidFill>
                  <a:srgbClr val="FF0000"/>
                </a:solidFill>
                <a:latin typeface="Calibri"/>
              </a:rPr>
              <a:t>AI</a:t>
            </a:r>
          </a:p>
        </p:txBody>
      </p:sp>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10"/>
                                        </p:tgtEl>
                                        <p:attrNameLst>
                                          <p:attrName>style.visibility</p:attrName>
                                        </p:attrNameLst>
                                      </p:cBhvr>
                                      <p:to>
                                        <p:strVal val="visible"/>
                                      </p:to>
                                    </p:set>
                                  </p:childTnLst>
                                </p:cTn>
                              </p:par>
                              <p:par>
                                <p:cTn id="7" presetID="1" presetClass="entr" presetSubtype="0" fill="hold" grpId="0" nodeType="withEffect">
                                  <p:stCondLst>
                                    <p:cond delay="0"/>
                                  </p:stCondLst>
                                  <p:childTnLst>
                                    <p:set>
                                      <p:cBhvr>
                                        <p:cTn id="8" dur="1" fill="hold">
                                          <p:stCondLst>
                                            <p:cond delay="0"/>
                                          </p:stCondLst>
                                        </p:cTn>
                                        <p:tgtEl>
                                          <p:spTgt spid="11"/>
                                        </p:tgtEl>
                                        <p:attrNameLst>
                                          <p:attrName>style.visibility</p:attrName>
                                        </p:attrNameLst>
                                      </p:cBhvr>
                                      <p:to>
                                        <p:strVal val="visible"/>
                                      </p:to>
                                    </p:set>
                                  </p:childTnLst>
                                </p:cTn>
                              </p:par>
                              <p:par>
                                <p:cTn id="9" presetID="1" presetClass="entr" presetSubtype="0" fill="hold" grpId="0" nodeType="withEffect">
                                  <p:stCondLst>
                                    <p:cond delay="0"/>
                                  </p:stCondLst>
                                  <p:childTnLst>
                                    <p:set>
                                      <p:cBhvr>
                                        <p:cTn id="10" dur="1" fill="hold">
                                          <p:stCondLst>
                                            <p:cond delay="0"/>
                                          </p:stCondLst>
                                        </p:cTn>
                                        <p:tgtEl>
                                          <p:spTgt spid="12"/>
                                        </p:tgtEl>
                                        <p:attrNameLst>
                                          <p:attrName>style.visibility</p:attrName>
                                        </p:attrNameLst>
                                      </p:cBhvr>
                                      <p:to>
                                        <p:strVal val="visible"/>
                                      </p:to>
                                    </p:set>
                                  </p:childTnLst>
                                </p:cTn>
                              </p:par>
                              <p:par>
                                <p:cTn id="11" presetID="1" presetClass="entr" presetSubtype="0" fill="hold" grpId="0" nodeType="withEffect">
                                  <p:stCondLst>
                                    <p:cond delay="0"/>
                                  </p:stCondLst>
                                  <p:childTnLst>
                                    <p:set>
                                      <p:cBhvr>
                                        <p:cTn id="12" dur="1" fill="hold">
                                          <p:stCondLst>
                                            <p:cond delay="0"/>
                                          </p:stCondLst>
                                        </p:cTn>
                                        <p:tgtEl>
                                          <p:spTgt spid="13"/>
                                        </p:tgtEl>
                                        <p:attrNameLst>
                                          <p:attrName>style.visibility</p:attrName>
                                        </p:attrNameLst>
                                      </p:cBhvr>
                                      <p:to>
                                        <p:strVal val="visible"/>
                                      </p:to>
                                    </p:set>
                                  </p:childTnLst>
                                </p:cTn>
                              </p:par>
                              <p:par>
                                <p:cTn id="13" presetID="1" presetClass="entr" presetSubtype="0" fill="hold" grpId="0" nodeType="withEffect">
                                  <p:stCondLst>
                                    <p:cond delay="0"/>
                                  </p:stCondLst>
                                  <p:childTnLst>
                                    <p:set>
                                      <p:cBhvr>
                                        <p:cTn id="14" dur="1" fill="hold">
                                          <p:stCondLst>
                                            <p:cond delay="0"/>
                                          </p:stCondLst>
                                        </p:cTn>
                                        <p:tgtEl>
                                          <p:spTgt spid="14"/>
                                        </p:tgtEl>
                                        <p:attrNameLst>
                                          <p:attrName>style.visibility</p:attrName>
                                        </p:attrNameLst>
                                      </p:cBhvr>
                                      <p:to>
                                        <p:strVal val="visible"/>
                                      </p:to>
                                    </p:set>
                                  </p:childTnLst>
                                </p:cTn>
                              </p:par>
                              <p:par>
                                <p:cTn id="15" presetID="1" presetClass="entr" presetSubtype="0" fill="hold" grpId="0" nodeType="withEffect">
                                  <p:stCondLst>
                                    <p:cond delay="0"/>
                                  </p:stCondLst>
                                  <p:childTnLst>
                                    <p:set>
                                      <p:cBhvr>
                                        <p:cTn id="16" dur="1" fill="hold">
                                          <p:stCondLst>
                                            <p:cond delay="0"/>
                                          </p:stCondLst>
                                        </p:cTn>
                                        <p:tgtEl>
                                          <p:spTgt spid="15"/>
                                        </p:tgtEl>
                                        <p:attrNameLst>
                                          <p:attrName>style.visibility</p:attrName>
                                        </p:attrNameLst>
                                      </p:cBhvr>
                                      <p:to>
                                        <p:strVal val="visible"/>
                                      </p:to>
                                    </p:set>
                                  </p:childTnLst>
                                </p:cTn>
                              </p:par>
                              <p:par>
                                <p:cTn id="17" presetID="1" presetClass="entr" presetSubtype="0" fill="hold" grpId="0" nodeType="withEffect">
                                  <p:stCondLst>
                                    <p:cond delay="0"/>
                                  </p:stCondLst>
                                  <p:childTnLst>
                                    <p:set>
                                      <p:cBhvr>
                                        <p:cTn id="18" dur="1" fill="hold">
                                          <p:stCondLst>
                                            <p:cond delay="0"/>
                                          </p:stCondLst>
                                        </p:cTn>
                                        <p:tgtEl>
                                          <p:spTgt spid="21"/>
                                        </p:tgtEl>
                                        <p:attrNameLst>
                                          <p:attrName>style.visibility</p:attrName>
                                        </p:attrNameLst>
                                      </p:cBhvr>
                                      <p:to>
                                        <p:strVal val="visible"/>
                                      </p:to>
                                    </p:set>
                                  </p:childTnLst>
                                </p:cTn>
                              </p:par>
                              <p:par>
                                <p:cTn id="19" presetID="1" presetClass="entr" presetSubtype="0" fill="hold" grpId="0" nodeType="withEffect">
                                  <p:stCondLst>
                                    <p:cond delay="0"/>
                                  </p:stCondLst>
                                  <p:childTnLst>
                                    <p:set>
                                      <p:cBhvr>
                                        <p:cTn id="20" dur="1" fill="hold">
                                          <p:stCondLst>
                                            <p:cond delay="0"/>
                                          </p:stCondLst>
                                        </p:cTn>
                                        <p:tgtEl>
                                          <p:spTgt spid="26"/>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0" grpId="0"/>
      <p:bldP spid="12" grpId="0"/>
      <p:bldP spid="14" grpId="0"/>
      <p:bldP spid="21" grpId="0"/>
      <p:bldP spid="26" grpId="0" animBg="1"/>
    </p:bldLst>
  </p:timing>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b0_2">
            <a:extLst>
              <a:ext uri="{FF2B5EF4-FFF2-40B4-BE49-F238E27FC236}">
                <a16:creationId xmlns:a16="http://schemas.microsoft.com/office/drawing/2014/main" id="{2BEE631D-71D0-C172-CB4C-F8D514EE049F}"/>
              </a:ext>
            </a:extLst>
          </p:cNvPr>
          <p:cNvSpPr txBox="1"/>
          <p:nvPr/>
        </p:nvSpPr>
        <p:spPr>
          <a:xfrm>
            <a:off x="0" y="148566"/>
            <a:ext cx="11680992" cy="548640"/>
          </a:xfrm>
          <a:prstGeom prst="rect">
            <a:avLst/>
          </a:prstGeom>
          <a:noFill/>
          <a:ln>
            <a:noFill/>
          </a:ln>
        </p:spPr>
        <p:txBody>
          <a:bodyPr wrap="square" rtlCol="0" anchor="ctr"/>
          <a:lstStyle/>
          <a:p>
            <a:r>
              <a:rPr lang="en-US" sz="3200" b="1" dirty="0">
                <a:latin typeface="Calibri" pitchFamily="34" charset="0"/>
                <a:ea typeface="Calibri" pitchFamily="34" charset="-122"/>
                <a:cs typeface="Calibri" pitchFamily="34" charset="-120"/>
              </a:rPr>
              <a:t>From </a:t>
            </a:r>
            <a:r>
              <a:rPr lang="en-US" sz="3200" b="1" dirty="0">
                <a:solidFill>
                  <a:srgbClr val="FF0000"/>
                </a:solidFill>
                <a:latin typeface="Calibri" pitchFamily="34" charset="0"/>
                <a:ea typeface="Calibri" pitchFamily="34" charset="-122"/>
                <a:cs typeface="Calibri" pitchFamily="34" charset="-120"/>
              </a:rPr>
              <a:t>Computation</a:t>
            </a:r>
            <a:r>
              <a:rPr lang="en-US" sz="3200" b="1" dirty="0">
                <a:latin typeface="Calibri" pitchFamily="34" charset="0"/>
                <a:ea typeface="Calibri" pitchFamily="34" charset="-122"/>
                <a:cs typeface="Calibri" pitchFamily="34" charset="-120"/>
              </a:rPr>
              <a:t> to </a:t>
            </a:r>
            <a:r>
              <a:rPr lang="en-US" sz="3200" b="1" dirty="0">
                <a:solidFill>
                  <a:srgbClr val="362FEC"/>
                </a:solidFill>
                <a:latin typeface="Calibri" pitchFamily="34" charset="0"/>
                <a:ea typeface="Calibri" pitchFamily="34" charset="-122"/>
                <a:cs typeface="Calibri" pitchFamily="34" charset="-120"/>
              </a:rPr>
              <a:t>Language Models</a:t>
            </a:r>
            <a:endParaRPr lang="en-US" sz="3200" dirty="0">
              <a:solidFill>
                <a:srgbClr val="362FEC"/>
              </a:solidFill>
            </a:endParaRPr>
          </a:p>
        </p:txBody>
      </p:sp>
      <p:sp>
        <p:nvSpPr>
          <p:cNvPr id="3" name="!!computation">
            <a:extLst>
              <a:ext uri="{FF2B5EF4-FFF2-40B4-BE49-F238E27FC236}">
                <a16:creationId xmlns:a16="http://schemas.microsoft.com/office/drawing/2014/main" id="{24318C8D-4B51-C175-BBF7-28B6C807AC22}"/>
              </a:ext>
            </a:extLst>
          </p:cNvPr>
          <p:cNvSpPr txBox="1"/>
          <p:nvPr/>
        </p:nvSpPr>
        <p:spPr>
          <a:xfrm>
            <a:off x="168339" y="980102"/>
            <a:ext cx="6355080" cy="707886"/>
          </a:xfrm>
          <a:prstGeom prst="rect">
            <a:avLst/>
          </a:prstGeom>
          <a:noFill/>
        </p:spPr>
        <p:txBody>
          <a:bodyPr wrap="square" rtlCol="0">
            <a:spAutoFit/>
          </a:bodyPr>
          <a:lstStyle/>
          <a:p>
            <a:r>
              <a:rPr lang="en-US" sz="2000" dirty="0">
                <a:latin typeface="Calibri" panose="020F0502020204030204" pitchFamily="34" charset="0"/>
                <a:cs typeface="Calibri" panose="020F0502020204030204" pitchFamily="34" charset="0"/>
              </a:rPr>
              <a:t>This is taken even further by the ability to transform information: Computation.</a:t>
            </a:r>
          </a:p>
        </p:txBody>
      </p:sp>
      <p:sp>
        <p:nvSpPr>
          <p:cNvPr id="4" name="line 1936">
            <a:extLst>
              <a:ext uri="{FF2B5EF4-FFF2-40B4-BE49-F238E27FC236}">
                <a16:creationId xmlns:a16="http://schemas.microsoft.com/office/drawing/2014/main" id="{C9DF67C1-43FB-2996-59BA-F404CC84075C}"/>
              </a:ext>
            </a:extLst>
          </p:cNvPr>
          <p:cNvSpPr txBox="1"/>
          <p:nvPr/>
        </p:nvSpPr>
        <p:spPr>
          <a:xfrm>
            <a:off x="384048" y="1920240"/>
            <a:ext cx="6309360" cy="411480"/>
          </a:xfrm>
          <a:prstGeom prst="rect">
            <a:avLst/>
          </a:prstGeom>
          <a:noFill/>
          <a:ln>
            <a:noFill/>
          </a:ln>
        </p:spPr>
        <p:txBody>
          <a:bodyPr wrap="square" lIns="0" tIns="0" rIns="0" bIns="0" rtlCol="0" anchor="ctr"/>
          <a:lstStyle/>
          <a:p>
            <a:pPr marL="0" indent="0">
              <a:buNone/>
            </a:pPr>
            <a:r>
              <a:rPr lang="en-US" sz="2000" dirty="0">
                <a:solidFill>
                  <a:srgbClr val="362FEC"/>
                </a:solidFill>
                <a:latin typeface="Calibri" pitchFamily="34" charset="0"/>
                <a:ea typeface="Calibri" pitchFamily="34" charset="-122"/>
                <a:cs typeface="Calibri" pitchFamily="34" charset="-120"/>
              </a:rPr>
              <a:t>1936</a:t>
            </a:r>
            <a:r>
              <a:rPr lang="en-US" sz="2000" dirty="0">
                <a:solidFill>
                  <a:srgbClr val="000000"/>
                </a:solidFill>
                <a:latin typeface="Calibri" pitchFamily="34" charset="0"/>
                <a:ea typeface="Calibri" pitchFamily="34" charset="-122"/>
                <a:cs typeface="Calibri" pitchFamily="34" charset="-120"/>
              </a:rPr>
              <a:t>: </a:t>
            </a:r>
            <a:r>
              <a:rPr lang="en-US" sz="2000" dirty="0">
                <a:solidFill>
                  <a:srgbClr val="00B050"/>
                </a:solidFill>
                <a:latin typeface="Calibri" pitchFamily="34" charset="0"/>
                <a:ea typeface="Calibri" pitchFamily="34" charset="-122"/>
                <a:cs typeface="Calibri" pitchFamily="34" charset="-120"/>
              </a:rPr>
              <a:t>computation becomes a mathematical object</a:t>
            </a:r>
            <a:endParaRPr lang="en-US" sz="2000" dirty="0"/>
          </a:p>
        </p:txBody>
      </p:sp>
      <p:sp>
        <p:nvSpPr>
          <p:cNvPr id="5" name="line 1946">
            <a:extLst>
              <a:ext uri="{FF2B5EF4-FFF2-40B4-BE49-F238E27FC236}">
                <a16:creationId xmlns:a16="http://schemas.microsoft.com/office/drawing/2014/main" id="{C9DF67C1-43FB-2996-59BA-F404CC84075C}"/>
              </a:ext>
            </a:extLst>
          </p:cNvPr>
          <p:cNvSpPr txBox="1"/>
          <p:nvPr/>
        </p:nvSpPr>
        <p:spPr>
          <a:xfrm>
            <a:off x="384048" y="2340864"/>
            <a:ext cx="6309360" cy="411480"/>
          </a:xfrm>
          <a:prstGeom prst="rect">
            <a:avLst/>
          </a:prstGeom>
          <a:noFill/>
          <a:ln>
            <a:noFill/>
          </a:ln>
        </p:spPr>
        <p:txBody>
          <a:bodyPr wrap="square" lIns="0" tIns="0" rIns="0" bIns="0" rtlCol="0" anchor="ctr"/>
          <a:lstStyle/>
          <a:p>
            <a:pPr marL="0" indent="0">
              <a:buNone/>
            </a:pPr>
            <a:r>
              <a:rPr lang="en-US" sz="2000" dirty="0">
                <a:solidFill>
                  <a:srgbClr val="362FEC"/>
                </a:solidFill>
                <a:latin typeface="Calibri" pitchFamily="34" charset="0"/>
                <a:ea typeface="Calibri" pitchFamily="34" charset="-122"/>
                <a:cs typeface="Calibri" pitchFamily="34" charset="-120"/>
              </a:rPr>
              <a:t>1946–1947</a:t>
            </a:r>
            <a:r>
              <a:rPr lang="en-US" sz="2000" dirty="0">
                <a:solidFill>
                  <a:srgbClr val="000000"/>
                </a:solidFill>
                <a:latin typeface="Calibri" pitchFamily="34" charset="0"/>
                <a:ea typeface="Calibri" pitchFamily="34" charset="-122"/>
                <a:cs typeface="Calibri" pitchFamily="34" charset="-120"/>
              </a:rPr>
              <a:t>: </a:t>
            </a:r>
            <a:r>
              <a:rPr lang="en-US" sz="2000" dirty="0">
                <a:solidFill>
                  <a:srgbClr val="00B050"/>
                </a:solidFill>
                <a:latin typeface="Calibri" pitchFamily="34" charset="0"/>
                <a:ea typeface="Calibri" pitchFamily="34" charset="-122"/>
                <a:cs typeface="Calibri" pitchFamily="34" charset="-120"/>
              </a:rPr>
              <a:t>computers become physical objects</a:t>
            </a:r>
            <a:endParaRPr lang="en-US" sz="2000" dirty="0"/>
          </a:p>
        </p:txBody>
      </p:sp>
      <p:sp>
        <p:nvSpPr>
          <p:cNvPr id="6" name="line 1950">
            <a:extLst>
              <a:ext uri="{FF2B5EF4-FFF2-40B4-BE49-F238E27FC236}">
                <a16:creationId xmlns:a16="http://schemas.microsoft.com/office/drawing/2014/main" id="{C9DF67C1-43FB-2996-59BA-F404CC84075C}"/>
              </a:ext>
            </a:extLst>
          </p:cNvPr>
          <p:cNvSpPr txBox="1"/>
          <p:nvPr/>
        </p:nvSpPr>
        <p:spPr>
          <a:xfrm>
            <a:off x="384048" y="2761488"/>
            <a:ext cx="6309360" cy="411480"/>
          </a:xfrm>
          <a:prstGeom prst="rect">
            <a:avLst/>
          </a:prstGeom>
          <a:noFill/>
          <a:ln>
            <a:noFill/>
          </a:ln>
        </p:spPr>
        <p:txBody>
          <a:bodyPr wrap="square" lIns="0" tIns="0" rIns="0" bIns="0" rtlCol="0" anchor="ctr"/>
          <a:lstStyle/>
          <a:p>
            <a:pPr marL="0" indent="0">
              <a:buNone/>
            </a:pPr>
            <a:r>
              <a:rPr lang="en-US" sz="2000" dirty="0">
                <a:solidFill>
                  <a:srgbClr val="362FEC"/>
                </a:solidFill>
                <a:latin typeface="Calibri" pitchFamily="34" charset="0"/>
                <a:ea typeface="Calibri" pitchFamily="34" charset="-122"/>
                <a:cs typeface="Calibri" pitchFamily="34" charset="-120"/>
              </a:rPr>
              <a:t>1950</a:t>
            </a:r>
            <a:r>
              <a:rPr lang="en-US" sz="2000" dirty="0">
                <a:solidFill>
                  <a:srgbClr val="000000"/>
                </a:solidFill>
                <a:latin typeface="Calibri" pitchFamily="34" charset="0"/>
                <a:ea typeface="Calibri" pitchFamily="34" charset="-122"/>
                <a:cs typeface="Calibri" pitchFamily="34" charset="-120"/>
              </a:rPr>
              <a:t>: </a:t>
            </a:r>
            <a:r>
              <a:rPr lang="en-US" sz="2000" dirty="0">
                <a:solidFill>
                  <a:srgbClr val="00B050"/>
                </a:solidFill>
                <a:latin typeface="Calibri" pitchFamily="34" charset="0"/>
                <a:ea typeface="Calibri" pitchFamily="34" charset="-122"/>
                <a:cs typeface="Calibri" pitchFamily="34" charset="-120"/>
              </a:rPr>
              <a:t>the imitation game</a:t>
            </a:r>
            <a:endParaRPr lang="en-US" sz="2000" dirty="0"/>
          </a:p>
        </p:txBody>
      </p:sp>
      <p:sp>
        <p:nvSpPr>
          <p:cNvPr id="7" name="line 1955">
            <a:extLst>
              <a:ext uri="{FF2B5EF4-FFF2-40B4-BE49-F238E27FC236}">
                <a16:creationId xmlns:a16="http://schemas.microsoft.com/office/drawing/2014/main" id="{C9DF67C1-43FB-2996-59BA-F404CC84075C}"/>
              </a:ext>
            </a:extLst>
          </p:cNvPr>
          <p:cNvSpPr txBox="1"/>
          <p:nvPr/>
        </p:nvSpPr>
        <p:spPr>
          <a:xfrm>
            <a:off x="384048" y="3182112"/>
            <a:ext cx="6309360" cy="411480"/>
          </a:xfrm>
          <a:prstGeom prst="rect">
            <a:avLst/>
          </a:prstGeom>
          <a:noFill/>
          <a:ln>
            <a:noFill/>
          </a:ln>
        </p:spPr>
        <p:txBody>
          <a:bodyPr wrap="square" lIns="0" tIns="0" rIns="0" bIns="0" rtlCol="0" anchor="ctr"/>
          <a:lstStyle/>
          <a:p>
            <a:pPr marL="0" indent="0">
              <a:buNone/>
            </a:pPr>
            <a:r>
              <a:rPr lang="en-US" sz="2000" dirty="0">
                <a:solidFill>
                  <a:srgbClr val="362FEC"/>
                </a:solidFill>
                <a:latin typeface="Calibri" pitchFamily="34" charset="0"/>
                <a:ea typeface="Calibri" pitchFamily="34" charset="-122"/>
                <a:cs typeface="Calibri" pitchFamily="34" charset="-120"/>
              </a:rPr>
              <a:t>1955–1956</a:t>
            </a:r>
            <a:r>
              <a:rPr lang="en-US" sz="2000" dirty="0">
                <a:solidFill>
                  <a:srgbClr val="000000"/>
                </a:solidFill>
                <a:latin typeface="Calibri" pitchFamily="34" charset="0"/>
                <a:ea typeface="Calibri" pitchFamily="34" charset="-122"/>
                <a:cs typeface="Calibri" pitchFamily="34" charset="-120"/>
              </a:rPr>
              <a:t>: </a:t>
            </a:r>
            <a:r>
              <a:rPr lang="en-US" sz="2000" dirty="0">
                <a:solidFill>
                  <a:srgbClr val="00B050"/>
                </a:solidFill>
                <a:latin typeface="Calibri" pitchFamily="34" charset="0"/>
                <a:ea typeface="Calibri" pitchFamily="34" charset="-122"/>
                <a:cs typeface="Calibri" pitchFamily="34" charset="-120"/>
              </a:rPr>
              <a:t>artificial intelligence gets a name</a:t>
            </a:r>
            <a:endParaRPr lang="en-US" sz="2000" dirty="0"/>
          </a:p>
        </p:txBody>
      </p:sp>
      <p:sp>
        <p:nvSpPr>
          <p:cNvPr id="8" name="line 1958">
            <a:extLst>
              <a:ext uri="{FF2B5EF4-FFF2-40B4-BE49-F238E27FC236}">
                <a16:creationId xmlns:a16="http://schemas.microsoft.com/office/drawing/2014/main" id="{C9DF67C1-43FB-2996-59BA-F404CC84075C}"/>
              </a:ext>
            </a:extLst>
          </p:cNvPr>
          <p:cNvSpPr txBox="1"/>
          <p:nvPr/>
        </p:nvSpPr>
        <p:spPr>
          <a:xfrm>
            <a:off x="384048" y="3602736"/>
            <a:ext cx="6309360" cy="411480"/>
          </a:xfrm>
          <a:prstGeom prst="rect">
            <a:avLst/>
          </a:prstGeom>
          <a:noFill/>
          <a:ln>
            <a:noFill/>
          </a:ln>
        </p:spPr>
        <p:txBody>
          <a:bodyPr wrap="square" lIns="0" tIns="0" rIns="0" bIns="0" rtlCol="0" anchor="ctr"/>
          <a:lstStyle/>
          <a:p>
            <a:pPr marL="0" indent="0">
              <a:buNone/>
            </a:pPr>
            <a:r>
              <a:rPr lang="en-US" sz="2000" dirty="0">
                <a:solidFill>
                  <a:srgbClr val="362FEC"/>
                </a:solidFill>
                <a:latin typeface="Calibri" pitchFamily="34" charset="0"/>
                <a:ea typeface="Calibri" pitchFamily="34" charset="-122"/>
                <a:cs typeface="Calibri" pitchFamily="34" charset="-120"/>
              </a:rPr>
              <a:t>1958</a:t>
            </a:r>
            <a:r>
              <a:rPr lang="en-US" sz="2000" dirty="0">
                <a:solidFill>
                  <a:srgbClr val="000000"/>
                </a:solidFill>
                <a:latin typeface="Calibri" pitchFamily="34" charset="0"/>
                <a:ea typeface="Calibri" pitchFamily="34" charset="-122"/>
                <a:cs typeface="Calibri" pitchFamily="34" charset="-120"/>
              </a:rPr>
              <a:t>: </a:t>
            </a:r>
            <a:r>
              <a:rPr lang="en-US" sz="2000" dirty="0">
                <a:solidFill>
                  <a:srgbClr val="00B050"/>
                </a:solidFill>
                <a:latin typeface="Calibri" pitchFamily="34" charset="0"/>
                <a:ea typeface="Calibri" pitchFamily="34" charset="-122"/>
                <a:cs typeface="Calibri" pitchFamily="34" charset="-120"/>
              </a:rPr>
              <a:t>the perceptron learns from examples</a:t>
            </a:r>
            <a:endParaRPr lang="en-US" sz="2000" dirty="0"/>
          </a:p>
        </p:txBody>
      </p:sp>
      <p:sp>
        <p:nvSpPr>
          <p:cNvPr id="9" name="line 1986">
            <a:extLst>
              <a:ext uri="{FF2B5EF4-FFF2-40B4-BE49-F238E27FC236}">
                <a16:creationId xmlns:a16="http://schemas.microsoft.com/office/drawing/2014/main" id="{C9DF67C1-43FB-2996-59BA-F404CC84075C}"/>
              </a:ext>
            </a:extLst>
          </p:cNvPr>
          <p:cNvSpPr txBox="1"/>
          <p:nvPr/>
        </p:nvSpPr>
        <p:spPr>
          <a:xfrm>
            <a:off x="384048" y="4443984"/>
            <a:ext cx="6309360" cy="411480"/>
          </a:xfrm>
          <a:prstGeom prst="rect">
            <a:avLst/>
          </a:prstGeom>
          <a:noFill/>
          <a:ln>
            <a:noFill/>
          </a:ln>
        </p:spPr>
        <p:txBody>
          <a:bodyPr wrap="square" lIns="0" tIns="0" rIns="0" bIns="0" rtlCol="0" anchor="ctr"/>
          <a:lstStyle/>
          <a:p>
            <a:pPr marL="0" indent="0">
              <a:buNone/>
            </a:pPr>
            <a:r>
              <a:rPr lang="en-US" sz="2000" dirty="0">
                <a:solidFill>
                  <a:srgbClr val="362FEC"/>
                </a:solidFill>
                <a:latin typeface="Calibri" pitchFamily="34" charset="0"/>
                <a:ea typeface="Calibri" pitchFamily="34" charset="-122"/>
                <a:cs typeface="Calibri" pitchFamily="34" charset="-120"/>
              </a:rPr>
              <a:t>1986</a:t>
            </a:r>
            <a:r>
              <a:rPr lang="en-US" sz="2000" dirty="0">
                <a:solidFill>
                  <a:srgbClr val="000000"/>
                </a:solidFill>
                <a:latin typeface="Calibri" pitchFamily="34" charset="0"/>
                <a:ea typeface="Calibri" pitchFamily="34" charset="-122"/>
                <a:cs typeface="Calibri" pitchFamily="34" charset="-120"/>
              </a:rPr>
              <a:t>: </a:t>
            </a:r>
            <a:r>
              <a:rPr lang="en-US" sz="2000" dirty="0">
                <a:solidFill>
                  <a:srgbClr val="00B050"/>
                </a:solidFill>
                <a:latin typeface="Calibri" pitchFamily="34" charset="0"/>
                <a:ea typeface="Calibri" pitchFamily="34" charset="-122"/>
                <a:cs typeface="Calibri" pitchFamily="34" charset="-120"/>
              </a:rPr>
              <a:t>networks learn their own features</a:t>
            </a:r>
            <a:endParaRPr lang="en-US" sz="2000" dirty="0"/>
          </a:p>
        </p:txBody>
      </p:sp>
      <p:sp>
        <p:nvSpPr>
          <p:cNvPr id="10" name="line 1997">
            <a:extLst>
              <a:ext uri="{FF2B5EF4-FFF2-40B4-BE49-F238E27FC236}">
                <a16:creationId xmlns:a16="http://schemas.microsoft.com/office/drawing/2014/main" id="{C9DF67C1-43FB-2996-59BA-F404CC84075C}"/>
              </a:ext>
            </a:extLst>
          </p:cNvPr>
          <p:cNvSpPr txBox="1"/>
          <p:nvPr/>
        </p:nvSpPr>
        <p:spPr>
          <a:xfrm>
            <a:off x="384048" y="4864608"/>
            <a:ext cx="6309360" cy="411480"/>
          </a:xfrm>
          <a:prstGeom prst="rect">
            <a:avLst/>
          </a:prstGeom>
          <a:noFill/>
          <a:ln>
            <a:noFill/>
          </a:ln>
        </p:spPr>
        <p:txBody>
          <a:bodyPr wrap="square" lIns="0" tIns="0" rIns="0" bIns="0" rtlCol="0" anchor="ctr"/>
          <a:lstStyle/>
          <a:p>
            <a:pPr marL="0" indent="0">
              <a:buNone/>
            </a:pPr>
            <a:r>
              <a:rPr lang="en-US" sz="2000" dirty="0">
                <a:solidFill>
                  <a:srgbClr val="362FEC"/>
                </a:solidFill>
                <a:latin typeface="Calibri" pitchFamily="34" charset="0"/>
                <a:ea typeface="Calibri" pitchFamily="34" charset="-122"/>
                <a:cs typeface="Calibri" pitchFamily="34" charset="-120"/>
              </a:rPr>
              <a:t>1997</a:t>
            </a:r>
            <a:r>
              <a:rPr lang="en-US" sz="2000" dirty="0">
                <a:solidFill>
                  <a:srgbClr val="000000"/>
                </a:solidFill>
                <a:latin typeface="Calibri" pitchFamily="34" charset="0"/>
                <a:ea typeface="Calibri" pitchFamily="34" charset="-122"/>
                <a:cs typeface="Calibri" pitchFamily="34" charset="-120"/>
              </a:rPr>
              <a:t>: </a:t>
            </a:r>
            <a:r>
              <a:rPr lang="en-US" sz="2000" dirty="0">
                <a:solidFill>
                  <a:srgbClr val="00B050"/>
                </a:solidFill>
                <a:latin typeface="Calibri" pitchFamily="34" charset="0"/>
                <a:ea typeface="Calibri" pitchFamily="34" charset="-122"/>
                <a:cs typeface="Calibri" pitchFamily="34" charset="-120"/>
              </a:rPr>
              <a:t>Deep Blue defeats Kasparov</a:t>
            </a:r>
            <a:endParaRPr lang="en-US" sz="2000" dirty="0"/>
          </a:p>
        </p:txBody>
      </p:sp>
      <p:sp>
        <p:nvSpPr>
          <p:cNvPr id="11" name="line 2012">
            <a:extLst>
              <a:ext uri="{FF2B5EF4-FFF2-40B4-BE49-F238E27FC236}">
                <a16:creationId xmlns:a16="http://schemas.microsoft.com/office/drawing/2014/main" id="{C9DF67C1-43FB-2996-59BA-F404CC84075C}"/>
              </a:ext>
            </a:extLst>
          </p:cNvPr>
          <p:cNvSpPr txBox="1"/>
          <p:nvPr/>
        </p:nvSpPr>
        <p:spPr>
          <a:xfrm>
            <a:off x="384048" y="5285232"/>
            <a:ext cx="6309360" cy="411480"/>
          </a:xfrm>
          <a:prstGeom prst="rect">
            <a:avLst/>
          </a:prstGeom>
          <a:noFill/>
          <a:ln>
            <a:noFill/>
          </a:ln>
        </p:spPr>
        <p:txBody>
          <a:bodyPr wrap="square" lIns="0" tIns="0" rIns="0" bIns="0" rtlCol="0" anchor="ctr"/>
          <a:lstStyle/>
          <a:p>
            <a:pPr marL="0" indent="0">
              <a:buNone/>
            </a:pPr>
            <a:r>
              <a:rPr lang="en-US" sz="2000" dirty="0">
                <a:solidFill>
                  <a:srgbClr val="362FEC"/>
                </a:solidFill>
                <a:latin typeface="Calibri" pitchFamily="34" charset="0"/>
                <a:ea typeface="Calibri" pitchFamily="34" charset="-122"/>
                <a:cs typeface="Calibri" pitchFamily="34" charset="-120"/>
              </a:rPr>
              <a:t>2012</a:t>
            </a:r>
            <a:r>
              <a:rPr lang="en-US" sz="2000" dirty="0">
                <a:solidFill>
                  <a:srgbClr val="000000"/>
                </a:solidFill>
                <a:latin typeface="Calibri" pitchFamily="34" charset="0"/>
                <a:ea typeface="Calibri" pitchFamily="34" charset="-122"/>
                <a:cs typeface="Calibri" pitchFamily="34" charset="-120"/>
              </a:rPr>
              <a:t>: </a:t>
            </a:r>
            <a:r>
              <a:rPr lang="en-US" sz="2000" dirty="0">
                <a:solidFill>
                  <a:srgbClr val="00B050"/>
                </a:solidFill>
                <a:latin typeface="Calibri" pitchFamily="34" charset="0"/>
                <a:ea typeface="Calibri" pitchFamily="34" charset="-122"/>
                <a:cs typeface="Calibri" pitchFamily="34" charset="-120"/>
              </a:rPr>
              <a:t>AlexNet wins ImageNet</a:t>
            </a:r>
            <a:endParaRPr lang="en-US" sz="2000" dirty="0"/>
          </a:p>
        </p:txBody>
      </p:sp>
      <p:pic>
        <p:nvPicPr>
          <p:cNvPr id="12" name="ImageNet errors" descr="imagenet.png"/>
          <p:cNvPicPr>
            <a:picLocks noChangeAspect="1"/>
          </p:cNvPicPr>
          <p:nvPr/>
        </p:nvPicPr>
        <p:blipFill>
          <a:blip r:embed="rId3"/>
          <a:stretch>
            <a:fillRect/>
          </a:stretch>
        </p:blipFill>
        <p:spPr>
          <a:xfrm>
            <a:off x="6812280" y="1234440"/>
            <a:ext cx="5120640" cy="3795054"/>
          </a:xfrm>
          <a:prstGeom prst="rect">
            <a:avLst/>
          </a:prstGeom>
        </p:spPr>
      </p:pic>
      <p:sp>
        <p:nvSpPr>
          <p:cNvPr id="13" name="description"/>
          <p:cNvSpPr txBox="1"/>
          <p:nvPr/>
        </p:nvSpPr>
        <p:spPr>
          <a:xfrm>
            <a:off x="6812280" y="5166360"/>
            <a:ext cx="5120640" cy="685800"/>
          </a:xfrm>
          <a:prstGeom prst="rect">
            <a:avLst/>
          </a:prstGeom>
          <a:noFill/>
        </p:spPr>
        <p:txBody>
          <a:bodyPr wrap="square" lIns="0" tIns="0" rIns="0" bIns="0" anchor="t">
            <a:spAutoFit/>
          </a:bodyPr>
          <a:lstStyle/>
          <a:p>
            <a:pPr algn="l"/>
            <a:r>
              <a:rPr sz="1400" b="0" i="0">
                <a:solidFill>
                  <a:srgbClr val="595959"/>
                </a:solidFill>
                <a:latin typeface="Calibri"/>
              </a:rPr>
              <a:t>ImageNet: 1.2 million labeled photos in 1,000 classes. AlexNet, a deep convolutional network trained on two GPUs, learned its own features and cut the winning error from 25.8% to 15.3%.</a:t>
            </a:r>
          </a:p>
        </p:txBody>
      </p:sp>
      <p:sp>
        <p:nvSpPr>
          <p:cNvPr id="14" name="line 1959"/>
          <p:cNvSpPr txBox="1"/>
          <p:nvPr/>
        </p:nvSpPr>
        <p:spPr>
          <a:xfrm>
            <a:off x="384048" y="4023360"/>
            <a:ext cx="6309360" cy="411480"/>
          </a:xfrm>
          <a:prstGeom prst="rect">
            <a:avLst/>
          </a:prstGeom>
          <a:noFill/>
          <a:ln>
            <a:noFill/>
          </a:ln>
        </p:spPr>
        <p:txBody>
          <a:bodyPr wrap="square" lIns="0" tIns="0" rIns="0" bIns="0" rtlCol="0" anchor="ctr"/>
          <a:lstStyle/>
          <a:p>
            <a:pPr marL="0" indent="0">
              <a:buNone/>
            </a:pPr>
            <a:r>
              <a:rPr lang="en-US" sz="2000" dirty="0">
                <a:solidFill>
                  <a:srgbClr val="362FEC"/>
                </a:solidFill>
                <a:latin typeface="Calibri" pitchFamily="34" charset="0"/>
                <a:ea typeface="Calibri" pitchFamily="34" charset="-122"/>
                <a:cs typeface="Calibri" pitchFamily="34" charset="-120"/>
              </a:rPr>
              <a:t>1959</a:t>
            </a:r>
            <a:r>
              <a:rPr lang="en-US" sz="2000" dirty="0">
                <a:solidFill>
                  <a:srgbClr val="000000"/>
                </a:solidFill>
                <a:latin typeface="Calibri" pitchFamily="34" charset="0"/>
                <a:ea typeface="Calibri" pitchFamily="34" charset="-122"/>
                <a:cs typeface="Calibri" pitchFamily="34" charset="-120"/>
              </a:rPr>
              <a:t>: </a:t>
            </a:r>
            <a:r>
              <a:rPr lang="en-US" sz="2000" dirty="0">
                <a:solidFill>
                  <a:srgbClr val="00B050"/>
                </a:solidFill>
                <a:latin typeface="Calibri" pitchFamily="34" charset="0"/>
                <a:ea typeface="Calibri" pitchFamily="34" charset="-122"/>
                <a:cs typeface="Calibri" pitchFamily="34" charset="-120"/>
              </a:rPr>
              <a:t>Samuel's checkers player learns from self-play</a:t>
            </a:r>
            <a:endParaRPr lang="en-US" sz="2000" dirty="0"/>
          </a:p>
        </p:txBody>
      </p:sp>
      <p:sp>
        <p:nvSpPr>
          <p:cNvPr id="15" name="tag ML"/>
          <p:cNvSpPr/>
          <p:nvPr/>
        </p:nvSpPr>
        <p:spPr>
          <a:xfrm>
            <a:off x="4971391" y="3671315"/>
            <a:ext cx="438912" cy="274320"/>
          </a:xfrm>
          <a:prstGeom prst="roundRect">
            <a:avLst>
              <a:gd name="adj" fmla="val 12000"/>
            </a:avLst>
          </a:prstGeom>
          <a:solidFill>
            <a:srgbClr val="D9F2E4"/>
          </a:solidFill>
          <a:ln w="15875">
            <a:solidFill>
              <a:srgbClr val="00B050"/>
            </a:solidFill>
          </a:ln>
        </p:spPr>
        <p:style>
          <a:lnRef idx="1">
            <a:schemeClr val="accent1"/>
          </a:lnRef>
          <a:fillRef idx="3">
            <a:schemeClr val="accent1"/>
          </a:fillRef>
          <a:effectRef idx="2">
            <a:schemeClr val="accent1"/>
          </a:effectRef>
          <a:fontRef idx="minor">
            <a:schemeClr val="lt1"/>
          </a:fontRef>
        </p:style>
        <p:txBody>
          <a:bodyPr rtlCol="0" anchor="ctr" wrap="square" lIns="45720" rIns="45720"/>
          <a:lstStyle/>
          <a:p>
            <a:pPr algn="ctr"/>
            <a:r>
              <a:rPr sz="1300" b="1">
                <a:solidFill>
                  <a:srgbClr val="00B050"/>
                </a:solidFill>
                <a:latin typeface="Calibri"/>
              </a:rPr>
              <a:t>ML</a:t>
            </a:r>
          </a:p>
        </p:txBody>
      </p:sp>
      <p:sp>
        <p:nvSpPr>
          <p:cNvPr id="16" name="tag RL"/>
          <p:cNvSpPr/>
          <p:nvPr/>
        </p:nvSpPr>
        <p:spPr>
          <a:xfrm>
            <a:off x="5864498" y="4091940"/>
            <a:ext cx="438912" cy="274320"/>
          </a:xfrm>
          <a:prstGeom prst="roundRect">
            <a:avLst>
              <a:gd name="adj" fmla="val 12000"/>
            </a:avLst>
          </a:prstGeom>
          <a:solidFill>
            <a:srgbClr val="FBE5D6"/>
          </a:solidFill>
          <a:ln w="15875">
            <a:solidFill>
              <a:srgbClr val="ED7D31"/>
            </a:solidFill>
          </a:ln>
        </p:spPr>
        <p:style>
          <a:lnRef idx="1">
            <a:schemeClr val="accent1"/>
          </a:lnRef>
          <a:fillRef idx="3">
            <a:schemeClr val="accent1"/>
          </a:fillRef>
          <a:effectRef idx="2">
            <a:schemeClr val="accent1"/>
          </a:effectRef>
          <a:fontRef idx="minor">
            <a:schemeClr val="lt1"/>
          </a:fontRef>
        </p:style>
        <p:txBody>
          <a:bodyPr rtlCol="0" anchor="ctr" wrap="square" lIns="45720" rIns="45720"/>
          <a:lstStyle/>
          <a:p>
            <a:pPr algn="ctr"/>
            <a:r>
              <a:rPr sz="1300" b="1">
                <a:solidFill>
                  <a:srgbClr val="ED7D31"/>
                </a:solidFill>
                <a:latin typeface="Calibri"/>
              </a:rPr>
              <a:t>RL</a:t>
            </a:r>
          </a:p>
        </p:txBody>
      </p:sp>
      <p:sp>
        <p:nvSpPr>
          <p:cNvPr id="17" name="tag DL"/>
          <p:cNvSpPr/>
          <p:nvPr/>
        </p:nvSpPr>
        <p:spPr>
          <a:xfrm>
            <a:off x="4654327" y="4512564"/>
            <a:ext cx="438912" cy="274320"/>
          </a:xfrm>
          <a:prstGeom prst="roundRect">
            <a:avLst>
              <a:gd name="adj" fmla="val 12000"/>
            </a:avLst>
          </a:prstGeom>
          <a:solidFill>
            <a:srgbClr val="E3E2FD"/>
          </a:solidFill>
          <a:ln w="15875">
            <a:solidFill>
              <a:srgbClr val="362FEC"/>
            </a:solidFill>
          </a:ln>
        </p:spPr>
        <p:style>
          <a:lnRef idx="1">
            <a:schemeClr val="accent1"/>
          </a:lnRef>
          <a:fillRef idx="3">
            <a:schemeClr val="accent1"/>
          </a:fillRef>
          <a:effectRef idx="2">
            <a:schemeClr val="accent1"/>
          </a:effectRef>
          <a:fontRef idx="minor">
            <a:schemeClr val="lt1"/>
          </a:fontRef>
        </p:style>
        <p:txBody>
          <a:bodyPr rtlCol="0" anchor="ctr" wrap="square" lIns="45720" rIns="45720"/>
          <a:lstStyle/>
          <a:p>
            <a:pPr algn="ctr"/>
            <a:r>
              <a:rPr sz="1300" b="1">
                <a:solidFill>
                  <a:srgbClr val="362FEC"/>
                </a:solidFill>
                <a:latin typeface="Calibri"/>
              </a:rPr>
              <a:t>DL</a:t>
            </a:r>
          </a:p>
        </p:txBody>
      </p:sp>
      <p:sp>
        <p:nvSpPr>
          <p:cNvPr id="18" name="tag AI"/>
          <p:cNvSpPr/>
          <p:nvPr/>
        </p:nvSpPr>
        <p:spPr>
          <a:xfrm>
            <a:off x="4018315" y="4933188"/>
            <a:ext cx="438912" cy="274320"/>
          </a:xfrm>
          <a:prstGeom prst="roundRect">
            <a:avLst>
              <a:gd name="adj" fmla="val 12000"/>
            </a:avLst>
          </a:prstGeom>
          <a:solidFill>
            <a:srgbClr val="FFE0E0"/>
          </a:solidFill>
          <a:ln w="15875">
            <a:solidFill>
              <a:srgbClr val="FF0000"/>
            </a:solidFill>
          </a:ln>
        </p:spPr>
        <p:style>
          <a:lnRef idx="1">
            <a:schemeClr val="accent1"/>
          </a:lnRef>
          <a:fillRef idx="3">
            <a:schemeClr val="accent1"/>
          </a:fillRef>
          <a:effectRef idx="2">
            <a:schemeClr val="accent1"/>
          </a:effectRef>
          <a:fontRef idx="minor">
            <a:schemeClr val="lt1"/>
          </a:fontRef>
        </p:style>
        <p:txBody>
          <a:bodyPr rtlCol="0" anchor="ctr" wrap="square" lIns="45720" rIns="45720"/>
          <a:lstStyle/>
          <a:p>
            <a:pPr algn="ctr"/>
            <a:r>
              <a:rPr sz="1300" b="1">
                <a:solidFill>
                  <a:srgbClr val="FF0000"/>
                </a:solidFill>
                <a:latin typeface="Calibri"/>
              </a:rPr>
              <a:t>AI</a:t>
            </a:r>
          </a:p>
        </p:txBody>
      </p:sp>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11"/>
                                        </p:tgtEl>
                                        <p:attrNameLst>
                                          <p:attrName>style.visibility</p:attrName>
                                        </p:attrNameLst>
                                      </p:cBhvr>
                                      <p:to>
                                        <p:strVal val="visible"/>
                                      </p:to>
                                    </p:set>
                                  </p:childTnLst>
                                </p:cTn>
                              </p:par>
                              <p:par>
                                <p:cTn id="7" presetID="1" presetClass="entr" presetSubtype="0" fill="hold" grpId="0" nodeType="withEffect">
                                  <p:stCondLst>
                                    <p:cond delay="0"/>
                                  </p:stCondLst>
                                  <p:childTnLst>
                                    <p:set>
                                      <p:cBhvr>
                                        <p:cTn id="8" dur="1" fill="hold">
                                          <p:stCondLst>
                                            <p:cond delay="0"/>
                                          </p:stCondLst>
                                        </p:cTn>
                                        <p:tgtEl>
                                          <p:spTgt spid="12"/>
                                        </p:tgtEl>
                                        <p:attrNameLst>
                                          <p:attrName>style.visibility</p:attrName>
                                        </p:attrNameLst>
                                      </p:cBhvr>
                                      <p:to>
                                        <p:strVal val="visible"/>
                                      </p:to>
                                    </p:set>
                                  </p:childTnLst>
                                </p:cTn>
                              </p:par>
                              <p:par>
                                <p:cTn id="9" presetID="1" presetClass="entr" presetSubtype="0" fill="hold" grpId="0" nodeType="withEffect">
                                  <p:stCondLst>
                                    <p:cond delay="0"/>
                                  </p:stCondLst>
                                  <p:childTnLst>
                                    <p:set>
                                      <p:cBhvr>
                                        <p:cTn id="10" dur="1" fill="hold">
                                          <p:stCondLst>
                                            <p:cond delay="0"/>
                                          </p:stCondLst>
                                        </p:cTn>
                                        <p:tgtEl>
                                          <p:spTgt spid="13"/>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1" grpId="0"/>
      <p:bldP spid="13" grpId="0"/>
    </p:bldLst>
  </p:timing>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b0_2">
            <a:extLst>
              <a:ext uri="{FF2B5EF4-FFF2-40B4-BE49-F238E27FC236}">
                <a16:creationId xmlns:a16="http://schemas.microsoft.com/office/drawing/2014/main" id="{2BEE631D-71D0-C172-CB4C-F8D514EE049F}"/>
              </a:ext>
            </a:extLst>
          </p:cNvPr>
          <p:cNvSpPr txBox="1"/>
          <p:nvPr/>
        </p:nvSpPr>
        <p:spPr>
          <a:xfrm>
            <a:off x="0" y="148566"/>
            <a:ext cx="11680992" cy="548640"/>
          </a:xfrm>
          <a:prstGeom prst="rect">
            <a:avLst/>
          </a:prstGeom>
          <a:noFill/>
          <a:ln>
            <a:noFill/>
          </a:ln>
        </p:spPr>
        <p:txBody>
          <a:bodyPr wrap="square" rtlCol="0" anchor="ctr"/>
          <a:lstStyle/>
          <a:p>
            <a:r>
              <a:rPr lang="en-US" sz="3200" b="1" dirty="0">
                <a:latin typeface="Calibri" pitchFamily="34" charset="0"/>
                <a:ea typeface="Calibri" pitchFamily="34" charset="-122"/>
                <a:cs typeface="Calibri" pitchFamily="34" charset="-120"/>
              </a:rPr>
              <a:t>From </a:t>
            </a:r>
            <a:r>
              <a:rPr lang="en-US" sz="3200" b="1" dirty="0">
                <a:solidFill>
                  <a:srgbClr val="FF0000"/>
                </a:solidFill>
                <a:latin typeface="Calibri" pitchFamily="34" charset="0"/>
                <a:ea typeface="Calibri" pitchFamily="34" charset="-122"/>
                <a:cs typeface="Calibri" pitchFamily="34" charset="-120"/>
              </a:rPr>
              <a:t>Computation</a:t>
            </a:r>
            <a:r>
              <a:rPr lang="en-US" sz="3200" b="1" dirty="0">
                <a:latin typeface="Calibri" pitchFamily="34" charset="0"/>
                <a:ea typeface="Calibri" pitchFamily="34" charset="-122"/>
                <a:cs typeface="Calibri" pitchFamily="34" charset="-120"/>
              </a:rPr>
              <a:t> to </a:t>
            </a:r>
            <a:r>
              <a:rPr lang="en-US" sz="3200" b="1" dirty="0">
                <a:solidFill>
                  <a:srgbClr val="362FEC"/>
                </a:solidFill>
                <a:latin typeface="Calibri" pitchFamily="34" charset="0"/>
                <a:ea typeface="Calibri" pitchFamily="34" charset="-122"/>
                <a:cs typeface="Calibri" pitchFamily="34" charset="-120"/>
              </a:rPr>
              <a:t>Language Models</a:t>
            </a:r>
            <a:endParaRPr lang="en-US" sz="3200" dirty="0">
              <a:solidFill>
                <a:srgbClr val="362FEC"/>
              </a:solidFill>
            </a:endParaRPr>
          </a:p>
        </p:txBody>
      </p:sp>
      <p:sp>
        <p:nvSpPr>
          <p:cNvPr id="3" name="!!computation">
            <a:extLst>
              <a:ext uri="{FF2B5EF4-FFF2-40B4-BE49-F238E27FC236}">
                <a16:creationId xmlns:a16="http://schemas.microsoft.com/office/drawing/2014/main" id="{24318C8D-4B51-C175-BBF7-28B6C807AC22}"/>
              </a:ext>
            </a:extLst>
          </p:cNvPr>
          <p:cNvSpPr txBox="1"/>
          <p:nvPr/>
        </p:nvSpPr>
        <p:spPr>
          <a:xfrm>
            <a:off x="168339" y="980102"/>
            <a:ext cx="6355080" cy="707886"/>
          </a:xfrm>
          <a:prstGeom prst="rect">
            <a:avLst/>
          </a:prstGeom>
          <a:noFill/>
        </p:spPr>
        <p:txBody>
          <a:bodyPr wrap="square" rtlCol="0">
            <a:spAutoFit/>
          </a:bodyPr>
          <a:lstStyle/>
          <a:p>
            <a:r>
              <a:rPr lang="en-US" sz="2000" dirty="0">
                <a:latin typeface="Calibri" panose="020F0502020204030204" pitchFamily="34" charset="0"/>
                <a:cs typeface="Calibri" panose="020F0502020204030204" pitchFamily="34" charset="0"/>
              </a:rPr>
              <a:t>This is taken even further by the ability to transform information: Computation.</a:t>
            </a:r>
          </a:p>
        </p:txBody>
      </p:sp>
      <p:sp>
        <p:nvSpPr>
          <p:cNvPr id="4" name="line 1936">
            <a:extLst>
              <a:ext uri="{FF2B5EF4-FFF2-40B4-BE49-F238E27FC236}">
                <a16:creationId xmlns:a16="http://schemas.microsoft.com/office/drawing/2014/main" id="{C9DF67C1-43FB-2996-59BA-F404CC84075C}"/>
              </a:ext>
            </a:extLst>
          </p:cNvPr>
          <p:cNvSpPr txBox="1"/>
          <p:nvPr/>
        </p:nvSpPr>
        <p:spPr>
          <a:xfrm>
            <a:off x="384048" y="1920240"/>
            <a:ext cx="6309360" cy="411480"/>
          </a:xfrm>
          <a:prstGeom prst="rect">
            <a:avLst/>
          </a:prstGeom>
          <a:noFill/>
          <a:ln>
            <a:noFill/>
          </a:ln>
        </p:spPr>
        <p:txBody>
          <a:bodyPr wrap="square" lIns="0" tIns="0" rIns="0" bIns="0" rtlCol="0" anchor="ctr"/>
          <a:lstStyle/>
          <a:p>
            <a:pPr marL="0" indent="0">
              <a:buNone/>
            </a:pPr>
            <a:r>
              <a:rPr lang="en-US" sz="2000" dirty="0">
                <a:solidFill>
                  <a:srgbClr val="362FEC"/>
                </a:solidFill>
                <a:latin typeface="Calibri" pitchFamily="34" charset="0"/>
                <a:ea typeface="Calibri" pitchFamily="34" charset="-122"/>
                <a:cs typeface="Calibri" pitchFamily="34" charset="-120"/>
              </a:rPr>
              <a:t>1936</a:t>
            </a:r>
            <a:r>
              <a:rPr lang="en-US" sz="2000" dirty="0">
                <a:solidFill>
                  <a:srgbClr val="000000"/>
                </a:solidFill>
                <a:latin typeface="Calibri" pitchFamily="34" charset="0"/>
                <a:ea typeface="Calibri" pitchFamily="34" charset="-122"/>
                <a:cs typeface="Calibri" pitchFamily="34" charset="-120"/>
              </a:rPr>
              <a:t>: </a:t>
            </a:r>
            <a:r>
              <a:rPr lang="en-US" sz="2000" dirty="0">
                <a:solidFill>
                  <a:srgbClr val="00B050"/>
                </a:solidFill>
                <a:latin typeface="Calibri" pitchFamily="34" charset="0"/>
                <a:ea typeface="Calibri" pitchFamily="34" charset="-122"/>
                <a:cs typeface="Calibri" pitchFamily="34" charset="-120"/>
              </a:rPr>
              <a:t>computation becomes a mathematical object</a:t>
            </a:r>
            <a:endParaRPr lang="en-US" sz="2000" dirty="0"/>
          </a:p>
        </p:txBody>
      </p:sp>
      <p:sp>
        <p:nvSpPr>
          <p:cNvPr id="5" name="line 1946">
            <a:extLst>
              <a:ext uri="{FF2B5EF4-FFF2-40B4-BE49-F238E27FC236}">
                <a16:creationId xmlns:a16="http://schemas.microsoft.com/office/drawing/2014/main" id="{C9DF67C1-43FB-2996-59BA-F404CC84075C}"/>
              </a:ext>
            </a:extLst>
          </p:cNvPr>
          <p:cNvSpPr txBox="1"/>
          <p:nvPr/>
        </p:nvSpPr>
        <p:spPr>
          <a:xfrm>
            <a:off x="384048" y="2340864"/>
            <a:ext cx="6309360" cy="411480"/>
          </a:xfrm>
          <a:prstGeom prst="rect">
            <a:avLst/>
          </a:prstGeom>
          <a:noFill/>
          <a:ln>
            <a:noFill/>
          </a:ln>
        </p:spPr>
        <p:txBody>
          <a:bodyPr wrap="square" lIns="0" tIns="0" rIns="0" bIns="0" rtlCol="0" anchor="ctr"/>
          <a:lstStyle/>
          <a:p>
            <a:pPr marL="0" indent="0">
              <a:buNone/>
            </a:pPr>
            <a:r>
              <a:rPr lang="en-US" sz="2000" dirty="0">
                <a:solidFill>
                  <a:srgbClr val="362FEC"/>
                </a:solidFill>
                <a:latin typeface="Calibri" pitchFamily="34" charset="0"/>
                <a:ea typeface="Calibri" pitchFamily="34" charset="-122"/>
                <a:cs typeface="Calibri" pitchFamily="34" charset="-120"/>
              </a:rPr>
              <a:t>1946–1947</a:t>
            </a:r>
            <a:r>
              <a:rPr lang="en-US" sz="2000" dirty="0">
                <a:solidFill>
                  <a:srgbClr val="000000"/>
                </a:solidFill>
                <a:latin typeface="Calibri" pitchFamily="34" charset="0"/>
                <a:ea typeface="Calibri" pitchFamily="34" charset="-122"/>
                <a:cs typeface="Calibri" pitchFamily="34" charset="-120"/>
              </a:rPr>
              <a:t>: </a:t>
            </a:r>
            <a:r>
              <a:rPr lang="en-US" sz="2000" dirty="0">
                <a:solidFill>
                  <a:srgbClr val="00B050"/>
                </a:solidFill>
                <a:latin typeface="Calibri" pitchFamily="34" charset="0"/>
                <a:ea typeface="Calibri" pitchFamily="34" charset="-122"/>
                <a:cs typeface="Calibri" pitchFamily="34" charset="-120"/>
              </a:rPr>
              <a:t>computers become physical objects</a:t>
            </a:r>
            <a:endParaRPr lang="en-US" sz="2000" dirty="0"/>
          </a:p>
        </p:txBody>
      </p:sp>
      <p:sp>
        <p:nvSpPr>
          <p:cNvPr id="6" name="line 1950">
            <a:extLst>
              <a:ext uri="{FF2B5EF4-FFF2-40B4-BE49-F238E27FC236}">
                <a16:creationId xmlns:a16="http://schemas.microsoft.com/office/drawing/2014/main" id="{C9DF67C1-43FB-2996-59BA-F404CC84075C}"/>
              </a:ext>
            </a:extLst>
          </p:cNvPr>
          <p:cNvSpPr txBox="1"/>
          <p:nvPr/>
        </p:nvSpPr>
        <p:spPr>
          <a:xfrm>
            <a:off x="384048" y="2761488"/>
            <a:ext cx="6309360" cy="411480"/>
          </a:xfrm>
          <a:prstGeom prst="rect">
            <a:avLst/>
          </a:prstGeom>
          <a:noFill/>
          <a:ln>
            <a:noFill/>
          </a:ln>
        </p:spPr>
        <p:txBody>
          <a:bodyPr wrap="square" lIns="0" tIns="0" rIns="0" bIns="0" rtlCol="0" anchor="ctr"/>
          <a:lstStyle/>
          <a:p>
            <a:pPr marL="0" indent="0">
              <a:buNone/>
            </a:pPr>
            <a:r>
              <a:rPr lang="en-US" sz="2000" dirty="0">
                <a:solidFill>
                  <a:srgbClr val="362FEC"/>
                </a:solidFill>
                <a:latin typeface="Calibri" pitchFamily="34" charset="0"/>
                <a:ea typeface="Calibri" pitchFamily="34" charset="-122"/>
                <a:cs typeface="Calibri" pitchFamily="34" charset="-120"/>
              </a:rPr>
              <a:t>1950</a:t>
            </a:r>
            <a:r>
              <a:rPr lang="en-US" sz="2000" dirty="0">
                <a:solidFill>
                  <a:srgbClr val="000000"/>
                </a:solidFill>
                <a:latin typeface="Calibri" pitchFamily="34" charset="0"/>
                <a:ea typeface="Calibri" pitchFamily="34" charset="-122"/>
                <a:cs typeface="Calibri" pitchFamily="34" charset="-120"/>
              </a:rPr>
              <a:t>: </a:t>
            </a:r>
            <a:r>
              <a:rPr lang="en-US" sz="2000" dirty="0">
                <a:solidFill>
                  <a:srgbClr val="00B050"/>
                </a:solidFill>
                <a:latin typeface="Calibri" pitchFamily="34" charset="0"/>
                <a:ea typeface="Calibri" pitchFamily="34" charset="-122"/>
                <a:cs typeface="Calibri" pitchFamily="34" charset="-120"/>
              </a:rPr>
              <a:t>the imitation game</a:t>
            </a:r>
            <a:endParaRPr lang="en-US" sz="2000" dirty="0"/>
          </a:p>
        </p:txBody>
      </p:sp>
      <p:sp>
        <p:nvSpPr>
          <p:cNvPr id="7" name="line 1955">
            <a:extLst>
              <a:ext uri="{FF2B5EF4-FFF2-40B4-BE49-F238E27FC236}">
                <a16:creationId xmlns:a16="http://schemas.microsoft.com/office/drawing/2014/main" id="{C9DF67C1-43FB-2996-59BA-F404CC84075C}"/>
              </a:ext>
            </a:extLst>
          </p:cNvPr>
          <p:cNvSpPr txBox="1"/>
          <p:nvPr/>
        </p:nvSpPr>
        <p:spPr>
          <a:xfrm>
            <a:off x="384048" y="3182112"/>
            <a:ext cx="6309360" cy="411480"/>
          </a:xfrm>
          <a:prstGeom prst="rect">
            <a:avLst/>
          </a:prstGeom>
          <a:noFill/>
          <a:ln>
            <a:noFill/>
          </a:ln>
        </p:spPr>
        <p:txBody>
          <a:bodyPr wrap="square" lIns="0" tIns="0" rIns="0" bIns="0" rtlCol="0" anchor="ctr"/>
          <a:lstStyle/>
          <a:p>
            <a:pPr marL="0" indent="0">
              <a:buNone/>
            </a:pPr>
            <a:r>
              <a:rPr lang="en-US" sz="2000" dirty="0">
                <a:solidFill>
                  <a:srgbClr val="362FEC"/>
                </a:solidFill>
                <a:latin typeface="Calibri" pitchFamily="34" charset="0"/>
                <a:ea typeface="Calibri" pitchFamily="34" charset="-122"/>
                <a:cs typeface="Calibri" pitchFamily="34" charset="-120"/>
              </a:rPr>
              <a:t>1955–1956</a:t>
            </a:r>
            <a:r>
              <a:rPr lang="en-US" sz="2000" dirty="0">
                <a:solidFill>
                  <a:srgbClr val="000000"/>
                </a:solidFill>
                <a:latin typeface="Calibri" pitchFamily="34" charset="0"/>
                <a:ea typeface="Calibri" pitchFamily="34" charset="-122"/>
                <a:cs typeface="Calibri" pitchFamily="34" charset="-120"/>
              </a:rPr>
              <a:t>: </a:t>
            </a:r>
            <a:r>
              <a:rPr lang="en-US" sz="2000" dirty="0">
                <a:solidFill>
                  <a:srgbClr val="00B050"/>
                </a:solidFill>
                <a:latin typeface="Calibri" pitchFamily="34" charset="0"/>
                <a:ea typeface="Calibri" pitchFamily="34" charset="-122"/>
                <a:cs typeface="Calibri" pitchFamily="34" charset="-120"/>
              </a:rPr>
              <a:t>artificial intelligence gets a name</a:t>
            </a:r>
            <a:endParaRPr lang="en-US" sz="2000" dirty="0"/>
          </a:p>
        </p:txBody>
      </p:sp>
      <p:sp>
        <p:nvSpPr>
          <p:cNvPr id="8" name="line 1958">
            <a:extLst>
              <a:ext uri="{FF2B5EF4-FFF2-40B4-BE49-F238E27FC236}">
                <a16:creationId xmlns:a16="http://schemas.microsoft.com/office/drawing/2014/main" id="{C9DF67C1-43FB-2996-59BA-F404CC84075C}"/>
              </a:ext>
            </a:extLst>
          </p:cNvPr>
          <p:cNvSpPr txBox="1"/>
          <p:nvPr/>
        </p:nvSpPr>
        <p:spPr>
          <a:xfrm>
            <a:off x="384048" y="3602736"/>
            <a:ext cx="6309360" cy="411480"/>
          </a:xfrm>
          <a:prstGeom prst="rect">
            <a:avLst/>
          </a:prstGeom>
          <a:noFill/>
          <a:ln>
            <a:noFill/>
          </a:ln>
        </p:spPr>
        <p:txBody>
          <a:bodyPr wrap="square" lIns="0" tIns="0" rIns="0" bIns="0" rtlCol="0" anchor="ctr"/>
          <a:lstStyle/>
          <a:p>
            <a:pPr marL="0" indent="0">
              <a:buNone/>
            </a:pPr>
            <a:r>
              <a:rPr lang="en-US" sz="2000" dirty="0">
                <a:solidFill>
                  <a:srgbClr val="362FEC"/>
                </a:solidFill>
                <a:latin typeface="Calibri" pitchFamily="34" charset="0"/>
                <a:ea typeface="Calibri" pitchFamily="34" charset="-122"/>
                <a:cs typeface="Calibri" pitchFamily="34" charset="-120"/>
              </a:rPr>
              <a:t>1958</a:t>
            </a:r>
            <a:r>
              <a:rPr lang="en-US" sz="2000" dirty="0">
                <a:solidFill>
                  <a:srgbClr val="000000"/>
                </a:solidFill>
                <a:latin typeface="Calibri" pitchFamily="34" charset="0"/>
                <a:ea typeface="Calibri" pitchFamily="34" charset="-122"/>
                <a:cs typeface="Calibri" pitchFamily="34" charset="-120"/>
              </a:rPr>
              <a:t>: </a:t>
            </a:r>
            <a:r>
              <a:rPr lang="en-US" sz="2000" dirty="0">
                <a:solidFill>
                  <a:srgbClr val="00B050"/>
                </a:solidFill>
                <a:latin typeface="Calibri" pitchFamily="34" charset="0"/>
                <a:ea typeface="Calibri" pitchFamily="34" charset="-122"/>
                <a:cs typeface="Calibri" pitchFamily="34" charset="-120"/>
              </a:rPr>
              <a:t>the perceptron learns from examples</a:t>
            </a:r>
            <a:endParaRPr lang="en-US" sz="2000" dirty="0"/>
          </a:p>
        </p:txBody>
      </p:sp>
      <p:sp>
        <p:nvSpPr>
          <p:cNvPr id="9" name="line 1986">
            <a:extLst>
              <a:ext uri="{FF2B5EF4-FFF2-40B4-BE49-F238E27FC236}">
                <a16:creationId xmlns:a16="http://schemas.microsoft.com/office/drawing/2014/main" id="{C9DF67C1-43FB-2996-59BA-F404CC84075C}"/>
              </a:ext>
            </a:extLst>
          </p:cNvPr>
          <p:cNvSpPr txBox="1"/>
          <p:nvPr/>
        </p:nvSpPr>
        <p:spPr>
          <a:xfrm>
            <a:off x="384048" y="4443984"/>
            <a:ext cx="6309360" cy="411480"/>
          </a:xfrm>
          <a:prstGeom prst="rect">
            <a:avLst/>
          </a:prstGeom>
          <a:noFill/>
          <a:ln>
            <a:noFill/>
          </a:ln>
        </p:spPr>
        <p:txBody>
          <a:bodyPr wrap="square" lIns="0" tIns="0" rIns="0" bIns="0" rtlCol="0" anchor="ctr"/>
          <a:lstStyle/>
          <a:p>
            <a:pPr marL="0" indent="0">
              <a:buNone/>
            </a:pPr>
            <a:r>
              <a:rPr lang="en-US" sz="2000" dirty="0">
                <a:solidFill>
                  <a:srgbClr val="362FEC"/>
                </a:solidFill>
                <a:latin typeface="Calibri" pitchFamily="34" charset="0"/>
                <a:ea typeface="Calibri" pitchFamily="34" charset="-122"/>
                <a:cs typeface="Calibri" pitchFamily="34" charset="-120"/>
              </a:rPr>
              <a:t>1986</a:t>
            </a:r>
            <a:r>
              <a:rPr lang="en-US" sz="2000" dirty="0">
                <a:solidFill>
                  <a:srgbClr val="000000"/>
                </a:solidFill>
                <a:latin typeface="Calibri" pitchFamily="34" charset="0"/>
                <a:ea typeface="Calibri" pitchFamily="34" charset="-122"/>
                <a:cs typeface="Calibri" pitchFamily="34" charset="-120"/>
              </a:rPr>
              <a:t>: </a:t>
            </a:r>
            <a:r>
              <a:rPr lang="en-US" sz="2000" dirty="0">
                <a:solidFill>
                  <a:srgbClr val="00B050"/>
                </a:solidFill>
                <a:latin typeface="Calibri" pitchFamily="34" charset="0"/>
                <a:ea typeface="Calibri" pitchFamily="34" charset="-122"/>
                <a:cs typeface="Calibri" pitchFamily="34" charset="-120"/>
              </a:rPr>
              <a:t>networks learn their own features</a:t>
            </a:r>
            <a:endParaRPr lang="en-US" sz="2000" dirty="0"/>
          </a:p>
        </p:txBody>
      </p:sp>
      <p:sp>
        <p:nvSpPr>
          <p:cNvPr id="10" name="line 1997">
            <a:extLst>
              <a:ext uri="{FF2B5EF4-FFF2-40B4-BE49-F238E27FC236}">
                <a16:creationId xmlns:a16="http://schemas.microsoft.com/office/drawing/2014/main" id="{C9DF67C1-43FB-2996-59BA-F404CC84075C}"/>
              </a:ext>
            </a:extLst>
          </p:cNvPr>
          <p:cNvSpPr txBox="1"/>
          <p:nvPr/>
        </p:nvSpPr>
        <p:spPr>
          <a:xfrm>
            <a:off x="384048" y="4864608"/>
            <a:ext cx="6309360" cy="411480"/>
          </a:xfrm>
          <a:prstGeom prst="rect">
            <a:avLst/>
          </a:prstGeom>
          <a:noFill/>
          <a:ln>
            <a:noFill/>
          </a:ln>
        </p:spPr>
        <p:txBody>
          <a:bodyPr wrap="square" lIns="0" tIns="0" rIns="0" bIns="0" rtlCol="0" anchor="ctr"/>
          <a:lstStyle/>
          <a:p>
            <a:pPr marL="0" indent="0">
              <a:buNone/>
            </a:pPr>
            <a:r>
              <a:rPr lang="en-US" sz="2000" dirty="0">
                <a:solidFill>
                  <a:srgbClr val="362FEC"/>
                </a:solidFill>
                <a:latin typeface="Calibri" pitchFamily="34" charset="0"/>
                <a:ea typeface="Calibri" pitchFamily="34" charset="-122"/>
                <a:cs typeface="Calibri" pitchFamily="34" charset="-120"/>
              </a:rPr>
              <a:t>1997</a:t>
            </a:r>
            <a:r>
              <a:rPr lang="en-US" sz="2000" dirty="0">
                <a:solidFill>
                  <a:srgbClr val="000000"/>
                </a:solidFill>
                <a:latin typeface="Calibri" pitchFamily="34" charset="0"/>
                <a:ea typeface="Calibri" pitchFamily="34" charset="-122"/>
                <a:cs typeface="Calibri" pitchFamily="34" charset="-120"/>
              </a:rPr>
              <a:t>: </a:t>
            </a:r>
            <a:r>
              <a:rPr lang="en-US" sz="2000" dirty="0">
                <a:solidFill>
                  <a:srgbClr val="00B050"/>
                </a:solidFill>
                <a:latin typeface="Calibri" pitchFamily="34" charset="0"/>
                <a:ea typeface="Calibri" pitchFamily="34" charset="-122"/>
                <a:cs typeface="Calibri" pitchFamily="34" charset="-120"/>
              </a:rPr>
              <a:t>Deep Blue defeats Kasparov</a:t>
            </a:r>
            <a:endParaRPr lang="en-US" sz="2000" dirty="0"/>
          </a:p>
        </p:txBody>
      </p:sp>
      <p:sp>
        <p:nvSpPr>
          <p:cNvPr id="11" name="line 2012">
            <a:extLst>
              <a:ext uri="{FF2B5EF4-FFF2-40B4-BE49-F238E27FC236}">
                <a16:creationId xmlns:a16="http://schemas.microsoft.com/office/drawing/2014/main" id="{C9DF67C1-43FB-2996-59BA-F404CC84075C}"/>
              </a:ext>
            </a:extLst>
          </p:cNvPr>
          <p:cNvSpPr txBox="1"/>
          <p:nvPr/>
        </p:nvSpPr>
        <p:spPr>
          <a:xfrm>
            <a:off x="384048" y="5285232"/>
            <a:ext cx="6309360" cy="411480"/>
          </a:xfrm>
          <a:prstGeom prst="rect">
            <a:avLst/>
          </a:prstGeom>
          <a:noFill/>
          <a:ln>
            <a:noFill/>
          </a:ln>
        </p:spPr>
        <p:txBody>
          <a:bodyPr wrap="square" lIns="0" tIns="0" rIns="0" bIns="0" rtlCol="0" anchor="ctr"/>
          <a:lstStyle/>
          <a:p>
            <a:pPr marL="0" indent="0">
              <a:buNone/>
            </a:pPr>
            <a:r>
              <a:rPr lang="en-US" sz="2000" dirty="0">
                <a:solidFill>
                  <a:srgbClr val="362FEC"/>
                </a:solidFill>
                <a:latin typeface="Calibri" pitchFamily="34" charset="0"/>
                <a:ea typeface="Calibri" pitchFamily="34" charset="-122"/>
                <a:cs typeface="Calibri" pitchFamily="34" charset="-120"/>
              </a:rPr>
              <a:t>2012</a:t>
            </a:r>
            <a:r>
              <a:rPr lang="en-US" sz="2000" dirty="0">
                <a:solidFill>
                  <a:srgbClr val="000000"/>
                </a:solidFill>
                <a:latin typeface="Calibri" pitchFamily="34" charset="0"/>
                <a:ea typeface="Calibri" pitchFamily="34" charset="-122"/>
                <a:cs typeface="Calibri" pitchFamily="34" charset="-120"/>
              </a:rPr>
              <a:t>: </a:t>
            </a:r>
            <a:r>
              <a:rPr lang="en-US" sz="2000" dirty="0">
                <a:solidFill>
                  <a:srgbClr val="00B050"/>
                </a:solidFill>
                <a:latin typeface="Calibri" pitchFamily="34" charset="0"/>
                <a:ea typeface="Calibri" pitchFamily="34" charset="-122"/>
                <a:cs typeface="Calibri" pitchFamily="34" charset="-120"/>
              </a:rPr>
              <a:t>AlexNet wins ImageNet</a:t>
            </a:r>
            <a:endParaRPr lang="en-US" sz="2000" dirty="0"/>
          </a:p>
        </p:txBody>
      </p:sp>
      <p:sp>
        <p:nvSpPr>
          <p:cNvPr id="12" name="line 2014">
            <a:extLst>
              <a:ext uri="{FF2B5EF4-FFF2-40B4-BE49-F238E27FC236}">
                <a16:creationId xmlns:a16="http://schemas.microsoft.com/office/drawing/2014/main" id="{C9DF67C1-43FB-2996-59BA-F404CC84075C}"/>
              </a:ext>
            </a:extLst>
          </p:cNvPr>
          <p:cNvSpPr txBox="1"/>
          <p:nvPr/>
        </p:nvSpPr>
        <p:spPr>
          <a:xfrm>
            <a:off x="384048" y="5705856"/>
            <a:ext cx="6309360" cy="411480"/>
          </a:xfrm>
          <a:prstGeom prst="rect">
            <a:avLst/>
          </a:prstGeom>
          <a:noFill/>
          <a:ln>
            <a:noFill/>
          </a:ln>
        </p:spPr>
        <p:txBody>
          <a:bodyPr wrap="square" lIns="0" tIns="0" rIns="0" bIns="0" rtlCol="0" anchor="ctr"/>
          <a:lstStyle/>
          <a:p>
            <a:pPr marL="0" indent="0">
              <a:buNone/>
            </a:pPr>
            <a:r>
              <a:rPr lang="en-US" sz="2000" dirty="0">
                <a:solidFill>
                  <a:srgbClr val="362FEC"/>
                </a:solidFill>
                <a:latin typeface="Calibri" pitchFamily="34" charset="0"/>
                <a:ea typeface="Calibri" pitchFamily="34" charset="-122"/>
                <a:cs typeface="Calibri" pitchFamily="34" charset="-120"/>
              </a:rPr>
              <a:t>2014</a:t>
            </a:r>
            <a:r>
              <a:rPr lang="en-US" sz="2000" dirty="0">
                <a:solidFill>
                  <a:srgbClr val="000000"/>
                </a:solidFill>
                <a:latin typeface="Calibri" pitchFamily="34" charset="0"/>
                <a:ea typeface="Calibri" pitchFamily="34" charset="-122"/>
                <a:cs typeface="Calibri" pitchFamily="34" charset="-120"/>
              </a:rPr>
              <a:t>: </a:t>
            </a:r>
            <a:r>
              <a:rPr lang="en-US" sz="2000" dirty="0">
                <a:solidFill>
                  <a:srgbClr val="00B050"/>
                </a:solidFill>
                <a:latin typeface="Calibri" pitchFamily="34" charset="0"/>
                <a:ea typeface="Calibri" pitchFamily="34" charset="-122"/>
                <a:cs typeface="Calibri" pitchFamily="34" charset="-120"/>
              </a:rPr>
              <a:t>generation before ChatGPT</a:t>
            </a:r>
            <a:endParaRPr lang="en-US" sz="2000" dirty="0"/>
          </a:p>
        </p:txBody>
      </p:sp>
      <p:grpSp>
        <p:nvGrpSpPr>
          <p:cNvPr id="19" name="GAN diagram"/>
          <p:cNvGrpSpPr/>
          <p:nvPr/>
        </p:nvGrpSpPr>
        <p:grpSpPr>
          <a:xfrm>
            <a:off x="6812280" y="1188720"/>
            <a:ext cx="5074920" cy="2331720"/>
            <a:chOff x="6812280" y="1188720"/>
            <a:chExt cx="5074920" cy="2331720"/>
          </a:xfrm>
        </p:grpSpPr>
        <p:sp>
          <p:nvSpPr>
            <p:cNvPr id="20" name="Rounded Rectangle 19"/>
            <p:cNvSpPr/>
            <p:nvPr/>
          </p:nvSpPr>
          <p:spPr>
            <a:xfrm>
              <a:off x="6812280" y="1234440"/>
              <a:ext cx="1051560" cy="548640"/>
            </a:xfrm>
            <a:prstGeom prst="roundRect">
              <a:avLst>
                <a:gd name="adj" fmla="val 12000"/>
              </a:avLst>
            </a:prstGeom>
            <a:solidFill>
              <a:srgbClr val="EDEDED"/>
            </a:solidFill>
            <a:ln>
              <a:noFill/>
            </a:ln>
          </p:spPr>
          <p:style>
            <a:lnRef idx="1">
              <a:schemeClr val="accent1"/>
            </a:lnRef>
            <a:fillRef idx="3">
              <a:schemeClr val="accent1"/>
            </a:fillRef>
            <a:effectRef idx="2">
              <a:schemeClr val="accent1"/>
            </a:effectRef>
            <a:fontRef idx="minor">
              <a:schemeClr val="lt1"/>
            </a:fontRef>
          </p:style>
          <p:txBody>
            <a:bodyPr rtlCol="0" anchor="ctr" wrap="square" lIns="45720" rIns="45720"/>
            <a:lstStyle/>
            <a:p>
              <a:pPr algn="ctr"/>
              <a:r>
                <a:rPr sz="1400" b="0">
                  <a:solidFill>
                    <a:srgbClr val="595959"/>
                  </a:solidFill>
                  <a:latin typeface="Calibri"/>
                </a:rPr>
                <a:t>noise</a:t>
              </a:r>
            </a:p>
          </p:txBody>
        </p:sp>
        <p:cxnSp>
          <p:nvCxnSpPr>
            <p:cNvPr id="21" name="Connector 20"/>
            <p:cNvCxnSpPr/>
            <p:nvPr/>
          </p:nvCxnSpPr>
          <p:spPr>
            <a:xfrm>
              <a:off x="7909560" y="1508760"/>
              <a:ext cx="320040" cy="0"/>
            </a:xfrm>
            <a:prstGeom prst="line">
              <a:avLst/>
            </a:prstGeom>
            <a:ln w="19050">
              <a:solidFill>
                <a:srgbClr val="595959"/>
              </a:solidFill>
              <a:tailEnd type="triangle" w="med" len="med"/>
            </a:ln>
          </p:spPr>
          <p:style>
            <a:lnRef idx="2">
              <a:schemeClr val="accent1"/>
            </a:lnRef>
            <a:fillRef idx="0">
              <a:schemeClr val="accent1"/>
            </a:fillRef>
            <a:effectRef idx="1">
              <a:schemeClr val="accent1"/>
            </a:effectRef>
            <a:fontRef idx="minor">
              <a:schemeClr val="tx1"/>
            </a:fontRef>
          </p:style>
        </p:cxnSp>
        <p:sp>
          <p:nvSpPr>
            <p:cNvPr id="22" name="Rounded Rectangle 21"/>
            <p:cNvSpPr/>
            <p:nvPr/>
          </p:nvSpPr>
          <p:spPr>
            <a:xfrm>
              <a:off x="8275320" y="1188720"/>
              <a:ext cx="1600200" cy="640080"/>
            </a:xfrm>
            <a:prstGeom prst="roundRect">
              <a:avLst>
                <a:gd name="adj" fmla="val 12000"/>
              </a:avLst>
            </a:prstGeom>
            <a:solidFill>
              <a:srgbClr val="E3E2FD"/>
            </a:solidFill>
            <a:ln>
              <a:noFill/>
            </a:ln>
          </p:spPr>
          <p:style>
            <a:lnRef idx="1">
              <a:schemeClr val="accent1"/>
            </a:lnRef>
            <a:fillRef idx="3">
              <a:schemeClr val="accent1"/>
            </a:fillRef>
            <a:effectRef idx="2">
              <a:schemeClr val="accent1"/>
            </a:effectRef>
            <a:fontRef idx="minor">
              <a:schemeClr val="lt1"/>
            </a:fontRef>
          </p:style>
          <p:txBody>
            <a:bodyPr rtlCol="0" anchor="ctr" wrap="square" lIns="45720" rIns="45720"/>
            <a:lstStyle/>
            <a:p>
              <a:pPr algn="ctr"/>
              <a:r>
                <a:rPr sz="1400" b="1">
                  <a:solidFill>
                    <a:srgbClr val="362FEC"/>
                  </a:solidFill>
                  <a:latin typeface="Calibri"/>
                </a:rPr>
                <a:t>generator</a:t>
              </a:r>
            </a:p>
          </p:txBody>
        </p:sp>
        <p:cxnSp>
          <p:nvCxnSpPr>
            <p:cNvPr id="23" name="Connector 22"/>
            <p:cNvCxnSpPr/>
            <p:nvPr/>
          </p:nvCxnSpPr>
          <p:spPr>
            <a:xfrm>
              <a:off x="9921240" y="1508760"/>
              <a:ext cx="457200" cy="0"/>
            </a:xfrm>
            <a:prstGeom prst="line">
              <a:avLst/>
            </a:prstGeom>
            <a:ln w="19050">
              <a:solidFill>
                <a:srgbClr val="595959"/>
              </a:solidFill>
              <a:tailEnd type="triangle" w="med" len="med"/>
            </a:ln>
          </p:spPr>
          <p:style>
            <a:lnRef idx="2">
              <a:schemeClr val="accent1"/>
            </a:lnRef>
            <a:fillRef idx="0">
              <a:schemeClr val="accent1"/>
            </a:fillRef>
            <a:effectRef idx="1">
              <a:schemeClr val="accent1"/>
            </a:effectRef>
            <a:fontRef idx="minor">
              <a:schemeClr val="tx1"/>
            </a:fontRef>
          </p:style>
        </p:cxnSp>
        <p:sp>
          <p:nvSpPr>
            <p:cNvPr id="24" name="Rounded Rectangle 23"/>
            <p:cNvSpPr/>
            <p:nvPr/>
          </p:nvSpPr>
          <p:spPr>
            <a:xfrm>
              <a:off x="10424160" y="1234440"/>
              <a:ext cx="1463040" cy="548640"/>
            </a:xfrm>
            <a:prstGeom prst="roundRect">
              <a:avLst>
                <a:gd name="adj" fmla="val 12000"/>
              </a:avLst>
            </a:prstGeom>
            <a:solidFill>
              <a:srgbClr val="FFE0E0"/>
            </a:solidFill>
            <a:ln>
              <a:noFill/>
            </a:ln>
          </p:spPr>
          <p:style>
            <a:lnRef idx="1">
              <a:schemeClr val="accent1"/>
            </a:lnRef>
            <a:fillRef idx="3">
              <a:schemeClr val="accent1"/>
            </a:fillRef>
            <a:effectRef idx="2">
              <a:schemeClr val="accent1"/>
            </a:effectRef>
            <a:fontRef idx="minor">
              <a:schemeClr val="lt1"/>
            </a:fontRef>
          </p:style>
          <p:txBody>
            <a:bodyPr rtlCol="0" anchor="ctr" wrap="square" lIns="45720" rIns="45720"/>
            <a:lstStyle/>
            <a:p>
              <a:pPr algn="ctr"/>
              <a:r>
                <a:rPr sz="1400" b="1">
                  <a:solidFill>
                    <a:srgbClr val="FF0000"/>
                  </a:solidFill>
                  <a:latin typeface="Calibri"/>
                </a:rPr>
                <a:t>fake image</a:t>
              </a:r>
            </a:p>
          </p:txBody>
        </p:sp>
        <p:sp>
          <p:nvSpPr>
            <p:cNvPr id="25" name="Rounded Rectangle 24"/>
            <p:cNvSpPr/>
            <p:nvPr/>
          </p:nvSpPr>
          <p:spPr>
            <a:xfrm>
              <a:off x="10424160" y="2971800"/>
              <a:ext cx="1463040" cy="548640"/>
            </a:xfrm>
            <a:prstGeom prst="roundRect">
              <a:avLst>
                <a:gd name="adj" fmla="val 12000"/>
              </a:avLst>
            </a:prstGeom>
            <a:solidFill>
              <a:srgbClr val="D9F2E4"/>
            </a:solidFill>
            <a:ln>
              <a:noFill/>
            </a:ln>
          </p:spPr>
          <p:style>
            <a:lnRef idx="1">
              <a:schemeClr val="accent1"/>
            </a:lnRef>
            <a:fillRef idx="3">
              <a:schemeClr val="accent1"/>
            </a:fillRef>
            <a:effectRef idx="2">
              <a:schemeClr val="accent1"/>
            </a:effectRef>
            <a:fontRef idx="minor">
              <a:schemeClr val="lt1"/>
            </a:fontRef>
          </p:style>
          <p:txBody>
            <a:bodyPr rtlCol="0" anchor="ctr" wrap="square" lIns="45720" rIns="45720"/>
            <a:lstStyle/>
            <a:p>
              <a:pPr algn="ctr"/>
              <a:r>
                <a:rPr sz="1400" b="1">
                  <a:solidFill>
                    <a:srgbClr val="00843D"/>
                  </a:solidFill>
                  <a:latin typeface="Calibri"/>
                </a:rPr>
                <a:t>real image</a:t>
              </a:r>
            </a:p>
          </p:txBody>
        </p:sp>
        <p:sp>
          <p:nvSpPr>
            <p:cNvPr id="26" name="Rounded Rectangle 25"/>
            <p:cNvSpPr/>
            <p:nvPr/>
          </p:nvSpPr>
          <p:spPr>
            <a:xfrm>
              <a:off x="8275320" y="2148840"/>
              <a:ext cx="1600200" cy="640080"/>
            </a:xfrm>
            <a:prstGeom prst="roundRect">
              <a:avLst>
                <a:gd name="adj" fmla="val 12000"/>
              </a:avLst>
            </a:prstGeom>
            <a:solidFill>
              <a:srgbClr val="E3E2FD"/>
            </a:solidFill>
            <a:ln>
              <a:noFill/>
            </a:ln>
          </p:spPr>
          <p:style>
            <a:lnRef idx="1">
              <a:schemeClr val="accent1"/>
            </a:lnRef>
            <a:fillRef idx="3">
              <a:schemeClr val="accent1"/>
            </a:fillRef>
            <a:effectRef idx="2">
              <a:schemeClr val="accent1"/>
            </a:effectRef>
            <a:fontRef idx="minor">
              <a:schemeClr val="lt1"/>
            </a:fontRef>
          </p:style>
          <p:txBody>
            <a:bodyPr rtlCol="0" anchor="ctr" wrap="square" lIns="45720" rIns="45720"/>
            <a:lstStyle/>
            <a:p>
              <a:pPr algn="ctr"/>
              <a:r>
                <a:rPr sz="1400" b="1">
                  <a:solidFill>
                    <a:srgbClr val="362FEC"/>
                  </a:solidFill>
                  <a:latin typeface="Calibri"/>
                </a:rPr>
                <a:t>discriminator</a:t>
              </a:r>
            </a:p>
          </p:txBody>
        </p:sp>
        <p:cxnSp>
          <p:nvCxnSpPr>
            <p:cNvPr id="27" name="Connector 26"/>
            <p:cNvCxnSpPr/>
            <p:nvPr/>
          </p:nvCxnSpPr>
          <p:spPr>
            <a:xfrm flipH="1">
              <a:off x="9921240" y="1691640"/>
              <a:ext cx="502920" cy="640080"/>
            </a:xfrm>
            <a:prstGeom prst="line">
              <a:avLst/>
            </a:prstGeom>
            <a:ln w="19050">
              <a:solidFill>
                <a:srgbClr val="595959"/>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28" name="Connector 27"/>
            <p:cNvCxnSpPr/>
            <p:nvPr/>
          </p:nvCxnSpPr>
          <p:spPr>
            <a:xfrm flipH="1" flipV="1">
              <a:off x="9921240" y="2606040"/>
              <a:ext cx="502920" cy="502920"/>
            </a:xfrm>
            <a:prstGeom prst="line">
              <a:avLst/>
            </a:prstGeom>
            <a:ln w="19050">
              <a:solidFill>
                <a:srgbClr val="595959"/>
              </a:solidFill>
              <a:tailEnd type="triangle" w="med" len="med"/>
            </a:ln>
          </p:spPr>
          <p:style>
            <a:lnRef idx="2">
              <a:schemeClr val="accent1"/>
            </a:lnRef>
            <a:fillRef idx="0">
              <a:schemeClr val="accent1"/>
            </a:fillRef>
            <a:effectRef idx="1">
              <a:schemeClr val="accent1"/>
            </a:effectRef>
            <a:fontRef idx="minor">
              <a:schemeClr val="tx1"/>
            </a:fontRef>
          </p:style>
        </p:cxnSp>
        <p:sp>
          <p:nvSpPr>
            <p:cNvPr id="29" name="TextBox 28"/>
            <p:cNvSpPr txBox="1"/>
            <p:nvPr/>
          </p:nvSpPr>
          <p:spPr>
            <a:xfrm>
              <a:off x="8275320" y="2852928"/>
              <a:ext cx="1600200" cy="274320"/>
            </a:xfrm>
            <a:prstGeom prst="rect">
              <a:avLst/>
            </a:prstGeom>
            <a:noFill/>
          </p:spPr>
          <p:txBody>
            <a:bodyPr wrap="square" anchor="t" lIns="0" rIns="0" tIns="0" bIns="0">
              <a:spAutoFit/>
            </a:bodyPr>
            <a:lstStyle/>
            <a:p>
              <a:pPr algn="ctr"/>
              <a:r>
                <a:rPr sz="1400" b="1" i="0">
                  <a:solidFill>
                    <a:srgbClr val="FF0000"/>
                  </a:solidFill>
                  <a:latin typeface="Calibri"/>
                </a:rPr>
                <a:t>real or fake?</a:t>
              </a:r>
            </a:p>
          </p:txBody>
        </p:sp>
      </p:grpSp>
      <p:grpSp>
        <p:nvGrpSpPr>
          <p:cNvPr id="30" name="faces and Goodfellow"/>
          <p:cNvGrpSpPr/>
          <p:nvPr/>
        </p:nvGrpSpPr>
        <p:grpSpPr>
          <a:xfrm>
            <a:off x="6720840" y="3611879"/>
            <a:ext cx="5486400" cy="1362457"/>
            <a:chOff x="6720840" y="3611879"/>
            <a:chExt cx="5486400" cy="1362457"/>
          </a:xfrm>
        </p:grpSpPr>
        <p:pic>
          <p:nvPicPr>
            <p:cNvPr id="31" name="Picture 30" descr="image.jpg"/>
            <p:cNvPicPr>
              <a:picLocks noChangeAspect="1"/>
            </p:cNvPicPr>
            <p:nvPr/>
          </p:nvPicPr>
          <p:blipFill>
            <a:blip r:embed="rId3"/>
            <a:stretch>
              <a:fillRect/>
            </a:stretch>
          </p:blipFill>
          <p:spPr>
            <a:xfrm>
              <a:off x="6812280" y="3703320"/>
              <a:ext cx="896112" cy="896112"/>
            </a:xfrm>
            <a:prstGeom prst="rect">
              <a:avLst/>
            </a:prstGeom>
          </p:spPr>
        </p:pic>
        <p:pic>
          <p:nvPicPr>
            <p:cNvPr id="32" name="Picture 31" descr="image.jpg"/>
            <p:cNvPicPr>
              <a:picLocks noChangeAspect="1"/>
            </p:cNvPicPr>
            <p:nvPr/>
          </p:nvPicPr>
          <p:blipFill>
            <a:blip r:embed="rId4"/>
            <a:stretch>
              <a:fillRect/>
            </a:stretch>
          </p:blipFill>
          <p:spPr>
            <a:xfrm>
              <a:off x="7763256" y="3703320"/>
              <a:ext cx="896112" cy="896112"/>
            </a:xfrm>
            <a:prstGeom prst="rect">
              <a:avLst/>
            </a:prstGeom>
          </p:spPr>
        </p:pic>
        <p:pic>
          <p:nvPicPr>
            <p:cNvPr id="33" name="Picture 32" descr="image.jpg"/>
            <p:cNvPicPr>
              <a:picLocks noChangeAspect="1"/>
            </p:cNvPicPr>
            <p:nvPr/>
          </p:nvPicPr>
          <p:blipFill>
            <a:blip r:embed="rId5"/>
            <a:stretch>
              <a:fillRect/>
            </a:stretch>
          </p:blipFill>
          <p:spPr>
            <a:xfrm>
              <a:off x="8714232" y="3703320"/>
              <a:ext cx="896112" cy="896112"/>
            </a:xfrm>
            <a:prstGeom prst="rect">
              <a:avLst/>
            </a:prstGeom>
          </p:spPr>
        </p:pic>
        <p:pic>
          <p:nvPicPr>
            <p:cNvPr id="34" name="Picture 33" descr="image.jpg"/>
            <p:cNvPicPr>
              <a:picLocks noChangeAspect="1"/>
            </p:cNvPicPr>
            <p:nvPr/>
          </p:nvPicPr>
          <p:blipFill>
            <a:blip r:embed="rId6"/>
            <a:stretch>
              <a:fillRect/>
            </a:stretch>
          </p:blipFill>
          <p:spPr>
            <a:xfrm>
              <a:off x="9665208" y="3703320"/>
              <a:ext cx="896112" cy="896112"/>
            </a:xfrm>
            <a:prstGeom prst="rect">
              <a:avLst/>
            </a:prstGeom>
          </p:spPr>
        </p:pic>
        <p:sp>
          <p:nvSpPr>
            <p:cNvPr id="35" name="TextBox 34"/>
            <p:cNvSpPr txBox="1"/>
            <p:nvPr/>
          </p:nvSpPr>
          <p:spPr>
            <a:xfrm>
              <a:off x="6720840" y="4636007"/>
              <a:ext cx="3950208" cy="274320"/>
            </a:xfrm>
            <a:prstGeom prst="rect">
              <a:avLst/>
            </a:prstGeom>
            <a:noFill/>
          </p:spPr>
          <p:txBody>
            <a:bodyPr wrap="square" anchor="t" lIns="0" rIns="0" tIns="0" bIns="0">
              <a:spAutoFit/>
            </a:bodyPr>
            <a:lstStyle/>
            <a:p>
              <a:pPr algn="ctr"/>
              <a:r>
                <a:rPr sz="1200" b="0" i="0">
                  <a:solidFill>
                    <a:srgbClr val="595959"/>
                  </a:solidFill>
                  <a:latin typeface="Calibri"/>
                </a:rPr>
                <a:t>none of these people exist (StyleGAN, 2019–2020)</a:t>
              </a:r>
            </a:p>
          </p:txBody>
        </p:sp>
        <p:pic>
          <p:nvPicPr>
            <p:cNvPr id="36" name="Picture 35" descr="image.jpg"/>
            <p:cNvPicPr>
              <a:picLocks noChangeAspect="1"/>
            </p:cNvPicPr>
            <p:nvPr/>
          </p:nvPicPr>
          <p:blipFill>
            <a:blip r:embed="rId7"/>
            <a:stretch>
              <a:fillRect/>
            </a:stretch>
          </p:blipFill>
          <p:spPr>
            <a:xfrm>
              <a:off x="10881360" y="3611879"/>
              <a:ext cx="1051560" cy="1051560"/>
            </a:xfrm>
            <a:prstGeom prst="rect">
              <a:avLst/>
            </a:prstGeom>
          </p:spPr>
        </p:pic>
        <p:sp>
          <p:nvSpPr>
            <p:cNvPr id="37" name="TextBox 36"/>
            <p:cNvSpPr txBox="1"/>
            <p:nvPr/>
          </p:nvSpPr>
          <p:spPr>
            <a:xfrm>
              <a:off x="10607040" y="4700016"/>
              <a:ext cx="1600200" cy="274320"/>
            </a:xfrm>
            <a:prstGeom prst="rect">
              <a:avLst/>
            </a:prstGeom>
            <a:noFill/>
          </p:spPr>
          <p:txBody>
            <a:bodyPr wrap="square" anchor="t" lIns="0" rIns="0" tIns="0" bIns="0">
              <a:spAutoFit/>
            </a:bodyPr>
            <a:lstStyle/>
            <a:p>
              <a:pPr algn="ctr"/>
              <a:r>
                <a:rPr sz="1200" b="0" i="0">
                  <a:solidFill>
                    <a:srgbClr val="595959"/>
                  </a:solidFill>
                  <a:latin typeface="Calibri"/>
                </a:rPr>
                <a:t>Ian Goodfellow</a:t>
              </a:r>
            </a:p>
          </p:txBody>
        </p:sp>
      </p:grpSp>
      <p:sp>
        <p:nvSpPr>
          <p:cNvPr id="38" name="description"/>
          <p:cNvSpPr txBox="1"/>
          <p:nvPr/>
        </p:nvSpPr>
        <p:spPr>
          <a:xfrm>
            <a:off x="6812280" y="5166360"/>
            <a:ext cx="5120640" cy="731520"/>
          </a:xfrm>
          <a:prstGeom prst="rect">
            <a:avLst/>
          </a:prstGeom>
          <a:noFill/>
        </p:spPr>
        <p:txBody>
          <a:bodyPr wrap="square" anchor="t" lIns="0" rIns="0" tIns="0" bIns="0">
            <a:spAutoFit/>
          </a:bodyPr>
          <a:lstStyle/>
          <a:p>
            <a:pPr algn="l"/>
            <a:r>
              <a:rPr sz="1400" b="0" i="0">
                <a:solidFill>
                  <a:srgbClr val="595959"/>
                </a:solidFill>
                <a:latin typeface="Calibri"/>
              </a:rPr>
              <a:t>A generator turns random noise into images while a discriminator learns to tell them from real ones; each improves against the other (Goodfellow et al., 2014). The faces come from a later descendant.</a:t>
            </a:r>
          </a:p>
        </p:txBody>
      </p:sp>
      <p:sp>
        <p:nvSpPr>
          <p:cNvPr id="39" name="line 1959"/>
          <p:cNvSpPr txBox="1"/>
          <p:nvPr/>
        </p:nvSpPr>
        <p:spPr>
          <a:xfrm>
            <a:off x="384048" y="4023360"/>
            <a:ext cx="6309360" cy="411480"/>
          </a:xfrm>
          <a:prstGeom prst="rect">
            <a:avLst/>
          </a:prstGeom>
          <a:noFill/>
          <a:ln>
            <a:noFill/>
          </a:ln>
        </p:spPr>
        <p:txBody>
          <a:bodyPr wrap="square" lIns="0" tIns="0" rIns="0" bIns="0" rtlCol="0" anchor="ctr"/>
          <a:lstStyle/>
          <a:p>
            <a:pPr marL="0" indent="0">
              <a:buNone/>
            </a:pPr>
            <a:r>
              <a:rPr lang="en-US" sz="2000" dirty="0">
                <a:solidFill>
                  <a:srgbClr val="362FEC"/>
                </a:solidFill>
                <a:latin typeface="Calibri" pitchFamily="34" charset="0"/>
                <a:ea typeface="Calibri" pitchFamily="34" charset="-122"/>
                <a:cs typeface="Calibri" pitchFamily="34" charset="-120"/>
              </a:rPr>
              <a:t>1959</a:t>
            </a:r>
            <a:r>
              <a:rPr lang="en-US" sz="2000" dirty="0">
                <a:solidFill>
                  <a:srgbClr val="000000"/>
                </a:solidFill>
                <a:latin typeface="Calibri" pitchFamily="34" charset="0"/>
                <a:ea typeface="Calibri" pitchFamily="34" charset="-122"/>
                <a:cs typeface="Calibri" pitchFamily="34" charset="-120"/>
              </a:rPr>
              <a:t>: </a:t>
            </a:r>
            <a:r>
              <a:rPr lang="en-US" sz="2000" dirty="0">
                <a:solidFill>
                  <a:srgbClr val="00B050"/>
                </a:solidFill>
                <a:latin typeface="Calibri" pitchFamily="34" charset="0"/>
                <a:ea typeface="Calibri" pitchFamily="34" charset="-122"/>
                <a:cs typeface="Calibri" pitchFamily="34" charset="-120"/>
              </a:rPr>
              <a:t>Samuel's checkers player learns from self-play</a:t>
            </a:r>
            <a:endParaRPr lang="en-US" sz="2000" dirty="0"/>
          </a:p>
        </p:txBody>
      </p:sp>
      <p:sp>
        <p:nvSpPr>
          <p:cNvPr id="40" name="tag ML"/>
          <p:cNvSpPr/>
          <p:nvPr/>
        </p:nvSpPr>
        <p:spPr>
          <a:xfrm>
            <a:off x="4971391" y="3671315"/>
            <a:ext cx="438912" cy="274320"/>
          </a:xfrm>
          <a:prstGeom prst="roundRect">
            <a:avLst>
              <a:gd name="adj" fmla="val 12000"/>
            </a:avLst>
          </a:prstGeom>
          <a:solidFill>
            <a:srgbClr val="D9F2E4"/>
          </a:solidFill>
          <a:ln w="15875">
            <a:solidFill>
              <a:srgbClr val="00B050"/>
            </a:solidFill>
          </a:ln>
        </p:spPr>
        <p:style>
          <a:lnRef idx="1">
            <a:schemeClr val="accent1"/>
          </a:lnRef>
          <a:fillRef idx="3">
            <a:schemeClr val="accent1"/>
          </a:fillRef>
          <a:effectRef idx="2">
            <a:schemeClr val="accent1"/>
          </a:effectRef>
          <a:fontRef idx="minor">
            <a:schemeClr val="lt1"/>
          </a:fontRef>
        </p:style>
        <p:txBody>
          <a:bodyPr rtlCol="0" anchor="ctr" wrap="square" lIns="45720" rIns="45720"/>
          <a:lstStyle/>
          <a:p>
            <a:pPr algn="ctr"/>
            <a:r>
              <a:rPr sz="1300" b="1">
                <a:solidFill>
                  <a:srgbClr val="00B050"/>
                </a:solidFill>
                <a:latin typeface="Calibri"/>
              </a:rPr>
              <a:t>ML</a:t>
            </a:r>
          </a:p>
        </p:txBody>
      </p:sp>
      <p:sp>
        <p:nvSpPr>
          <p:cNvPr id="41" name="tag RL"/>
          <p:cNvSpPr/>
          <p:nvPr/>
        </p:nvSpPr>
        <p:spPr>
          <a:xfrm>
            <a:off x="5864498" y="4091940"/>
            <a:ext cx="438912" cy="274320"/>
          </a:xfrm>
          <a:prstGeom prst="roundRect">
            <a:avLst>
              <a:gd name="adj" fmla="val 12000"/>
            </a:avLst>
          </a:prstGeom>
          <a:solidFill>
            <a:srgbClr val="FBE5D6"/>
          </a:solidFill>
          <a:ln w="15875">
            <a:solidFill>
              <a:srgbClr val="ED7D31"/>
            </a:solidFill>
          </a:ln>
        </p:spPr>
        <p:style>
          <a:lnRef idx="1">
            <a:schemeClr val="accent1"/>
          </a:lnRef>
          <a:fillRef idx="3">
            <a:schemeClr val="accent1"/>
          </a:fillRef>
          <a:effectRef idx="2">
            <a:schemeClr val="accent1"/>
          </a:effectRef>
          <a:fontRef idx="minor">
            <a:schemeClr val="lt1"/>
          </a:fontRef>
        </p:style>
        <p:txBody>
          <a:bodyPr rtlCol="0" anchor="ctr" wrap="square" lIns="45720" rIns="45720"/>
          <a:lstStyle/>
          <a:p>
            <a:pPr algn="ctr"/>
            <a:r>
              <a:rPr sz="1300" b="1">
                <a:solidFill>
                  <a:srgbClr val="ED7D31"/>
                </a:solidFill>
                <a:latin typeface="Calibri"/>
              </a:rPr>
              <a:t>RL</a:t>
            </a:r>
          </a:p>
        </p:txBody>
      </p:sp>
      <p:sp>
        <p:nvSpPr>
          <p:cNvPr id="42" name="tag DL"/>
          <p:cNvSpPr/>
          <p:nvPr/>
        </p:nvSpPr>
        <p:spPr>
          <a:xfrm>
            <a:off x="4654327" y="4512564"/>
            <a:ext cx="438912" cy="274320"/>
          </a:xfrm>
          <a:prstGeom prst="roundRect">
            <a:avLst>
              <a:gd name="adj" fmla="val 12000"/>
            </a:avLst>
          </a:prstGeom>
          <a:solidFill>
            <a:srgbClr val="E3E2FD"/>
          </a:solidFill>
          <a:ln w="15875">
            <a:solidFill>
              <a:srgbClr val="362FEC"/>
            </a:solidFill>
          </a:ln>
        </p:spPr>
        <p:style>
          <a:lnRef idx="1">
            <a:schemeClr val="accent1"/>
          </a:lnRef>
          <a:fillRef idx="3">
            <a:schemeClr val="accent1"/>
          </a:fillRef>
          <a:effectRef idx="2">
            <a:schemeClr val="accent1"/>
          </a:effectRef>
          <a:fontRef idx="minor">
            <a:schemeClr val="lt1"/>
          </a:fontRef>
        </p:style>
        <p:txBody>
          <a:bodyPr rtlCol="0" anchor="ctr" wrap="square" lIns="45720" rIns="45720"/>
          <a:lstStyle/>
          <a:p>
            <a:pPr algn="ctr"/>
            <a:r>
              <a:rPr sz="1300" b="1">
                <a:solidFill>
                  <a:srgbClr val="362FEC"/>
                </a:solidFill>
                <a:latin typeface="Calibri"/>
              </a:rPr>
              <a:t>DL</a:t>
            </a:r>
          </a:p>
        </p:txBody>
      </p:sp>
      <p:sp>
        <p:nvSpPr>
          <p:cNvPr id="43" name="tag AI"/>
          <p:cNvSpPr/>
          <p:nvPr/>
        </p:nvSpPr>
        <p:spPr>
          <a:xfrm>
            <a:off x="4018315" y="4933188"/>
            <a:ext cx="438912" cy="274320"/>
          </a:xfrm>
          <a:prstGeom prst="roundRect">
            <a:avLst>
              <a:gd name="adj" fmla="val 12000"/>
            </a:avLst>
          </a:prstGeom>
          <a:solidFill>
            <a:srgbClr val="FFE0E0"/>
          </a:solidFill>
          <a:ln w="15875">
            <a:solidFill>
              <a:srgbClr val="FF0000"/>
            </a:solidFill>
          </a:ln>
        </p:spPr>
        <p:style>
          <a:lnRef idx="1">
            <a:schemeClr val="accent1"/>
          </a:lnRef>
          <a:fillRef idx="3">
            <a:schemeClr val="accent1"/>
          </a:fillRef>
          <a:effectRef idx="2">
            <a:schemeClr val="accent1"/>
          </a:effectRef>
          <a:fontRef idx="minor">
            <a:schemeClr val="lt1"/>
          </a:fontRef>
        </p:style>
        <p:txBody>
          <a:bodyPr rtlCol="0" anchor="ctr" wrap="square" lIns="45720" rIns="45720"/>
          <a:lstStyle/>
          <a:p>
            <a:pPr algn="ctr"/>
            <a:r>
              <a:rPr sz="1300" b="1">
                <a:solidFill>
                  <a:srgbClr val="FF0000"/>
                </a:solidFill>
                <a:latin typeface="Calibri"/>
              </a:rPr>
              <a:t>AI</a:t>
            </a:r>
          </a:p>
        </p:txBody>
      </p:sp>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12"/>
                                        </p:tgtEl>
                                        <p:attrNameLst>
                                          <p:attrName>style.visibility</p:attrName>
                                        </p:attrNameLst>
                                      </p:cBhvr>
                                      <p:to>
                                        <p:strVal val="visible"/>
                                      </p:to>
                                    </p:set>
                                  </p:childTnLst>
                                </p:cTn>
                              </p:par>
                              <p:par>
                                <p:cTn id="7" presetID="1" presetClass="entr" presetSubtype="0" fill="hold" grpId="0" nodeType="withEffect">
                                  <p:stCondLst>
                                    <p:cond delay="0"/>
                                  </p:stCondLst>
                                  <p:childTnLst>
                                    <p:set>
                                      <p:cBhvr>
                                        <p:cTn id="8" dur="1" fill="hold">
                                          <p:stCondLst>
                                            <p:cond delay="0"/>
                                          </p:stCondLst>
                                        </p:cTn>
                                        <p:tgtEl>
                                          <p:spTgt spid="19"/>
                                        </p:tgtEl>
                                        <p:attrNameLst>
                                          <p:attrName>style.visibility</p:attrName>
                                        </p:attrNameLst>
                                      </p:cBhvr>
                                      <p:to>
                                        <p:strVal val="visible"/>
                                      </p:to>
                                    </p:set>
                                  </p:childTnLst>
                                </p:cTn>
                              </p:par>
                              <p:par>
                                <p:cTn id="9" presetID="1" presetClass="entr" presetSubtype="0" fill="hold" grpId="0" nodeType="withEffect">
                                  <p:stCondLst>
                                    <p:cond delay="0"/>
                                  </p:stCondLst>
                                  <p:childTnLst>
                                    <p:set>
                                      <p:cBhvr>
                                        <p:cTn id="10" dur="1" fill="hold">
                                          <p:stCondLst>
                                            <p:cond delay="0"/>
                                          </p:stCondLst>
                                        </p:cTn>
                                        <p:tgtEl>
                                          <p:spTgt spid="30"/>
                                        </p:tgtEl>
                                        <p:attrNameLst>
                                          <p:attrName>style.visibility</p:attrName>
                                        </p:attrNameLst>
                                      </p:cBhvr>
                                      <p:to>
                                        <p:strVal val="visible"/>
                                      </p:to>
                                    </p:set>
                                  </p:childTnLst>
                                </p:cTn>
                              </p:par>
                              <p:par>
                                <p:cTn id="11" presetID="1" presetClass="entr" presetSubtype="0" fill="hold" grpId="0" nodeType="withEffect">
                                  <p:stCondLst>
                                    <p:cond delay="0"/>
                                  </p:stCondLst>
                                  <p:childTnLst>
                                    <p:set>
                                      <p:cBhvr>
                                        <p:cTn id="12" dur="1" fill="hold">
                                          <p:stCondLst>
                                            <p:cond delay="0"/>
                                          </p:stCondLst>
                                        </p:cTn>
                                        <p:tgtEl>
                                          <p:spTgt spid="38"/>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2" grpId="0"/>
      <p:bldP spid="38" grpId="0"/>
    </p:bldLst>
  </p:timing>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b0_2">
            <a:extLst>
              <a:ext uri="{FF2B5EF4-FFF2-40B4-BE49-F238E27FC236}">
                <a16:creationId xmlns:a16="http://schemas.microsoft.com/office/drawing/2014/main" id="{2BEE631D-71D0-C172-CB4C-F8D514EE049F}"/>
              </a:ext>
            </a:extLst>
          </p:cNvPr>
          <p:cNvSpPr txBox="1"/>
          <p:nvPr/>
        </p:nvSpPr>
        <p:spPr>
          <a:xfrm>
            <a:off x="0" y="148566"/>
            <a:ext cx="11680992" cy="548640"/>
          </a:xfrm>
          <a:prstGeom prst="rect">
            <a:avLst/>
          </a:prstGeom>
          <a:noFill/>
          <a:ln>
            <a:noFill/>
          </a:ln>
        </p:spPr>
        <p:txBody>
          <a:bodyPr wrap="square" rtlCol="0" anchor="ctr"/>
          <a:lstStyle/>
          <a:p>
            <a:r>
              <a:rPr lang="en-US" sz="3200" b="1" dirty="0">
                <a:latin typeface="Calibri" pitchFamily="34" charset="0"/>
                <a:ea typeface="Calibri" pitchFamily="34" charset="-122"/>
                <a:cs typeface="Calibri" pitchFamily="34" charset="-120"/>
              </a:rPr>
              <a:t>From </a:t>
            </a:r>
            <a:r>
              <a:rPr lang="en-US" sz="3200" b="1" dirty="0">
                <a:solidFill>
                  <a:srgbClr val="FF0000"/>
                </a:solidFill>
                <a:latin typeface="Calibri" pitchFamily="34" charset="0"/>
                <a:ea typeface="Calibri" pitchFamily="34" charset="-122"/>
                <a:cs typeface="Calibri" pitchFamily="34" charset="-120"/>
              </a:rPr>
              <a:t>Computation</a:t>
            </a:r>
            <a:r>
              <a:rPr lang="en-US" sz="3200" b="1" dirty="0">
                <a:latin typeface="Calibri" pitchFamily="34" charset="0"/>
                <a:ea typeface="Calibri" pitchFamily="34" charset="-122"/>
                <a:cs typeface="Calibri" pitchFamily="34" charset="-120"/>
              </a:rPr>
              <a:t> to </a:t>
            </a:r>
            <a:r>
              <a:rPr lang="en-US" sz="3200" b="1" dirty="0">
                <a:solidFill>
                  <a:srgbClr val="362FEC"/>
                </a:solidFill>
                <a:latin typeface="Calibri" pitchFamily="34" charset="0"/>
                <a:ea typeface="Calibri" pitchFamily="34" charset="-122"/>
                <a:cs typeface="Calibri" pitchFamily="34" charset="-120"/>
              </a:rPr>
              <a:t>Language Models</a:t>
            </a:r>
            <a:endParaRPr lang="en-US" sz="3200" dirty="0">
              <a:solidFill>
                <a:srgbClr val="362FEC"/>
              </a:solidFill>
            </a:endParaRPr>
          </a:p>
        </p:txBody>
      </p:sp>
      <p:sp>
        <p:nvSpPr>
          <p:cNvPr id="3" name="!!computation">
            <a:extLst>
              <a:ext uri="{FF2B5EF4-FFF2-40B4-BE49-F238E27FC236}">
                <a16:creationId xmlns:a16="http://schemas.microsoft.com/office/drawing/2014/main" id="{24318C8D-4B51-C175-BBF7-28B6C807AC22}"/>
              </a:ext>
            </a:extLst>
          </p:cNvPr>
          <p:cNvSpPr txBox="1"/>
          <p:nvPr/>
        </p:nvSpPr>
        <p:spPr>
          <a:xfrm>
            <a:off x="168339" y="980102"/>
            <a:ext cx="6355080" cy="707886"/>
          </a:xfrm>
          <a:prstGeom prst="rect">
            <a:avLst/>
          </a:prstGeom>
          <a:noFill/>
        </p:spPr>
        <p:txBody>
          <a:bodyPr wrap="square" rtlCol="0">
            <a:spAutoFit/>
          </a:bodyPr>
          <a:lstStyle/>
          <a:p>
            <a:r>
              <a:rPr lang="en-US" sz="2000" dirty="0">
                <a:latin typeface="Calibri" panose="020F0502020204030204" pitchFamily="34" charset="0"/>
                <a:cs typeface="Calibri" panose="020F0502020204030204" pitchFamily="34" charset="0"/>
              </a:rPr>
              <a:t>This is taken even further by the ability to transform information: Computation.</a:t>
            </a:r>
          </a:p>
        </p:txBody>
      </p:sp>
      <p:sp>
        <p:nvSpPr>
          <p:cNvPr id="4" name="line 1936">
            <a:extLst>
              <a:ext uri="{FF2B5EF4-FFF2-40B4-BE49-F238E27FC236}">
                <a16:creationId xmlns:a16="http://schemas.microsoft.com/office/drawing/2014/main" id="{C9DF67C1-43FB-2996-59BA-F404CC84075C}"/>
              </a:ext>
            </a:extLst>
          </p:cNvPr>
          <p:cNvSpPr txBox="1"/>
          <p:nvPr/>
        </p:nvSpPr>
        <p:spPr>
          <a:xfrm>
            <a:off x="384048" y="1920240"/>
            <a:ext cx="6309360" cy="411480"/>
          </a:xfrm>
          <a:prstGeom prst="rect">
            <a:avLst/>
          </a:prstGeom>
          <a:noFill/>
          <a:ln>
            <a:noFill/>
          </a:ln>
        </p:spPr>
        <p:txBody>
          <a:bodyPr wrap="square" lIns="0" tIns="0" rIns="0" bIns="0" rtlCol="0" anchor="ctr"/>
          <a:lstStyle/>
          <a:p>
            <a:pPr marL="0" indent="0">
              <a:buNone/>
            </a:pPr>
            <a:r>
              <a:rPr lang="en-US" sz="2000" dirty="0">
                <a:solidFill>
                  <a:srgbClr val="362FEC"/>
                </a:solidFill>
                <a:latin typeface="Calibri" pitchFamily="34" charset="0"/>
                <a:ea typeface="Calibri" pitchFamily="34" charset="-122"/>
                <a:cs typeface="Calibri" pitchFamily="34" charset="-120"/>
              </a:rPr>
              <a:t>1936</a:t>
            </a:r>
            <a:r>
              <a:rPr lang="en-US" sz="2000" dirty="0">
                <a:solidFill>
                  <a:srgbClr val="000000"/>
                </a:solidFill>
                <a:latin typeface="Calibri" pitchFamily="34" charset="0"/>
                <a:ea typeface="Calibri" pitchFamily="34" charset="-122"/>
                <a:cs typeface="Calibri" pitchFamily="34" charset="-120"/>
              </a:rPr>
              <a:t>: </a:t>
            </a:r>
            <a:r>
              <a:rPr lang="en-US" sz="2000" dirty="0">
                <a:solidFill>
                  <a:srgbClr val="00B050"/>
                </a:solidFill>
                <a:latin typeface="Calibri" pitchFamily="34" charset="0"/>
                <a:ea typeface="Calibri" pitchFamily="34" charset="-122"/>
                <a:cs typeface="Calibri" pitchFamily="34" charset="-120"/>
              </a:rPr>
              <a:t>computation becomes a mathematical object</a:t>
            </a:r>
            <a:endParaRPr lang="en-US" sz="2000" dirty="0"/>
          </a:p>
        </p:txBody>
      </p:sp>
      <p:sp>
        <p:nvSpPr>
          <p:cNvPr id="5" name="line 1946">
            <a:extLst>
              <a:ext uri="{FF2B5EF4-FFF2-40B4-BE49-F238E27FC236}">
                <a16:creationId xmlns:a16="http://schemas.microsoft.com/office/drawing/2014/main" id="{C9DF67C1-43FB-2996-59BA-F404CC84075C}"/>
              </a:ext>
            </a:extLst>
          </p:cNvPr>
          <p:cNvSpPr txBox="1"/>
          <p:nvPr/>
        </p:nvSpPr>
        <p:spPr>
          <a:xfrm>
            <a:off x="384048" y="2340864"/>
            <a:ext cx="6309360" cy="411480"/>
          </a:xfrm>
          <a:prstGeom prst="rect">
            <a:avLst/>
          </a:prstGeom>
          <a:noFill/>
          <a:ln>
            <a:noFill/>
          </a:ln>
        </p:spPr>
        <p:txBody>
          <a:bodyPr wrap="square" lIns="0" tIns="0" rIns="0" bIns="0" rtlCol="0" anchor="ctr"/>
          <a:lstStyle/>
          <a:p>
            <a:pPr marL="0" indent="0">
              <a:buNone/>
            </a:pPr>
            <a:r>
              <a:rPr lang="en-US" sz="2000" dirty="0">
                <a:solidFill>
                  <a:srgbClr val="362FEC"/>
                </a:solidFill>
                <a:latin typeface="Calibri" pitchFamily="34" charset="0"/>
                <a:ea typeface="Calibri" pitchFamily="34" charset="-122"/>
                <a:cs typeface="Calibri" pitchFamily="34" charset="-120"/>
              </a:rPr>
              <a:t>1946–1947</a:t>
            </a:r>
            <a:r>
              <a:rPr lang="en-US" sz="2000" dirty="0">
                <a:solidFill>
                  <a:srgbClr val="000000"/>
                </a:solidFill>
                <a:latin typeface="Calibri" pitchFamily="34" charset="0"/>
                <a:ea typeface="Calibri" pitchFamily="34" charset="-122"/>
                <a:cs typeface="Calibri" pitchFamily="34" charset="-120"/>
              </a:rPr>
              <a:t>: </a:t>
            </a:r>
            <a:r>
              <a:rPr lang="en-US" sz="2000" dirty="0">
                <a:solidFill>
                  <a:srgbClr val="00B050"/>
                </a:solidFill>
                <a:latin typeface="Calibri" pitchFamily="34" charset="0"/>
                <a:ea typeface="Calibri" pitchFamily="34" charset="-122"/>
                <a:cs typeface="Calibri" pitchFamily="34" charset="-120"/>
              </a:rPr>
              <a:t>computers become physical objects</a:t>
            </a:r>
            <a:endParaRPr lang="en-US" sz="2000" dirty="0"/>
          </a:p>
        </p:txBody>
      </p:sp>
      <p:sp>
        <p:nvSpPr>
          <p:cNvPr id="6" name="line 1950">
            <a:extLst>
              <a:ext uri="{FF2B5EF4-FFF2-40B4-BE49-F238E27FC236}">
                <a16:creationId xmlns:a16="http://schemas.microsoft.com/office/drawing/2014/main" id="{C9DF67C1-43FB-2996-59BA-F404CC84075C}"/>
              </a:ext>
            </a:extLst>
          </p:cNvPr>
          <p:cNvSpPr txBox="1"/>
          <p:nvPr/>
        </p:nvSpPr>
        <p:spPr>
          <a:xfrm>
            <a:off x="384048" y="2761488"/>
            <a:ext cx="6309360" cy="411480"/>
          </a:xfrm>
          <a:prstGeom prst="rect">
            <a:avLst/>
          </a:prstGeom>
          <a:noFill/>
          <a:ln>
            <a:noFill/>
          </a:ln>
        </p:spPr>
        <p:txBody>
          <a:bodyPr wrap="square" lIns="0" tIns="0" rIns="0" bIns="0" rtlCol="0" anchor="ctr"/>
          <a:lstStyle/>
          <a:p>
            <a:pPr marL="0" indent="0">
              <a:buNone/>
            </a:pPr>
            <a:r>
              <a:rPr lang="en-US" sz="2000" dirty="0">
                <a:solidFill>
                  <a:srgbClr val="362FEC"/>
                </a:solidFill>
                <a:latin typeface="Calibri" pitchFamily="34" charset="0"/>
                <a:ea typeface="Calibri" pitchFamily="34" charset="-122"/>
                <a:cs typeface="Calibri" pitchFamily="34" charset="-120"/>
              </a:rPr>
              <a:t>1950</a:t>
            </a:r>
            <a:r>
              <a:rPr lang="en-US" sz="2000" dirty="0">
                <a:solidFill>
                  <a:srgbClr val="000000"/>
                </a:solidFill>
                <a:latin typeface="Calibri" pitchFamily="34" charset="0"/>
                <a:ea typeface="Calibri" pitchFamily="34" charset="-122"/>
                <a:cs typeface="Calibri" pitchFamily="34" charset="-120"/>
              </a:rPr>
              <a:t>: </a:t>
            </a:r>
            <a:r>
              <a:rPr lang="en-US" sz="2000" dirty="0">
                <a:solidFill>
                  <a:srgbClr val="00B050"/>
                </a:solidFill>
                <a:latin typeface="Calibri" pitchFamily="34" charset="0"/>
                <a:ea typeface="Calibri" pitchFamily="34" charset="-122"/>
                <a:cs typeface="Calibri" pitchFamily="34" charset="-120"/>
              </a:rPr>
              <a:t>the imitation game</a:t>
            </a:r>
            <a:endParaRPr lang="en-US" sz="2000" dirty="0"/>
          </a:p>
        </p:txBody>
      </p:sp>
      <p:sp>
        <p:nvSpPr>
          <p:cNvPr id="7" name="line 1955">
            <a:extLst>
              <a:ext uri="{FF2B5EF4-FFF2-40B4-BE49-F238E27FC236}">
                <a16:creationId xmlns:a16="http://schemas.microsoft.com/office/drawing/2014/main" id="{C9DF67C1-43FB-2996-59BA-F404CC84075C}"/>
              </a:ext>
            </a:extLst>
          </p:cNvPr>
          <p:cNvSpPr txBox="1"/>
          <p:nvPr/>
        </p:nvSpPr>
        <p:spPr>
          <a:xfrm>
            <a:off x="384048" y="3182112"/>
            <a:ext cx="6309360" cy="411480"/>
          </a:xfrm>
          <a:prstGeom prst="rect">
            <a:avLst/>
          </a:prstGeom>
          <a:noFill/>
          <a:ln>
            <a:noFill/>
          </a:ln>
        </p:spPr>
        <p:txBody>
          <a:bodyPr wrap="square" lIns="0" tIns="0" rIns="0" bIns="0" rtlCol="0" anchor="ctr"/>
          <a:lstStyle/>
          <a:p>
            <a:pPr marL="0" indent="0">
              <a:buNone/>
            </a:pPr>
            <a:r>
              <a:rPr lang="en-US" sz="2000" dirty="0">
                <a:solidFill>
                  <a:srgbClr val="362FEC"/>
                </a:solidFill>
                <a:latin typeface="Calibri" pitchFamily="34" charset="0"/>
                <a:ea typeface="Calibri" pitchFamily="34" charset="-122"/>
                <a:cs typeface="Calibri" pitchFamily="34" charset="-120"/>
              </a:rPr>
              <a:t>1955–1956</a:t>
            </a:r>
            <a:r>
              <a:rPr lang="en-US" sz="2000" dirty="0">
                <a:solidFill>
                  <a:srgbClr val="000000"/>
                </a:solidFill>
                <a:latin typeface="Calibri" pitchFamily="34" charset="0"/>
                <a:ea typeface="Calibri" pitchFamily="34" charset="-122"/>
                <a:cs typeface="Calibri" pitchFamily="34" charset="-120"/>
              </a:rPr>
              <a:t>: </a:t>
            </a:r>
            <a:r>
              <a:rPr lang="en-US" sz="2000" dirty="0">
                <a:solidFill>
                  <a:srgbClr val="00B050"/>
                </a:solidFill>
                <a:latin typeface="Calibri" pitchFamily="34" charset="0"/>
                <a:ea typeface="Calibri" pitchFamily="34" charset="-122"/>
                <a:cs typeface="Calibri" pitchFamily="34" charset="-120"/>
              </a:rPr>
              <a:t>artificial intelligence gets a name</a:t>
            </a:r>
            <a:endParaRPr lang="en-US" sz="2000" dirty="0"/>
          </a:p>
        </p:txBody>
      </p:sp>
      <p:sp>
        <p:nvSpPr>
          <p:cNvPr id="8" name="line 1958">
            <a:extLst>
              <a:ext uri="{FF2B5EF4-FFF2-40B4-BE49-F238E27FC236}">
                <a16:creationId xmlns:a16="http://schemas.microsoft.com/office/drawing/2014/main" id="{C9DF67C1-43FB-2996-59BA-F404CC84075C}"/>
              </a:ext>
            </a:extLst>
          </p:cNvPr>
          <p:cNvSpPr txBox="1"/>
          <p:nvPr/>
        </p:nvSpPr>
        <p:spPr>
          <a:xfrm>
            <a:off x="384048" y="3602736"/>
            <a:ext cx="6309360" cy="411480"/>
          </a:xfrm>
          <a:prstGeom prst="rect">
            <a:avLst/>
          </a:prstGeom>
          <a:noFill/>
          <a:ln>
            <a:noFill/>
          </a:ln>
        </p:spPr>
        <p:txBody>
          <a:bodyPr wrap="square" lIns="0" tIns="0" rIns="0" bIns="0" rtlCol="0" anchor="ctr"/>
          <a:lstStyle/>
          <a:p>
            <a:pPr marL="0" indent="0">
              <a:buNone/>
            </a:pPr>
            <a:r>
              <a:rPr lang="en-US" sz="2000" dirty="0">
                <a:solidFill>
                  <a:srgbClr val="362FEC"/>
                </a:solidFill>
                <a:latin typeface="Calibri" pitchFamily="34" charset="0"/>
                <a:ea typeface="Calibri" pitchFamily="34" charset="-122"/>
                <a:cs typeface="Calibri" pitchFamily="34" charset="-120"/>
              </a:rPr>
              <a:t>1958</a:t>
            </a:r>
            <a:r>
              <a:rPr lang="en-US" sz="2000" dirty="0">
                <a:solidFill>
                  <a:srgbClr val="000000"/>
                </a:solidFill>
                <a:latin typeface="Calibri" pitchFamily="34" charset="0"/>
                <a:ea typeface="Calibri" pitchFamily="34" charset="-122"/>
                <a:cs typeface="Calibri" pitchFamily="34" charset="-120"/>
              </a:rPr>
              <a:t>: </a:t>
            </a:r>
            <a:r>
              <a:rPr lang="en-US" sz="2000" dirty="0">
                <a:solidFill>
                  <a:srgbClr val="00B050"/>
                </a:solidFill>
                <a:latin typeface="Calibri" pitchFamily="34" charset="0"/>
                <a:ea typeface="Calibri" pitchFamily="34" charset="-122"/>
                <a:cs typeface="Calibri" pitchFamily="34" charset="-120"/>
              </a:rPr>
              <a:t>the perceptron learns from examples</a:t>
            </a:r>
            <a:endParaRPr lang="en-US" sz="2000" dirty="0"/>
          </a:p>
        </p:txBody>
      </p:sp>
      <p:sp>
        <p:nvSpPr>
          <p:cNvPr id="9" name="line 1986">
            <a:extLst>
              <a:ext uri="{FF2B5EF4-FFF2-40B4-BE49-F238E27FC236}">
                <a16:creationId xmlns:a16="http://schemas.microsoft.com/office/drawing/2014/main" id="{C9DF67C1-43FB-2996-59BA-F404CC84075C}"/>
              </a:ext>
            </a:extLst>
          </p:cNvPr>
          <p:cNvSpPr txBox="1"/>
          <p:nvPr/>
        </p:nvSpPr>
        <p:spPr>
          <a:xfrm>
            <a:off x="384048" y="4443984"/>
            <a:ext cx="6309360" cy="411480"/>
          </a:xfrm>
          <a:prstGeom prst="rect">
            <a:avLst/>
          </a:prstGeom>
          <a:noFill/>
          <a:ln>
            <a:noFill/>
          </a:ln>
        </p:spPr>
        <p:txBody>
          <a:bodyPr wrap="square" lIns="0" tIns="0" rIns="0" bIns="0" rtlCol="0" anchor="ctr"/>
          <a:lstStyle/>
          <a:p>
            <a:pPr marL="0" indent="0">
              <a:buNone/>
            </a:pPr>
            <a:r>
              <a:rPr lang="en-US" sz="2000" dirty="0">
                <a:solidFill>
                  <a:srgbClr val="362FEC"/>
                </a:solidFill>
                <a:latin typeface="Calibri" pitchFamily="34" charset="0"/>
                <a:ea typeface="Calibri" pitchFamily="34" charset="-122"/>
                <a:cs typeface="Calibri" pitchFamily="34" charset="-120"/>
              </a:rPr>
              <a:t>1986</a:t>
            </a:r>
            <a:r>
              <a:rPr lang="en-US" sz="2000" dirty="0">
                <a:solidFill>
                  <a:srgbClr val="000000"/>
                </a:solidFill>
                <a:latin typeface="Calibri" pitchFamily="34" charset="0"/>
                <a:ea typeface="Calibri" pitchFamily="34" charset="-122"/>
                <a:cs typeface="Calibri" pitchFamily="34" charset="-120"/>
              </a:rPr>
              <a:t>: </a:t>
            </a:r>
            <a:r>
              <a:rPr lang="en-US" sz="2000" dirty="0">
                <a:solidFill>
                  <a:srgbClr val="00B050"/>
                </a:solidFill>
                <a:latin typeface="Calibri" pitchFamily="34" charset="0"/>
                <a:ea typeface="Calibri" pitchFamily="34" charset="-122"/>
                <a:cs typeface="Calibri" pitchFamily="34" charset="-120"/>
              </a:rPr>
              <a:t>networks learn their own features</a:t>
            </a:r>
            <a:endParaRPr lang="en-US" sz="2000" dirty="0"/>
          </a:p>
        </p:txBody>
      </p:sp>
      <p:sp>
        <p:nvSpPr>
          <p:cNvPr id="10" name="line 1997">
            <a:extLst>
              <a:ext uri="{FF2B5EF4-FFF2-40B4-BE49-F238E27FC236}">
                <a16:creationId xmlns:a16="http://schemas.microsoft.com/office/drawing/2014/main" id="{C9DF67C1-43FB-2996-59BA-F404CC84075C}"/>
              </a:ext>
            </a:extLst>
          </p:cNvPr>
          <p:cNvSpPr txBox="1"/>
          <p:nvPr/>
        </p:nvSpPr>
        <p:spPr>
          <a:xfrm>
            <a:off x="384048" y="4864608"/>
            <a:ext cx="6309360" cy="411480"/>
          </a:xfrm>
          <a:prstGeom prst="rect">
            <a:avLst/>
          </a:prstGeom>
          <a:noFill/>
          <a:ln>
            <a:noFill/>
          </a:ln>
        </p:spPr>
        <p:txBody>
          <a:bodyPr wrap="square" lIns="0" tIns="0" rIns="0" bIns="0" rtlCol="0" anchor="ctr"/>
          <a:lstStyle/>
          <a:p>
            <a:pPr marL="0" indent="0">
              <a:buNone/>
            </a:pPr>
            <a:r>
              <a:rPr lang="en-US" sz="2000" dirty="0">
                <a:solidFill>
                  <a:srgbClr val="362FEC"/>
                </a:solidFill>
                <a:latin typeface="Calibri" pitchFamily="34" charset="0"/>
                <a:ea typeface="Calibri" pitchFamily="34" charset="-122"/>
                <a:cs typeface="Calibri" pitchFamily="34" charset="-120"/>
              </a:rPr>
              <a:t>1997</a:t>
            </a:r>
            <a:r>
              <a:rPr lang="en-US" sz="2000" dirty="0">
                <a:solidFill>
                  <a:srgbClr val="000000"/>
                </a:solidFill>
                <a:latin typeface="Calibri" pitchFamily="34" charset="0"/>
                <a:ea typeface="Calibri" pitchFamily="34" charset="-122"/>
                <a:cs typeface="Calibri" pitchFamily="34" charset="-120"/>
              </a:rPr>
              <a:t>: </a:t>
            </a:r>
            <a:r>
              <a:rPr lang="en-US" sz="2000" dirty="0">
                <a:solidFill>
                  <a:srgbClr val="00B050"/>
                </a:solidFill>
                <a:latin typeface="Calibri" pitchFamily="34" charset="0"/>
                <a:ea typeface="Calibri" pitchFamily="34" charset="-122"/>
                <a:cs typeface="Calibri" pitchFamily="34" charset="-120"/>
              </a:rPr>
              <a:t>Deep Blue defeats Kasparov</a:t>
            </a:r>
            <a:endParaRPr lang="en-US" sz="2000" dirty="0"/>
          </a:p>
        </p:txBody>
      </p:sp>
      <p:sp>
        <p:nvSpPr>
          <p:cNvPr id="11" name="line 2012">
            <a:extLst>
              <a:ext uri="{FF2B5EF4-FFF2-40B4-BE49-F238E27FC236}">
                <a16:creationId xmlns:a16="http://schemas.microsoft.com/office/drawing/2014/main" id="{C9DF67C1-43FB-2996-59BA-F404CC84075C}"/>
              </a:ext>
            </a:extLst>
          </p:cNvPr>
          <p:cNvSpPr txBox="1"/>
          <p:nvPr/>
        </p:nvSpPr>
        <p:spPr>
          <a:xfrm>
            <a:off x="384048" y="5285232"/>
            <a:ext cx="6309360" cy="411480"/>
          </a:xfrm>
          <a:prstGeom prst="rect">
            <a:avLst/>
          </a:prstGeom>
          <a:noFill/>
          <a:ln>
            <a:noFill/>
          </a:ln>
        </p:spPr>
        <p:txBody>
          <a:bodyPr wrap="square" lIns="0" tIns="0" rIns="0" bIns="0" rtlCol="0" anchor="ctr"/>
          <a:lstStyle/>
          <a:p>
            <a:pPr marL="0" indent="0">
              <a:buNone/>
            </a:pPr>
            <a:r>
              <a:rPr lang="en-US" sz="2000" dirty="0">
                <a:solidFill>
                  <a:srgbClr val="362FEC"/>
                </a:solidFill>
                <a:latin typeface="Calibri" pitchFamily="34" charset="0"/>
                <a:ea typeface="Calibri" pitchFamily="34" charset="-122"/>
                <a:cs typeface="Calibri" pitchFamily="34" charset="-120"/>
              </a:rPr>
              <a:t>2012</a:t>
            </a:r>
            <a:r>
              <a:rPr lang="en-US" sz="2000" dirty="0">
                <a:solidFill>
                  <a:srgbClr val="000000"/>
                </a:solidFill>
                <a:latin typeface="Calibri" pitchFamily="34" charset="0"/>
                <a:ea typeface="Calibri" pitchFamily="34" charset="-122"/>
                <a:cs typeface="Calibri" pitchFamily="34" charset="-120"/>
              </a:rPr>
              <a:t>: </a:t>
            </a:r>
            <a:r>
              <a:rPr lang="en-US" sz="2000" dirty="0">
                <a:solidFill>
                  <a:srgbClr val="00B050"/>
                </a:solidFill>
                <a:latin typeface="Calibri" pitchFamily="34" charset="0"/>
                <a:ea typeface="Calibri" pitchFamily="34" charset="-122"/>
                <a:cs typeface="Calibri" pitchFamily="34" charset="-120"/>
              </a:rPr>
              <a:t>AlexNet wins ImageNet</a:t>
            </a:r>
            <a:endParaRPr lang="en-US" sz="2000" dirty="0"/>
          </a:p>
        </p:txBody>
      </p:sp>
      <p:sp>
        <p:nvSpPr>
          <p:cNvPr id="12" name="line 2014">
            <a:extLst>
              <a:ext uri="{FF2B5EF4-FFF2-40B4-BE49-F238E27FC236}">
                <a16:creationId xmlns:a16="http://schemas.microsoft.com/office/drawing/2014/main" id="{C9DF67C1-43FB-2996-59BA-F404CC84075C}"/>
              </a:ext>
            </a:extLst>
          </p:cNvPr>
          <p:cNvSpPr txBox="1"/>
          <p:nvPr/>
        </p:nvSpPr>
        <p:spPr>
          <a:xfrm>
            <a:off x="384048" y="5705856"/>
            <a:ext cx="6309360" cy="411480"/>
          </a:xfrm>
          <a:prstGeom prst="rect">
            <a:avLst/>
          </a:prstGeom>
          <a:noFill/>
          <a:ln>
            <a:noFill/>
          </a:ln>
        </p:spPr>
        <p:txBody>
          <a:bodyPr wrap="square" lIns="0" tIns="0" rIns="0" bIns="0" rtlCol="0" anchor="ctr"/>
          <a:lstStyle/>
          <a:p>
            <a:pPr marL="0" indent="0">
              <a:buNone/>
            </a:pPr>
            <a:r>
              <a:rPr lang="en-US" sz="2000" dirty="0">
                <a:solidFill>
                  <a:srgbClr val="362FEC"/>
                </a:solidFill>
                <a:latin typeface="Calibri" pitchFamily="34" charset="0"/>
                <a:ea typeface="Calibri" pitchFamily="34" charset="-122"/>
                <a:cs typeface="Calibri" pitchFamily="34" charset="-120"/>
              </a:rPr>
              <a:t>2014</a:t>
            </a:r>
            <a:r>
              <a:rPr lang="en-US" sz="2000" dirty="0">
                <a:solidFill>
                  <a:srgbClr val="000000"/>
                </a:solidFill>
                <a:latin typeface="Calibri" pitchFamily="34" charset="0"/>
                <a:ea typeface="Calibri" pitchFamily="34" charset="-122"/>
                <a:cs typeface="Calibri" pitchFamily="34" charset="-120"/>
              </a:rPr>
              <a:t>: </a:t>
            </a:r>
            <a:r>
              <a:rPr lang="en-US" sz="2000" dirty="0">
                <a:solidFill>
                  <a:srgbClr val="00B050"/>
                </a:solidFill>
                <a:latin typeface="Calibri" pitchFamily="34" charset="0"/>
                <a:ea typeface="Calibri" pitchFamily="34" charset="-122"/>
                <a:cs typeface="Calibri" pitchFamily="34" charset="-120"/>
              </a:rPr>
              <a:t>generation before ChatGPT</a:t>
            </a:r>
            <a:endParaRPr lang="en-US" sz="2000" dirty="0"/>
          </a:p>
        </p:txBody>
      </p:sp>
      <p:sp>
        <p:nvSpPr>
          <p:cNvPr id="13" name="line 2016">
            <a:extLst>
              <a:ext uri="{FF2B5EF4-FFF2-40B4-BE49-F238E27FC236}">
                <a16:creationId xmlns:a16="http://schemas.microsoft.com/office/drawing/2014/main" id="{C9DF67C1-43FB-2996-59BA-F404CC84075C}"/>
              </a:ext>
            </a:extLst>
          </p:cNvPr>
          <p:cNvSpPr txBox="1"/>
          <p:nvPr/>
        </p:nvSpPr>
        <p:spPr>
          <a:xfrm>
            <a:off x="384048" y="6126480"/>
            <a:ext cx="6309360" cy="411480"/>
          </a:xfrm>
          <a:prstGeom prst="rect">
            <a:avLst/>
          </a:prstGeom>
          <a:noFill/>
          <a:ln>
            <a:noFill/>
          </a:ln>
        </p:spPr>
        <p:txBody>
          <a:bodyPr wrap="square" lIns="0" tIns="0" rIns="0" bIns="0" rtlCol="0" anchor="ctr"/>
          <a:lstStyle/>
          <a:p>
            <a:pPr marL="0" indent="0">
              <a:buNone/>
            </a:pPr>
            <a:r>
              <a:rPr lang="en-US" sz="2000" dirty="0">
                <a:solidFill>
                  <a:srgbClr val="362FEC"/>
                </a:solidFill>
                <a:latin typeface="Calibri" pitchFamily="34" charset="0"/>
                <a:ea typeface="Calibri" pitchFamily="34" charset="-122"/>
                <a:cs typeface="Calibri" pitchFamily="34" charset="-120"/>
              </a:rPr>
              <a:t>2016</a:t>
            </a:r>
            <a:r>
              <a:rPr lang="en-US" sz="2000" dirty="0">
                <a:solidFill>
                  <a:srgbClr val="000000"/>
                </a:solidFill>
                <a:latin typeface="Calibri" pitchFamily="34" charset="0"/>
                <a:ea typeface="Calibri" pitchFamily="34" charset="-122"/>
                <a:cs typeface="Calibri" pitchFamily="34" charset="-120"/>
              </a:rPr>
              <a:t>: </a:t>
            </a:r>
            <a:r>
              <a:rPr lang="en-US" sz="2000" dirty="0">
                <a:solidFill>
                  <a:srgbClr val="00B050"/>
                </a:solidFill>
                <a:latin typeface="Calibri" pitchFamily="34" charset="0"/>
                <a:ea typeface="Calibri" pitchFamily="34" charset="-122"/>
                <a:cs typeface="Calibri" pitchFamily="34" charset="-120"/>
              </a:rPr>
              <a:t>AlphaGo defeats Lee Sedol, 4–1</a:t>
            </a:r>
            <a:endParaRPr lang="en-US" sz="2000" dirty="0"/>
          </a:p>
        </p:txBody>
      </p:sp>
      <p:pic>
        <p:nvPicPr>
          <p:cNvPr id="16" name="Picture 15" descr="lee_sedol.jpg"/>
          <p:cNvPicPr>
            <a:picLocks noChangeAspect="1"/>
          </p:cNvPicPr>
          <p:nvPr/>
        </p:nvPicPr>
        <p:blipFill>
          <a:blip r:embed="rId3"/>
          <a:stretch>
            <a:fillRect/>
          </a:stretch>
        </p:blipFill>
        <p:spPr>
          <a:xfrm>
            <a:off x="10287000" y="1234440"/>
            <a:ext cx="1647416" cy="2468880"/>
          </a:xfrm>
          <a:prstGeom prst="rect">
            <a:avLst/>
          </a:prstGeom>
        </p:spPr>
      </p:pic>
      <p:sp>
        <p:nvSpPr>
          <p:cNvPr id="17" name="TextBox 16"/>
          <p:cNvSpPr txBox="1"/>
          <p:nvPr/>
        </p:nvSpPr>
        <p:spPr>
          <a:xfrm>
            <a:off x="10012680" y="3749040"/>
            <a:ext cx="2196056" cy="274320"/>
          </a:xfrm>
          <a:prstGeom prst="rect">
            <a:avLst/>
          </a:prstGeom>
          <a:noFill/>
        </p:spPr>
        <p:txBody>
          <a:bodyPr wrap="square" lIns="0" tIns="0" rIns="0" bIns="0" anchor="t">
            <a:spAutoFit/>
          </a:bodyPr>
          <a:lstStyle/>
          <a:p>
            <a:pPr algn="ctr"/>
            <a:r>
              <a:rPr sz="1200" b="0" i="0">
                <a:solidFill>
                  <a:srgbClr val="595959"/>
                </a:solidFill>
                <a:latin typeface="Calibri"/>
              </a:rPr>
              <a:t>Lee Sedol</a:t>
            </a:r>
          </a:p>
        </p:txBody>
      </p:sp>
      <p:sp>
        <p:nvSpPr>
          <p:cNvPr id="21" name="description"/>
          <p:cNvSpPr txBox="1"/>
          <p:nvPr/>
        </p:nvSpPr>
        <p:spPr>
          <a:xfrm>
            <a:off x="6812280" y="4343400"/>
            <a:ext cx="5120640" cy="685800"/>
          </a:xfrm>
          <a:prstGeom prst="rect">
            <a:avLst/>
          </a:prstGeom>
          <a:noFill/>
        </p:spPr>
        <p:txBody>
          <a:bodyPr wrap="square" lIns="0" tIns="0" rIns="0" bIns="0" anchor="t">
            <a:spAutoFit/>
          </a:bodyPr>
          <a:lstStyle/>
          <a:p>
            <a:pPr algn="l"/>
            <a:r>
              <a:rPr sz="1400" b="0" i="0">
                <a:solidFill>
                  <a:srgbClr val="595959"/>
                </a:solidFill>
                <a:latin typeface="Calibri"/>
              </a:rPr>
              <a:t>Networks learned from expert games and from self-play which moves to consider and who is winning; a tree search combined them. AlphaGo won the match 4–1.</a:t>
            </a:r>
          </a:p>
        </p:txBody>
      </p:sp>
      <p:pic>
        <p:nvPicPr>
          <p:cNvPr id="22" name="Go board" descr="go_board.jpg"/>
          <p:cNvPicPr>
            <a:picLocks noChangeAspect="1"/>
          </p:cNvPicPr>
          <p:nvPr/>
        </p:nvPicPr>
        <p:blipFill>
          <a:blip r:embed="rId5"/>
          <a:stretch>
            <a:fillRect/>
          </a:stretch>
        </p:blipFill>
        <p:spPr>
          <a:xfrm>
            <a:off x="6812280" y="1234440"/>
            <a:ext cx="3291840" cy="2468880"/>
          </a:xfrm>
          <a:prstGeom prst="rect">
            <a:avLst/>
          </a:prstGeom>
        </p:spPr>
      </p:pic>
      <p:sp>
        <p:nvSpPr>
          <p:cNvPr id="23" name="TextBox 22"/>
          <p:cNvSpPr txBox="1"/>
          <p:nvPr/>
        </p:nvSpPr>
        <p:spPr>
          <a:xfrm>
            <a:off x="6812280" y="3749040"/>
            <a:ext cx="3291840" cy="274320"/>
          </a:xfrm>
          <a:prstGeom prst="rect">
            <a:avLst/>
          </a:prstGeom>
          <a:noFill/>
        </p:spPr>
        <p:txBody>
          <a:bodyPr wrap="square" anchor="t" lIns="0" rIns="0" tIns="0" bIns="0">
            <a:spAutoFit/>
          </a:bodyPr>
          <a:lstStyle/>
          <a:p>
            <a:pPr algn="ctr"/>
            <a:r>
              <a:rPr sz="1200" b="0" i="0">
                <a:solidFill>
                  <a:srgbClr val="595959"/>
                </a:solidFill>
                <a:latin typeface="Calibri"/>
              </a:rPr>
              <a:t>a game of Go</a:t>
            </a:r>
          </a:p>
        </p:txBody>
      </p:sp>
      <p:sp>
        <p:nvSpPr>
          <p:cNvPr id="24" name="line 1959"/>
          <p:cNvSpPr txBox="1"/>
          <p:nvPr/>
        </p:nvSpPr>
        <p:spPr>
          <a:xfrm>
            <a:off x="384048" y="4023360"/>
            <a:ext cx="6309360" cy="411480"/>
          </a:xfrm>
          <a:prstGeom prst="rect">
            <a:avLst/>
          </a:prstGeom>
          <a:noFill/>
          <a:ln>
            <a:noFill/>
          </a:ln>
        </p:spPr>
        <p:txBody>
          <a:bodyPr wrap="square" lIns="0" tIns="0" rIns="0" bIns="0" rtlCol="0" anchor="ctr"/>
          <a:lstStyle/>
          <a:p>
            <a:pPr marL="0" indent="0">
              <a:buNone/>
            </a:pPr>
            <a:r>
              <a:rPr lang="en-US" sz="2000" dirty="0">
                <a:solidFill>
                  <a:srgbClr val="362FEC"/>
                </a:solidFill>
                <a:latin typeface="Calibri" pitchFamily="34" charset="0"/>
                <a:ea typeface="Calibri" pitchFamily="34" charset="-122"/>
                <a:cs typeface="Calibri" pitchFamily="34" charset="-120"/>
              </a:rPr>
              <a:t>1959</a:t>
            </a:r>
            <a:r>
              <a:rPr lang="en-US" sz="2000" dirty="0">
                <a:solidFill>
                  <a:srgbClr val="000000"/>
                </a:solidFill>
                <a:latin typeface="Calibri" pitchFamily="34" charset="0"/>
                <a:ea typeface="Calibri" pitchFamily="34" charset="-122"/>
                <a:cs typeface="Calibri" pitchFamily="34" charset="-120"/>
              </a:rPr>
              <a:t>: </a:t>
            </a:r>
            <a:r>
              <a:rPr lang="en-US" sz="2000" dirty="0">
                <a:solidFill>
                  <a:srgbClr val="00B050"/>
                </a:solidFill>
                <a:latin typeface="Calibri" pitchFamily="34" charset="0"/>
                <a:ea typeface="Calibri" pitchFamily="34" charset="-122"/>
                <a:cs typeface="Calibri" pitchFamily="34" charset="-120"/>
              </a:rPr>
              <a:t>Samuel's checkers player learns from self-play</a:t>
            </a:r>
            <a:endParaRPr lang="en-US" sz="2000" dirty="0"/>
          </a:p>
        </p:txBody>
      </p:sp>
      <p:sp>
        <p:nvSpPr>
          <p:cNvPr id="25" name="tag ML"/>
          <p:cNvSpPr/>
          <p:nvPr/>
        </p:nvSpPr>
        <p:spPr>
          <a:xfrm>
            <a:off x="4971391" y="3671315"/>
            <a:ext cx="438912" cy="274320"/>
          </a:xfrm>
          <a:prstGeom prst="roundRect">
            <a:avLst>
              <a:gd name="adj" fmla="val 12000"/>
            </a:avLst>
          </a:prstGeom>
          <a:solidFill>
            <a:srgbClr val="D9F2E4"/>
          </a:solidFill>
          <a:ln w="15875">
            <a:solidFill>
              <a:srgbClr val="00B050"/>
            </a:solidFill>
          </a:ln>
        </p:spPr>
        <p:style>
          <a:lnRef idx="1">
            <a:schemeClr val="accent1"/>
          </a:lnRef>
          <a:fillRef idx="3">
            <a:schemeClr val="accent1"/>
          </a:fillRef>
          <a:effectRef idx="2">
            <a:schemeClr val="accent1"/>
          </a:effectRef>
          <a:fontRef idx="minor">
            <a:schemeClr val="lt1"/>
          </a:fontRef>
        </p:style>
        <p:txBody>
          <a:bodyPr rtlCol="0" anchor="ctr" wrap="square" lIns="45720" rIns="45720"/>
          <a:lstStyle/>
          <a:p>
            <a:pPr algn="ctr"/>
            <a:r>
              <a:rPr sz="1300" b="1">
                <a:solidFill>
                  <a:srgbClr val="00B050"/>
                </a:solidFill>
                <a:latin typeface="Calibri"/>
              </a:rPr>
              <a:t>ML</a:t>
            </a:r>
          </a:p>
        </p:txBody>
      </p:sp>
      <p:sp>
        <p:nvSpPr>
          <p:cNvPr id="26" name="tag RL"/>
          <p:cNvSpPr/>
          <p:nvPr/>
        </p:nvSpPr>
        <p:spPr>
          <a:xfrm>
            <a:off x="5864498" y="4091940"/>
            <a:ext cx="438912" cy="274320"/>
          </a:xfrm>
          <a:prstGeom prst="roundRect">
            <a:avLst>
              <a:gd name="adj" fmla="val 12000"/>
            </a:avLst>
          </a:prstGeom>
          <a:solidFill>
            <a:srgbClr val="FBE5D6"/>
          </a:solidFill>
          <a:ln w="15875">
            <a:solidFill>
              <a:srgbClr val="ED7D31"/>
            </a:solidFill>
          </a:ln>
        </p:spPr>
        <p:style>
          <a:lnRef idx="1">
            <a:schemeClr val="accent1"/>
          </a:lnRef>
          <a:fillRef idx="3">
            <a:schemeClr val="accent1"/>
          </a:fillRef>
          <a:effectRef idx="2">
            <a:schemeClr val="accent1"/>
          </a:effectRef>
          <a:fontRef idx="minor">
            <a:schemeClr val="lt1"/>
          </a:fontRef>
        </p:style>
        <p:txBody>
          <a:bodyPr rtlCol="0" anchor="ctr" wrap="square" lIns="45720" rIns="45720"/>
          <a:lstStyle/>
          <a:p>
            <a:pPr algn="ctr"/>
            <a:r>
              <a:rPr sz="1300" b="1">
                <a:solidFill>
                  <a:srgbClr val="ED7D31"/>
                </a:solidFill>
                <a:latin typeface="Calibri"/>
              </a:rPr>
              <a:t>RL</a:t>
            </a:r>
          </a:p>
        </p:txBody>
      </p:sp>
      <p:sp>
        <p:nvSpPr>
          <p:cNvPr id="27" name="tag DL"/>
          <p:cNvSpPr/>
          <p:nvPr/>
        </p:nvSpPr>
        <p:spPr>
          <a:xfrm>
            <a:off x="4654327" y="4512564"/>
            <a:ext cx="438912" cy="274320"/>
          </a:xfrm>
          <a:prstGeom prst="roundRect">
            <a:avLst>
              <a:gd name="adj" fmla="val 12000"/>
            </a:avLst>
          </a:prstGeom>
          <a:solidFill>
            <a:srgbClr val="E3E2FD"/>
          </a:solidFill>
          <a:ln w="15875">
            <a:solidFill>
              <a:srgbClr val="362FEC"/>
            </a:solidFill>
          </a:ln>
        </p:spPr>
        <p:style>
          <a:lnRef idx="1">
            <a:schemeClr val="accent1"/>
          </a:lnRef>
          <a:fillRef idx="3">
            <a:schemeClr val="accent1"/>
          </a:fillRef>
          <a:effectRef idx="2">
            <a:schemeClr val="accent1"/>
          </a:effectRef>
          <a:fontRef idx="minor">
            <a:schemeClr val="lt1"/>
          </a:fontRef>
        </p:style>
        <p:txBody>
          <a:bodyPr rtlCol="0" anchor="ctr" wrap="square" lIns="45720" rIns="45720"/>
          <a:lstStyle/>
          <a:p>
            <a:pPr algn="ctr"/>
            <a:r>
              <a:rPr sz="1300" b="1">
                <a:solidFill>
                  <a:srgbClr val="362FEC"/>
                </a:solidFill>
                <a:latin typeface="Calibri"/>
              </a:rPr>
              <a:t>DL</a:t>
            </a:r>
          </a:p>
        </p:txBody>
      </p:sp>
      <p:sp>
        <p:nvSpPr>
          <p:cNvPr id="28" name="tag AI"/>
          <p:cNvSpPr/>
          <p:nvPr/>
        </p:nvSpPr>
        <p:spPr>
          <a:xfrm>
            <a:off x="4018315" y="4933188"/>
            <a:ext cx="438912" cy="274320"/>
          </a:xfrm>
          <a:prstGeom prst="roundRect">
            <a:avLst>
              <a:gd name="adj" fmla="val 12000"/>
            </a:avLst>
          </a:prstGeom>
          <a:solidFill>
            <a:srgbClr val="FFE0E0"/>
          </a:solidFill>
          <a:ln w="15875">
            <a:solidFill>
              <a:srgbClr val="FF0000"/>
            </a:solidFill>
          </a:ln>
        </p:spPr>
        <p:style>
          <a:lnRef idx="1">
            <a:schemeClr val="accent1"/>
          </a:lnRef>
          <a:fillRef idx="3">
            <a:schemeClr val="accent1"/>
          </a:fillRef>
          <a:effectRef idx="2">
            <a:schemeClr val="accent1"/>
          </a:effectRef>
          <a:fontRef idx="minor">
            <a:schemeClr val="lt1"/>
          </a:fontRef>
        </p:style>
        <p:txBody>
          <a:bodyPr rtlCol="0" anchor="ctr" wrap="square" lIns="45720" rIns="45720"/>
          <a:lstStyle/>
          <a:p>
            <a:pPr algn="ctr"/>
            <a:r>
              <a:rPr sz="1300" b="1">
                <a:solidFill>
                  <a:srgbClr val="FF0000"/>
                </a:solidFill>
                <a:latin typeface="Calibri"/>
              </a:rPr>
              <a:t>AI</a:t>
            </a:r>
          </a:p>
        </p:txBody>
      </p:sp>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13"/>
                                        </p:tgtEl>
                                        <p:attrNameLst>
                                          <p:attrName>style.visibility</p:attrName>
                                        </p:attrNameLst>
                                      </p:cBhvr>
                                      <p:to>
                                        <p:strVal val="visible"/>
                                      </p:to>
                                    </p:set>
                                  </p:childTnLst>
                                </p:cTn>
                              </p:par>
                              <p:par>
                                <p:cTn id="7" presetID="1" presetClass="entr" presetSubtype="0" fill="hold" grpId="0" nodeType="withEffect">
                                  <p:stCondLst>
                                    <p:cond delay="0"/>
                                  </p:stCondLst>
                                  <p:childTnLst>
                                    <p:set>
                                      <p:cBhvr>
                                        <p:cTn id="8" dur="1" fill="hold">
                                          <p:stCondLst>
                                            <p:cond delay="0"/>
                                          </p:stCondLst>
                                        </p:cTn>
                                        <p:tgtEl>
                                          <p:spTgt spid="22"/>
                                        </p:tgtEl>
                                        <p:attrNameLst>
                                          <p:attrName>style.visibility</p:attrName>
                                        </p:attrNameLst>
                                      </p:cBhvr>
                                      <p:to>
                                        <p:strVal val="visible"/>
                                      </p:to>
                                    </p:set>
                                  </p:childTnLst>
                                </p:cTn>
                              </p:par>
                              <p:par>
                                <p:cTn id="9" presetID="1" presetClass="entr" presetSubtype="0" fill="hold" grpId="0" nodeType="withEffect">
                                  <p:stCondLst>
                                    <p:cond delay="0"/>
                                  </p:stCondLst>
                                  <p:childTnLst>
                                    <p:set>
                                      <p:cBhvr>
                                        <p:cTn id="10" dur="1" fill="hold">
                                          <p:stCondLst>
                                            <p:cond delay="0"/>
                                          </p:stCondLst>
                                        </p:cTn>
                                        <p:tgtEl>
                                          <p:spTgt spid="23"/>
                                        </p:tgtEl>
                                        <p:attrNameLst>
                                          <p:attrName>style.visibility</p:attrName>
                                        </p:attrNameLst>
                                      </p:cBhvr>
                                      <p:to>
                                        <p:strVal val="visible"/>
                                      </p:to>
                                    </p:set>
                                  </p:childTnLst>
                                </p:cTn>
                              </p:par>
                              <p:par>
                                <p:cTn id="11" presetID="1" presetClass="entr" presetSubtype="0" fill="hold" grpId="0" nodeType="withEffect">
                                  <p:stCondLst>
                                    <p:cond delay="0"/>
                                  </p:stCondLst>
                                  <p:childTnLst>
                                    <p:set>
                                      <p:cBhvr>
                                        <p:cTn id="12" dur="1" fill="hold">
                                          <p:stCondLst>
                                            <p:cond delay="0"/>
                                          </p:stCondLst>
                                        </p:cTn>
                                        <p:tgtEl>
                                          <p:spTgt spid="16"/>
                                        </p:tgtEl>
                                        <p:attrNameLst>
                                          <p:attrName>style.visibility</p:attrName>
                                        </p:attrNameLst>
                                      </p:cBhvr>
                                      <p:to>
                                        <p:strVal val="visible"/>
                                      </p:to>
                                    </p:set>
                                  </p:childTnLst>
                                </p:cTn>
                              </p:par>
                              <p:par>
                                <p:cTn id="13" presetID="1" presetClass="entr" presetSubtype="0" fill="hold" grpId="0" nodeType="withEffect">
                                  <p:stCondLst>
                                    <p:cond delay="0"/>
                                  </p:stCondLst>
                                  <p:childTnLst>
                                    <p:set>
                                      <p:cBhvr>
                                        <p:cTn id="14" dur="1" fill="hold">
                                          <p:stCondLst>
                                            <p:cond delay="0"/>
                                          </p:stCondLst>
                                        </p:cTn>
                                        <p:tgtEl>
                                          <p:spTgt spid="17"/>
                                        </p:tgtEl>
                                        <p:attrNameLst>
                                          <p:attrName>style.visibility</p:attrName>
                                        </p:attrNameLst>
                                      </p:cBhvr>
                                      <p:to>
                                        <p:strVal val="visible"/>
                                      </p:to>
                                    </p:set>
                                  </p:childTnLst>
                                </p:cTn>
                              </p:par>
                              <p:par>
                                <p:cTn id="15" presetID="1" presetClass="entr" presetSubtype="0" fill="hold" grpId="0" nodeType="withEffect">
                                  <p:stCondLst>
                                    <p:cond delay="0"/>
                                  </p:stCondLst>
                                  <p:childTnLst>
                                    <p:set>
                                      <p:cBhvr>
                                        <p:cTn id="16" dur="1" fill="hold">
                                          <p:stCondLst>
                                            <p:cond delay="0"/>
                                          </p:stCondLst>
                                        </p:cTn>
                                        <p:tgtEl>
                                          <p:spTgt spid="21"/>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3" grpId="0"/>
      <p:bldP spid="23" grpId="0"/>
      <p:bldP spid="17" grpId="0"/>
      <p:bldP spid="21" grpId="0"/>
    </p:bldLst>
  </p:timing>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4EF36084-80B8-2C37-FF68-5EF4741EAC34}"/>
            </a:ext>
          </a:extLst>
        </p:cNvPr>
        <p:cNvGrpSpPr/>
        <p:nvPr/>
      </p:nvGrpSpPr>
      <p:grpSpPr>
        <a:xfrm>
          <a:off x="0" y="0"/>
          <a:ext cx="0" cy="0"/>
          <a:chOff x="0" y="0"/>
          <a:chExt cx="0" cy="0"/>
        </a:xfrm>
      </p:grpSpPr>
      <p:sp>
        <p:nvSpPr>
          <p:cNvPr id="2" name="b0_2">
            <a:extLst>
              <a:ext uri="{FF2B5EF4-FFF2-40B4-BE49-F238E27FC236}">
                <a16:creationId xmlns:a16="http://schemas.microsoft.com/office/drawing/2014/main" id="{33DE8782-7F2B-1033-00F6-2A6652EE0E80}"/>
              </a:ext>
            </a:extLst>
          </p:cNvPr>
          <p:cNvSpPr txBox="1"/>
          <p:nvPr/>
        </p:nvSpPr>
        <p:spPr>
          <a:xfrm>
            <a:off x="0" y="148566"/>
            <a:ext cx="11680992" cy="548640"/>
          </a:xfrm>
          <a:prstGeom prst="rect">
            <a:avLst/>
          </a:prstGeom>
          <a:noFill/>
          <a:ln>
            <a:noFill/>
          </a:ln>
        </p:spPr>
        <p:txBody>
          <a:bodyPr wrap="square" rtlCol="0" anchor="ctr"/>
          <a:lstStyle/>
          <a:p>
            <a:r>
              <a:rPr lang="en-US" sz="3200" b="1" dirty="0">
                <a:latin typeface="Calibri" pitchFamily="34" charset="0"/>
                <a:ea typeface="Calibri" pitchFamily="34" charset="-122"/>
                <a:cs typeface="Calibri" pitchFamily="34" charset="-120"/>
              </a:rPr>
              <a:t>From </a:t>
            </a:r>
            <a:r>
              <a:rPr lang="en-US" sz="3200" b="1" dirty="0">
                <a:solidFill>
                  <a:srgbClr val="FF0000"/>
                </a:solidFill>
                <a:latin typeface="Calibri" pitchFamily="34" charset="0"/>
                <a:ea typeface="Calibri" pitchFamily="34" charset="-122"/>
                <a:cs typeface="Calibri" pitchFamily="34" charset="-120"/>
              </a:rPr>
              <a:t>Computation</a:t>
            </a:r>
            <a:r>
              <a:rPr lang="en-US" sz="3200" b="1" dirty="0">
                <a:latin typeface="Calibri" pitchFamily="34" charset="0"/>
                <a:ea typeface="Calibri" pitchFamily="34" charset="-122"/>
                <a:cs typeface="Calibri" pitchFamily="34" charset="-120"/>
              </a:rPr>
              <a:t> to </a:t>
            </a:r>
            <a:r>
              <a:rPr lang="en-US" sz="3200" b="1" dirty="0">
                <a:solidFill>
                  <a:srgbClr val="362FEC"/>
                </a:solidFill>
                <a:latin typeface="Calibri" pitchFamily="34" charset="0"/>
                <a:ea typeface="Calibri" pitchFamily="34" charset="-122"/>
                <a:cs typeface="Calibri" pitchFamily="34" charset="-120"/>
              </a:rPr>
              <a:t>Language Models</a:t>
            </a:r>
            <a:endParaRPr lang="en-US" sz="3200" dirty="0">
              <a:solidFill>
                <a:srgbClr val="362FEC"/>
              </a:solidFill>
            </a:endParaRPr>
          </a:p>
        </p:txBody>
      </p:sp>
      <p:sp>
        <p:nvSpPr>
          <p:cNvPr id="3" name="!!computation">
            <a:extLst>
              <a:ext uri="{FF2B5EF4-FFF2-40B4-BE49-F238E27FC236}">
                <a16:creationId xmlns:a16="http://schemas.microsoft.com/office/drawing/2014/main" id="{691E18F7-4F41-2F97-0124-8C09DE463973}"/>
              </a:ext>
            </a:extLst>
          </p:cNvPr>
          <p:cNvSpPr txBox="1"/>
          <p:nvPr/>
        </p:nvSpPr>
        <p:spPr>
          <a:xfrm>
            <a:off x="168339" y="980102"/>
            <a:ext cx="6355080" cy="707886"/>
          </a:xfrm>
          <a:prstGeom prst="rect">
            <a:avLst/>
          </a:prstGeom>
          <a:noFill/>
        </p:spPr>
        <p:txBody>
          <a:bodyPr wrap="square" rtlCol="0">
            <a:spAutoFit/>
          </a:bodyPr>
          <a:lstStyle/>
          <a:p>
            <a:r>
              <a:rPr lang="en-US" sz="2000" dirty="0">
                <a:latin typeface="Calibri" panose="020F0502020204030204" pitchFamily="34" charset="0"/>
                <a:cs typeface="Calibri" panose="020F0502020204030204" pitchFamily="34" charset="0"/>
              </a:rPr>
              <a:t>This is taken even further by the ability to transform information: Computation.</a:t>
            </a:r>
          </a:p>
        </p:txBody>
      </p:sp>
      <p:sp>
        <p:nvSpPr>
          <p:cNvPr id="18" name="LM heading">
            <a:extLst>
              <a:ext uri="{FF2B5EF4-FFF2-40B4-BE49-F238E27FC236}">
                <a16:creationId xmlns:a16="http://schemas.microsoft.com/office/drawing/2014/main" id="{5CB8A4AA-40B1-94AE-8EEE-080599481F78}"/>
              </a:ext>
            </a:extLst>
          </p:cNvPr>
          <p:cNvSpPr txBox="1"/>
          <p:nvPr/>
        </p:nvSpPr>
        <p:spPr>
          <a:xfrm>
            <a:off x="291358" y="1687988"/>
            <a:ext cx="3171479" cy="411480"/>
          </a:xfrm>
          <a:prstGeom prst="rect">
            <a:avLst/>
          </a:prstGeom>
          <a:noFill/>
          <a:ln>
            <a:noFill/>
          </a:ln>
        </p:spPr>
        <p:txBody>
          <a:bodyPr wrap="square" lIns="0" tIns="0" rIns="0" bIns="0" rtlCol="0" anchor="ctr"/>
          <a:lstStyle/>
          <a:p>
            <a:pPr marL="0" indent="0">
              <a:buNone/>
            </a:pPr>
            <a:r>
              <a:rPr lang="en-US" sz="2000" b="1" dirty="0">
                <a:solidFill>
                  <a:srgbClr val="362FEC"/>
                </a:solidFill>
                <a:latin typeface="Calibri" panose="020F0502020204030204" pitchFamily="34" charset="0"/>
                <a:cs typeface="Calibri" panose="020F0502020204030204" pitchFamily="34" charset="0"/>
              </a:rPr>
              <a:t>Language Models</a:t>
            </a:r>
          </a:p>
        </p:txBody>
      </p:sp>
      <p:sp>
        <p:nvSpPr>
          <p:cNvPr id="19" name="lm 2017"/>
          <p:cNvSpPr txBox="1"/>
          <p:nvPr/>
        </p:nvSpPr>
        <p:spPr>
          <a:xfrm>
            <a:off x="384048" y="2148840"/>
            <a:ext cx="6309360" cy="411480"/>
          </a:xfrm>
          <a:prstGeom prst="rect">
            <a:avLst/>
          </a:prstGeom>
          <a:noFill/>
          <a:ln>
            <a:noFill/>
          </a:ln>
        </p:spPr>
        <p:txBody>
          <a:bodyPr wrap="square" lIns="0" tIns="0" rIns="0" bIns="0" rtlCol="0" anchor="ctr"/>
          <a:lstStyle/>
          <a:p>
            <a:pPr marL="0" indent="0">
              <a:buNone/>
            </a:pPr>
            <a:r>
              <a:rPr lang="en-US" sz="2000" dirty="0">
                <a:solidFill>
                  <a:srgbClr val="362FEC"/>
                </a:solidFill>
                <a:latin typeface="Calibri" pitchFamily="34" charset="0"/>
                <a:ea typeface="Calibri" pitchFamily="34" charset="-122"/>
                <a:cs typeface="Calibri" pitchFamily="34" charset="-120"/>
              </a:rPr>
              <a:t>2017</a:t>
            </a:r>
            <a:r>
              <a:rPr lang="en-US" sz="2000" dirty="0">
                <a:solidFill>
                  <a:srgbClr val="000000"/>
                </a:solidFill>
                <a:latin typeface="Calibri" pitchFamily="34" charset="0"/>
                <a:ea typeface="Calibri" pitchFamily="34" charset="-122"/>
                <a:cs typeface="Calibri" pitchFamily="34" charset="-120"/>
              </a:rPr>
              <a:t>: </a:t>
            </a:r>
            <a:r>
              <a:rPr lang="en-US" sz="2000" dirty="0">
                <a:solidFill>
                  <a:srgbClr val="00B050"/>
                </a:solidFill>
                <a:latin typeface="Calibri" pitchFamily="34" charset="0"/>
                <a:ea typeface="Calibri" pitchFamily="34" charset="-122"/>
                <a:cs typeface="Calibri" pitchFamily="34" charset="-120"/>
              </a:rPr>
              <a:t>the Transformer</a:t>
            </a:r>
            <a:endParaRPr lang="en-US" sz="2000" dirty="0"/>
          </a:p>
        </p:txBody>
      </p:sp>
      <p:pic>
        <p:nvPicPr>
          <p:cNvPr id="20" name="Transformer" descr="transformer.png"/>
          <p:cNvPicPr>
            <a:picLocks noChangeAspect="1"/>
          </p:cNvPicPr>
          <p:nvPr/>
        </p:nvPicPr>
        <p:blipFill>
          <a:blip r:embed="rId3"/>
          <a:stretch>
            <a:fillRect/>
          </a:stretch>
        </p:blipFill>
        <p:spPr>
          <a:xfrm>
            <a:off x="7416355" y="1188720"/>
            <a:ext cx="3912488" cy="4114800"/>
          </a:xfrm>
          <a:prstGeom prst="rect">
            <a:avLst/>
          </a:prstGeom>
        </p:spPr>
      </p:pic>
      <p:sp>
        <p:nvSpPr>
          <p:cNvPr id="21" name="description"/>
          <p:cNvSpPr txBox="1"/>
          <p:nvPr/>
        </p:nvSpPr>
        <p:spPr>
          <a:xfrm>
            <a:off x="6812280" y="5440680"/>
            <a:ext cx="5120640" cy="914400"/>
          </a:xfrm>
          <a:prstGeom prst="rect">
            <a:avLst/>
          </a:prstGeom>
          <a:noFill/>
        </p:spPr>
        <p:txBody>
          <a:bodyPr wrap="square" lIns="0" tIns="0" rIns="0" bIns="0" anchor="t">
            <a:spAutoFit/>
          </a:bodyPr>
          <a:lstStyle/>
          <a:p>
            <a:pPr algn="l"/>
            <a:r>
              <a:rPr sz="1400" b="0" i="0">
                <a:solidFill>
                  <a:srgbClr val="595959"/>
                </a:solidFill>
                <a:latin typeface="Calibri"/>
              </a:rPr>
              <a:t>Designed for machine translation: the encoder (left) reads a sentence and the decoder (right) writes its translation. Every position reads from the others through attention. The decoder alone, trained to predict the next token, is a language model; we build one in Week 3.</a:t>
            </a:r>
          </a:p>
        </p:txBody>
      </p:sp>
    </p:spTree>
    <p:extLst>
      <p:ext uri="{BB962C8B-B14F-4D97-AF65-F5344CB8AC3E}">
        <p14:creationId xmlns:p14="http://schemas.microsoft.com/office/powerpoint/2010/main" val="843269223"/>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19"/>
                                        </p:tgtEl>
                                        <p:attrNameLst>
                                          <p:attrName>style.visibility</p:attrName>
                                        </p:attrNameLst>
                                      </p:cBhvr>
                                      <p:to>
                                        <p:strVal val="visible"/>
                                      </p:to>
                                    </p:set>
                                  </p:childTnLst>
                                </p:cTn>
                              </p:par>
                              <p:par>
                                <p:cTn id="7" presetID="1" presetClass="entr" presetSubtype="0" fill="hold" grpId="0" nodeType="withEffect">
                                  <p:stCondLst>
                                    <p:cond delay="0"/>
                                  </p:stCondLst>
                                  <p:childTnLst>
                                    <p:set>
                                      <p:cBhvr>
                                        <p:cTn id="8" dur="1" fill="hold">
                                          <p:stCondLst>
                                            <p:cond delay="0"/>
                                          </p:stCondLst>
                                        </p:cTn>
                                        <p:tgtEl>
                                          <p:spTgt spid="20"/>
                                        </p:tgtEl>
                                        <p:attrNameLst>
                                          <p:attrName>style.visibility</p:attrName>
                                        </p:attrNameLst>
                                      </p:cBhvr>
                                      <p:to>
                                        <p:strVal val="visible"/>
                                      </p:to>
                                    </p:set>
                                  </p:childTnLst>
                                </p:cTn>
                              </p:par>
                              <p:par>
                                <p:cTn id="9" presetID="1" presetClass="entr" presetSubtype="0" fill="hold" grpId="0" nodeType="withEffect">
                                  <p:stCondLst>
                                    <p:cond delay="0"/>
                                  </p:stCondLst>
                                  <p:childTnLst>
                                    <p:set>
                                      <p:cBhvr>
                                        <p:cTn id="10" dur="1" fill="hold">
                                          <p:stCondLst>
                                            <p:cond delay="0"/>
                                          </p:stCondLst>
                                        </p:cTn>
                                        <p:tgtEl>
                                          <p:spTgt spid="21"/>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9" grpId="0"/>
      <p:bldP spid="21" grpId="0"/>
    </p:bldLst>
  </p:timing>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b0_2">
            <a:extLst>
              <a:ext uri="{FF2B5EF4-FFF2-40B4-BE49-F238E27FC236}">
                <a16:creationId xmlns:a16="http://schemas.microsoft.com/office/drawing/2014/main" id="{33DE8782-7F2B-1033-00F6-2A6652EE0E80}"/>
              </a:ext>
            </a:extLst>
          </p:cNvPr>
          <p:cNvSpPr txBox="1"/>
          <p:nvPr/>
        </p:nvSpPr>
        <p:spPr>
          <a:xfrm>
            <a:off x="0" y="148566"/>
            <a:ext cx="11680992" cy="548640"/>
          </a:xfrm>
          <a:prstGeom prst="rect">
            <a:avLst/>
          </a:prstGeom>
          <a:noFill/>
          <a:ln>
            <a:noFill/>
          </a:ln>
        </p:spPr>
        <p:txBody>
          <a:bodyPr wrap="square" rtlCol="0" anchor="ctr"/>
          <a:lstStyle/>
          <a:p>
            <a:r>
              <a:rPr lang="en-US" sz="3200" b="1" dirty="0">
                <a:latin typeface="Calibri" pitchFamily="34" charset="0"/>
                <a:ea typeface="Calibri" pitchFamily="34" charset="-122"/>
                <a:cs typeface="Calibri" pitchFamily="34" charset="-120"/>
              </a:rPr>
              <a:t>From </a:t>
            </a:r>
            <a:r>
              <a:rPr lang="en-US" sz="3200" b="1" dirty="0">
                <a:solidFill>
                  <a:srgbClr val="FF0000"/>
                </a:solidFill>
                <a:latin typeface="Calibri" pitchFamily="34" charset="0"/>
                <a:ea typeface="Calibri" pitchFamily="34" charset="-122"/>
                <a:cs typeface="Calibri" pitchFamily="34" charset="-120"/>
              </a:rPr>
              <a:t>Computation</a:t>
            </a:r>
            <a:r>
              <a:rPr lang="en-US" sz="3200" b="1" dirty="0">
                <a:latin typeface="Calibri" pitchFamily="34" charset="0"/>
                <a:ea typeface="Calibri" pitchFamily="34" charset="-122"/>
                <a:cs typeface="Calibri" pitchFamily="34" charset="-120"/>
              </a:rPr>
              <a:t> to </a:t>
            </a:r>
            <a:r>
              <a:rPr lang="en-US" sz="3200" b="1" dirty="0">
                <a:solidFill>
                  <a:srgbClr val="362FEC"/>
                </a:solidFill>
                <a:latin typeface="Calibri" pitchFamily="34" charset="0"/>
                <a:ea typeface="Calibri" pitchFamily="34" charset="-122"/>
                <a:cs typeface="Calibri" pitchFamily="34" charset="-120"/>
              </a:rPr>
              <a:t>Language Models</a:t>
            </a:r>
            <a:endParaRPr lang="en-US" sz="3200" dirty="0">
              <a:solidFill>
                <a:srgbClr val="362FEC"/>
              </a:solidFill>
            </a:endParaRPr>
          </a:p>
        </p:txBody>
      </p:sp>
      <p:sp>
        <p:nvSpPr>
          <p:cNvPr id="3" name="!!computation">
            <a:extLst>
              <a:ext uri="{FF2B5EF4-FFF2-40B4-BE49-F238E27FC236}">
                <a16:creationId xmlns:a16="http://schemas.microsoft.com/office/drawing/2014/main" id="{691E18F7-4F41-2F97-0124-8C09DE463973}"/>
              </a:ext>
            </a:extLst>
          </p:cNvPr>
          <p:cNvSpPr txBox="1"/>
          <p:nvPr/>
        </p:nvSpPr>
        <p:spPr>
          <a:xfrm>
            <a:off x="168339" y="980102"/>
            <a:ext cx="6355080" cy="707886"/>
          </a:xfrm>
          <a:prstGeom prst="rect">
            <a:avLst/>
          </a:prstGeom>
          <a:noFill/>
        </p:spPr>
        <p:txBody>
          <a:bodyPr wrap="square" rtlCol="0">
            <a:spAutoFit/>
          </a:bodyPr>
          <a:lstStyle/>
          <a:p>
            <a:r>
              <a:rPr lang="en-US" sz="2000" dirty="0">
                <a:latin typeface="Calibri" panose="020F0502020204030204" pitchFamily="34" charset="0"/>
                <a:cs typeface="Calibri" panose="020F0502020204030204" pitchFamily="34" charset="0"/>
              </a:rPr>
              <a:t>This is taken even further by the ability to transform information: Computation.</a:t>
            </a:r>
          </a:p>
        </p:txBody>
      </p:sp>
      <p:sp>
        <p:nvSpPr>
          <p:cNvPr id="4" name="LM heading">
            <a:extLst>
              <a:ext uri="{FF2B5EF4-FFF2-40B4-BE49-F238E27FC236}">
                <a16:creationId xmlns:a16="http://schemas.microsoft.com/office/drawing/2014/main" id="{5CB8A4AA-40B1-94AE-8EEE-080599481F78}"/>
              </a:ext>
            </a:extLst>
          </p:cNvPr>
          <p:cNvSpPr txBox="1"/>
          <p:nvPr/>
        </p:nvSpPr>
        <p:spPr>
          <a:xfrm>
            <a:off x="291358" y="1687988"/>
            <a:ext cx="3171479" cy="411480"/>
          </a:xfrm>
          <a:prstGeom prst="rect">
            <a:avLst/>
          </a:prstGeom>
          <a:noFill/>
          <a:ln>
            <a:noFill/>
          </a:ln>
        </p:spPr>
        <p:txBody>
          <a:bodyPr wrap="square" lIns="0" tIns="0" rIns="0" bIns="0" rtlCol="0" anchor="ctr"/>
          <a:lstStyle/>
          <a:p>
            <a:pPr marL="0" indent="0">
              <a:buNone/>
            </a:pPr>
            <a:r>
              <a:rPr lang="en-US" sz="2000" b="1" dirty="0">
                <a:solidFill>
                  <a:srgbClr val="362FEC"/>
                </a:solidFill>
                <a:latin typeface="Calibri" panose="020F0502020204030204" pitchFamily="34" charset="0"/>
                <a:cs typeface="Calibri" panose="020F0502020204030204" pitchFamily="34" charset="0"/>
              </a:rPr>
              <a:t>Language Models</a:t>
            </a:r>
          </a:p>
        </p:txBody>
      </p:sp>
      <p:sp>
        <p:nvSpPr>
          <p:cNvPr id="5" name="lm 2017"/>
          <p:cNvSpPr txBox="1"/>
          <p:nvPr/>
        </p:nvSpPr>
        <p:spPr>
          <a:xfrm>
            <a:off x="384048" y="2148840"/>
            <a:ext cx="6309360" cy="411480"/>
          </a:xfrm>
          <a:prstGeom prst="rect">
            <a:avLst/>
          </a:prstGeom>
          <a:noFill/>
          <a:ln>
            <a:noFill/>
          </a:ln>
        </p:spPr>
        <p:txBody>
          <a:bodyPr wrap="square" lIns="0" tIns="0" rIns="0" bIns="0" rtlCol="0" anchor="ctr"/>
          <a:lstStyle/>
          <a:p>
            <a:pPr marL="0" indent="0">
              <a:buNone/>
            </a:pPr>
            <a:r>
              <a:rPr lang="en-US" sz="2000" dirty="0">
                <a:solidFill>
                  <a:srgbClr val="362FEC"/>
                </a:solidFill>
                <a:latin typeface="Calibri" pitchFamily="34" charset="0"/>
                <a:ea typeface="Calibri" pitchFamily="34" charset="-122"/>
                <a:cs typeface="Calibri" pitchFamily="34" charset="-120"/>
              </a:rPr>
              <a:t>2017</a:t>
            </a:r>
            <a:r>
              <a:rPr lang="en-US" sz="2000" dirty="0">
                <a:solidFill>
                  <a:srgbClr val="000000"/>
                </a:solidFill>
                <a:latin typeface="Calibri" pitchFamily="34" charset="0"/>
                <a:ea typeface="Calibri" pitchFamily="34" charset="-122"/>
                <a:cs typeface="Calibri" pitchFamily="34" charset="-120"/>
              </a:rPr>
              <a:t>: </a:t>
            </a:r>
            <a:r>
              <a:rPr lang="en-US" sz="2000" dirty="0">
                <a:solidFill>
                  <a:srgbClr val="00B050"/>
                </a:solidFill>
                <a:latin typeface="Calibri" pitchFamily="34" charset="0"/>
                <a:ea typeface="Calibri" pitchFamily="34" charset="-122"/>
                <a:cs typeface="Calibri" pitchFamily="34" charset="-120"/>
              </a:rPr>
              <a:t>the Transformer</a:t>
            </a:r>
            <a:endParaRPr lang="en-US" sz="2000" dirty="0"/>
          </a:p>
        </p:txBody>
      </p:sp>
      <p:sp>
        <p:nvSpPr>
          <p:cNvPr id="6" name="lm 2018"/>
          <p:cNvSpPr txBox="1"/>
          <p:nvPr/>
        </p:nvSpPr>
        <p:spPr>
          <a:xfrm>
            <a:off x="384048" y="2587752"/>
            <a:ext cx="6309360" cy="411480"/>
          </a:xfrm>
          <a:prstGeom prst="rect">
            <a:avLst/>
          </a:prstGeom>
          <a:noFill/>
          <a:ln>
            <a:noFill/>
          </a:ln>
        </p:spPr>
        <p:txBody>
          <a:bodyPr wrap="square" lIns="0" tIns="0" rIns="0" bIns="0" rtlCol="0" anchor="ctr"/>
          <a:lstStyle/>
          <a:p>
            <a:pPr marL="0" indent="0">
              <a:buNone/>
            </a:pPr>
            <a:r>
              <a:rPr lang="en-US" sz="2000" dirty="0">
                <a:solidFill>
                  <a:srgbClr val="362FEC"/>
                </a:solidFill>
                <a:latin typeface="Calibri" pitchFamily="34" charset="0"/>
                <a:ea typeface="Calibri" pitchFamily="34" charset="-122"/>
                <a:cs typeface="Calibri" pitchFamily="34" charset="-120"/>
              </a:rPr>
              <a:t>2018</a:t>
            </a:r>
            <a:r>
              <a:rPr lang="en-US" sz="2000" dirty="0">
                <a:solidFill>
                  <a:srgbClr val="000000"/>
                </a:solidFill>
                <a:latin typeface="Calibri" pitchFamily="34" charset="0"/>
                <a:ea typeface="Calibri" pitchFamily="34" charset="-122"/>
                <a:cs typeface="Calibri" pitchFamily="34" charset="-120"/>
              </a:rPr>
              <a:t>: </a:t>
            </a:r>
            <a:r>
              <a:rPr lang="en-US" sz="2000" dirty="0">
                <a:solidFill>
                  <a:srgbClr val="00B050"/>
                </a:solidFill>
                <a:latin typeface="Calibri" pitchFamily="34" charset="0"/>
                <a:ea typeface="Calibri" pitchFamily="34" charset="-122"/>
                <a:cs typeface="Calibri" pitchFamily="34" charset="-120"/>
              </a:rPr>
              <a:t>GPT and BERT: pretrain, then fine-tune</a:t>
            </a:r>
            <a:endParaRPr lang="en-US" sz="2000" dirty="0"/>
          </a:p>
        </p:txBody>
      </p:sp>
      <p:grpSp>
        <p:nvGrpSpPr>
          <p:cNvPr id="7" name="pretrain"/>
          <p:cNvGrpSpPr/>
          <p:nvPr/>
        </p:nvGrpSpPr>
        <p:grpSpPr>
          <a:xfrm>
            <a:off x="7360920" y="1234440"/>
            <a:ext cx="4590288" cy="1709928"/>
            <a:chOff x="7360920" y="1234440"/>
            <a:chExt cx="4590288" cy="1709928"/>
          </a:xfrm>
        </p:grpSpPr>
        <p:sp>
          <p:nvSpPr>
            <p:cNvPr id="8" name="Rounded Rectangle 7"/>
            <p:cNvSpPr/>
            <p:nvPr/>
          </p:nvSpPr>
          <p:spPr>
            <a:xfrm>
              <a:off x="7360920" y="1234440"/>
              <a:ext cx="4023360" cy="548640"/>
            </a:xfrm>
            <a:prstGeom prst="roundRect">
              <a:avLst>
                <a:gd name="adj" fmla="val 12000"/>
              </a:avLst>
            </a:prstGeom>
            <a:solidFill>
              <a:srgbClr val="EDEDED"/>
            </a:solidFill>
            <a:ln>
              <a:noFill/>
            </a:ln>
          </p:spPr>
          <p:style>
            <a:lnRef idx="1">
              <a:schemeClr val="accent1"/>
            </a:lnRef>
            <a:fillRef idx="3">
              <a:schemeClr val="accent1"/>
            </a:fillRef>
            <a:effectRef idx="2">
              <a:schemeClr val="accent1"/>
            </a:effectRef>
            <a:fontRef idx="minor">
              <a:schemeClr val="lt1"/>
            </a:fontRef>
          </p:style>
          <p:txBody>
            <a:bodyPr wrap="square" lIns="45720" rIns="45720" rtlCol="0" anchor="ctr"/>
            <a:lstStyle/>
            <a:p>
              <a:pPr algn="ctr"/>
              <a:r>
                <a:rPr sz="1600" b="0">
                  <a:solidFill>
                    <a:srgbClr val="595959"/>
                  </a:solidFill>
                  <a:latin typeface="Calibri"/>
                </a:rPr>
                <a:t>unlabeled text: books and web pages</a:t>
              </a:r>
            </a:p>
          </p:txBody>
        </p:sp>
        <p:cxnSp>
          <p:nvCxnSpPr>
            <p:cNvPr id="9" name="Connector 8"/>
            <p:cNvCxnSpPr/>
            <p:nvPr/>
          </p:nvCxnSpPr>
          <p:spPr>
            <a:xfrm>
              <a:off x="9372600" y="1801368"/>
              <a:ext cx="0" cy="530352"/>
            </a:xfrm>
            <a:prstGeom prst="line">
              <a:avLst/>
            </a:prstGeom>
            <a:ln w="19050">
              <a:solidFill>
                <a:srgbClr val="595959"/>
              </a:solidFill>
              <a:tailEnd type="triangle" w="med" len="med"/>
            </a:ln>
          </p:spPr>
          <p:style>
            <a:lnRef idx="2">
              <a:schemeClr val="accent1"/>
            </a:lnRef>
            <a:fillRef idx="0">
              <a:schemeClr val="accent1"/>
            </a:fillRef>
            <a:effectRef idx="1">
              <a:schemeClr val="accent1"/>
            </a:effectRef>
            <a:fontRef idx="minor">
              <a:schemeClr val="tx1"/>
            </a:fontRef>
          </p:style>
        </p:cxnSp>
        <p:sp>
          <p:nvSpPr>
            <p:cNvPr id="10" name="TextBox 9"/>
            <p:cNvSpPr txBox="1"/>
            <p:nvPr/>
          </p:nvSpPr>
          <p:spPr>
            <a:xfrm>
              <a:off x="9482328" y="1828800"/>
              <a:ext cx="2468880" cy="502920"/>
            </a:xfrm>
            <a:prstGeom prst="rect">
              <a:avLst/>
            </a:prstGeom>
            <a:noFill/>
          </p:spPr>
          <p:txBody>
            <a:bodyPr wrap="square" lIns="0" tIns="0" rIns="0" bIns="0" anchor="t">
              <a:spAutoFit/>
            </a:bodyPr>
            <a:lstStyle/>
            <a:p>
              <a:pPr algn="l"/>
              <a:r>
                <a:rPr sz="1200" b="0" i="0">
                  <a:solidFill>
                    <a:srgbClr val="362FEC"/>
                  </a:solidFill>
                  <a:latin typeface="Calibri"/>
                </a:rPr>
                <a:t>pretrain: predict the next word (GPT)</a:t>
              </a:r>
              <a:br>
                <a:rPr sz="1200" b="0" i="0">
                  <a:solidFill>
                    <a:srgbClr val="362FEC"/>
                  </a:solidFill>
                  <a:latin typeface="Calibri"/>
                </a:rPr>
              </a:br>
              <a:r>
                <a:rPr sz="1200" b="0" i="0">
                  <a:solidFill>
                    <a:srgbClr val="362FEC"/>
                  </a:solidFill>
                  <a:latin typeface="Calibri"/>
                </a:rPr>
                <a:t>or hidden words (BERT)</a:t>
              </a:r>
            </a:p>
          </p:txBody>
        </p:sp>
        <p:sp>
          <p:nvSpPr>
            <p:cNvPr id="11" name="Rounded Rectangle 10"/>
            <p:cNvSpPr/>
            <p:nvPr/>
          </p:nvSpPr>
          <p:spPr>
            <a:xfrm>
              <a:off x="7360920" y="2350008"/>
              <a:ext cx="4023360" cy="594360"/>
            </a:xfrm>
            <a:prstGeom prst="roundRect">
              <a:avLst>
                <a:gd name="adj" fmla="val 12000"/>
              </a:avLst>
            </a:prstGeom>
            <a:solidFill>
              <a:srgbClr val="362FEC"/>
            </a:solidFill>
            <a:ln>
              <a:noFill/>
            </a:ln>
          </p:spPr>
          <p:style>
            <a:lnRef idx="1">
              <a:schemeClr val="accent1"/>
            </a:lnRef>
            <a:fillRef idx="3">
              <a:schemeClr val="accent1"/>
            </a:fillRef>
            <a:effectRef idx="2">
              <a:schemeClr val="accent1"/>
            </a:effectRef>
            <a:fontRef idx="minor">
              <a:schemeClr val="lt1"/>
            </a:fontRef>
          </p:style>
          <p:txBody>
            <a:bodyPr wrap="square" lIns="45720" rIns="45720" rtlCol="0" anchor="ctr"/>
            <a:lstStyle/>
            <a:p>
              <a:pPr algn="ctr"/>
              <a:r>
                <a:rPr sz="1800" b="1">
                  <a:solidFill>
                    <a:srgbClr val="FFFFFF"/>
                  </a:solidFill>
                  <a:latin typeface="Calibri"/>
                </a:rPr>
                <a:t>one pretrained Transformer</a:t>
              </a:r>
            </a:p>
          </p:txBody>
        </p:sp>
      </p:grpSp>
      <p:grpSp>
        <p:nvGrpSpPr>
          <p:cNvPr id="12" name="fine-tune"/>
          <p:cNvGrpSpPr/>
          <p:nvPr/>
        </p:nvGrpSpPr>
        <p:grpSpPr>
          <a:xfrm>
            <a:off x="6812280" y="2962656"/>
            <a:ext cx="5120640" cy="1472184"/>
            <a:chOff x="6812280" y="2962656"/>
            <a:chExt cx="5120640" cy="1472184"/>
          </a:xfrm>
        </p:grpSpPr>
        <p:cxnSp>
          <p:nvCxnSpPr>
            <p:cNvPr id="13" name="Connector 12"/>
            <p:cNvCxnSpPr/>
            <p:nvPr/>
          </p:nvCxnSpPr>
          <p:spPr>
            <a:xfrm flipH="1">
              <a:off x="7612379" y="2962656"/>
              <a:ext cx="1760221" cy="557784"/>
            </a:xfrm>
            <a:prstGeom prst="line">
              <a:avLst/>
            </a:prstGeom>
            <a:ln w="19050">
              <a:solidFill>
                <a:srgbClr val="595959"/>
              </a:solidFill>
              <a:tailEnd type="triangle" w="med" len="med"/>
            </a:ln>
          </p:spPr>
          <p:style>
            <a:lnRef idx="2">
              <a:schemeClr val="accent1"/>
            </a:lnRef>
            <a:fillRef idx="0">
              <a:schemeClr val="accent1"/>
            </a:fillRef>
            <a:effectRef idx="1">
              <a:schemeClr val="accent1"/>
            </a:effectRef>
            <a:fontRef idx="minor">
              <a:schemeClr val="tx1"/>
            </a:fontRef>
          </p:style>
        </p:cxnSp>
        <p:sp>
          <p:nvSpPr>
            <p:cNvPr id="14" name="Rounded Rectangle 13"/>
            <p:cNvSpPr/>
            <p:nvPr/>
          </p:nvSpPr>
          <p:spPr>
            <a:xfrm>
              <a:off x="6812280" y="3538728"/>
              <a:ext cx="1600200" cy="548640"/>
            </a:xfrm>
            <a:prstGeom prst="roundRect">
              <a:avLst>
                <a:gd name="adj" fmla="val 12000"/>
              </a:avLst>
            </a:prstGeom>
            <a:solidFill>
              <a:srgbClr val="D9F2E4"/>
            </a:solidFill>
            <a:ln>
              <a:noFill/>
            </a:ln>
          </p:spPr>
          <p:style>
            <a:lnRef idx="1">
              <a:schemeClr val="accent1"/>
            </a:lnRef>
            <a:fillRef idx="3">
              <a:schemeClr val="accent1"/>
            </a:fillRef>
            <a:effectRef idx="2">
              <a:schemeClr val="accent1"/>
            </a:effectRef>
            <a:fontRef idx="minor">
              <a:schemeClr val="lt1"/>
            </a:fontRef>
          </p:style>
          <p:txBody>
            <a:bodyPr wrap="square" lIns="45720" rIns="45720" rtlCol="0" anchor="ctr"/>
            <a:lstStyle/>
            <a:p>
              <a:pPr algn="ctr"/>
              <a:r>
                <a:rPr sz="1500" b="1">
                  <a:solidFill>
                    <a:srgbClr val="00843D"/>
                  </a:solidFill>
                  <a:latin typeface="Calibri"/>
                </a:rPr>
                <a:t>sentiment</a:t>
              </a:r>
            </a:p>
          </p:txBody>
        </p:sp>
        <p:cxnSp>
          <p:nvCxnSpPr>
            <p:cNvPr id="15" name="Connector 14"/>
            <p:cNvCxnSpPr/>
            <p:nvPr/>
          </p:nvCxnSpPr>
          <p:spPr>
            <a:xfrm>
              <a:off x="9372600" y="2962656"/>
              <a:ext cx="0" cy="557784"/>
            </a:xfrm>
            <a:prstGeom prst="line">
              <a:avLst/>
            </a:prstGeom>
            <a:ln w="19050">
              <a:solidFill>
                <a:srgbClr val="595959"/>
              </a:solidFill>
              <a:tailEnd type="triangle" w="med" len="med"/>
            </a:ln>
          </p:spPr>
          <p:style>
            <a:lnRef idx="2">
              <a:schemeClr val="accent1"/>
            </a:lnRef>
            <a:fillRef idx="0">
              <a:schemeClr val="accent1"/>
            </a:fillRef>
            <a:effectRef idx="1">
              <a:schemeClr val="accent1"/>
            </a:effectRef>
            <a:fontRef idx="minor">
              <a:schemeClr val="tx1"/>
            </a:fontRef>
          </p:style>
        </p:cxnSp>
        <p:sp>
          <p:nvSpPr>
            <p:cNvPr id="16" name="Rounded Rectangle 15"/>
            <p:cNvSpPr/>
            <p:nvPr/>
          </p:nvSpPr>
          <p:spPr>
            <a:xfrm>
              <a:off x="8572500" y="3538728"/>
              <a:ext cx="1600200" cy="548640"/>
            </a:xfrm>
            <a:prstGeom prst="roundRect">
              <a:avLst>
                <a:gd name="adj" fmla="val 12000"/>
              </a:avLst>
            </a:prstGeom>
            <a:solidFill>
              <a:srgbClr val="D9F2E4"/>
            </a:solidFill>
            <a:ln>
              <a:noFill/>
            </a:ln>
          </p:spPr>
          <p:style>
            <a:lnRef idx="1">
              <a:schemeClr val="accent1"/>
            </a:lnRef>
            <a:fillRef idx="3">
              <a:schemeClr val="accent1"/>
            </a:fillRef>
            <a:effectRef idx="2">
              <a:schemeClr val="accent1"/>
            </a:effectRef>
            <a:fontRef idx="minor">
              <a:schemeClr val="lt1"/>
            </a:fontRef>
          </p:style>
          <p:txBody>
            <a:bodyPr wrap="square" lIns="45720" rIns="45720" rtlCol="0" anchor="ctr"/>
            <a:lstStyle/>
            <a:p>
              <a:pPr algn="ctr"/>
              <a:r>
                <a:rPr sz="1500" b="1">
                  <a:solidFill>
                    <a:srgbClr val="00843D"/>
                  </a:solidFill>
                  <a:latin typeface="Calibri"/>
                </a:rPr>
                <a:t>question answering</a:t>
              </a:r>
            </a:p>
          </p:txBody>
        </p:sp>
        <p:cxnSp>
          <p:nvCxnSpPr>
            <p:cNvPr id="17" name="Connector 16"/>
            <p:cNvCxnSpPr/>
            <p:nvPr/>
          </p:nvCxnSpPr>
          <p:spPr>
            <a:xfrm>
              <a:off x="9372600" y="2962656"/>
              <a:ext cx="1760220" cy="557784"/>
            </a:xfrm>
            <a:prstGeom prst="line">
              <a:avLst/>
            </a:prstGeom>
            <a:ln w="19050">
              <a:solidFill>
                <a:srgbClr val="595959"/>
              </a:solidFill>
              <a:tailEnd type="triangle" w="med" len="med"/>
            </a:ln>
          </p:spPr>
          <p:style>
            <a:lnRef idx="2">
              <a:schemeClr val="accent1"/>
            </a:lnRef>
            <a:fillRef idx="0">
              <a:schemeClr val="accent1"/>
            </a:fillRef>
            <a:effectRef idx="1">
              <a:schemeClr val="accent1"/>
            </a:effectRef>
            <a:fontRef idx="minor">
              <a:schemeClr val="tx1"/>
            </a:fontRef>
          </p:style>
        </p:cxnSp>
        <p:sp>
          <p:nvSpPr>
            <p:cNvPr id="18" name="Rounded Rectangle 17"/>
            <p:cNvSpPr/>
            <p:nvPr/>
          </p:nvSpPr>
          <p:spPr>
            <a:xfrm>
              <a:off x="10332720" y="3538728"/>
              <a:ext cx="1600200" cy="548640"/>
            </a:xfrm>
            <a:prstGeom prst="roundRect">
              <a:avLst>
                <a:gd name="adj" fmla="val 12000"/>
              </a:avLst>
            </a:prstGeom>
            <a:solidFill>
              <a:srgbClr val="D9F2E4"/>
            </a:solidFill>
            <a:ln>
              <a:noFill/>
            </a:ln>
          </p:spPr>
          <p:style>
            <a:lnRef idx="1">
              <a:schemeClr val="accent1"/>
            </a:lnRef>
            <a:fillRef idx="3">
              <a:schemeClr val="accent1"/>
            </a:fillRef>
            <a:effectRef idx="2">
              <a:schemeClr val="accent1"/>
            </a:effectRef>
            <a:fontRef idx="minor">
              <a:schemeClr val="lt1"/>
            </a:fontRef>
          </p:style>
          <p:txBody>
            <a:bodyPr wrap="square" lIns="45720" rIns="45720" rtlCol="0" anchor="ctr"/>
            <a:lstStyle/>
            <a:p>
              <a:pPr algn="ctr"/>
              <a:r>
                <a:rPr sz="1500" b="1">
                  <a:solidFill>
                    <a:srgbClr val="00843D"/>
                  </a:solidFill>
                  <a:latin typeface="Calibri"/>
                </a:rPr>
                <a:t>entailment</a:t>
              </a:r>
            </a:p>
          </p:txBody>
        </p:sp>
        <p:sp>
          <p:nvSpPr>
            <p:cNvPr id="19" name="TextBox 18"/>
            <p:cNvSpPr txBox="1"/>
            <p:nvPr/>
          </p:nvSpPr>
          <p:spPr>
            <a:xfrm>
              <a:off x="6812280" y="4160520"/>
              <a:ext cx="5120640" cy="274320"/>
            </a:xfrm>
            <a:prstGeom prst="rect">
              <a:avLst/>
            </a:prstGeom>
            <a:noFill/>
          </p:spPr>
          <p:txBody>
            <a:bodyPr wrap="square" lIns="0" tIns="0" rIns="0" bIns="0" anchor="t">
              <a:spAutoFit/>
            </a:bodyPr>
            <a:lstStyle/>
            <a:p>
              <a:pPr algn="ctr"/>
              <a:r>
                <a:rPr sz="1200" b="0" i="0">
                  <a:solidFill>
                    <a:srgbClr val="00843D"/>
                  </a:solidFill>
                  <a:latin typeface="Calibri"/>
                </a:rPr>
                <a:t>fine-tune a copy for each task, with a small labeled set</a:t>
              </a:r>
            </a:p>
          </p:txBody>
        </p:sp>
      </p:grpSp>
      <p:sp>
        <p:nvSpPr>
          <p:cNvPr id="20" name="description"/>
          <p:cNvSpPr txBox="1"/>
          <p:nvPr/>
        </p:nvSpPr>
        <p:spPr>
          <a:xfrm>
            <a:off x="6812280" y="4663440"/>
            <a:ext cx="5120640" cy="731520"/>
          </a:xfrm>
          <a:prstGeom prst="rect">
            <a:avLst/>
          </a:prstGeom>
          <a:noFill/>
        </p:spPr>
        <p:txBody>
          <a:bodyPr wrap="square" lIns="0" tIns="0" rIns="0" bIns="0" anchor="t">
            <a:spAutoFit/>
          </a:bodyPr>
          <a:lstStyle/>
          <a:p>
            <a:pPr algn="l"/>
            <a:r>
              <a:rPr sz="1400" b="0" i="0">
                <a:solidFill>
                  <a:srgbClr val="595959"/>
                </a:solidFill>
                <a:latin typeface="Calibri"/>
              </a:rPr>
              <a:t>Pretraining on unlabeled text gives one network that already knows much about language; fine-tuning a copy on each task beat models built for that task alone. GPT reads left to right; BERT reads in both directions.</a:t>
            </a:r>
          </a:p>
        </p:txBody>
      </p:sp>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6"/>
                                        </p:tgtEl>
                                        <p:attrNameLst>
                                          <p:attrName>style.visibility</p:attrName>
                                        </p:attrNameLst>
                                      </p:cBhvr>
                                      <p:to>
                                        <p:strVal val="visible"/>
                                      </p:to>
                                    </p:set>
                                  </p:childTnLst>
                                </p:cTn>
                              </p:par>
                              <p:par>
                                <p:cTn id="7" presetID="1" presetClass="entr" presetSubtype="0" fill="hold" grpId="0" nodeType="withEffect">
                                  <p:stCondLst>
                                    <p:cond delay="0"/>
                                  </p:stCondLst>
                                  <p:childTnLst>
                                    <p:set>
                                      <p:cBhvr>
                                        <p:cTn id="8" dur="1" fill="hold">
                                          <p:stCondLst>
                                            <p:cond delay="0"/>
                                          </p:stCondLst>
                                        </p:cTn>
                                        <p:tgtEl>
                                          <p:spTgt spid="7"/>
                                        </p:tgtEl>
                                        <p:attrNameLst>
                                          <p:attrName>style.visibility</p:attrName>
                                        </p:attrNameLst>
                                      </p:cBhvr>
                                      <p:to>
                                        <p:strVal val="visible"/>
                                      </p:to>
                                    </p:set>
                                  </p:childTnLst>
                                </p:cTn>
                              </p:par>
                              <p:par>
                                <p:cTn id="9" presetID="1" presetClass="entr" presetSubtype="0" fill="hold" grpId="0" nodeType="withEffect">
                                  <p:stCondLst>
                                    <p:cond delay="0"/>
                                  </p:stCondLst>
                                  <p:childTnLst>
                                    <p:set>
                                      <p:cBhvr>
                                        <p:cTn id="10" dur="1" fill="hold">
                                          <p:stCondLst>
                                            <p:cond delay="0"/>
                                          </p:stCondLst>
                                        </p:cTn>
                                        <p:tgtEl>
                                          <p:spTgt spid="12"/>
                                        </p:tgtEl>
                                        <p:attrNameLst>
                                          <p:attrName>style.visibility</p:attrName>
                                        </p:attrNameLst>
                                      </p:cBhvr>
                                      <p:to>
                                        <p:strVal val="visible"/>
                                      </p:to>
                                    </p:set>
                                  </p:childTnLst>
                                </p:cTn>
                              </p:par>
                              <p:par>
                                <p:cTn id="11" presetID="1" presetClass="entr" presetSubtype="0" fill="hold" grpId="0" nodeType="withEffect">
                                  <p:stCondLst>
                                    <p:cond delay="0"/>
                                  </p:stCondLst>
                                  <p:childTnLst>
                                    <p:set>
                                      <p:cBhvr>
                                        <p:cTn id="12" dur="1" fill="hold">
                                          <p:stCondLst>
                                            <p:cond delay="0"/>
                                          </p:stCondLst>
                                        </p:cTn>
                                        <p:tgtEl>
                                          <p:spTgt spid="20"/>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6" grpId="0"/>
      <p:bldP spid="20" grpId="0"/>
    </p:bldLst>
  </p:timing>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b0_2">
            <a:extLst>
              <a:ext uri="{FF2B5EF4-FFF2-40B4-BE49-F238E27FC236}">
                <a16:creationId xmlns:a16="http://schemas.microsoft.com/office/drawing/2014/main" id="{33DE8782-7F2B-1033-00F6-2A6652EE0E80}"/>
              </a:ext>
            </a:extLst>
          </p:cNvPr>
          <p:cNvSpPr txBox="1"/>
          <p:nvPr/>
        </p:nvSpPr>
        <p:spPr>
          <a:xfrm>
            <a:off x="0" y="148566"/>
            <a:ext cx="11680992" cy="548640"/>
          </a:xfrm>
          <a:prstGeom prst="rect">
            <a:avLst/>
          </a:prstGeom>
          <a:noFill/>
          <a:ln>
            <a:noFill/>
          </a:ln>
        </p:spPr>
        <p:txBody>
          <a:bodyPr wrap="square" rtlCol="0" anchor="ctr"/>
          <a:lstStyle/>
          <a:p>
            <a:r>
              <a:rPr lang="en-US" sz="3200" b="1" dirty="0">
                <a:latin typeface="Calibri" pitchFamily="34" charset="0"/>
                <a:ea typeface="Calibri" pitchFamily="34" charset="-122"/>
                <a:cs typeface="Calibri" pitchFamily="34" charset="-120"/>
              </a:rPr>
              <a:t>From </a:t>
            </a:r>
            <a:r>
              <a:rPr lang="en-US" sz="3200" b="1" dirty="0">
                <a:solidFill>
                  <a:srgbClr val="FF0000"/>
                </a:solidFill>
                <a:latin typeface="Calibri" pitchFamily="34" charset="0"/>
                <a:ea typeface="Calibri" pitchFamily="34" charset="-122"/>
                <a:cs typeface="Calibri" pitchFamily="34" charset="-120"/>
              </a:rPr>
              <a:t>Computation</a:t>
            </a:r>
            <a:r>
              <a:rPr lang="en-US" sz="3200" b="1" dirty="0">
                <a:latin typeface="Calibri" pitchFamily="34" charset="0"/>
                <a:ea typeface="Calibri" pitchFamily="34" charset="-122"/>
                <a:cs typeface="Calibri" pitchFamily="34" charset="-120"/>
              </a:rPr>
              <a:t> to </a:t>
            </a:r>
            <a:r>
              <a:rPr lang="en-US" sz="3200" b="1" dirty="0">
                <a:solidFill>
                  <a:srgbClr val="362FEC"/>
                </a:solidFill>
                <a:latin typeface="Calibri" pitchFamily="34" charset="0"/>
                <a:ea typeface="Calibri" pitchFamily="34" charset="-122"/>
                <a:cs typeface="Calibri" pitchFamily="34" charset="-120"/>
              </a:rPr>
              <a:t>Language Models</a:t>
            </a:r>
            <a:endParaRPr lang="en-US" sz="3200" dirty="0">
              <a:solidFill>
                <a:srgbClr val="362FEC"/>
              </a:solidFill>
            </a:endParaRPr>
          </a:p>
        </p:txBody>
      </p:sp>
      <p:sp>
        <p:nvSpPr>
          <p:cNvPr id="3" name="!!computation">
            <a:extLst>
              <a:ext uri="{FF2B5EF4-FFF2-40B4-BE49-F238E27FC236}">
                <a16:creationId xmlns:a16="http://schemas.microsoft.com/office/drawing/2014/main" id="{691E18F7-4F41-2F97-0124-8C09DE463973}"/>
              </a:ext>
            </a:extLst>
          </p:cNvPr>
          <p:cNvSpPr txBox="1"/>
          <p:nvPr/>
        </p:nvSpPr>
        <p:spPr>
          <a:xfrm>
            <a:off x="168339" y="980102"/>
            <a:ext cx="6355080" cy="707886"/>
          </a:xfrm>
          <a:prstGeom prst="rect">
            <a:avLst/>
          </a:prstGeom>
          <a:noFill/>
        </p:spPr>
        <p:txBody>
          <a:bodyPr wrap="square" rtlCol="0">
            <a:spAutoFit/>
          </a:bodyPr>
          <a:lstStyle/>
          <a:p>
            <a:r>
              <a:rPr lang="en-US" sz="2000" dirty="0">
                <a:latin typeface="Calibri" panose="020F0502020204030204" pitchFamily="34" charset="0"/>
                <a:cs typeface="Calibri" panose="020F0502020204030204" pitchFamily="34" charset="0"/>
              </a:rPr>
              <a:t>This is taken even further by the ability to transform information: Computation.</a:t>
            </a:r>
          </a:p>
        </p:txBody>
      </p:sp>
      <p:sp>
        <p:nvSpPr>
          <p:cNvPr id="4" name="LM heading">
            <a:extLst>
              <a:ext uri="{FF2B5EF4-FFF2-40B4-BE49-F238E27FC236}">
                <a16:creationId xmlns:a16="http://schemas.microsoft.com/office/drawing/2014/main" id="{5CB8A4AA-40B1-94AE-8EEE-080599481F78}"/>
              </a:ext>
            </a:extLst>
          </p:cNvPr>
          <p:cNvSpPr txBox="1"/>
          <p:nvPr/>
        </p:nvSpPr>
        <p:spPr>
          <a:xfrm>
            <a:off x="291358" y="1687988"/>
            <a:ext cx="3171479" cy="411480"/>
          </a:xfrm>
          <a:prstGeom prst="rect">
            <a:avLst/>
          </a:prstGeom>
          <a:noFill/>
          <a:ln>
            <a:noFill/>
          </a:ln>
        </p:spPr>
        <p:txBody>
          <a:bodyPr wrap="square" lIns="0" tIns="0" rIns="0" bIns="0" rtlCol="0" anchor="ctr"/>
          <a:lstStyle/>
          <a:p>
            <a:pPr marL="0" indent="0">
              <a:buNone/>
            </a:pPr>
            <a:r>
              <a:rPr lang="en-US" sz="2000" b="1" dirty="0">
                <a:solidFill>
                  <a:srgbClr val="362FEC"/>
                </a:solidFill>
                <a:latin typeface="Calibri" panose="020F0502020204030204" pitchFamily="34" charset="0"/>
                <a:cs typeface="Calibri" panose="020F0502020204030204" pitchFamily="34" charset="0"/>
              </a:rPr>
              <a:t>Language Models</a:t>
            </a:r>
          </a:p>
        </p:txBody>
      </p:sp>
      <p:sp>
        <p:nvSpPr>
          <p:cNvPr id="5" name="lm 2017"/>
          <p:cNvSpPr txBox="1"/>
          <p:nvPr/>
        </p:nvSpPr>
        <p:spPr>
          <a:xfrm>
            <a:off x="384048" y="2148840"/>
            <a:ext cx="6309360" cy="411480"/>
          </a:xfrm>
          <a:prstGeom prst="rect">
            <a:avLst/>
          </a:prstGeom>
          <a:noFill/>
          <a:ln>
            <a:noFill/>
          </a:ln>
        </p:spPr>
        <p:txBody>
          <a:bodyPr wrap="square" lIns="0" tIns="0" rIns="0" bIns="0" rtlCol="0" anchor="ctr"/>
          <a:lstStyle/>
          <a:p>
            <a:pPr marL="0" indent="0">
              <a:buNone/>
            </a:pPr>
            <a:r>
              <a:rPr lang="en-US" sz="2000" dirty="0">
                <a:solidFill>
                  <a:srgbClr val="362FEC"/>
                </a:solidFill>
                <a:latin typeface="Calibri" pitchFamily="34" charset="0"/>
                <a:ea typeface="Calibri" pitchFamily="34" charset="-122"/>
                <a:cs typeface="Calibri" pitchFamily="34" charset="-120"/>
              </a:rPr>
              <a:t>2017</a:t>
            </a:r>
            <a:r>
              <a:rPr lang="en-US" sz="2000" dirty="0">
                <a:solidFill>
                  <a:srgbClr val="000000"/>
                </a:solidFill>
                <a:latin typeface="Calibri" pitchFamily="34" charset="0"/>
                <a:ea typeface="Calibri" pitchFamily="34" charset="-122"/>
                <a:cs typeface="Calibri" pitchFamily="34" charset="-120"/>
              </a:rPr>
              <a:t>: </a:t>
            </a:r>
            <a:r>
              <a:rPr lang="en-US" sz="2000" dirty="0">
                <a:solidFill>
                  <a:srgbClr val="00B050"/>
                </a:solidFill>
                <a:latin typeface="Calibri" pitchFamily="34" charset="0"/>
                <a:ea typeface="Calibri" pitchFamily="34" charset="-122"/>
                <a:cs typeface="Calibri" pitchFamily="34" charset="-120"/>
              </a:rPr>
              <a:t>the Transformer</a:t>
            </a:r>
            <a:endParaRPr lang="en-US" sz="2000" dirty="0"/>
          </a:p>
        </p:txBody>
      </p:sp>
      <p:sp>
        <p:nvSpPr>
          <p:cNvPr id="6" name="lm 2018"/>
          <p:cNvSpPr txBox="1"/>
          <p:nvPr/>
        </p:nvSpPr>
        <p:spPr>
          <a:xfrm>
            <a:off x="384048" y="2587752"/>
            <a:ext cx="6309360" cy="411480"/>
          </a:xfrm>
          <a:prstGeom prst="rect">
            <a:avLst/>
          </a:prstGeom>
          <a:noFill/>
          <a:ln>
            <a:noFill/>
          </a:ln>
        </p:spPr>
        <p:txBody>
          <a:bodyPr wrap="square" lIns="0" tIns="0" rIns="0" bIns="0" rtlCol="0" anchor="ctr"/>
          <a:lstStyle/>
          <a:p>
            <a:pPr marL="0" indent="0">
              <a:buNone/>
            </a:pPr>
            <a:r>
              <a:rPr lang="en-US" sz="2000" dirty="0">
                <a:solidFill>
                  <a:srgbClr val="362FEC"/>
                </a:solidFill>
                <a:latin typeface="Calibri" pitchFamily="34" charset="0"/>
                <a:ea typeface="Calibri" pitchFamily="34" charset="-122"/>
                <a:cs typeface="Calibri" pitchFamily="34" charset="-120"/>
              </a:rPr>
              <a:t>2018</a:t>
            </a:r>
            <a:r>
              <a:rPr lang="en-US" sz="2000" dirty="0">
                <a:solidFill>
                  <a:srgbClr val="000000"/>
                </a:solidFill>
                <a:latin typeface="Calibri" pitchFamily="34" charset="0"/>
                <a:ea typeface="Calibri" pitchFamily="34" charset="-122"/>
                <a:cs typeface="Calibri" pitchFamily="34" charset="-120"/>
              </a:rPr>
              <a:t>: </a:t>
            </a:r>
            <a:r>
              <a:rPr lang="en-US" sz="2000" dirty="0">
                <a:solidFill>
                  <a:srgbClr val="00B050"/>
                </a:solidFill>
                <a:latin typeface="Calibri" pitchFamily="34" charset="0"/>
                <a:ea typeface="Calibri" pitchFamily="34" charset="-122"/>
                <a:cs typeface="Calibri" pitchFamily="34" charset="-120"/>
              </a:rPr>
              <a:t>GPT and BERT: pretrain, then fine-tune</a:t>
            </a:r>
            <a:endParaRPr lang="en-US" sz="2000" dirty="0"/>
          </a:p>
        </p:txBody>
      </p:sp>
      <p:sp>
        <p:nvSpPr>
          <p:cNvPr id="7" name="lm 2020"/>
          <p:cNvSpPr txBox="1"/>
          <p:nvPr/>
        </p:nvSpPr>
        <p:spPr>
          <a:xfrm>
            <a:off x="384048" y="3026664"/>
            <a:ext cx="6309360" cy="411480"/>
          </a:xfrm>
          <a:prstGeom prst="rect">
            <a:avLst/>
          </a:prstGeom>
          <a:noFill/>
          <a:ln>
            <a:noFill/>
          </a:ln>
        </p:spPr>
        <p:txBody>
          <a:bodyPr wrap="square" lIns="0" tIns="0" rIns="0" bIns="0" rtlCol="0" anchor="ctr"/>
          <a:lstStyle/>
          <a:p>
            <a:pPr marL="0" indent="0">
              <a:buNone/>
            </a:pPr>
            <a:r>
              <a:rPr lang="en-US" sz="2000" dirty="0">
                <a:solidFill>
                  <a:srgbClr val="362FEC"/>
                </a:solidFill>
                <a:latin typeface="Calibri" pitchFamily="34" charset="0"/>
                <a:ea typeface="Calibri" pitchFamily="34" charset="-122"/>
                <a:cs typeface="Calibri" pitchFamily="34" charset="-120"/>
              </a:rPr>
              <a:t>2020</a:t>
            </a:r>
            <a:r>
              <a:rPr lang="en-US" sz="2000" dirty="0">
                <a:solidFill>
                  <a:srgbClr val="000000"/>
                </a:solidFill>
                <a:latin typeface="Calibri" pitchFamily="34" charset="0"/>
                <a:ea typeface="Calibri" pitchFamily="34" charset="-122"/>
                <a:cs typeface="Calibri" pitchFamily="34" charset="-120"/>
              </a:rPr>
              <a:t>: </a:t>
            </a:r>
            <a:r>
              <a:rPr lang="en-US" sz="2000" dirty="0">
                <a:solidFill>
                  <a:srgbClr val="00B050"/>
                </a:solidFill>
                <a:latin typeface="Calibri" pitchFamily="34" charset="0"/>
                <a:ea typeface="Calibri" pitchFamily="34" charset="-122"/>
                <a:cs typeface="Calibri" pitchFamily="34" charset="-120"/>
              </a:rPr>
              <a:t>GPT-3: a task from a few examples</a:t>
            </a:r>
            <a:endParaRPr lang="en-US" sz="2000" dirty="0"/>
          </a:p>
        </p:txBody>
      </p:sp>
      <p:sp>
        <p:nvSpPr>
          <p:cNvPr id="8" name="TextBox 7"/>
          <p:cNvSpPr txBox="1"/>
          <p:nvPr/>
        </p:nvSpPr>
        <p:spPr>
          <a:xfrm>
            <a:off x="6812280" y="1188720"/>
            <a:ext cx="914400" cy="274320"/>
          </a:xfrm>
          <a:prstGeom prst="rect">
            <a:avLst/>
          </a:prstGeom>
          <a:noFill/>
        </p:spPr>
        <p:txBody>
          <a:bodyPr wrap="square" lIns="0" tIns="0" rIns="0" bIns="0" anchor="t">
            <a:spAutoFit/>
          </a:bodyPr>
          <a:lstStyle/>
          <a:p>
            <a:pPr algn="l"/>
            <a:r>
              <a:rPr sz="1200" b="0" i="0">
                <a:solidFill>
                  <a:srgbClr val="595959"/>
                </a:solidFill>
                <a:latin typeface="Calibri"/>
              </a:rPr>
              <a:t>prompt</a:t>
            </a:r>
          </a:p>
        </p:txBody>
      </p:sp>
      <p:sp>
        <p:nvSpPr>
          <p:cNvPr id="9" name="few-shot prompt"/>
          <p:cNvSpPr/>
          <p:nvPr/>
        </p:nvSpPr>
        <p:spPr>
          <a:xfrm>
            <a:off x="6812280" y="1463040"/>
            <a:ext cx="5120640" cy="2331720"/>
          </a:xfrm>
          <a:prstGeom prst="roundRect">
            <a:avLst>
              <a:gd name="adj" fmla="val 6000"/>
            </a:avLst>
          </a:prstGeom>
          <a:solidFill>
            <a:srgbClr val="EDEDED"/>
          </a:solidFill>
          <a:ln>
            <a:noFill/>
          </a:ln>
        </p:spPr>
        <p:style>
          <a:lnRef idx="1">
            <a:schemeClr val="accent1"/>
          </a:lnRef>
          <a:fillRef idx="3">
            <a:schemeClr val="accent1"/>
          </a:fillRef>
          <a:effectRef idx="2">
            <a:schemeClr val="accent1"/>
          </a:effectRef>
          <a:fontRef idx="minor">
            <a:schemeClr val="lt1"/>
          </a:fontRef>
        </p:style>
        <p:txBody>
          <a:bodyPr wrap="square" lIns="137160" tIns="54864" rIns="137160" bIns="54864" rtlCol="0" anchor="ctr"/>
          <a:lstStyle/>
          <a:p>
            <a:pPr algn="l"/>
            <a:r>
              <a:rPr sz="1300" b="0" i="0">
                <a:solidFill>
                  <a:srgbClr val="000000"/>
                </a:solidFill>
                <a:latin typeface="Consolas"/>
              </a:rPr>
              <a:t>Review: The plot dragged; the end made no sense.</a:t>
            </a:r>
          </a:p>
          <a:p>
            <a:pPr algn="l"/>
            <a:r>
              <a:rPr sz="1300" b="0" i="0">
                <a:solidFill>
                  <a:srgbClr val="000000"/>
                </a:solidFill>
                <a:latin typeface="Consolas"/>
              </a:rPr>
              <a:t>Sentiment: negative</a:t>
            </a:r>
          </a:p>
          <a:p>
            <a:pPr algn="l"/>
            <a:endParaRPr sz="1300" b="0" i="0">
              <a:solidFill>
                <a:srgbClr val="000000"/>
              </a:solidFill>
              <a:latin typeface="Consolas"/>
            </a:endParaRPr>
          </a:p>
          <a:p>
            <a:pPr algn="l"/>
            <a:r>
              <a:rPr sz="1300" b="0" i="0">
                <a:solidFill>
                  <a:srgbClr val="000000"/>
                </a:solidFill>
                <a:latin typeface="Consolas"/>
              </a:rPr>
              <a:t>Review: A warm, funny film with a great cast.</a:t>
            </a:r>
          </a:p>
          <a:p>
            <a:pPr algn="l"/>
            <a:r>
              <a:rPr sz="1300" b="0" i="0">
                <a:solidFill>
                  <a:srgbClr val="000000"/>
                </a:solidFill>
                <a:latin typeface="Consolas"/>
              </a:rPr>
              <a:t>Sentiment: positive</a:t>
            </a:r>
          </a:p>
          <a:p>
            <a:pPr algn="l"/>
            <a:endParaRPr sz="1300" b="0" i="0">
              <a:solidFill>
                <a:srgbClr val="000000"/>
              </a:solidFill>
              <a:latin typeface="Consolas"/>
            </a:endParaRPr>
          </a:p>
          <a:p>
            <a:pPr algn="l"/>
            <a:r>
              <a:rPr sz="1300" b="0" i="0">
                <a:solidFill>
                  <a:srgbClr val="000000"/>
                </a:solidFill>
                <a:latin typeface="Consolas"/>
              </a:rPr>
              <a:t>Review: I'd happily watch it again tomorrow.</a:t>
            </a:r>
          </a:p>
          <a:p>
            <a:pPr algn="l"/>
            <a:r>
              <a:rPr sz="1300" b="0" i="0">
                <a:solidFill>
                  <a:srgbClr val="000000"/>
                </a:solidFill>
                <a:latin typeface="Consolas"/>
              </a:rPr>
              <a:t>Sentiment:</a:t>
            </a:r>
          </a:p>
        </p:txBody>
      </p:sp>
      <p:sp>
        <p:nvSpPr>
          <p:cNvPr id="10" name="continuation"/>
          <p:cNvSpPr txBox="1"/>
          <p:nvPr/>
        </p:nvSpPr>
        <p:spPr>
          <a:xfrm>
            <a:off x="6949440" y="3931920"/>
            <a:ext cx="5120640" cy="365760"/>
          </a:xfrm>
          <a:prstGeom prst="rect">
            <a:avLst/>
          </a:prstGeom>
          <a:noFill/>
        </p:spPr>
        <p:txBody>
          <a:bodyPr wrap="square" lIns="0" tIns="0" rIns="0" bIns="0">
            <a:spAutoFit/>
          </a:bodyPr>
          <a:lstStyle/>
          <a:p>
            <a:pPr algn="l">
              <a:spcAft>
                <a:spcPts val="1000"/>
              </a:spcAft>
            </a:pPr>
            <a:r>
              <a:rPr sz="1600" b="0" i="0">
                <a:solidFill>
                  <a:srgbClr val="595959"/>
                </a:solidFill>
                <a:latin typeface="Calibri"/>
              </a:rPr>
              <a:t>the model continues:  </a:t>
            </a:r>
            <a:r>
              <a:rPr sz="1800" b="1" i="0">
                <a:solidFill>
                  <a:srgbClr val="00843D"/>
                </a:solidFill>
                <a:latin typeface="Consolas"/>
              </a:rPr>
              <a:t>positive</a:t>
            </a:r>
          </a:p>
        </p:txBody>
      </p:sp>
      <p:sp>
        <p:nvSpPr>
          <p:cNvPr id="11" name="description"/>
          <p:cNvSpPr txBox="1"/>
          <p:nvPr/>
        </p:nvSpPr>
        <p:spPr>
          <a:xfrm>
            <a:off x="6812280" y="4526280"/>
            <a:ext cx="5120640" cy="685800"/>
          </a:xfrm>
          <a:prstGeom prst="rect">
            <a:avLst/>
          </a:prstGeom>
          <a:noFill/>
        </p:spPr>
        <p:txBody>
          <a:bodyPr wrap="square" lIns="0" tIns="0" rIns="0" bIns="0" anchor="t">
            <a:spAutoFit/>
          </a:bodyPr>
          <a:lstStyle/>
          <a:p>
            <a:pPr algn="l"/>
            <a:r>
              <a:rPr sz="1400" b="0" i="0">
                <a:solidFill>
                  <a:srgbClr val="595959"/>
                </a:solidFill>
                <a:latin typeface="Calibri"/>
              </a:rPr>
              <a:t>GPT-3 has 175 billion parameters. The task is given in the prompt by a few examples, and nothing is retrained: the weights stay fixed. Ask the room what comes next, then reveal.</a:t>
            </a:r>
          </a:p>
        </p:txBody>
      </p:sp>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7"/>
                                        </p:tgtEl>
                                        <p:attrNameLst>
                                          <p:attrName>style.visibility</p:attrName>
                                        </p:attrNameLst>
                                      </p:cBhvr>
                                      <p:to>
                                        <p:strVal val="visible"/>
                                      </p:to>
                                    </p:set>
                                  </p:childTnLst>
                                </p:cTn>
                              </p:par>
                              <p:par>
                                <p:cTn id="7" presetID="1" presetClass="entr" presetSubtype="0" fill="hold" grpId="0" nodeType="withEffect">
                                  <p:stCondLst>
                                    <p:cond delay="0"/>
                                  </p:stCondLst>
                                  <p:childTnLst>
                                    <p:set>
                                      <p:cBhvr>
                                        <p:cTn id="8" dur="1" fill="hold">
                                          <p:stCondLst>
                                            <p:cond delay="0"/>
                                          </p:stCondLst>
                                        </p:cTn>
                                        <p:tgtEl>
                                          <p:spTgt spid="8"/>
                                        </p:tgtEl>
                                        <p:attrNameLst>
                                          <p:attrName>style.visibility</p:attrName>
                                        </p:attrNameLst>
                                      </p:cBhvr>
                                      <p:to>
                                        <p:strVal val="visible"/>
                                      </p:to>
                                    </p:set>
                                  </p:childTnLst>
                                </p:cTn>
                              </p:par>
                              <p:par>
                                <p:cTn id="9" presetID="1" presetClass="entr" presetSubtype="0" fill="hold" grpId="0" nodeType="withEffect">
                                  <p:stCondLst>
                                    <p:cond delay="0"/>
                                  </p:stCondLst>
                                  <p:childTnLst>
                                    <p:set>
                                      <p:cBhvr>
                                        <p:cTn id="10" dur="1" fill="hold">
                                          <p:stCondLst>
                                            <p:cond delay="0"/>
                                          </p:stCondLst>
                                        </p:cTn>
                                        <p:tgtEl>
                                          <p:spTgt spid="9"/>
                                        </p:tgtEl>
                                        <p:attrNameLst>
                                          <p:attrName>style.visibility</p:attrName>
                                        </p:attrNameLst>
                                      </p:cBhvr>
                                      <p:to>
                                        <p:strVal val="visible"/>
                                      </p:to>
                                    </p:set>
                                  </p:childTnLst>
                                </p:cTn>
                              </p:par>
                              <p:par>
                                <p:cTn id="11" presetID="1" presetClass="entr" presetSubtype="0" fill="hold" grpId="0" nodeType="withEffect">
                                  <p:stCondLst>
                                    <p:cond delay="0"/>
                                  </p:stCondLst>
                                  <p:childTnLst>
                                    <p:set>
                                      <p:cBhvr>
                                        <p:cTn id="12" dur="1" fill="hold">
                                          <p:stCondLst>
                                            <p:cond delay="0"/>
                                          </p:stCondLst>
                                        </p:cTn>
                                        <p:tgtEl>
                                          <p:spTgt spid="11"/>
                                        </p:tgtEl>
                                        <p:attrNameLst>
                                          <p:attrName>style.visibility</p:attrName>
                                        </p:attrNameLst>
                                      </p:cBhvr>
                                      <p:to>
                                        <p:strVal val="visible"/>
                                      </p:to>
                                    </p:set>
                                  </p:childTnLst>
                                </p:cTn>
                              </p:par>
                            </p:childTnLst>
                          </p:cTn>
                        </p:par>
                      </p:childTnLst>
                    </p:cTn>
                  </p:par>
                  <p:par>
                    <p:cTn id="13" fill="hold">
                      <p:stCondLst>
                        <p:cond delay="indefinite"/>
                      </p:stCondLst>
                      <p:childTnLst>
                        <p:par>
                          <p:cTn id="14" fill="hold">
                            <p:stCondLst>
                              <p:cond delay="0"/>
                            </p:stCondLst>
                            <p:childTnLst>
                              <p:par>
                                <p:cTn id="15" presetID="1" presetClass="entr" presetSubtype="0" fill="hold" grpId="0" nodeType="clickEffect">
                                  <p:stCondLst>
                                    <p:cond delay="0"/>
                                  </p:stCondLst>
                                  <p:childTnLst>
                                    <p:set>
                                      <p:cBhvr>
                                        <p:cTn id="16" dur="1" fill="hold">
                                          <p:stCondLst>
                                            <p:cond delay="0"/>
                                          </p:stCondLst>
                                        </p:cTn>
                                        <p:tgtEl>
                                          <p:spTgt spid="10"/>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7" grpId="0"/>
      <p:bldP spid="8" grpId="0"/>
      <p:bldP spid="9" grpId="0" animBg="1"/>
      <p:bldP spid="11" grpId="0"/>
      <p:bldP spid="10" grpId="0"/>
    </p:bldLst>
  </p:timing>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b0_2">
            <a:extLst>
              <a:ext uri="{FF2B5EF4-FFF2-40B4-BE49-F238E27FC236}">
                <a16:creationId xmlns:a16="http://schemas.microsoft.com/office/drawing/2014/main" id="{33DE8782-7F2B-1033-00F6-2A6652EE0E80}"/>
              </a:ext>
            </a:extLst>
          </p:cNvPr>
          <p:cNvSpPr txBox="1"/>
          <p:nvPr/>
        </p:nvSpPr>
        <p:spPr>
          <a:xfrm>
            <a:off x="0" y="148566"/>
            <a:ext cx="11680992" cy="548640"/>
          </a:xfrm>
          <a:prstGeom prst="rect">
            <a:avLst/>
          </a:prstGeom>
          <a:noFill/>
          <a:ln>
            <a:noFill/>
          </a:ln>
        </p:spPr>
        <p:txBody>
          <a:bodyPr wrap="square" rtlCol="0" anchor="ctr"/>
          <a:lstStyle/>
          <a:p>
            <a:r>
              <a:rPr lang="en-US" sz="3200" b="1" dirty="0">
                <a:latin typeface="Calibri" pitchFamily="34" charset="0"/>
                <a:ea typeface="Calibri" pitchFamily="34" charset="-122"/>
                <a:cs typeface="Calibri" pitchFamily="34" charset="-120"/>
              </a:rPr>
              <a:t>From </a:t>
            </a:r>
            <a:r>
              <a:rPr lang="en-US" sz="3200" b="1" dirty="0">
                <a:solidFill>
                  <a:srgbClr val="FF0000"/>
                </a:solidFill>
                <a:latin typeface="Calibri" pitchFamily="34" charset="0"/>
                <a:ea typeface="Calibri" pitchFamily="34" charset="-122"/>
                <a:cs typeface="Calibri" pitchFamily="34" charset="-120"/>
              </a:rPr>
              <a:t>Computation</a:t>
            </a:r>
            <a:r>
              <a:rPr lang="en-US" sz="3200" b="1" dirty="0">
                <a:latin typeface="Calibri" pitchFamily="34" charset="0"/>
                <a:ea typeface="Calibri" pitchFamily="34" charset="-122"/>
                <a:cs typeface="Calibri" pitchFamily="34" charset="-120"/>
              </a:rPr>
              <a:t> to </a:t>
            </a:r>
            <a:r>
              <a:rPr lang="en-US" sz="3200" b="1" dirty="0">
                <a:solidFill>
                  <a:srgbClr val="362FEC"/>
                </a:solidFill>
                <a:latin typeface="Calibri" pitchFamily="34" charset="0"/>
                <a:ea typeface="Calibri" pitchFamily="34" charset="-122"/>
                <a:cs typeface="Calibri" pitchFamily="34" charset="-120"/>
              </a:rPr>
              <a:t>Language Models</a:t>
            </a:r>
            <a:endParaRPr lang="en-US" sz="3200" dirty="0">
              <a:solidFill>
                <a:srgbClr val="362FEC"/>
              </a:solidFill>
            </a:endParaRPr>
          </a:p>
        </p:txBody>
      </p:sp>
      <p:sp>
        <p:nvSpPr>
          <p:cNvPr id="3" name="!!computation">
            <a:extLst>
              <a:ext uri="{FF2B5EF4-FFF2-40B4-BE49-F238E27FC236}">
                <a16:creationId xmlns:a16="http://schemas.microsoft.com/office/drawing/2014/main" id="{691E18F7-4F41-2F97-0124-8C09DE463973}"/>
              </a:ext>
            </a:extLst>
          </p:cNvPr>
          <p:cNvSpPr txBox="1"/>
          <p:nvPr/>
        </p:nvSpPr>
        <p:spPr>
          <a:xfrm>
            <a:off x="168339" y="980102"/>
            <a:ext cx="6355080" cy="707886"/>
          </a:xfrm>
          <a:prstGeom prst="rect">
            <a:avLst/>
          </a:prstGeom>
          <a:noFill/>
        </p:spPr>
        <p:txBody>
          <a:bodyPr wrap="square" rtlCol="0">
            <a:spAutoFit/>
          </a:bodyPr>
          <a:lstStyle/>
          <a:p>
            <a:r>
              <a:rPr lang="en-US" sz="2000" dirty="0">
                <a:latin typeface="Calibri" panose="020F0502020204030204" pitchFamily="34" charset="0"/>
                <a:cs typeface="Calibri" panose="020F0502020204030204" pitchFamily="34" charset="0"/>
              </a:rPr>
              <a:t>This is taken even further by the ability to transform information: Computation.</a:t>
            </a:r>
          </a:p>
        </p:txBody>
      </p:sp>
      <p:sp>
        <p:nvSpPr>
          <p:cNvPr id="4" name="LM heading">
            <a:extLst>
              <a:ext uri="{FF2B5EF4-FFF2-40B4-BE49-F238E27FC236}">
                <a16:creationId xmlns:a16="http://schemas.microsoft.com/office/drawing/2014/main" id="{5CB8A4AA-40B1-94AE-8EEE-080599481F78}"/>
              </a:ext>
            </a:extLst>
          </p:cNvPr>
          <p:cNvSpPr txBox="1"/>
          <p:nvPr/>
        </p:nvSpPr>
        <p:spPr>
          <a:xfrm>
            <a:off x="291358" y="1687988"/>
            <a:ext cx="3171479" cy="411480"/>
          </a:xfrm>
          <a:prstGeom prst="rect">
            <a:avLst/>
          </a:prstGeom>
          <a:noFill/>
          <a:ln>
            <a:noFill/>
          </a:ln>
        </p:spPr>
        <p:txBody>
          <a:bodyPr wrap="square" lIns="0" tIns="0" rIns="0" bIns="0" rtlCol="0" anchor="ctr"/>
          <a:lstStyle/>
          <a:p>
            <a:pPr marL="0" indent="0">
              <a:buNone/>
            </a:pPr>
            <a:r>
              <a:rPr lang="en-US" sz="2000" b="1" dirty="0">
                <a:solidFill>
                  <a:srgbClr val="362FEC"/>
                </a:solidFill>
                <a:latin typeface="Calibri" panose="020F0502020204030204" pitchFamily="34" charset="0"/>
                <a:cs typeface="Calibri" panose="020F0502020204030204" pitchFamily="34" charset="0"/>
              </a:rPr>
              <a:t>Language Models</a:t>
            </a:r>
          </a:p>
        </p:txBody>
      </p:sp>
      <p:sp>
        <p:nvSpPr>
          <p:cNvPr id="5" name="lm 2017"/>
          <p:cNvSpPr txBox="1"/>
          <p:nvPr/>
        </p:nvSpPr>
        <p:spPr>
          <a:xfrm>
            <a:off x="384048" y="2148840"/>
            <a:ext cx="6309360" cy="411480"/>
          </a:xfrm>
          <a:prstGeom prst="rect">
            <a:avLst/>
          </a:prstGeom>
          <a:noFill/>
          <a:ln>
            <a:noFill/>
          </a:ln>
        </p:spPr>
        <p:txBody>
          <a:bodyPr wrap="square" lIns="0" tIns="0" rIns="0" bIns="0" rtlCol="0" anchor="ctr"/>
          <a:lstStyle/>
          <a:p>
            <a:pPr marL="0" indent="0">
              <a:buNone/>
            </a:pPr>
            <a:r>
              <a:rPr lang="en-US" sz="2000" dirty="0">
                <a:solidFill>
                  <a:srgbClr val="362FEC"/>
                </a:solidFill>
                <a:latin typeface="Calibri" pitchFamily="34" charset="0"/>
                <a:ea typeface="Calibri" pitchFamily="34" charset="-122"/>
                <a:cs typeface="Calibri" pitchFamily="34" charset="-120"/>
              </a:rPr>
              <a:t>2017</a:t>
            </a:r>
            <a:r>
              <a:rPr lang="en-US" sz="2000" dirty="0">
                <a:solidFill>
                  <a:srgbClr val="000000"/>
                </a:solidFill>
                <a:latin typeface="Calibri" pitchFamily="34" charset="0"/>
                <a:ea typeface="Calibri" pitchFamily="34" charset="-122"/>
                <a:cs typeface="Calibri" pitchFamily="34" charset="-120"/>
              </a:rPr>
              <a:t>: </a:t>
            </a:r>
            <a:r>
              <a:rPr lang="en-US" sz="2000" dirty="0">
                <a:solidFill>
                  <a:srgbClr val="00B050"/>
                </a:solidFill>
                <a:latin typeface="Calibri" pitchFamily="34" charset="0"/>
                <a:ea typeface="Calibri" pitchFamily="34" charset="-122"/>
                <a:cs typeface="Calibri" pitchFamily="34" charset="-120"/>
              </a:rPr>
              <a:t>the Transformer</a:t>
            </a:r>
            <a:endParaRPr lang="en-US" sz="2000" dirty="0"/>
          </a:p>
        </p:txBody>
      </p:sp>
      <p:sp>
        <p:nvSpPr>
          <p:cNvPr id="6" name="lm 2018"/>
          <p:cNvSpPr txBox="1"/>
          <p:nvPr/>
        </p:nvSpPr>
        <p:spPr>
          <a:xfrm>
            <a:off x="384048" y="2587752"/>
            <a:ext cx="6309360" cy="411480"/>
          </a:xfrm>
          <a:prstGeom prst="rect">
            <a:avLst/>
          </a:prstGeom>
          <a:noFill/>
          <a:ln>
            <a:noFill/>
          </a:ln>
        </p:spPr>
        <p:txBody>
          <a:bodyPr wrap="square" lIns="0" tIns="0" rIns="0" bIns="0" rtlCol="0" anchor="ctr"/>
          <a:lstStyle/>
          <a:p>
            <a:pPr marL="0" indent="0">
              <a:buNone/>
            </a:pPr>
            <a:r>
              <a:rPr lang="en-US" sz="2000" dirty="0">
                <a:solidFill>
                  <a:srgbClr val="362FEC"/>
                </a:solidFill>
                <a:latin typeface="Calibri" pitchFamily="34" charset="0"/>
                <a:ea typeface="Calibri" pitchFamily="34" charset="-122"/>
                <a:cs typeface="Calibri" pitchFamily="34" charset="-120"/>
              </a:rPr>
              <a:t>2018</a:t>
            </a:r>
            <a:r>
              <a:rPr lang="en-US" sz="2000" dirty="0">
                <a:solidFill>
                  <a:srgbClr val="000000"/>
                </a:solidFill>
                <a:latin typeface="Calibri" pitchFamily="34" charset="0"/>
                <a:ea typeface="Calibri" pitchFamily="34" charset="-122"/>
                <a:cs typeface="Calibri" pitchFamily="34" charset="-120"/>
              </a:rPr>
              <a:t>: </a:t>
            </a:r>
            <a:r>
              <a:rPr lang="en-US" sz="2000" dirty="0">
                <a:solidFill>
                  <a:srgbClr val="00B050"/>
                </a:solidFill>
                <a:latin typeface="Calibri" pitchFamily="34" charset="0"/>
                <a:ea typeface="Calibri" pitchFamily="34" charset="-122"/>
                <a:cs typeface="Calibri" pitchFamily="34" charset="-120"/>
              </a:rPr>
              <a:t>GPT and BERT: pretrain, then fine-tune</a:t>
            </a:r>
            <a:endParaRPr lang="en-US" sz="2000" dirty="0"/>
          </a:p>
        </p:txBody>
      </p:sp>
      <p:sp>
        <p:nvSpPr>
          <p:cNvPr id="7" name="lm 2020"/>
          <p:cNvSpPr txBox="1"/>
          <p:nvPr/>
        </p:nvSpPr>
        <p:spPr>
          <a:xfrm>
            <a:off x="384048" y="3026664"/>
            <a:ext cx="6309360" cy="411480"/>
          </a:xfrm>
          <a:prstGeom prst="rect">
            <a:avLst/>
          </a:prstGeom>
          <a:noFill/>
          <a:ln>
            <a:noFill/>
          </a:ln>
        </p:spPr>
        <p:txBody>
          <a:bodyPr wrap="square" lIns="0" tIns="0" rIns="0" bIns="0" rtlCol="0" anchor="ctr"/>
          <a:lstStyle/>
          <a:p>
            <a:pPr marL="0" indent="0">
              <a:buNone/>
            </a:pPr>
            <a:r>
              <a:rPr lang="en-US" sz="2000" dirty="0">
                <a:solidFill>
                  <a:srgbClr val="362FEC"/>
                </a:solidFill>
                <a:latin typeface="Calibri" pitchFamily="34" charset="0"/>
                <a:ea typeface="Calibri" pitchFamily="34" charset="-122"/>
                <a:cs typeface="Calibri" pitchFamily="34" charset="-120"/>
              </a:rPr>
              <a:t>2020</a:t>
            </a:r>
            <a:r>
              <a:rPr lang="en-US" sz="2000" dirty="0">
                <a:solidFill>
                  <a:srgbClr val="000000"/>
                </a:solidFill>
                <a:latin typeface="Calibri" pitchFamily="34" charset="0"/>
                <a:ea typeface="Calibri" pitchFamily="34" charset="-122"/>
                <a:cs typeface="Calibri" pitchFamily="34" charset="-120"/>
              </a:rPr>
              <a:t>: </a:t>
            </a:r>
            <a:r>
              <a:rPr lang="en-US" sz="2000" dirty="0">
                <a:solidFill>
                  <a:srgbClr val="00B050"/>
                </a:solidFill>
                <a:latin typeface="Calibri" pitchFamily="34" charset="0"/>
                <a:ea typeface="Calibri" pitchFamily="34" charset="-122"/>
                <a:cs typeface="Calibri" pitchFamily="34" charset="-120"/>
              </a:rPr>
              <a:t>GPT-3: a task from a few examples</a:t>
            </a:r>
            <a:endParaRPr lang="en-US" sz="2000" dirty="0"/>
          </a:p>
        </p:txBody>
      </p:sp>
      <p:sp>
        <p:nvSpPr>
          <p:cNvPr id="8" name="lm 2022"/>
          <p:cNvSpPr txBox="1"/>
          <p:nvPr/>
        </p:nvSpPr>
        <p:spPr>
          <a:xfrm>
            <a:off x="384048" y="3465576"/>
            <a:ext cx="6309360" cy="411480"/>
          </a:xfrm>
          <a:prstGeom prst="rect">
            <a:avLst/>
          </a:prstGeom>
          <a:noFill/>
          <a:ln>
            <a:noFill/>
          </a:ln>
        </p:spPr>
        <p:txBody>
          <a:bodyPr wrap="square" lIns="0" tIns="0" rIns="0" bIns="0" rtlCol="0" anchor="ctr"/>
          <a:lstStyle/>
          <a:p>
            <a:pPr marL="0" indent="0">
              <a:buNone/>
            </a:pPr>
            <a:r>
              <a:rPr lang="en-US" sz="2000" dirty="0">
                <a:solidFill>
                  <a:srgbClr val="362FEC"/>
                </a:solidFill>
                <a:latin typeface="Calibri" pitchFamily="34" charset="0"/>
                <a:ea typeface="Calibri" pitchFamily="34" charset="-122"/>
                <a:cs typeface="Calibri" pitchFamily="34" charset="-120"/>
              </a:rPr>
              <a:t>2022</a:t>
            </a:r>
            <a:r>
              <a:rPr lang="en-US" sz="2000" dirty="0">
                <a:solidFill>
                  <a:srgbClr val="000000"/>
                </a:solidFill>
                <a:latin typeface="Calibri" pitchFamily="34" charset="0"/>
                <a:ea typeface="Calibri" pitchFamily="34" charset="-122"/>
                <a:cs typeface="Calibri" pitchFamily="34" charset="-120"/>
              </a:rPr>
              <a:t>: </a:t>
            </a:r>
            <a:r>
              <a:rPr lang="en-US" sz="2000" dirty="0">
                <a:solidFill>
                  <a:srgbClr val="00B050"/>
                </a:solidFill>
                <a:latin typeface="Calibri" pitchFamily="34" charset="0"/>
                <a:ea typeface="Calibri" pitchFamily="34" charset="-122"/>
                <a:cs typeface="Calibri" pitchFamily="34" charset="-120"/>
              </a:rPr>
              <a:t>ChatGPT: an assistant you can talk to</a:t>
            </a:r>
            <a:endParaRPr lang="en-US" sz="2000" dirty="0"/>
          </a:p>
        </p:txBody>
      </p:sp>
      <p:sp>
        <p:nvSpPr>
          <p:cNvPr id="9" name="Rounded Rectangle 8"/>
          <p:cNvSpPr/>
          <p:nvPr/>
        </p:nvSpPr>
        <p:spPr>
          <a:xfrm>
            <a:off x="8366760" y="1188720"/>
            <a:ext cx="3566160" cy="658368"/>
          </a:xfrm>
          <a:prstGeom prst="roundRect">
            <a:avLst>
              <a:gd name="adj" fmla="val 25000"/>
            </a:avLst>
          </a:prstGeom>
          <a:solidFill>
            <a:srgbClr val="E3E2FD"/>
          </a:solidFill>
          <a:ln>
            <a:noFill/>
          </a:ln>
        </p:spPr>
        <p:style>
          <a:lnRef idx="1">
            <a:schemeClr val="accent1"/>
          </a:lnRef>
          <a:fillRef idx="3">
            <a:schemeClr val="accent1"/>
          </a:fillRef>
          <a:effectRef idx="2">
            <a:schemeClr val="accent1"/>
          </a:effectRef>
          <a:fontRef idx="minor">
            <a:schemeClr val="lt1"/>
          </a:fontRef>
        </p:style>
        <p:txBody>
          <a:bodyPr wrap="square" lIns="137160" tIns="54864" rIns="137160" bIns="54864" rtlCol="0" anchor="ctr"/>
          <a:lstStyle/>
          <a:p>
            <a:pPr algn="l"/>
            <a:r>
              <a:rPr sz="1500" b="0" i="0">
                <a:solidFill>
                  <a:srgbClr val="000000"/>
                </a:solidFill>
                <a:latin typeface="Calibri"/>
              </a:rPr>
              <a:t>Write a Python function that returns</a:t>
            </a:r>
          </a:p>
          <a:p>
            <a:pPr algn="l"/>
            <a:r>
              <a:rPr sz="1500" b="0" i="0">
                <a:solidFill>
                  <a:srgbClr val="000000"/>
                </a:solidFill>
                <a:latin typeface="Calibri"/>
              </a:rPr>
              <a:t>the n-th Fibonacci number.</a:t>
            </a:r>
          </a:p>
        </p:txBody>
      </p:sp>
      <p:sp>
        <p:nvSpPr>
          <p:cNvPr id="10" name="Rounded Rectangle 9"/>
          <p:cNvSpPr/>
          <p:nvPr/>
        </p:nvSpPr>
        <p:spPr>
          <a:xfrm>
            <a:off x="6812280" y="1965960"/>
            <a:ext cx="5120640" cy="658368"/>
          </a:xfrm>
          <a:prstGeom prst="roundRect">
            <a:avLst>
              <a:gd name="adj" fmla="val 25000"/>
            </a:avLst>
          </a:prstGeom>
          <a:solidFill>
            <a:srgbClr val="EDEDED"/>
          </a:solidFill>
          <a:ln>
            <a:noFill/>
          </a:ln>
        </p:spPr>
        <p:style>
          <a:lnRef idx="1">
            <a:schemeClr val="accent1"/>
          </a:lnRef>
          <a:fillRef idx="3">
            <a:schemeClr val="accent1"/>
          </a:fillRef>
          <a:effectRef idx="2">
            <a:schemeClr val="accent1"/>
          </a:effectRef>
          <a:fontRef idx="minor">
            <a:schemeClr val="lt1"/>
          </a:fontRef>
        </p:style>
        <p:txBody>
          <a:bodyPr wrap="square" lIns="137160" tIns="54864" rIns="137160" bIns="54864" rtlCol="0" anchor="ctr"/>
          <a:lstStyle/>
          <a:p>
            <a:pPr algn="l"/>
            <a:r>
              <a:rPr sz="1200" b="0" i="0">
                <a:solidFill>
                  <a:srgbClr val="000000"/>
                </a:solidFill>
                <a:latin typeface="Consolas"/>
              </a:rPr>
              <a:t>def fib(n):</a:t>
            </a:r>
          </a:p>
          <a:p>
            <a:pPr algn="l"/>
            <a:r>
              <a:rPr sz="1200" b="0" i="0">
                <a:solidFill>
                  <a:srgbClr val="000000"/>
                </a:solidFill>
                <a:latin typeface="Consolas"/>
              </a:rPr>
              <a:t>    return n if n &lt; 2 else fib(n-1) + fib(n-2)</a:t>
            </a:r>
          </a:p>
        </p:txBody>
      </p:sp>
      <p:sp>
        <p:nvSpPr>
          <p:cNvPr id="11" name="Rounded Rectangle 10"/>
          <p:cNvSpPr/>
          <p:nvPr/>
        </p:nvSpPr>
        <p:spPr>
          <a:xfrm>
            <a:off x="8366760" y="2743200"/>
            <a:ext cx="3566160" cy="457200"/>
          </a:xfrm>
          <a:prstGeom prst="roundRect">
            <a:avLst>
              <a:gd name="adj" fmla="val 25000"/>
            </a:avLst>
          </a:prstGeom>
          <a:solidFill>
            <a:srgbClr val="E3E2FD"/>
          </a:solidFill>
          <a:ln>
            <a:noFill/>
          </a:ln>
        </p:spPr>
        <p:style>
          <a:lnRef idx="1">
            <a:schemeClr val="accent1"/>
          </a:lnRef>
          <a:fillRef idx="3">
            <a:schemeClr val="accent1"/>
          </a:fillRef>
          <a:effectRef idx="2">
            <a:schemeClr val="accent1"/>
          </a:effectRef>
          <a:fontRef idx="minor">
            <a:schemeClr val="lt1"/>
          </a:fontRef>
        </p:style>
        <p:txBody>
          <a:bodyPr wrap="square" lIns="137160" tIns="54864" rIns="137160" bIns="54864" rtlCol="0" anchor="ctr"/>
          <a:lstStyle/>
          <a:p>
            <a:pPr algn="l"/>
            <a:r>
              <a:rPr sz="1500" b="0" i="0">
                <a:solidFill>
                  <a:srgbClr val="000000"/>
                </a:solidFill>
                <a:latin typeface="Calibri"/>
              </a:rPr>
              <a:t>It is slow for n = 40. Make it fast.</a:t>
            </a:r>
          </a:p>
        </p:txBody>
      </p:sp>
      <p:sp>
        <p:nvSpPr>
          <p:cNvPr id="12" name="Rounded Rectangle 11"/>
          <p:cNvSpPr/>
          <p:nvPr/>
        </p:nvSpPr>
        <p:spPr>
          <a:xfrm>
            <a:off x="6812280" y="3337560"/>
            <a:ext cx="3291840" cy="1234440"/>
          </a:xfrm>
          <a:prstGeom prst="roundRect">
            <a:avLst>
              <a:gd name="adj" fmla="val 12000"/>
            </a:avLst>
          </a:prstGeom>
          <a:solidFill>
            <a:srgbClr val="EDEDED"/>
          </a:solidFill>
          <a:ln>
            <a:noFill/>
          </a:ln>
        </p:spPr>
        <p:style>
          <a:lnRef idx="1">
            <a:schemeClr val="accent1"/>
          </a:lnRef>
          <a:fillRef idx="3">
            <a:schemeClr val="accent1"/>
          </a:fillRef>
          <a:effectRef idx="2">
            <a:schemeClr val="accent1"/>
          </a:effectRef>
          <a:fontRef idx="minor">
            <a:schemeClr val="lt1"/>
          </a:fontRef>
        </p:style>
        <p:txBody>
          <a:bodyPr wrap="square" lIns="137160" tIns="54864" rIns="137160" bIns="54864" rtlCol="0" anchor="ctr"/>
          <a:lstStyle/>
          <a:p>
            <a:pPr algn="l"/>
            <a:r>
              <a:rPr sz="1200" b="0" i="0">
                <a:solidFill>
                  <a:srgbClr val="000000"/>
                </a:solidFill>
                <a:latin typeface="Consolas"/>
              </a:rPr>
              <a:t>def fib(n):</a:t>
            </a:r>
          </a:p>
          <a:p>
            <a:pPr algn="l"/>
            <a:r>
              <a:rPr sz="1200" b="0" i="0">
                <a:solidFill>
                  <a:srgbClr val="000000"/>
                </a:solidFill>
                <a:latin typeface="Consolas"/>
              </a:rPr>
              <a:t>    a, b = 0, 1</a:t>
            </a:r>
          </a:p>
          <a:p>
            <a:pPr algn="l"/>
            <a:r>
              <a:rPr sz="1200" b="0" i="0">
                <a:solidFill>
                  <a:srgbClr val="000000"/>
                </a:solidFill>
                <a:latin typeface="Consolas"/>
              </a:rPr>
              <a:t>    for _ in range(n):</a:t>
            </a:r>
          </a:p>
          <a:p>
            <a:pPr algn="l"/>
            <a:r>
              <a:rPr sz="1200" b="0" i="0">
                <a:solidFill>
                  <a:srgbClr val="000000"/>
                </a:solidFill>
                <a:latin typeface="Consolas"/>
              </a:rPr>
              <a:t>        a, b = b, a + b</a:t>
            </a:r>
          </a:p>
          <a:p>
            <a:pPr algn="l"/>
            <a:r>
              <a:rPr sz="1200" b="0" i="0">
                <a:solidFill>
                  <a:srgbClr val="000000"/>
                </a:solidFill>
                <a:latin typeface="Consolas"/>
              </a:rPr>
              <a:t>    return a</a:t>
            </a:r>
          </a:p>
        </p:txBody>
      </p:sp>
      <p:sp>
        <p:nvSpPr>
          <p:cNvPr id="13" name="TextBox 12"/>
          <p:cNvSpPr txBox="1"/>
          <p:nvPr/>
        </p:nvSpPr>
        <p:spPr>
          <a:xfrm>
            <a:off x="6812280" y="4663440"/>
            <a:ext cx="5120640" cy="274320"/>
          </a:xfrm>
          <a:prstGeom prst="rect">
            <a:avLst/>
          </a:prstGeom>
          <a:noFill/>
        </p:spPr>
        <p:txBody>
          <a:bodyPr wrap="square" lIns="0" tIns="0" rIns="0" bIns="0" anchor="t">
            <a:spAutoFit/>
          </a:bodyPr>
          <a:lstStyle/>
          <a:p>
            <a:pPr algn="ctr"/>
            <a:r>
              <a:rPr sz="1200" b="0" i="0">
                <a:solidFill>
                  <a:srgbClr val="595959"/>
                </a:solidFill>
                <a:latin typeface="Calibri"/>
              </a:rPr>
              <a:t>an illustrative exchange</a:t>
            </a:r>
          </a:p>
        </p:txBody>
      </p:sp>
      <p:sp>
        <p:nvSpPr>
          <p:cNvPr id="14" name="description"/>
          <p:cNvSpPr txBox="1"/>
          <p:nvPr/>
        </p:nvSpPr>
        <p:spPr>
          <a:xfrm>
            <a:off x="6812280" y="5029200"/>
            <a:ext cx="5120640" cy="685800"/>
          </a:xfrm>
          <a:prstGeom prst="rect">
            <a:avLst/>
          </a:prstGeom>
          <a:noFill/>
        </p:spPr>
        <p:txBody>
          <a:bodyPr wrap="square" lIns="0" tIns="0" rIns="0" bIns="0" anchor="t">
            <a:spAutoFit/>
          </a:bodyPr>
          <a:lstStyle/>
          <a:p>
            <a:pPr algn="l"/>
            <a:r>
              <a:rPr sz="1400" b="0" i="0">
                <a:solidFill>
                  <a:srgbClr val="595959"/>
                </a:solidFill>
                <a:latin typeface="Calibri"/>
              </a:rPr>
              <a:t>Post-training on demonstrations and human preferences, plus a chat interface, turned a language model into an assistant that follows instructions (announced 30 November 2022).</a:t>
            </a:r>
          </a:p>
        </p:txBody>
      </p:sp>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8"/>
                                        </p:tgtEl>
                                        <p:attrNameLst>
                                          <p:attrName>style.visibility</p:attrName>
                                        </p:attrNameLst>
                                      </p:cBhvr>
                                      <p:to>
                                        <p:strVal val="visible"/>
                                      </p:to>
                                    </p:set>
                                  </p:childTnLst>
                                </p:cTn>
                              </p:par>
                              <p:par>
                                <p:cTn id="7" presetID="1" presetClass="entr" presetSubtype="0" fill="hold" grpId="0" nodeType="withEffect">
                                  <p:stCondLst>
                                    <p:cond delay="0"/>
                                  </p:stCondLst>
                                  <p:childTnLst>
                                    <p:set>
                                      <p:cBhvr>
                                        <p:cTn id="8" dur="1" fill="hold">
                                          <p:stCondLst>
                                            <p:cond delay="0"/>
                                          </p:stCondLst>
                                        </p:cTn>
                                        <p:tgtEl>
                                          <p:spTgt spid="9"/>
                                        </p:tgtEl>
                                        <p:attrNameLst>
                                          <p:attrName>style.visibility</p:attrName>
                                        </p:attrNameLst>
                                      </p:cBhvr>
                                      <p:to>
                                        <p:strVal val="visible"/>
                                      </p:to>
                                    </p:set>
                                  </p:childTnLst>
                                </p:cTn>
                              </p:par>
                              <p:par>
                                <p:cTn id="9" presetID="1" presetClass="entr" presetSubtype="0" fill="hold" grpId="0" nodeType="withEffect">
                                  <p:stCondLst>
                                    <p:cond delay="0"/>
                                  </p:stCondLst>
                                  <p:childTnLst>
                                    <p:set>
                                      <p:cBhvr>
                                        <p:cTn id="10" dur="1" fill="hold">
                                          <p:stCondLst>
                                            <p:cond delay="0"/>
                                          </p:stCondLst>
                                        </p:cTn>
                                        <p:tgtEl>
                                          <p:spTgt spid="10"/>
                                        </p:tgtEl>
                                        <p:attrNameLst>
                                          <p:attrName>style.visibility</p:attrName>
                                        </p:attrNameLst>
                                      </p:cBhvr>
                                      <p:to>
                                        <p:strVal val="visible"/>
                                      </p:to>
                                    </p:set>
                                  </p:childTnLst>
                                </p:cTn>
                              </p:par>
                              <p:par>
                                <p:cTn id="11" presetID="1" presetClass="entr" presetSubtype="0" fill="hold" grpId="0" nodeType="withEffect">
                                  <p:stCondLst>
                                    <p:cond delay="0"/>
                                  </p:stCondLst>
                                  <p:childTnLst>
                                    <p:set>
                                      <p:cBhvr>
                                        <p:cTn id="12" dur="1" fill="hold">
                                          <p:stCondLst>
                                            <p:cond delay="0"/>
                                          </p:stCondLst>
                                        </p:cTn>
                                        <p:tgtEl>
                                          <p:spTgt spid="11"/>
                                        </p:tgtEl>
                                        <p:attrNameLst>
                                          <p:attrName>style.visibility</p:attrName>
                                        </p:attrNameLst>
                                      </p:cBhvr>
                                      <p:to>
                                        <p:strVal val="visible"/>
                                      </p:to>
                                    </p:set>
                                  </p:childTnLst>
                                </p:cTn>
                              </p:par>
                              <p:par>
                                <p:cTn id="13" presetID="1" presetClass="entr" presetSubtype="0" fill="hold" grpId="0" nodeType="withEffect">
                                  <p:stCondLst>
                                    <p:cond delay="0"/>
                                  </p:stCondLst>
                                  <p:childTnLst>
                                    <p:set>
                                      <p:cBhvr>
                                        <p:cTn id="14" dur="1" fill="hold">
                                          <p:stCondLst>
                                            <p:cond delay="0"/>
                                          </p:stCondLst>
                                        </p:cTn>
                                        <p:tgtEl>
                                          <p:spTgt spid="12"/>
                                        </p:tgtEl>
                                        <p:attrNameLst>
                                          <p:attrName>style.visibility</p:attrName>
                                        </p:attrNameLst>
                                      </p:cBhvr>
                                      <p:to>
                                        <p:strVal val="visible"/>
                                      </p:to>
                                    </p:set>
                                  </p:childTnLst>
                                </p:cTn>
                              </p:par>
                              <p:par>
                                <p:cTn id="15" presetID="1" presetClass="entr" presetSubtype="0" fill="hold" grpId="0" nodeType="withEffect">
                                  <p:stCondLst>
                                    <p:cond delay="0"/>
                                  </p:stCondLst>
                                  <p:childTnLst>
                                    <p:set>
                                      <p:cBhvr>
                                        <p:cTn id="16" dur="1" fill="hold">
                                          <p:stCondLst>
                                            <p:cond delay="0"/>
                                          </p:stCondLst>
                                        </p:cTn>
                                        <p:tgtEl>
                                          <p:spTgt spid="13"/>
                                        </p:tgtEl>
                                        <p:attrNameLst>
                                          <p:attrName>style.visibility</p:attrName>
                                        </p:attrNameLst>
                                      </p:cBhvr>
                                      <p:to>
                                        <p:strVal val="visible"/>
                                      </p:to>
                                    </p:set>
                                  </p:childTnLst>
                                </p:cTn>
                              </p:par>
                              <p:par>
                                <p:cTn id="17" presetID="1" presetClass="entr" presetSubtype="0" fill="hold" grpId="0" nodeType="withEffect">
                                  <p:stCondLst>
                                    <p:cond delay="0"/>
                                  </p:stCondLst>
                                  <p:childTnLst>
                                    <p:set>
                                      <p:cBhvr>
                                        <p:cTn id="18" dur="1" fill="hold">
                                          <p:stCondLst>
                                            <p:cond delay="0"/>
                                          </p:stCondLst>
                                        </p:cTn>
                                        <p:tgtEl>
                                          <p:spTgt spid="14"/>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8" grpId="0"/>
      <p:bldP spid="9" grpId="0" animBg="1"/>
      <p:bldP spid="10" grpId="0" animBg="1"/>
      <p:bldP spid="11" grpId="0" animBg="1"/>
      <p:bldP spid="12" grpId="0" animBg="1"/>
      <p:bldP spid="13" grpId="0"/>
      <p:bldP spid="14" grpId="0"/>
    </p:bldLst>
  </p:timing>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b0_2">
            <a:extLst>
              <a:ext uri="{FF2B5EF4-FFF2-40B4-BE49-F238E27FC236}">
                <a16:creationId xmlns:a16="http://schemas.microsoft.com/office/drawing/2014/main" id="{33DE8782-7F2B-1033-00F6-2A6652EE0E80}"/>
              </a:ext>
            </a:extLst>
          </p:cNvPr>
          <p:cNvSpPr txBox="1"/>
          <p:nvPr/>
        </p:nvSpPr>
        <p:spPr>
          <a:xfrm>
            <a:off x="0" y="148566"/>
            <a:ext cx="11680992" cy="548640"/>
          </a:xfrm>
          <a:prstGeom prst="rect">
            <a:avLst/>
          </a:prstGeom>
          <a:noFill/>
          <a:ln>
            <a:noFill/>
          </a:ln>
        </p:spPr>
        <p:txBody>
          <a:bodyPr wrap="square" rtlCol="0" anchor="ctr"/>
          <a:lstStyle/>
          <a:p>
            <a:r>
              <a:rPr lang="en-US" sz="3200" b="1" dirty="0">
                <a:latin typeface="Calibri" pitchFamily="34" charset="0"/>
                <a:ea typeface="Calibri" pitchFamily="34" charset="-122"/>
                <a:cs typeface="Calibri" pitchFamily="34" charset="-120"/>
              </a:rPr>
              <a:t>From </a:t>
            </a:r>
            <a:r>
              <a:rPr lang="en-US" sz="3200" b="1" dirty="0">
                <a:solidFill>
                  <a:srgbClr val="FF0000"/>
                </a:solidFill>
                <a:latin typeface="Calibri" pitchFamily="34" charset="0"/>
                <a:ea typeface="Calibri" pitchFamily="34" charset="-122"/>
                <a:cs typeface="Calibri" pitchFamily="34" charset="-120"/>
              </a:rPr>
              <a:t>Computation</a:t>
            </a:r>
            <a:r>
              <a:rPr lang="en-US" sz="3200" b="1" dirty="0">
                <a:latin typeface="Calibri" pitchFamily="34" charset="0"/>
                <a:ea typeface="Calibri" pitchFamily="34" charset="-122"/>
                <a:cs typeface="Calibri" pitchFamily="34" charset="-120"/>
              </a:rPr>
              <a:t> to </a:t>
            </a:r>
            <a:r>
              <a:rPr lang="en-US" sz="3200" b="1" dirty="0">
                <a:solidFill>
                  <a:srgbClr val="362FEC"/>
                </a:solidFill>
                <a:latin typeface="Calibri" pitchFamily="34" charset="0"/>
                <a:ea typeface="Calibri" pitchFamily="34" charset="-122"/>
                <a:cs typeface="Calibri" pitchFamily="34" charset="-120"/>
              </a:rPr>
              <a:t>Language Models</a:t>
            </a:r>
            <a:endParaRPr lang="en-US" sz="3200" dirty="0">
              <a:solidFill>
                <a:srgbClr val="362FEC"/>
              </a:solidFill>
            </a:endParaRPr>
          </a:p>
        </p:txBody>
      </p:sp>
      <p:sp>
        <p:nvSpPr>
          <p:cNvPr id="3" name="!!computation">
            <a:extLst>
              <a:ext uri="{FF2B5EF4-FFF2-40B4-BE49-F238E27FC236}">
                <a16:creationId xmlns:a16="http://schemas.microsoft.com/office/drawing/2014/main" id="{691E18F7-4F41-2F97-0124-8C09DE463973}"/>
              </a:ext>
            </a:extLst>
          </p:cNvPr>
          <p:cNvSpPr txBox="1"/>
          <p:nvPr/>
        </p:nvSpPr>
        <p:spPr>
          <a:xfrm>
            <a:off x="168339" y="980102"/>
            <a:ext cx="6355080" cy="707886"/>
          </a:xfrm>
          <a:prstGeom prst="rect">
            <a:avLst/>
          </a:prstGeom>
          <a:noFill/>
        </p:spPr>
        <p:txBody>
          <a:bodyPr wrap="square" rtlCol="0">
            <a:spAutoFit/>
          </a:bodyPr>
          <a:lstStyle/>
          <a:p>
            <a:r>
              <a:rPr lang="en-US" sz="2000" dirty="0">
                <a:latin typeface="Calibri" panose="020F0502020204030204" pitchFamily="34" charset="0"/>
                <a:cs typeface="Calibri" panose="020F0502020204030204" pitchFamily="34" charset="0"/>
              </a:rPr>
              <a:t>This is taken even further by the ability to transform information: Computation.</a:t>
            </a:r>
          </a:p>
        </p:txBody>
      </p:sp>
      <p:sp>
        <p:nvSpPr>
          <p:cNvPr id="4" name="LM heading">
            <a:extLst>
              <a:ext uri="{FF2B5EF4-FFF2-40B4-BE49-F238E27FC236}">
                <a16:creationId xmlns:a16="http://schemas.microsoft.com/office/drawing/2014/main" id="{5CB8A4AA-40B1-94AE-8EEE-080599481F78}"/>
              </a:ext>
            </a:extLst>
          </p:cNvPr>
          <p:cNvSpPr txBox="1"/>
          <p:nvPr/>
        </p:nvSpPr>
        <p:spPr>
          <a:xfrm>
            <a:off x="291358" y="1687988"/>
            <a:ext cx="3171479" cy="411480"/>
          </a:xfrm>
          <a:prstGeom prst="rect">
            <a:avLst/>
          </a:prstGeom>
          <a:noFill/>
          <a:ln>
            <a:noFill/>
          </a:ln>
        </p:spPr>
        <p:txBody>
          <a:bodyPr wrap="square" lIns="0" tIns="0" rIns="0" bIns="0" rtlCol="0" anchor="ctr"/>
          <a:lstStyle/>
          <a:p>
            <a:pPr marL="0" indent="0">
              <a:buNone/>
            </a:pPr>
            <a:r>
              <a:rPr lang="en-US" sz="2000" b="1" dirty="0">
                <a:solidFill>
                  <a:srgbClr val="362FEC"/>
                </a:solidFill>
                <a:latin typeface="Calibri" panose="020F0502020204030204" pitchFamily="34" charset="0"/>
                <a:cs typeface="Calibri" panose="020F0502020204030204" pitchFamily="34" charset="0"/>
              </a:rPr>
              <a:t>Language Models</a:t>
            </a:r>
          </a:p>
        </p:txBody>
      </p:sp>
      <p:sp>
        <p:nvSpPr>
          <p:cNvPr id="5" name="lm 2017"/>
          <p:cNvSpPr txBox="1"/>
          <p:nvPr/>
        </p:nvSpPr>
        <p:spPr>
          <a:xfrm>
            <a:off x="384048" y="2148840"/>
            <a:ext cx="6309360" cy="411480"/>
          </a:xfrm>
          <a:prstGeom prst="rect">
            <a:avLst/>
          </a:prstGeom>
          <a:noFill/>
          <a:ln>
            <a:noFill/>
          </a:ln>
        </p:spPr>
        <p:txBody>
          <a:bodyPr wrap="square" lIns="0" tIns="0" rIns="0" bIns="0" rtlCol="0" anchor="ctr"/>
          <a:lstStyle/>
          <a:p>
            <a:pPr marL="0" indent="0">
              <a:buNone/>
            </a:pPr>
            <a:r>
              <a:rPr lang="en-US" sz="2000" dirty="0">
                <a:solidFill>
                  <a:srgbClr val="362FEC"/>
                </a:solidFill>
                <a:latin typeface="Calibri" pitchFamily="34" charset="0"/>
                <a:ea typeface="Calibri" pitchFamily="34" charset="-122"/>
                <a:cs typeface="Calibri" pitchFamily="34" charset="-120"/>
              </a:rPr>
              <a:t>2017</a:t>
            </a:r>
            <a:r>
              <a:rPr lang="en-US" sz="2000" dirty="0">
                <a:solidFill>
                  <a:srgbClr val="000000"/>
                </a:solidFill>
                <a:latin typeface="Calibri" pitchFamily="34" charset="0"/>
                <a:ea typeface="Calibri" pitchFamily="34" charset="-122"/>
                <a:cs typeface="Calibri" pitchFamily="34" charset="-120"/>
              </a:rPr>
              <a:t>: </a:t>
            </a:r>
            <a:r>
              <a:rPr lang="en-US" sz="2000" dirty="0">
                <a:solidFill>
                  <a:srgbClr val="00B050"/>
                </a:solidFill>
                <a:latin typeface="Calibri" pitchFamily="34" charset="0"/>
                <a:ea typeface="Calibri" pitchFamily="34" charset="-122"/>
                <a:cs typeface="Calibri" pitchFamily="34" charset="-120"/>
              </a:rPr>
              <a:t>the Transformer</a:t>
            </a:r>
            <a:endParaRPr lang="en-US" sz="2000" dirty="0"/>
          </a:p>
        </p:txBody>
      </p:sp>
      <p:sp>
        <p:nvSpPr>
          <p:cNvPr id="6" name="lm 2018"/>
          <p:cNvSpPr txBox="1"/>
          <p:nvPr/>
        </p:nvSpPr>
        <p:spPr>
          <a:xfrm>
            <a:off x="384048" y="2587752"/>
            <a:ext cx="6309360" cy="411480"/>
          </a:xfrm>
          <a:prstGeom prst="rect">
            <a:avLst/>
          </a:prstGeom>
          <a:noFill/>
          <a:ln>
            <a:noFill/>
          </a:ln>
        </p:spPr>
        <p:txBody>
          <a:bodyPr wrap="square" lIns="0" tIns="0" rIns="0" bIns="0" rtlCol="0" anchor="ctr"/>
          <a:lstStyle/>
          <a:p>
            <a:pPr marL="0" indent="0">
              <a:buNone/>
            </a:pPr>
            <a:r>
              <a:rPr lang="en-US" sz="2000" dirty="0">
                <a:solidFill>
                  <a:srgbClr val="362FEC"/>
                </a:solidFill>
                <a:latin typeface="Calibri" pitchFamily="34" charset="0"/>
                <a:ea typeface="Calibri" pitchFamily="34" charset="-122"/>
                <a:cs typeface="Calibri" pitchFamily="34" charset="-120"/>
              </a:rPr>
              <a:t>2018</a:t>
            </a:r>
            <a:r>
              <a:rPr lang="en-US" sz="2000" dirty="0">
                <a:solidFill>
                  <a:srgbClr val="000000"/>
                </a:solidFill>
                <a:latin typeface="Calibri" pitchFamily="34" charset="0"/>
                <a:ea typeface="Calibri" pitchFamily="34" charset="-122"/>
                <a:cs typeface="Calibri" pitchFamily="34" charset="-120"/>
              </a:rPr>
              <a:t>: </a:t>
            </a:r>
            <a:r>
              <a:rPr lang="en-US" sz="2000" dirty="0">
                <a:solidFill>
                  <a:srgbClr val="00B050"/>
                </a:solidFill>
                <a:latin typeface="Calibri" pitchFamily="34" charset="0"/>
                <a:ea typeface="Calibri" pitchFamily="34" charset="-122"/>
                <a:cs typeface="Calibri" pitchFamily="34" charset="-120"/>
              </a:rPr>
              <a:t>GPT and BERT: pretrain, then fine-tune</a:t>
            </a:r>
            <a:endParaRPr lang="en-US" sz="2000" dirty="0"/>
          </a:p>
        </p:txBody>
      </p:sp>
      <p:sp>
        <p:nvSpPr>
          <p:cNvPr id="7" name="lm 2020"/>
          <p:cNvSpPr txBox="1"/>
          <p:nvPr/>
        </p:nvSpPr>
        <p:spPr>
          <a:xfrm>
            <a:off x="384048" y="3026664"/>
            <a:ext cx="6309360" cy="411480"/>
          </a:xfrm>
          <a:prstGeom prst="rect">
            <a:avLst/>
          </a:prstGeom>
          <a:noFill/>
          <a:ln>
            <a:noFill/>
          </a:ln>
        </p:spPr>
        <p:txBody>
          <a:bodyPr wrap="square" lIns="0" tIns="0" rIns="0" bIns="0" rtlCol="0" anchor="ctr"/>
          <a:lstStyle/>
          <a:p>
            <a:pPr marL="0" indent="0">
              <a:buNone/>
            </a:pPr>
            <a:r>
              <a:rPr lang="en-US" sz="2000" dirty="0">
                <a:solidFill>
                  <a:srgbClr val="362FEC"/>
                </a:solidFill>
                <a:latin typeface="Calibri" pitchFamily="34" charset="0"/>
                <a:ea typeface="Calibri" pitchFamily="34" charset="-122"/>
                <a:cs typeface="Calibri" pitchFamily="34" charset="-120"/>
              </a:rPr>
              <a:t>2020</a:t>
            </a:r>
            <a:r>
              <a:rPr lang="en-US" sz="2000" dirty="0">
                <a:solidFill>
                  <a:srgbClr val="000000"/>
                </a:solidFill>
                <a:latin typeface="Calibri" pitchFamily="34" charset="0"/>
                <a:ea typeface="Calibri" pitchFamily="34" charset="-122"/>
                <a:cs typeface="Calibri" pitchFamily="34" charset="-120"/>
              </a:rPr>
              <a:t>: </a:t>
            </a:r>
            <a:r>
              <a:rPr lang="en-US" sz="2000" dirty="0">
                <a:solidFill>
                  <a:srgbClr val="00B050"/>
                </a:solidFill>
                <a:latin typeface="Calibri" pitchFamily="34" charset="0"/>
                <a:ea typeface="Calibri" pitchFamily="34" charset="-122"/>
                <a:cs typeface="Calibri" pitchFamily="34" charset="-120"/>
              </a:rPr>
              <a:t>GPT-3: a task from a few examples</a:t>
            </a:r>
            <a:endParaRPr lang="en-US" sz="2000" dirty="0"/>
          </a:p>
        </p:txBody>
      </p:sp>
      <p:sp>
        <p:nvSpPr>
          <p:cNvPr id="8" name="lm 2022"/>
          <p:cNvSpPr txBox="1"/>
          <p:nvPr/>
        </p:nvSpPr>
        <p:spPr>
          <a:xfrm>
            <a:off x="384048" y="3465576"/>
            <a:ext cx="6309360" cy="411480"/>
          </a:xfrm>
          <a:prstGeom prst="rect">
            <a:avLst/>
          </a:prstGeom>
          <a:noFill/>
          <a:ln>
            <a:noFill/>
          </a:ln>
        </p:spPr>
        <p:txBody>
          <a:bodyPr wrap="square" lIns="0" tIns="0" rIns="0" bIns="0" rtlCol="0" anchor="ctr"/>
          <a:lstStyle/>
          <a:p>
            <a:pPr marL="0" indent="0">
              <a:buNone/>
            </a:pPr>
            <a:r>
              <a:rPr lang="en-US" sz="2000" dirty="0">
                <a:solidFill>
                  <a:srgbClr val="362FEC"/>
                </a:solidFill>
                <a:latin typeface="Calibri" pitchFamily="34" charset="0"/>
                <a:ea typeface="Calibri" pitchFamily="34" charset="-122"/>
                <a:cs typeface="Calibri" pitchFamily="34" charset="-120"/>
              </a:rPr>
              <a:t>2022</a:t>
            </a:r>
            <a:r>
              <a:rPr lang="en-US" sz="2000" dirty="0">
                <a:solidFill>
                  <a:srgbClr val="000000"/>
                </a:solidFill>
                <a:latin typeface="Calibri" pitchFamily="34" charset="0"/>
                <a:ea typeface="Calibri" pitchFamily="34" charset="-122"/>
                <a:cs typeface="Calibri" pitchFamily="34" charset="-120"/>
              </a:rPr>
              <a:t>: </a:t>
            </a:r>
            <a:r>
              <a:rPr lang="en-US" sz="2000" dirty="0">
                <a:solidFill>
                  <a:srgbClr val="00B050"/>
                </a:solidFill>
                <a:latin typeface="Calibri" pitchFamily="34" charset="0"/>
                <a:ea typeface="Calibri" pitchFamily="34" charset="-122"/>
                <a:cs typeface="Calibri" pitchFamily="34" charset="-120"/>
              </a:rPr>
              <a:t>ChatGPT: an assistant you can talk to</a:t>
            </a:r>
            <a:endParaRPr lang="en-US" sz="2000" dirty="0"/>
          </a:p>
        </p:txBody>
      </p:sp>
      <p:sp>
        <p:nvSpPr>
          <p:cNvPr id="9" name="lm 2023"/>
          <p:cNvSpPr txBox="1"/>
          <p:nvPr/>
        </p:nvSpPr>
        <p:spPr>
          <a:xfrm>
            <a:off x="384048" y="3904487"/>
            <a:ext cx="6309360" cy="411480"/>
          </a:xfrm>
          <a:prstGeom prst="rect">
            <a:avLst/>
          </a:prstGeom>
          <a:noFill/>
          <a:ln>
            <a:noFill/>
          </a:ln>
        </p:spPr>
        <p:txBody>
          <a:bodyPr wrap="square" lIns="0" tIns="0" rIns="0" bIns="0" rtlCol="0" anchor="ctr"/>
          <a:lstStyle/>
          <a:p>
            <a:pPr marL="0" indent="0">
              <a:buNone/>
            </a:pPr>
            <a:r>
              <a:rPr lang="en-US" sz="2000" dirty="0">
                <a:solidFill>
                  <a:srgbClr val="362FEC"/>
                </a:solidFill>
                <a:latin typeface="Calibri" pitchFamily="34" charset="0"/>
                <a:ea typeface="Calibri" pitchFamily="34" charset="-122"/>
                <a:cs typeface="Calibri" pitchFamily="34" charset="-120"/>
              </a:rPr>
              <a:t>2023–2024</a:t>
            </a:r>
            <a:r>
              <a:rPr lang="en-US" sz="2000" dirty="0">
                <a:solidFill>
                  <a:srgbClr val="000000"/>
                </a:solidFill>
                <a:latin typeface="Calibri" pitchFamily="34" charset="0"/>
                <a:ea typeface="Calibri" pitchFamily="34" charset="-122"/>
                <a:cs typeface="Calibri" pitchFamily="34" charset="-120"/>
              </a:rPr>
              <a:t>: </a:t>
            </a:r>
            <a:r>
              <a:rPr lang="en-US" sz="2000" dirty="0">
                <a:solidFill>
                  <a:srgbClr val="00B050"/>
                </a:solidFill>
                <a:latin typeface="Calibri" pitchFamily="34" charset="0"/>
                <a:ea typeface="Calibri" pitchFamily="34" charset="-122"/>
                <a:cs typeface="Calibri" pitchFamily="34" charset="-120"/>
              </a:rPr>
              <a:t>GPT-4 and GPT-4o: images and audio in</a:t>
            </a:r>
            <a:endParaRPr lang="en-US" sz="2000" dirty="0"/>
          </a:p>
        </p:txBody>
      </p:sp>
      <p:pic>
        <p:nvPicPr>
          <p:cNvPr id="10" name="iris photo" descr="iris.jpg"/>
          <p:cNvPicPr>
            <a:picLocks noChangeAspect="1"/>
          </p:cNvPicPr>
          <p:nvPr/>
        </p:nvPicPr>
        <p:blipFill>
          <a:blip r:embed="rId3"/>
          <a:stretch>
            <a:fillRect/>
          </a:stretch>
        </p:blipFill>
        <p:spPr>
          <a:xfrm>
            <a:off x="9098280" y="1188720"/>
            <a:ext cx="2834640" cy="2125980"/>
          </a:xfrm>
          <a:prstGeom prst="rect">
            <a:avLst/>
          </a:prstGeom>
        </p:spPr>
      </p:pic>
      <p:sp>
        <p:nvSpPr>
          <p:cNvPr id="11" name="Rounded Rectangle 10"/>
          <p:cNvSpPr/>
          <p:nvPr/>
        </p:nvSpPr>
        <p:spPr>
          <a:xfrm>
            <a:off x="9555480" y="3424428"/>
            <a:ext cx="2377440" cy="457200"/>
          </a:xfrm>
          <a:prstGeom prst="roundRect">
            <a:avLst>
              <a:gd name="adj" fmla="val 25000"/>
            </a:avLst>
          </a:prstGeom>
          <a:solidFill>
            <a:srgbClr val="E3E2FD"/>
          </a:solidFill>
          <a:ln>
            <a:noFill/>
          </a:ln>
        </p:spPr>
        <p:style>
          <a:lnRef idx="1">
            <a:schemeClr val="accent1"/>
          </a:lnRef>
          <a:fillRef idx="3">
            <a:schemeClr val="accent1"/>
          </a:fillRef>
          <a:effectRef idx="2">
            <a:schemeClr val="accent1"/>
          </a:effectRef>
          <a:fontRef idx="minor">
            <a:schemeClr val="lt1"/>
          </a:fontRef>
        </p:style>
        <p:txBody>
          <a:bodyPr wrap="square" lIns="137160" tIns="54864" rIns="137160" bIns="54864" rtlCol="0" anchor="ctr"/>
          <a:lstStyle/>
          <a:p>
            <a:pPr algn="l"/>
            <a:r>
              <a:rPr sz="1600" b="0" i="0">
                <a:solidFill>
                  <a:srgbClr val="000000"/>
                </a:solidFill>
                <a:latin typeface="Calibri"/>
              </a:rPr>
              <a:t>What flower is this?</a:t>
            </a:r>
          </a:p>
        </p:txBody>
      </p:sp>
      <p:sp>
        <p:nvSpPr>
          <p:cNvPr id="12" name="Rounded Rectangle 11"/>
          <p:cNvSpPr/>
          <p:nvPr/>
        </p:nvSpPr>
        <p:spPr>
          <a:xfrm>
            <a:off x="6812280" y="4069080"/>
            <a:ext cx="3931920" cy="685800"/>
          </a:xfrm>
          <a:prstGeom prst="roundRect">
            <a:avLst>
              <a:gd name="adj" fmla="val 25000"/>
            </a:avLst>
          </a:prstGeom>
          <a:solidFill>
            <a:srgbClr val="EDEDED"/>
          </a:solidFill>
          <a:ln>
            <a:noFill/>
          </a:ln>
        </p:spPr>
        <p:style>
          <a:lnRef idx="1">
            <a:schemeClr val="accent1"/>
          </a:lnRef>
          <a:fillRef idx="3">
            <a:schemeClr val="accent1"/>
          </a:fillRef>
          <a:effectRef idx="2">
            <a:schemeClr val="accent1"/>
          </a:effectRef>
          <a:fontRef idx="minor">
            <a:schemeClr val="lt1"/>
          </a:fontRef>
        </p:style>
        <p:txBody>
          <a:bodyPr wrap="square" lIns="137160" tIns="54864" rIns="137160" bIns="54864" rtlCol="0" anchor="ctr"/>
          <a:lstStyle/>
          <a:p>
            <a:pPr algn="l"/>
            <a:r>
              <a:rPr sz="1600" b="0" i="0">
                <a:solidFill>
                  <a:srgbClr val="000000"/>
                </a:solidFill>
                <a:latin typeface="Calibri"/>
              </a:rPr>
              <a:t>An iris: most likely Iris versicolor,</a:t>
            </a:r>
          </a:p>
          <a:p>
            <a:pPr algn="l"/>
            <a:r>
              <a:rPr sz="1600" b="0" i="0">
                <a:solidFill>
                  <a:srgbClr val="000000"/>
                </a:solidFill>
                <a:latin typeface="Calibri"/>
              </a:rPr>
              <a:t>the blue flag.</a:t>
            </a:r>
          </a:p>
        </p:txBody>
      </p:sp>
      <p:sp>
        <p:nvSpPr>
          <p:cNvPr id="13" name="TextBox 12"/>
          <p:cNvSpPr txBox="1"/>
          <p:nvPr/>
        </p:nvSpPr>
        <p:spPr>
          <a:xfrm>
            <a:off x="6812280" y="4846320"/>
            <a:ext cx="5120640" cy="274320"/>
          </a:xfrm>
          <a:prstGeom prst="rect">
            <a:avLst/>
          </a:prstGeom>
          <a:noFill/>
        </p:spPr>
        <p:txBody>
          <a:bodyPr wrap="square" lIns="0" tIns="0" rIns="0" bIns="0" anchor="t">
            <a:spAutoFit/>
          </a:bodyPr>
          <a:lstStyle/>
          <a:p>
            <a:pPr algn="ctr"/>
            <a:r>
              <a:rPr sz="1200" b="0" i="0">
                <a:solidFill>
                  <a:srgbClr val="595959"/>
                </a:solidFill>
                <a:latin typeface="Calibri"/>
              </a:rPr>
              <a:t>an illustrative exchange</a:t>
            </a:r>
          </a:p>
        </p:txBody>
      </p:sp>
      <p:sp>
        <p:nvSpPr>
          <p:cNvPr id="14" name="description"/>
          <p:cNvSpPr txBox="1"/>
          <p:nvPr/>
        </p:nvSpPr>
        <p:spPr>
          <a:xfrm>
            <a:off x="6812280" y="5212080"/>
            <a:ext cx="5120640" cy="685800"/>
          </a:xfrm>
          <a:prstGeom prst="rect">
            <a:avLst/>
          </a:prstGeom>
          <a:noFill/>
        </p:spPr>
        <p:txBody>
          <a:bodyPr wrap="square" lIns="0" tIns="0" rIns="0" bIns="0" anchor="t">
            <a:spAutoFit/>
          </a:bodyPr>
          <a:lstStyle/>
          <a:p>
            <a:pPr algn="l"/>
            <a:r>
              <a:rPr sz="1400" b="0" i="0">
                <a:solidFill>
                  <a:srgbClr val="595959"/>
                </a:solidFill>
                <a:latin typeface="Calibri"/>
              </a:rPr>
              <a:t>GPT-4 (2023) accepted images as well as text; GPT-4o (2024) took text, audio, and images in one model. The same flower returns in the terminology.</a:t>
            </a:r>
          </a:p>
        </p:txBody>
      </p:sp>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9"/>
                                        </p:tgtEl>
                                        <p:attrNameLst>
                                          <p:attrName>style.visibility</p:attrName>
                                        </p:attrNameLst>
                                      </p:cBhvr>
                                      <p:to>
                                        <p:strVal val="visible"/>
                                      </p:to>
                                    </p:set>
                                  </p:childTnLst>
                                </p:cTn>
                              </p:par>
                              <p:par>
                                <p:cTn id="7" presetID="1" presetClass="entr" presetSubtype="0" fill="hold" grpId="0" nodeType="withEffect">
                                  <p:stCondLst>
                                    <p:cond delay="0"/>
                                  </p:stCondLst>
                                  <p:childTnLst>
                                    <p:set>
                                      <p:cBhvr>
                                        <p:cTn id="8" dur="1" fill="hold">
                                          <p:stCondLst>
                                            <p:cond delay="0"/>
                                          </p:stCondLst>
                                        </p:cTn>
                                        <p:tgtEl>
                                          <p:spTgt spid="10"/>
                                        </p:tgtEl>
                                        <p:attrNameLst>
                                          <p:attrName>style.visibility</p:attrName>
                                        </p:attrNameLst>
                                      </p:cBhvr>
                                      <p:to>
                                        <p:strVal val="visible"/>
                                      </p:to>
                                    </p:set>
                                  </p:childTnLst>
                                </p:cTn>
                              </p:par>
                              <p:par>
                                <p:cTn id="9" presetID="1" presetClass="entr" presetSubtype="0" fill="hold" grpId="0" nodeType="withEffect">
                                  <p:stCondLst>
                                    <p:cond delay="0"/>
                                  </p:stCondLst>
                                  <p:childTnLst>
                                    <p:set>
                                      <p:cBhvr>
                                        <p:cTn id="10" dur="1" fill="hold">
                                          <p:stCondLst>
                                            <p:cond delay="0"/>
                                          </p:stCondLst>
                                        </p:cTn>
                                        <p:tgtEl>
                                          <p:spTgt spid="11"/>
                                        </p:tgtEl>
                                        <p:attrNameLst>
                                          <p:attrName>style.visibility</p:attrName>
                                        </p:attrNameLst>
                                      </p:cBhvr>
                                      <p:to>
                                        <p:strVal val="visible"/>
                                      </p:to>
                                    </p:set>
                                  </p:childTnLst>
                                </p:cTn>
                              </p:par>
                              <p:par>
                                <p:cTn id="11" presetID="1" presetClass="entr" presetSubtype="0" fill="hold" grpId="0" nodeType="withEffect">
                                  <p:stCondLst>
                                    <p:cond delay="0"/>
                                  </p:stCondLst>
                                  <p:childTnLst>
                                    <p:set>
                                      <p:cBhvr>
                                        <p:cTn id="12" dur="1" fill="hold">
                                          <p:stCondLst>
                                            <p:cond delay="0"/>
                                          </p:stCondLst>
                                        </p:cTn>
                                        <p:tgtEl>
                                          <p:spTgt spid="12"/>
                                        </p:tgtEl>
                                        <p:attrNameLst>
                                          <p:attrName>style.visibility</p:attrName>
                                        </p:attrNameLst>
                                      </p:cBhvr>
                                      <p:to>
                                        <p:strVal val="visible"/>
                                      </p:to>
                                    </p:set>
                                  </p:childTnLst>
                                </p:cTn>
                              </p:par>
                              <p:par>
                                <p:cTn id="13" presetID="1" presetClass="entr" presetSubtype="0" fill="hold" grpId="0" nodeType="withEffect">
                                  <p:stCondLst>
                                    <p:cond delay="0"/>
                                  </p:stCondLst>
                                  <p:childTnLst>
                                    <p:set>
                                      <p:cBhvr>
                                        <p:cTn id="14" dur="1" fill="hold">
                                          <p:stCondLst>
                                            <p:cond delay="0"/>
                                          </p:stCondLst>
                                        </p:cTn>
                                        <p:tgtEl>
                                          <p:spTgt spid="13"/>
                                        </p:tgtEl>
                                        <p:attrNameLst>
                                          <p:attrName>style.visibility</p:attrName>
                                        </p:attrNameLst>
                                      </p:cBhvr>
                                      <p:to>
                                        <p:strVal val="visible"/>
                                      </p:to>
                                    </p:set>
                                  </p:childTnLst>
                                </p:cTn>
                              </p:par>
                              <p:par>
                                <p:cTn id="15" presetID="1" presetClass="entr" presetSubtype="0" fill="hold" grpId="0" nodeType="withEffect">
                                  <p:stCondLst>
                                    <p:cond delay="0"/>
                                  </p:stCondLst>
                                  <p:childTnLst>
                                    <p:set>
                                      <p:cBhvr>
                                        <p:cTn id="16" dur="1" fill="hold">
                                          <p:stCondLst>
                                            <p:cond delay="0"/>
                                          </p:stCondLst>
                                        </p:cTn>
                                        <p:tgtEl>
                                          <p:spTgt spid="14"/>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9" grpId="0"/>
      <p:bldP spid="11" grpId="0" animBg="1"/>
      <p:bldP spid="12" grpId="0" animBg="1"/>
      <p:bldP spid="13" grpId="0"/>
      <p:bldP spid="14" grpId="0"/>
    </p:bldLst>
  </p:timing>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b0_2">
            <a:extLst>
              <a:ext uri="{FF2B5EF4-FFF2-40B4-BE49-F238E27FC236}">
                <a16:creationId xmlns:a16="http://schemas.microsoft.com/office/drawing/2014/main" id="{33DE8782-7F2B-1033-00F6-2A6652EE0E80}"/>
              </a:ext>
            </a:extLst>
          </p:cNvPr>
          <p:cNvSpPr txBox="1"/>
          <p:nvPr/>
        </p:nvSpPr>
        <p:spPr>
          <a:xfrm>
            <a:off x="0" y="148566"/>
            <a:ext cx="11680992" cy="548640"/>
          </a:xfrm>
          <a:prstGeom prst="rect">
            <a:avLst/>
          </a:prstGeom>
          <a:noFill/>
          <a:ln>
            <a:noFill/>
          </a:ln>
        </p:spPr>
        <p:txBody>
          <a:bodyPr wrap="square" rtlCol="0" anchor="ctr"/>
          <a:lstStyle/>
          <a:p>
            <a:r>
              <a:rPr lang="en-US" sz="3200" b="1" dirty="0">
                <a:latin typeface="Calibri" pitchFamily="34" charset="0"/>
                <a:ea typeface="Calibri" pitchFamily="34" charset="-122"/>
                <a:cs typeface="Calibri" pitchFamily="34" charset="-120"/>
              </a:rPr>
              <a:t>From </a:t>
            </a:r>
            <a:r>
              <a:rPr lang="en-US" sz="3200" b="1" dirty="0">
                <a:solidFill>
                  <a:srgbClr val="FF0000"/>
                </a:solidFill>
                <a:latin typeface="Calibri" pitchFamily="34" charset="0"/>
                <a:ea typeface="Calibri" pitchFamily="34" charset="-122"/>
                <a:cs typeface="Calibri" pitchFamily="34" charset="-120"/>
              </a:rPr>
              <a:t>Computation</a:t>
            </a:r>
            <a:r>
              <a:rPr lang="en-US" sz="3200" b="1" dirty="0">
                <a:latin typeface="Calibri" pitchFamily="34" charset="0"/>
                <a:ea typeface="Calibri" pitchFamily="34" charset="-122"/>
                <a:cs typeface="Calibri" pitchFamily="34" charset="-120"/>
              </a:rPr>
              <a:t> to </a:t>
            </a:r>
            <a:r>
              <a:rPr lang="en-US" sz="3200" b="1" dirty="0">
                <a:solidFill>
                  <a:srgbClr val="362FEC"/>
                </a:solidFill>
                <a:latin typeface="Calibri" pitchFamily="34" charset="0"/>
                <a:ea typeface="Calibri" pitchFamily="34" charset="-122"/>
                <a:cs typeface="Calibri" pitchFamily="34" charset="-120"/>
              </a:rPr>
              <a:t>Language Models</a:t>
            </a:r>
            <a:endParaRPr lang="en-US" sz="3200" dirty="0">
              <a:solidFill>
                <a:srgbClr val="362FEC"/>
              </a:solidFill>
            </a:endParaRPr>
          </a:p>
        </p:txBody>
      </p:sp>
      <p:sp>
        <p:nvSpPr>
          <p:cNvPr id="3" name="!!computation">
            <a:extLst>
              <a:ext uri="{FF2B5EF4-FFF2-40B4-BE49-F238E27FC236}">
                <a16:creationId xmlns:a16="http://schemas.microsoft.com/office/drawing/2014/main" id="{691E18F7-4F41-2F97-0124-8C09DE463973}"/>
              </a:ext>
            </a:extLst>
          </p:cNvPr>
          <p:cNvSpPr txBox="1"/>
          <p:nvPr/>
        </p:nvSpPr>
        <p:spPr>
          <a:xfrm>
            <a:off x="168339" y="980102"/>
            <a:ext cx="6355080" cy="707886"/>
          </a:xfrm>
          <a:prstGeom prst="rect">
            <a:avLst/>
          </a:prstGeom>
          <a:noFill/>
        </p:spPr>
        <p:txBody>
          <a:bodyPr wrap="square" rtlCol="0">
            <a:spAutoFit/>
          </a:bodyPr>
          <a:lstStyle/>
          <a:p>
            <a:r>
              <a:rPr lang="en-US" sz="2000" dirty="0">
                <a:latin typeface="Calibri" panose="020F0502020204030204" pitchFamily="34" charset="0"/>
                <a:cs typeface="Calibri" panose="020F0502020204030204" pitchFamily="34" charset="0"/>
              </a:rPr>
              <a:t>This is taken even further by the ability to transform information: Computation.</a:t>
            </a:r>
          </a:p>
        </p:txBody>
      </p:sp>
      <p:sp>
        <p:nvSpPr>
          <p:cNvPr id="4" name="LM heading">
            <a:extLst>
              <a:ext uri="{FF2B5EF4-FFF2-40B4-BE49-F238E27FC236}">
                <a16:creationId xmlns:a16="http://schemas.microsoft.com/office/drawing/2014/main" id="{5CB8A4AA-40B1-94AE-8EEE-080599481F78}"/>
              </a:ext>
            </a:extLst>
          </p:cNvPr>
          <p:cNvSpPr txBox="1"/>
          <p:nvPr/>
        </p:nvSpPr>
        <p:spPr>
          <a:xfrm>
            <a:off x="291358" y="1687988"/>
            <a:ext cx="3171479" cy="411480"/>
          </a:xfrm>
          <a:prstGeom prst="rect">
            <a:avLst/>
          </a:prstGeom>
          <a:noFill/>
          <a:ln>
            <a:noFill/>
          </a:ln>
        </p:spPr>
        <p:txBody>
          <a:bodyPr wrap="square" lIns="0" tIns="0" rIns="0" bIns="0" rtlCol="0" anchor="ctr"/>
          <a:lstStyle/>
          <a:p>
            <a:pPr marL="0" indent="0">
              <a:buNone/>
            </a:pPr>
            <a:r>
              <a:rPr lang="en-US" sz="2000" b="1" dirty="0">
                <a:solidFill>
                  <a:srgbClr val="362FEC"/>
                </a:solidFill>
                <a:latin typeface="Calibri" panose="020F0502020204030204" pitchFamily="34" charset="0"/>
                <a:cs typeface="Calibri" panose="020F0502020204030204" pitchFamily="34" charset="0"/>
              </a:rPr>
              <a:t>Language Models</a:t>
            </a:r>
          </a:p>
        </p:txBody>
      </p:sp>
      <p:sp>
        <p:nvSpPr>
          <p:cNvPr id="5" name="lm 2017"/>
          <p:cNvSpPr txBox="1"/>
          <p:nvPr/>
        </p:nvSpPr>
        <p:spPr>
          <a:xfrm>
            <a:off x="384048" y="2148840"/>
            <a:ext cx="6309360" cy="411480"/>
          </a:xfrm>
          <a:prstGeom prst="rect">
            <a:avLst/>
          </a:prstGeom>
          <a:noFill/>
          <a:ln>
            <a:noFill/>
          </a:ln>
        </p:spPr>
        <p:txBody>
          <a:bodyPr wrap="square" lIns="0" tIns="0" rIns="0" bIns="0" rtlCol="0" anchor="ctr"/>
          <a:lstStyle/>
          <a:p>
            <a:pPr marL="0" indent="0">
              <a:buNone/>
            </a:pPr>
            <a:r>
              <a:rPr lang="en-US" sz="2000" dirty="0">
                <a:solidFill>
                  <a:srgbClr val="362FEC"/>
                </a:solidFill>
                <a:latin typeface="Calibri" pitchFamily="34" charset="0"/>
                <a:ea typeface="Calibri" pitchFamily="34" charset="-122"/>
                <a:cs typeface="Calibri" pitchFamily="34" charset="-120"/>
              </a:rPr>
              <a:t>2017</a:t>
            </a:r>
            <a:r>
              <a:rPr lang="en-US" sz="2000" dirty="0">
                <a:solidFill>
                  <a:srgbClr val="000000"/>
                </a:solidFill>
                <a:latin typeface="Calibri" pitchFamily="34" charset="0"/>
                <a:ea typeface="Calibri" pitchFamily="34" charset="-122"/>
                <a:cs typeface="Calibri" pitchFamily="34" charset="-120"/>
              </a:rPr>
              <a:t>: </a:t>
            </a:r>
            <a:r>
              <a:rPr lang="en-US" sz="2000" dirty="0">
                <a:solidFill>
                  <a:srgbClr val="00B050"/>
                </a:solidFill>
                <a:latin typeface="Calibri" pitchFamily="34" charset="0"/>
                <a:ea typeface="Calibri" pitchFamily="34" charset="-122"/>
                <a:cs typeface="Calibri" pitchFamily="34" charset="-120"/>
              </a:rPr>
              <a:t>the Transformer</a:t>
            </a:r>
            <a:endParaRPr lang="en-US" sz="2000" dirty="0"/>
          </a:p>
        </p:txBody>
      </p:sp>
      <p:sp>
        <p:nvSpPr>
          <p:cNvPr id="6" name="lm 2018"/>
          <p:cNvSpPr txBox="1"/>
          <p:nvPr/>
        </p:nvSpPr>
        <p:spPr>
          <a:xfrm>
            <a:off x="384048" y="2587752"/>
            <a:ext cx="6309360" cy="411480"/>
          </a:xfrm>
          <a:prstGeom prst="rect">
            <a:avLst/>
          </a:prstGeom>
          <a:noFill/>
          <a:ln>
            <a:noFill/>
          </a:ln>
        </p:spPr>
        <p:txBody>
          <a:bodyPr wrap="square" lIns="0" tIns="0" rIns="0" bIns="0" rtlCol="0" anchor="ctr"/>
          <a:lstStyle/>
          <a:p>
            <a:pPr marL="0" indent="0">
              <a:buNone/>
            </a:pPr>
            <a:r>
              <a:rPr lang="en-US" sz="2000" dirty="0">
                <a:solidFill>
                  <a:srgbClr val="362FEC"/>
                </a:solidFill>
                <a:latin typeface="Calibri" pitchFamily="34" charset="0"/>
                <a:ea typeface="Calibri" pitchFamily="34" charset="-122"/>
                <a:cs typeface="Calibri" pitchFamily="34" charset="-120"/>
              </a:rPr>
              <a:t>2018</a:t>
            </a:r>
            <a:r>
              <a:rPr lang="en-US" sz="2000" dirty="0">
                <a:solidFill>
                  <a:srgbClr val="000000"/>
                </a:solidFill>
                <a:latin typeface="Calibri" pitchFamily="34" charset="0"/>
                <a:ea typeface="Calibri" pitchFamily="34" charset="-122"/>
                <a:cs typeface="Calibri" pitchFamily="34" charset="-120"/>
              </a:rPr>
              <a:t>: </a:t>
            </a:r>
            <a:r>
              <a:rPr lang="en-US" sz="2000" dirty="0">
                <a:solidFill>
                  <a:srgbClr val="00B050"/>
                </a:solidFill>
                <a:latin typeface="Calibri" pitchFamily="34" charset="0"/>
                <a:ea typeface="Calibri" pitchFamily="34" charset="-122"/>
                <a:cs typeface="Calibri" pitchFamily="34" charset="-120"/>
              </a:rPr>
              <a:t>GPT and BERT: pretrain, then fine-tune</a:t>
            </a:r>
            <a:endParaRPr lang="en-US" sz="2000" dirty="0"/>
          </a:p>
        </p:txBody>
      </p:sp>
      <p:sp>
        <p:nvSpPr>
          <p:cNvPr id="7" name="lm 2020"/>
          <p:cNvSpPr txBox="1"/>
          <p:nvPr/>
        </p:nvSpPr>
        <p:spPr>
          <a:xfrm>
            <a:off x="384048" y="3026664"/>
            <a:ext cx="6309360" cy="411480"/>
          </a:xfrm>
          <a:prstGeom prst="rect">
            <a:avLst/>
          </a:prstGeom>
          <a:noFill/>
          <a:ln>
            <a:noFill/>
          </a:ln>
        </p:spPr>
        <p:txBody>
          <a:bodyPr wrap="square" lIns="0" tIns="0" rIns="0" bIns="0" rtlCol="0" anchor="ctr"/>
          <a:lstStyle/>
          <a:p>
            <a:pPr marL="0" indent="0">
              <a:buNone/>
            </a:pPr>
            <a:r>
              <a:rPr lang="en-US" sz="2000" dirty="0">
                <a:solidFill>
                  <a:srgbClr val="362FEC"/>
                </a:solidFill>
                <a:latin typeface="Calibri" pitchFamily="34" charset="0"/>
                <a:ea typeface="Calibri" pitchFamily="34" charset="-122"/>
                <a:cs typeface="Calibri" pitchFamily="34" charset="-120"/>
              </a:rPr>
              <a:t>2020</a:t>
            </a:r>
            <a:r>
              <a:rPr lang="en-US" sz="2000" dirty="0">
                <a:solidFill>
                  <a:srgbClr val="000000"/>
                </a:solidFill>
                <a:latin typeface="Calibri" pitchFamily="34" charset="0"/>
                <a:ea typeface="Calibri" pitchFamily="34" charset="-122"/>
                <a:cs typeface="Calibri" pitchFamily="34" charset="-120"/>
              </a:rPr>
              <a:t>: </a:t>
            </a:r>
            <a:r>
              <a:rPr lang="en-US" sz="2000" dirty="0">
                <a:solidFill>
                  <a:srgbClr val="00B050"/>
                </a:solidFill>
                <a:latin typeface="Calibri" pitchFamily="34" charset="0"/>
                <a:ea typeface="Calibri" pitchFamily="34" charset="-122"/>
                <a:cs typeface="Calibri" pitchFamily="34" charset="-120"/>
              </a:rPr>
              <a:t>GPT-3: a task from a few examples</a:t>
            </a:r>
            <a:endParaRPr lang="en-US" sz="2000" dirty="0"/>
          </a:p>
        </p:txBody>
      </p:sp>
      <p:sp>
        <p:nvSpPr>
          <p:cNvPr id="8" name="lm 2022"/>
          <p:cNvSpPr txBox="1"/>
          <p:nvPr/>
        </p:nvSpPr>
        <p:spPr>
          <a:xfrm>
            <a:off x="384048" y="3465576"/>
            <a:ext cx="6309360" cy="411480"/>
          </a:xfrm>
          <a:prstGeom prst="rect">
            <a:avLst/>
          </a:prstGeom>
          <a:noFill/>
          <a:ln>
            <a:noFill/>
          </a:ln>
        </p:spPr>
        <p:txBody>
          <a:bodyPr wrap="square" lIns="0" tIns="0" rIns="0" bIns="0" rtlCol="0" anchor="ctr"/>
          <a:lstStyle/>
          <a:p>
            <a:pPr marL="0" indent="0">
              <a:buNone/>
            </a:pPr>
            <a:r>
              <a:rPr lang="en-US" sz="2000" dirty="0">
                <a:solidFill>
                  <a:srgbClr val="362FEC"/>
                </a:solidFill>
                <a:latin typeface="Calibri" pitchFamily="34" charset="0"/>
                <a:ea typeface="Calibri" pitchFamily="34" charset="-122"/>
                <a:cs typeface="Calibri" pitchFamily="34" charset="-120"/>
              </a:rPr>
              <a:t>2022</a:t>
            </a:r>
            <a:r>
              <a:rPr lang="en-US" sz="2000" dirty="0">
                <a:solidFill>
                  <a:srgbClr val="000000"/>
                </a:solidFill>
                <a:latin typeface="Calibri" pitchFamily="34" charset="0"/>
                <a:ea typeface="Calibri" pitchFamily="34" charset="-122"/>
                <a:cs typeface="Calibri" pitchFamily="34" charset="-120"/>
              </a:rPr>
              <a:t>: </a:t>
            </a:r>
            <a:r>
              <a:rPr lang="en-US" sz="2000" dirty="0">
                <a:solidFill>
                  <a:srgbClr val="00B050"/>
                </a:solidFill>
                <a:latin typeface="Calibri" pitchFamily="34" charset="0"/>
                <a:ea typeface="Calibri" pitchFamily="34" charset="-122"/>
                <a:cs typeface="Calibri" pitchFamily="34" charset="-120"/>
              </a:rPr>
              <a:t>ChatGPT: an assistant you can talk to</a:t>
            </a:r>
            <a:endParaRPr lang="en-US" sz="2000" dirty="0"/>
          </a:p>
        </p:txBody>
      </p:sp>
      <p:sp>
        <p:nvSpPr>
          <p:cNvPr id="9" name="lm 2023"/>
          <p:cNvSpPr txBox="1"/>
          <p:nvPr/>
        </p:nvSpPr>
        <p:spPr>
          <a:xfrm>
            <a:off x="384048" y="3904487"/>
            <a:ext cx="6309360" cy="411480"/>
          </a:xfrm>
          <a:prstGeom prst="rect">
            <a:avLst/>
          </a:prstGeom>
          <a:noFill/>
          <a:ln>
            <a:noFill/>
          </a:ln>
        </p:spPr>
        <p:txBody>
          <a:bodyPr wrap="square" lIns="0" tIns="0" rIns="0" bIns="0" rtlCol="0" anchor="ctr"/>
          <a:lstStyle/>
          <a:p>
            <a:pPr marL="0" indent="0">
              <a:buNone/>
            </a:pPr>
            <a:r>
              <a:rPr lang="en-US" sz="2000" dirty="0">
                <a:solidFill>
                  <a:srgbClr val="362FEC"/>
                </a:solidFill>
                <a:latin typeface="Calibri" pitchFamily="34" charset="0"/>
                <a:ea typeface="Calibri" pitchFamily="34" charset="-122"/>
                <a:cs typeface="Calibri" pitchFamily="34" charset="-120"/>
              </a:rPr>
              <a:t>2023–2024</a:t>
            </a:r>
            <a:r>
              <a:rPr lang="en-US" sz="2000" dirty="0">
                <a:solidFill>
                  <a:srgbClr val="000000"/>
                </a:solidFill>
                <a:latin typeface="Calibri" pitchFamily="34" charset="0"/>
                <a:ea typeface="Calibri" pitchFamily="34" charset="-122"/>
                <a:cs typeface="Calibri" pitchFamily="34" charset="-120"/>
              </a:rPr>
              <a:t>: </a:t>
            </a:r>
            <a:r>
              <a:rPr lang="en-US" sz="2000" dirty="0">
                <a:solidFill>
                  <a:srgbClr val="00B050"/>
                </a:solidFill>
                <a:latin typeface="Calibri" pitchFamily="34" charset="0"/>
                <a:ea typeface="Calibri" pitchFamily="34" charset="-122"/>
                <a:cs typeface="Calibri" pitchFamily="34" charset="-120"/>
              </a:rPr>
              <a:t>GPT-4 and GPT-4o: images and audio in</a:t>
            </a:r>
            <a:endParaRPr lang="en-US" sz="2000" dirty="0"/>
          </a:p>
        </p:txBody>
      </p:sp>
      <p:sp>
        <p:nvSpPr>
          <p:cNvPr id="10" name="lm 2024"/>
          <p:cNvSpPr txBox="1"/>
          <p:nvPr/>
        </p:nvSpPr>
        <p:spPr>
          <a:xfrm>
            <a:off x="384048" y="4343400"/>
            <a:ext cx="6309360" cy="411480"/>
          </a:xfrm>
          <a:prstGeom prst="rect">
            <a:avLst/>
          </a:prstGeom>
          <a:noFill/>
          <a:ln>
            <a:noFill/>
          </a:ln>
        </p:spPr>
        <p:txBody>
          <a:bodyPr wrap="square" lIns="0" tIns="0" rIns="0" bIns="0" rtlCol="0" anchor="ctr"/>
          <a:lstStyle/>
          <a:p>
            <a:pPr marL="0" indent="0">
              <a:buNone/>
            </a:pPr>
            <a:r>
              <a:rPr lang="en-US" sz="2000" dirty="0">
                <a:solidFill>
                  <a:srgbClr val="362FEC"/>
                </a:solidFill>
                <a:latin typeface="Calibri" pitchFamily="34" charset="0"/>
                <a:ea typeface="Calibri" pitchFamily="34" charset="-122"/>
                <a:cs typeface="Calibri" pitchFamily="34" charset="-120"/>
              </a:rPr>
              <a:t>2024–2025</a:t>
            </a:r>
            <a:r>
              <a:rPr lang="en-US" sz="2000" dirty="0">
                <a:solidFill>
                  <a:srgbClr val="000000"/>
                </a:solidFill>
                <a:latin typeface="Calibri" pitchFamily="34" charset="0"/>
                <a:ea typeface="Calibri" pitchFamily="34" charset="-122"/>
                <a:cs typeface="Calibri" pitchFamily="34" charset="-120"/>
              </a:rPr>
              <a:t>: </a:t>
            </a:r>
            <a:r>
              <a:rPr lang="en-US" sz="2000" dirty="0">
                <a:solidFill>
                  <a:srgbClr val="00B050"/>
                </a:solidFill>
                <a:latin typeface="Calibri" pitchFamily="34" charset="0"/>
                <a:ea typeface="Calibri" pitchFamily="34" charset="-122"/>
                <a:cs typeface="Calibri" pitchFamily="34" charset="-120"/>
              </a:rPr>
              <a:t>o1 and R1: reasoning before answering</a:t>
            </a:r>
            <a:endParaRPr lang="en-US" sz="2000" dirty="0"/>
          </a:p>
        </p:txBody>
      </p:sp>
      <p:sp>
        <p:nvSpPr>
          <p:cNvPr id="11" name="Rounded Rectangle 10"/>
          <p:cNvSpPr/>
          <p:nvPr/>
        </p:nvSpPr>
        <p:spPr>
          <a:xfrm>
            <a:off x="6812280" y="1188720"/>
            <a:ext cx="5120640" cy="502920"/>
          </a:xfrm>
          <a:prstGeom prst="roundRect">
            <a:avLst>
              <a:gd name="adj" fmla="val 25000"/>
            </a:avLst>
          </a:prstGeom>
          <a:solidFill>
            <a:srgbClr val="E3E2FD"/>
          </a:solidFill>
          <a:ln>
            <a:noFill/>
          </a:ln>
        </p:spPr>
        <p:style>
          <a:lnRef idx="1">
            <a:schemeClr val="accent1"/>
          </a:lnRef>
          <a:fillRef idx="3">
            <a:schemeClr val="accent1"/>
          </a:fillRef>
          <a:effectRef idx="2">
            <a:schemeClr val="accent1"/>
          </a:effectRef>
          <a:fontRef idx="minor">
            <a:schemeClr val="lt1"/>
          </a:fontRef>
        </p:style>
        <p:txBody>
          <a:bodyPr wrap="square" lIns="137160" tIns="54864" rIns="137160" bIns="54864" rtlCol="0" anchor="ctr"/>
          <a:lstStyle/>
          <a:p>
            <a:pPr algn="l"/>
            <a:r>
              <a:rPr sz="1600" b="0" i="0">
                <a:solidFill>
                  <a:srgbClr val="000000"/>
                </a:solidFill>
                <a:latin typeface="Calibri"/>
              </a:rPr>
              <a:t>Find all x in {0, 1, …, 34} with x² ≡ 1 (mod 35).</a:t>
            </a:r>
          </a:p>
        </p:txBody>
      </p:sp>
      <p:sp>
        <p:nvSpPr>
          <p:cNvPr id="12" name="thinking"/>
          <p:cNvSpPr/>
          <p:nvPr/>
        </p:nvSpPr>
        <p:spPr>
          <a:xfrm>
            <a:off x="6812280" y="1874519"/>
            <a:ext cx="5120640" cy="1325880"/>
          </a:xfrm>
          <a:prstGeom prst="roundRect">
            <a:avLst>
              <a:gd name="adj" fmla="val 6000"/>
            </a:avLst>
          </a:prstGeom>
          <a:solidFill>
            <a:srgbClr val="EDEDED"/>
          </a:solidFill>
          <a:ln>
            <a:noFill/>
          </a:ln>
        </p:spPr>
        <p:style>
          <a:lnRef idx="1">
            <a:schemeClr val="accent1"/>
          </a:lnRef>
          <a:fillRef idx="3">
            <a:schemeClr val="accent1"/>
          </a:fillRef>
          <a:effectRef idx="2">
            <a:schemeClr val="accent1"/>
          </a:effectRef>
          <a:fontRef idx="minor">
            <a:schemeClr val="lt1"/>
          </a:fontRef>
        </p:style>
        <p:txBody>
          <a:bodyPr wrap="square" lIns="137160" tIns="54864" rIns="137160" bIns="54864" rtlCol="0" anchor="ctr"/>
          <a:lstStyle/>
          <a:p>
            <a:pPr algn="l"/>
            <a:r>
              <a:rPr sz="1500" b="1" i="0">
                <a:solidFill>
                  <a:srgbClr val="595959"/>
                </a:solidFill>
                <a:latin typeface="Calibri"/>
              </a:rPr>
              <a:t>thinking …</a:t>
            </a:r>
          </a:p>
          <a:p>
            <a:pPr algn="l"/>
            <a:r>
              <a:rPr sz="1500" b="0" i="1">
                <a:solidFill>
                  <a:srgbClr val="595959"/>
                </a:solidFill>
                <a:latin typeface="Calibri"/>
              </a:rPr>
              <a:t>35 = 5 · 7, so x² ≡ 1 modulo 5 and modulo 7.</a:t>
            </a:r>
          </a:p>
          <a:p>
            <a:pPr algn="l"/>
            <a:r>
              <a:rPr sz="1500" b="0" i="1">
                <a:solidFill>
                  <a:srgbClr val="595959"/>
                </a:solidFill>
                <a:latin typeface="Calibri"/>
              </a:rPr>
              <a:t>x ≡ ±1 (mod 5) and x ≡ ±1 (mod 7): four cases.</a:t>
            </a:r>
          </a:p>
          <a:p>
            <a:pPr algn="l"/>
            <a:r>
              <a:rPr sz="1500" b="0" i="1">
                <a:solidFill>
                  <a:srgbClr val="595959"/>
                </a:solidFill>
                <a:latin typeface="Calibri"/>
              </a:rPr>
              <a:t>Combine them: 1, 6, 29, 34. Check: 6² = 36 = 35 + 1.</a:t>
            </a:r>
          </a:p>
        </p:txBody>
      </p:sp>
      <p:sp>
        <p:nvSpPr>
          <p:cNvPr id="13" name="Rounded Rectangle 12"/>
          <p:cNvSpPr/>
          <p:nvPr/>
        </p:nvSpPr>
        <p:spPr>
          <a:xfrm>
            <a:off x="6812280" y="3383280"/>
            <a:ext cx="2651760" cy="502920"/>
          </a:xfrm>
          <a:prstGeom prst="roundRect">
            <a:avLst>
              <a:gd name="adj" fmla="val 12000"/>
            </a:avLst>
          </a:prstGeom>
          <a:solidFill>
            <a:srgbClr val="D9F2E4"/>
          </a:solidFill>
          <a:ln>
            <a:noFill/>
          </a:ln>
        </p:spPr>
        <p:style>
          <a:lnRef idx="1">
            <a:schemeClr val="accent1"/>
          </a:lnRef>
          <a:fillRef idx="3">
            <a:schemeClr val="accent1"/>
          </a:fillRef>
          <a:effectRef idx="2">
            <a:schemeClr val="accent1"/>
          </a:effectRef>
          <a:fontRef idx="minor">
            <a:schemeClr val="lt1"/>
          </a:fontRef>
        </p:style>
        <p:txBody>
          <a:bodyPr wrap="square" lIns="45720" rIns="45720" rtlCol="0" anchor="ctr"/>
          <a:lstStyle/>
          <a:p>
            <a:pPr algn="ctr"/>
            <a:r>
              <a:rPr sz="1600" b="1">
                <a:solidFill>
                  <a:srgbClr val="00843D"/>
                </a:solidFill>
                <a:latin typeface="Calibri"/>
              </a:rPr>
              <a:t>answer: 1, 6, 29, 34</a:t>
            </a:r>
          </a:p>
        </p:txBody>
      </p:sp>
      <p:sp>
        <p:nvSpPr>
          <p:cNvPr id="14" name="Rounded Rectangle 13"/>
          <p:cNvSpPr/>
          <p:nvPr/>
        </p:nvSpPr>
        <p:spPr>
          <a:xfrm>
            <a:off x="9692640" y="3383280"/>
            <a:ext cx="2240280" cy="502920"/>
          </a:xfrm>
          <a:prstGeom prst="roundRect">
            <a:avLst>
              <a:gd name="adj" fmla="val 12000"/>
            </a:avLst>
          </a:prstGeom>
          <a:solidFill>
            <a:srgbClr val="FFFFFF"/>
          </a:solidFill>
          <a:ln w="15875">
            <a:solidFill>
              <a:srgbClr val="00843D"/>
            </a:solidFill>
          </a:ln>
        </p:spPr>
        <p:style>
          <a:lnRef idx="1">
            <a:schemeClr val="accent1"/>
          </a:lnRef>
          <a:fillRef idx="3">
            <a:schemeClr val="accent1"/>
          </a:fillRef>
          <a:effectRef idx="2">
            <a:schemeClr val="accent1"/>
          </a:effectRef>
          <a:fontRef idx="minor">
            <a:schemeClr val="lt1"/>
          </a:fontRef>
        </p:style>
        <p:txBody>
          <a:bodyPr wrap="square" lIns="45720" rIns="45720" rtlCol="0" anchor="ctr"/>
          <a:lstStyle/>
          <a:p>
            <a:pPr algn="ctr"/>
            <a:r>
              <a:rPr sz="1600" b="1">
                <a:solidFill>
                  <a:srgbClr val="00843D"/>
                </a:solidFill>
                <a:latin typeface="Calibri"/>
              </a:rPr>
              <a:t>checked ✓  → reward</a:t>
            </a:r>
          </a:p>
        </p:txBody>
      </p:sp>
      <p:cxnSp>
        <p:nvCxnSpPr>
          <p:cNvPr id="15" name="Connector 14"/>
          <p:cNvCxnSpPr/>
          <p:nvPr/>
        </p:nvCxnSpPr>
        <p:spPr>
          <a:xfrm>
            <a:off x="9509760" y="3634740"/>
            <a:ext cx="137160" cy="0"/>
          </a:xfrm>
          <a:prstGeom prst="line">
            <a:avLst/>
          </a:prstGeom>
          <a:ln w="19050">
            <a:solidFill>
              <a:srgbClr val="00843D"/>
            </a:solidFill>
            <a:tailEnd type="triangle" w="med" len="med"/>
          </a:ln>
        </p:spPr>
        <p:style>
          <a:lnRef idx="2">
            <a:schemeClr val="accent1"/>
          </a:lnRef>
          <a:fillRef idx="0">
            <a:schemeClr val="accent1"/>
          </a:fillRef>
          <a:effectRef idx="1">
            <a:schemeClr val="accent1"/>
          </a:effectRef>
          <a:fontRef idx="minor">
            <a:schemeClr val="tx1"/>
          </a:fontRef>
        </p:style>
      </p:cxnSp>
      <p:sp>
        <p:nvSpPr>
          <p:cNvPr id="16" name="TextBox 15"/>
          <p:cNvSpPr txBox="1"/>
          <p:nvPr/>
        </p:nvSpPr>
        <p:spPr>
          <a:xfrm>
            <a:off x="6812280" y="3977639"/>
            <a:ext cx="5120640" cy="274320"/>
          </a:xfrm>
          <a:prstGeom prst="rect">
            <a:avLst/>
          </a:prstGeom>
          <a:noFill/>
        </p:spPr>
        <p:txBody>
          <a:bodyPr wrap="square" lIns="0" tIns="0" rIns="0" bIns="0" anchor="t">
            <a:spAutoFit/>
          </a:bodyPr>
          <a:lstStyle/>
          <a:p>
            <a:pPr algn="ctr"/>
            <a:r>
              <a:rPr sz="1200" b="0" i="0">
                <a:solidFill>
                  <a:srgbClr val="00843D"/>
                </a:solidFill>
                <a:latin typeface="Calibri"/>
              </a:rPr>
              <a:t>reinforcement learning on many such problems updates the model</a:t>
            </a:r>
          </a:p>
        </p:txBody>
      </p:sp>
      <p:sp>
        <p:nvSpPr>
          <p:cNvPr id="17" name="description"/>
          <p:cNvSpPr txBox="1"/>
          <p:nvPr/>
        </p:nvSpPr>
        <p:spPr>
          <a:xfrm>
            <a:off x="6812280" y="4434840"/>
            <a:ext cx="5120640" cy="685800"/>
          </a:xfrm>
          <a:prstGeom prst="rect">
            <a:avLst/>
          </a:prstGeom>
          <a:noFill/>
        </p:spPr>
        <p:txBody>
          <a:bodyPr wrap="square" lIns="0" tIns="0" rIns="0" bIns="0" anchor="t">
            <a:spAutoFit/>
          </a:bodyPr>
          <a:lstStyle/>
          <a:p>
            <a:pPr algn="l"/>
            <a:r>
              <a:rPr sz="1400" b="0" i="0">
                <a:solidFill>
                  <a:srgbClr val="595959"/>
                </a:solidFill>
                <a:latin typeface="Calibri"/>
              </a:rPr>
              <a:t>Rewarding answers that check out taught models to think at length before answering (OpenAI o1, 2024; DeepSeek-R1, 2025): more computation at inference, more answers right.</a:t>
            </a:r>
          </a:p>
        </p:txBody>
      </p:sp>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10"/>
                                        </p:tgtEl>
                                        <p:attrNameLst>
                                          <p:attrName>style.visibility</p:attrName>
                                        </p:attrNameLst>
                                      </p:cBhvr>
                                      <p:to>
                                        <p:strVal val="visible"/>
                                      </p:to>
                                    </p:set>
                                  </p:childTnLst>
                                </p:cTn>
                              </p:par>
                              <p:par>
                                <p:cTn id="7" presetID="1" presetClass="entr" presetSubtype="0" fill="hold" grpId="0" nodeType="withEffect">
                                  <p:stCondLst>
                                    <p:cond delay="0"/>
                                  </p:stCondLst>
                                  <p:childTnLst>
                                    <p:set>
                                      <p:cBhvr>
                                        <p:cTn id="8" dur="1" fill="hold">
                                          <p:stCondLst>
                                            <p:cond delay="0"/>
                                          </p:stCondLst>
                                        </p:cTn>
                                        <p:tgtEl>
                                          <p:spTgt spid="11"/>
                                        </p:tgtEl>
                                        <p:attrNameLst>
                                          <p:attrName>style.visibility</p:attrName>
                                        </p:attrNameLst>
                                      </p:cBhvr>
                                      <p:to>
                                        <p:strVal val="visible"/>
                                      </p:to>
                                    </p:set>
                                  </p:childTnLst>
                                </p:cTn>
                              </p:par>
                              <p:par>
                                <p:cTn id="9" presetID="1" presetClass="entr" presetSubtype="0" fill="hold" grpId="0" nodeType="withEffect">
                                  <p:stCondLst>
                                    <p:cond delay="0"/>
                                  </p:stCondLst>
                                  <p:childTnLst>
                                    <p:set>
                                      <p:cBhvr>
                                        <p:cTn id="10" dur="1" fill="hold">
                                          <p:stCondLst>
                                            <p:cond delay="0"/>
                                          </p:stCondLst>
                                        </p:cTn>
                                        <p:tgtEl>
                                          <p:spTgt spid="12"/>
                                        </p:tgtEl>
                                        <p:attrNameLst>
                                          <p:attrName>style.visibility</p:attrName>
                                        </p:attrNameLst>
                                      </p:cBhvr>
                                      <p:to>
                                        <p:strVal val="visible"/>
                                      </p:to>
                                    </p:set>
                                  </p:childTnLst>
                                </p:cTn>
                              </p:par>
                              <p:par>
                                <p:cTn id="11" presetID="1" presetClass="entr" presetSubtype="0" fill="hold" grpId="0" nodeType="withEffect">
                                  <p:stCondLst>
                                    <p:cond delay="0"/>
                                  </p:stCondLst>
                                  <p:childTnLst>
                                    <p:set>
                                      <p:cBhvr>
                                        <p:cTn id="12" dur="1" fill="hold">
                                          <p:stCondLst>
                                            <p:cond delay="0"/>
                                          </p:stCondLst>
                                        </p:cTn>
                                        <p:tgtEl>
                                          <p:spTgt spid="13"/>
                                        </p:tgtEl>
                                        <p:attrNameLst>
                                          <p:attrName>style.visibility</p:attrName>
                                        </p:attrNameLst>
                                      </p:cBhvr>
                                      <p:to>
                                        <p:strVal val="visible"/>
                                      </p:to>
                                    </p:set>
                                  </p:childTnLst>
                                </p:cTn>
                              </p:par>
                              <p:par>
                                <p:cTn id="13" presetID="1" presetClass="entr" presetSubtype="0" fill="hold" grpId="0" nodeType="withEffect">
                                  <p:stCondLst>
                                    <p:cond delay="0"/>
                                  </p:stCondLst>
                                  <p:childTnLst>
                                    <p:set>
                                      <p:cBhvr>
                                        <p:cTn id="14" dur="1" fill="hold">
                                          <p:stCondLst>
                                            <p:cond delay="0"/>
                                          </p:stCondLst>
                                        </p:cTn>
                                        <p:tgtEl>
                                          <p:spTgt spid="15"/>
                                        </p:tgtEl>
                                        <p:attrNameLst>
                                          <p:attrName>style.visibility</p:attrName>
                                        </p:attrNameLst>
                                      </p:cBhvr>
                                      <p:to>
                                        <p:strVal val="visible"/>
                                      </p:to>
                                    </p:set>
                                  </p:childTnLst>
                                </p:cTn>
                              </p:par>
                              <p:par>
                                <p:cTn id="15" presetID="1" presetClass="entr" presetSubtype="0" fill="hold" grpId="0" nodeType="withEffect">
                                  <p:stCondLst>
                                    <p:cond delay="0"/>
                                  </p:stCondLst>
                                  <p:childTnLst>
                                    <p:set>
                                      <p:cBhvr>
                                        <p:cTn id="16" dur="1" fill="hold">
                                          <p:stCondLst>
                                            <p:cond delay="0"/>
                                          </p:stCondLst>
                                        </p:cTn>
                                        <p:tgtEl>
                                          <p:spTgt spid="14"/>
                                        </p:tgtEl>
                                        <p:attrNameLst>
                                          <p:attrName>style.visibility</p:attrName>
                                        </p:attrNameLst>
                                      </p:cBhvr>
                                      <p:to>
                                        <p:strVal val="visible"/>
                                      </p:to>
                                    </p:set>
                                  </p:childTnLst>
                                </p:cTn>
                              </p:par>
                              <p:par>
                                <p:cTn id="17" presetID="1" presetClass="entr" presetSubtype="0" fill="hold" grpId="0" nodeType="withEffect">
                                  <p:stCondLst>
                                    <p:cond delay="0"/>
                                  </p:stCondLst>
                                  <p:childTnLst>
                                    <p:set>
                                      <p:cBhvr>
                                        <p:cTn id="18" dur="1" fill="hold">
                                          <p:stCondLst>
                                            <p:cond delay="0"/>
                                          </p:stCondLst>
                                        </p:cTn>
                                        <p:tgtEl>
                                          <p:spTgt spid="16"/>
                                        </p:tgtEl>
                                        <p:attrNameLst>
                                          <p:attrName>style.visibility</p:attrName>
                                        </p:attrNameLst>
                                      </p:cBhvr>
                                      <p:to>
                                        <p:strVal val="visible"/>
                                      </p:to>
                                    </p:set>
                                  </p:childTnLst>
                                </p:cTn>
                              </p:par>
                              <p:par>
                                <p:cTn id="19" presetID="1" presetClass="entr" presetSubtype="0" fill="hold" grpId="0" nodeType="withEffect">
                                  <p:stCondLst>
                                    <p:cond delay="0"/>
                                  </p:stCondLst>
                                  <p:childTnLst>
                                    <p:set>
                                      <p:cBhvr>
                                        <p:cTn id="20" dur="1" fill="hold">
                                          <p:stCondLst>
                                            <p:cond delay="0"/>
                                          </p:stCondLst>
                                        </p:cTn>
                                        <p:tgtEl>
                                          <p:spTgt spid="17"/>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0" grpId="0"/>
      <p:bldP spid="11" grpId="0" animBg="1"/>
      <p:bldP spid="12" grpId="0" animBg="1"/>
      <p:bldP spid="13" grpId="0" animBg="1"/>
      <p:bldP spid="14" grpId="0" animBg="1"/>
      <p:bldP spid="16" grpId="0"/>
      <p:bldP spid="17" grpId="0"/>
    </p:bldLst>
  </p:timing>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b0_2">
            <a:extLst>
              <a:ext uri="{FF2B5EF4-FFF2-40B4-BE49-F238E27FC236}">
                <a16:creationId xmlns:a16="http://schemas.microsoft.com/office/drawing/2014/main" id="{33DE8782-7F2B-1033-00F6-2A6652EE0E80}"/>
              </a:ext>
            </a:extLst>
          </p:cNvPr>
          <p:cNvSpPr txBox="1"/>
          <p:nvPr/>
        </p:nvSpPr>
        <p:spPr>
          <a:xfrm>
            <a:off x="0" y="148566"/>
            <a:ext cx="11680992" cy="548640"/>
          </a:xfrm>
          <a:prstGeom prst="rect">
            <a:avLst/>
          </a:prstGeom>
          <a:noFill/>
          <a:ln>
            <a:noFill/>
          </a:ln>
        </p:spPr>
        <p:txBody>
          <a:bodyPr wrap="square" rtlCol="0" anchor="ctr"/>
          <a:lstStyle/>
          <a:p>
            <a:r>
              <a:rPr lang="en-US" sz="3200" b="1" dirty="0">
                <a:latin typeface="Calibri" pitchFamily="34" charset="0"/>
                <a:ea typeface="Calibri" pitchFamily="34" charset="-122"/>
                <a:cs typeface="Calibri" pitchFamily="34" charset="-120"/>
              </a:rPr>
              <a:t>From </a:t>
            </a:r>
            <a:r>
              <a:rPr lang="en-US" sz="3200" b="1" dirty="0">
                <a:solidFill>
                  <a:srgbClr val="FF0000"/>
                </a:solidFill>
                <a:latin typeface="Calibri" pitchFamily="34" charset="0"/>
                <a:ea typeface="Calibri" pitchFamily="34" charset="-122"/>
                <a:cs typeface="Calibri" pitchFamily="34" charset="-120"/>
              </a:rPr>
              <a:t>Computation</a:t>
            </a:r>
            <a:r>
              <a:rPr lang="en-US" sz="3200" b="1" dirty="0">
                <a:latin typeface="Calibri" pitchFamily="34" charset="0"/>
                <a:ea typeface="Calibri" pitchFamily="34" charset="-122"/>
                <a:cs typeface="Calibri" pitchFamily="34" charset="-120"/>
              </a:rPr>
              <a:t> to </a:t>
            </a:r>
            <a:r>
              <a:rPr lang="en-US" sz="3200" b="1" dirty="0">
                <a:solidFill>
                  <a:srgbClr val="362FEC"/>
                </a:solidFill>
                <a:latin typeface="Calibri" pitchFamily="34" charset="0"/>
                <a:ea typeface="Calibri" pitchFamily="34" charset="-122"/>
                <a:cs typeface="Calibri" pitchFamily="34" charset="-120"/>
              </a:rPr>
              <a:t>Language Models</a:t>
            </a:r>
            <a:endParaRPr lang="en-US" sz="3200" dirty="0">
              <a:solidFill>
                <a:srgbClr val="362FEC"/>
              </a:solidFill>
            </a:endParaRPr>
          </a:p>
        </p:txBody>
      </p:sp>
      <p:sp>
        <p:nvSpPr>
          <p:cNvPr id="3" name="!!computation">
            <a:extLst>
              <a:ext uri="{FF2B5EF4-FFF2-40B4-BE49-F238E27FC236}">
                <a16:creationId xmlns:a16="http://schemas.microsoft.com/office/drawing/2014/main" id="{691E18F7-4F41-2F97-0124-8C09DE463973}"/>
              </a:ext>
            </a:extLst>
          </p:cNvPr>
          <p:cNvSpPr txBox="1"/>
          <p:nvPr/>
        </p:nvSpPr>
        <p:spPr>
          <a:xfrm>
            <a:off x="168339" y="980102"/>
            <a:ext cx="6355080" cy="707886"/>
          </a:xfrm>
          <a:prstGeom prst="rect">
            <a:avLst/>
          </a:prstGeom>
          <a:noFill/>
        </p:spPr>
        <p:txBody>
          <a:bodyPr wrap="square" rtlCol="0">
            <a:spAutoFit/>
          </a:bodyPr>
          <a:lstStyle/>
          <a:p>
            <a:r>
              <a:rPr lang="en-US" sz="2000" dirty="0">
                <a:latin typeface="Calibri" panose="020F0502020204030204" pitchFamily="34" charset="0"/>
                <a:cs typeface="Calibri" panose="020F0502020204030204" pitchFamily="34" charset="0"/>
              </a:rPr>
              <a:t>This is taken even further by the ability to transform information: Computation.</a:t>
            </a:r>
          </a:p>
        </p:txBody>
      </p:sp>
      <p:sp>
        <p:nvSpPr>
          <p:cNvPr id="4" name="LM heading">
            <a:extLst>
              <a:ext uri="{FF2B5EF4-FFF2-40B4-BE49-F238E27FC236}">
                <a16:creationId xmlns:a16="http://schemas.microsoft.com/office/drawing/2014/main" id="{5CB8A4AA-40B1-94AE-8EEE-080599481F78}"/>
              </a:ext>
            </a:extLst>
          </p:cNvPr>
          <p:cNvSpPr txBox="1"/>
          <p:nvPr/>
        </p:nvSpPr>
        <p:spPr>
          <a:xfrm>
            <a:off x="291358" y="1687988"/>
            <a:ext cx="3171479" cy="411480"/>
          </a:xfrm>
          <a:prstGeom prst="rect">
            <a:avLst/>
          </a:prstGeom>
          <a:noFill/>
          <a:ln>
            <a:noFill/>
          </a:ln>
        </p:spPr>
        <p:txBody>
          <a:bodyPr wrap="square" lIns="0" tIns="0" rIns="0" bIns="0" rtlCol="0" anchor="ctr"/>
          <a:lstStyle/>
          <a:p>
            <a:pPr marL="0" indent="0">
              <a:buNone/>
            </a:pPr>
            <a:r>
              <a:rPr lang="en-US" sz="2000" b="1" dirty="0">
                <a:solidFill>
                  <a:srgbClr val="362FEC"/>
                </a:solidFill>
                <a:latin typeface="Calibri" panose="020F0502020204030204" pitchFamily="34" charset="0"/>
                <a:cs typeface="Calibri" panose="020F0502020204030204" pitchFamily="34" charset="0"/>
              </a:rPr>
              <a:t>Language Models</a:t>
            </a:r>
          </a:p>
        </p:txBody>
      </p:sp>
      <p:sp>
        <p:nvSpPr>
          <p:cNvPr id="5" name="lm 2017"/>
          <p:cNvSpPr txBox="1"/>
          <p:nvPr/>
        </p:nvSpPr>
        <p:spPr>
          <a:xfrm>
            <a:off x="384048" y="2148840"/>
            <a:ext cx="6309360" cy="411480"/>
          </a:xfrm>
          <a:prstGeom prst="rect">
            <a:avLst/>
          </a:prstGeom>
          <a:noFill/>
          <a:ln>
            <a:noFill/>
          </a:ln>
        </p:spPr>
        <p:txBody>
          <a:bodyPr wrap="square" lIns="0" tIns="0" rIns="0" bIns="0" rtlCol="0" anchor="ctr"/>
          <a:lstStyle/>
          <a:p>
            <a:pPr marL="0" indent="0">
              <a:buNone/>
            </a:pPr>
            <a:r>
              <a:rPr lang="en-US" sz="2000" dirty="0">
                <a:solidFill>
                  <a:srgbClr val="362FEC"/>
                </a:solidFill>
                <a:latin typeface="Calibri" pitchFamily="34" charset="0"/>
                <a:ea typeface="Calibri" pitchFamily="34" charset="-122"/>
                <a:cs typeface="Calibri" pitchFamily="34" charset="-120"/>
              </a:rPr>
              <a:t>2017</a:t>
            </a:r>
            <a:r>
              <a:rPr lang="en-US" sz="2000" dirty="0">
                <a:solidFill>
                  <a:srgbClr val="000000"/>
                </a:solidFill>
                <a:latin typeface="Calibri" pitchFamily="34" charset="0"/>
                <a:ea typeface="Calibri" pitchFamily="34" charset="-122"/>
                <a:cs typeface="Calibri" pitchFamily="34" charset="-120"/>
              </a:rPr>
              <a:t>: </a:t>
            </a:r>
            <a:r>
              <a:rPr lang="en-US" sz="2000" dirty="0">
                <a:solidFill>
                  <a:srgbClr val="00B050"/>
                </a:solidFill>
                <a:latin typeface="Calibri" pitchFamily="34" charset="0"/>
                <a:ea typeface="Calibri" pitchFamily="34" charset="-122"/>
                <a:cs typeface="Calibri" pitchFamily="34" charset="-120"/>
              </a:rPr>
              <a:t>the Transformer</a:t>
            </a:r>
            <a:endParaRPr lang="en-US" sz="2000" dirty="0"/>
          </a:p>
        </p:txBody>
      </p:sp>
      <p:sp>
        <p:nvSpPr>
          <p:cNvPr id="6" name="lm 2018"/>
          <p:cNvSpPr txBox="1"/>
          <p:nvPr/>
        </p:nvSpPr>
        <p:spPr>
          <a:xfrm>
            <a:off x="384048" y="2587752"/>
            <a:ext cx="6309360" cy="411480"/>
          </a:xfrm>
          <a:prstGeom prst="rect">
            <a:avLst/>
          </a:prstGeom>
          <a:noFill/>
          <a:ln>
            <a:noFill/>
          </a:ln>
        </p:spPr>
        <p:txBody>
          <a:bodyPr wrap="square" lIns="0" tIns="0" rIns="0" bIns="0" rtlCol="0" anchor="ctr"/>
          <a:lstStyle/>
          <a:p>
            <a:pPr marL="0" indent="0">
              <a:buNone/>
            </a:pPr>
            <a:r>
              <a:rPr lang="en-US" sz="2000" dirty="0">
                <a:solidFill>
                  <a:srgbClr val="362FEC"/>
                </a:solidFill>
                <a:latin typeface="Calibri" pitchFamily="34" charset="0"/>
                <a:ea typeface="Calibri" pitchFamily="34" charset="-122"/>
                <a:cs typeface="Calibri" pitchFamily="34" charset="-120"/>
              </a:rPr>
              <a:t>2018</a:t>
            </a:r>
            <a:r>
              <a:rPr lang="en-US" sz="2000" dirty="0">
                <a:solidFill>
                  <a:srgbClr val="000000"/>
                </a:solidFill>
                <a:latin typeface="Calibri" pitchFamily="34" charset="0"/>
                <a:ea typeface="Calibri" pitchFamily="34" charset="-122"/>
                <a:cs typeface="Calibri" pitchFamily="34" charset="-120"/>
              </a:rPr>
              <a:t>: </a:t>
            </a:r>
            <a:r>
              <a:rPr lang="en-US" sz="2000" dirty="0">
                <a:solidFill>
                  <a:srgbClr val="00B050"/>
                </a:solidFill>
                <a:latin typeface="Calibri" pitchFamily="34" charset="0"/>
                <a:ea typeface="Calibri" pitchFamily="34" charset="-122"/>
                <a:cs typeface="Calibri" pitchFamily="34" charset="-120"/>
              </a:rPr>
              <a:t>GPT and BERT: pretrain, then fine-tune</a:t>
            </a:r>
            <a:endParaRPr lang="en-US" sz="2000" dirty="0"/>
          </a:p>
        </p:txBody>
      </p:sp>
      <p:sp>
        <p:nvSpPr>
          <p:cNvPr id="7" name="lm 2020"/>
          <p:cNvSpPr txBox="1"/>
          <p:nvPr/>
        </p:nvSpPr>
        <p:spPr>
          <a:xfrm>
            <a:off x="384048" y="3026664"/>
            <a:ext cx="6309360" cy="411480"/>
          </a:xfrm>
          <a:prstGeom prst="rect">
            <a:avLst/>
          </a:prstGeom>
          <a:noFill/>
          <a:ln>
            <a:noFill/>
          </a:ln>
        </p:spPr>
        <p:txBody>
          <a:bodyPr wrap="square" lIns="0" tIns="0" rIns="0" bIns="0" rtlCol="0" anchor="ctr"/>
          <a:lstStyle/>
          <a:p>
            <a:pPr marL="0" indent="0">
              <a:buNone/>
            </a:pPr>
            <a:r>
              <a:rPr lang="en-US" sz="2000" dirty="0">
                <a:solidFill>
                  <a:srgbClr val="362FEC"/>
                </a:solidFill>
                <a:latin typeface="Calibri" pitchFamily="34" charset="0"/>
                <a:ea typeface="Calibri" pitchFamily="34" charset="-122"/>
                <a:cs typeface="Calibri" pitchFamily="34" charset="-120"/>
              </a:rPr>
              <a:t>2020</a:t>
            </a:r>
            <a:r>
              <a:rPr lang="en-US" sz="2000" dirty="0">
                <a:solidFill>
                  <a:srgbClr val="000000"/>
                </a:solidFill>
                <a:latin typeface="Calibri" pitchFamily="34" charset="0"/>
                <a:ea typeface="Calibri" pitchFamily="34" charset="-122"/>
                <a:cs typeface="Calibri" pitchFamily="34" charset="-120"/>
              </a:rPr>
              <a:t>: </a:t>
            </a:r>
            <a:r>
              <a:rPr lang="en-US" sz="2000" dirty="0">
                <a:solidFill>
                  <a:srgbClr val="00B050"/>
                </a:solidFill>
                <a:latin typeface="Calibri" pitchFamily="34" charset="0"/>
                <a:ea typeface="Calibri" pitchFamily="34" charset="-122"/>
                <a:cs typeface="Calibri" pitchFamily="34" charset="-120"/>
              </a:rPr>
              <a:t>GPT-3: a task from a few examples</a:t>
            </a:r>
            <a:endParaRPr lang="en-US" sz="2000" dirty="0"/>
          </a:p>
        </p:txBody>
      </p:sp>
      <p:sp>
        <p:nvSpPr>
          <p:cNvPr id="8" name="lm 2022"/>
          <p:cNvSpPr txBox="1"/>
          <p:nvPr/>
        </p:nvSpPr>
        <p:spPr>
          <a:xfrm>
            <a:off x="384048" y="3465576"/>
            <a:ext cx="6309360" cy="411480"/>
          </a:xfrm>
          <a:prstGeom prst="rect">
            <a:avLst/>
          </a:prstGeom>
          <a:noFill/>
          <a:ln>
            <a:noFill/>
          </a:ln>
        </p:spPr>
        <p:txBody>
          <a:bodyPr wrap="square" lIns="0" tIns="0" rIns="0" bIns="0" rtlCol="0" anchor="ctr"/>
          <a:lstStyle/>
          <a:p>
            <a:pPr marL="0" indent="0">
              <a:buNone/>
            </a:pPr>
            <a:r>
              <a:rPr lang="en-US" sz="2000" dirty="0">
                <a:solidFill>
                  <a:srgbClr val="362FEC"/>
                </a:solidFill>
                <a:latin typeface="Calibri" pitchFamily="34" charset="0"/>
                <a:ea typeface="Calibri" pitchFamily="34" charset="-122"/>
                <a:cs typeface="Calibri" pitchFamily="34" charset="-120"/>
              </a:rPr>
              <a:t>2022</a:t>
            </a:r>
            <a:r>
              <a:rPr lang="en-US" sz="2000" dirty="0">
                <a:solidFill>
                  <a:srgbClr val="000000"/>
                </a:solidFill>
                <a:latin typeface="Calibri" pitchFamily="34" charset="0"/>
                <a:ea typeface="Calibri" pitchFamily="34" charset="-122"/>
                <a:cs typeface="Calibri" pitchFamily="34" charset="-120"/>
              </a:rPr>
              <a:t>: </a:t>
            </a:r>
            <a:r>
              <a:rPr lang="en-US" sz="2000" dirty="0">
                <a:solidFill>
                  <a:srgbClr val="00B050"/>
                </a:solidFill>
                <a:latin typeface="Calibri" pitchFamily="34" charset="0"/>
                <a:ea typeface="Calibri" pitchFamily="34" charset="-122"/>
                <a:cs typeface="Calibri" pitchFamily="34" charset="-120"/>
              </a:rPr>
              <a:t>ChatGPT: an assistant you can talk to</a:t>
            </a:r>
            <a:endParaRPr lang="en-US" sz="2000" dirty="0"/>
          </a:p>
        </p:txBody>
      </p:sp>
      <p:sp>
        <p:nvSpPr>
          <p:cNvPr id="9" name="lm 2023"/>
          <p:cNvSpPr txBox="1"/>
          <p:nvPr/>
        </p:nvSpPr>
        <p:spPr>
          <a:xfrm>
            <a:off x="384048" y="3904487"/>
            <a:ext cx="6309360" cy="411480"/>
          </a:xfrm>
          <a:prstGeom prst="rect">
            <a:avLst/>
          </a:prstGeom>
          <a:noFill/>
          <a:ln>
            <a:noFill/>
          </a:ln>
        </p:spPr>
        <p:txBody>
          <a:bodyPr wrap="square" lIns="0" tIns="0" rIns="0" bIns="0" rtlCol="0" anchor="ctr"/>
          <a:lstStyle/>
          <a:p>
            <a:pPr marL="0" indent="0">
              <a:buNone/>
            </a:pPr>
            <a:r>
              <a:rPr lang="en-US" sz="2000" dirty="0">
                <a:solidFill>
                  <a:srgbClr val="362FEC"/>
                </a:solidFill>
                <a:latin typeface="Calibri" pitchFamily="34" charset="0"/>
                <a:ea typeface="Calibri" pitchFamily="34" charset="-122"/>
                <a:cs typeface="Calibri" pitchFamily="34" charset="-120"/>
              </a:rPr>
              <a:t>2023–2024</a:t>
            </a:r>
            <a:r>
              <a:rPr lang="en-US" sz="2000" dirty="0">
                <a:solidFill>
                  <a:srgbClr val="000000"/>
                </a:solidFill>
                <a:latin typeface="Calibri" pitchFamily="34" charset="0"/>
                <a:ea typeface="Calibri" pitchFamily="34" charset="-122"/>
                <a:cs typeface="Calibri" pitchFamily="34" charset="-120"/>
              </a:rPr>
              <a:t>: </a:t>
            </a:r>
            <a:r>
              <a:rPr lang="en-US" sz="2000" dirty="0">
                <a:solidFill>
                  <a:srgbClr val="00B050"/>
                </a:solidFill>
                <a:latin typeface="Calibri" pitchFamily="34" charset="0"/>
                <a:ea typeface="Calibri" pitchFamily="34" charset="-122"/>
                <a:cs typeface="Calibri" pitchFamily="34" charset="-120"/>
              </a:rPr>
              <a:t>GPT-4 and GPT-4o: images and audio in</a:t>
            </a:r>
            <a:endParaRPr lang="en-US" sz="2000" dirty="0"/>
          </a:p>
        </p:txBody>
      </p:sp>
      <p:sp>
        <p:nvSpPr>
          <p:cNvPr id="10" name="lm 2024"/>
          <p:cNvSpPr txBox="1"/>
          <p:nvPr/>
        </p:nvSpPr>
        <p:spPr>
          <a:xfrm>
            <a:off x="384048" y="4343400"/>
            <a:ext cx="6309360" cy="411480"/>
          </a:xfrm>
          <a:prstGeom prst="rect">
            <a:avLst/>
          </a:prstGeom>
          <a:noFill/>
          <a:ln>
            <a:noFill/>
          </a:ln>
        </p:spPr>
        <p:txBody>
          <a:bodyPr wrap="square" lIns="0" tIns="0" rIns="0" bIns="0" rtlCol="0" anchor="ctr"/>
          <a:lstStyle/>
          <a:p>
            <a:pPr marL="0" indent="0">
              <a:buNone/>
            </a:pPr>
            <a:r>
              <a:rPr lang="en-US" sz="2000" dirty="0">
                <a:solidFill>
                  <a:srgbClr val="362FEC"/>
                </a:solidFill>
                <a:latin typeface="Calibri" pitchFamily="34" charset="0"/>
                <a:ea typeface="Calibri" pitchFamily="34" charset="-122"/>
                <a:cs typeface="Calibri" pitchFamily="34" charset="-120"/>
              </a:rPr>
              <a:t>2024–2025</a:t>
            </a:r>
            <a:r>
              <a:rPr lang="en-US" sz="2000" dirty="0">
                <a:solidFill>
                  <a:srgbClr val="000000"/>
                </a:solidFill>
                <a:latin typeface="Calibri" pitchFamily="34" charset="0"/>
                <a:ea typeface="Calibri" pitchFamily="34" charset="-122"/>
                <a:cs typeface="Calibri" pitchFamily="34" charset="-120"/>
              </a:rPr>
              <a:t>: </a:t>
            </a:r>
            <a:r>
              <a:rPr lang="en-US" sz="2000" dirty="0">
                <a:solidFill>
                  <a:srgbClr val="00B050"/>
                </a:solidFill>
                <a:latin typeface="Calibri" pitchFamily="34" charset="0"/>
                <a:ea typeface="Calibri" pitchFamily="34" charset="-122"/>
                <a:cs typeface="Calibri" pitchFamily="34" charset="-120"/>
              </a:rPr>
              <a:t>o1 and R1: reasoning before answering</a:t>
            </a:r>
            <a:endParaRPr lang="en-US" sz="2000" dirty="0"/>
          </a:p>
        </p:txBody>
      </p:sp>
      <p:sp>
        <p:nvSpPr>
          <p:cNvPr id="11" name="lm 2025"/>
          <p:cNvSpPr txBox="1"/>
          <p:nvPr/>
        </p:nvSpPr>
        <p:spPr>
          <a:xfrm>
            <a:off x="384048" y="4782312"/>
            <a:ext cx="6309360" cy="411480"/>
          </a:xfrm>
          <a:prstGeom prst="rect">
            <a:avLst/>
          </a:prstGeom>
          <a:noFill/>
          <a:ln>
            <a:noFill/>
          </a:ln>
        </p:spPr>
        <p:txBody>
          <a:bodyPr wrap="square" lIns="0" tIns="0" rIns="0" bIns="0" rtlCol="0" anchor="ctr"/>
          <a:lstStyle/>
          <a:p>
            <a:pPr marL="0" indent="0">
              <a:buNone/>
            </a:pPr>
            <a:r>
              <a:rPr lang="en-US" sz="2000" dirty="0">
                <a:solidFill>
                  <a:srgbClr val="362FEC"/>
                </a:solidFill>
                <a:latin typeface="Calibri" pitchFamily="34" charset="0"/>
                <a:ea typeface="Calibri" pitchFamily="34" charset="-122"/>
                <a:cs typeface="Calibri" pitchFamily="34" charset="-120"/>
              </a:rPr>
              <a:t>2025</a:t>
            </a:r>
            <a:r>
              <a:rPr lang="en-US" sz="2000" dirty="0">
                <a:solidFill>
                  <a:srgbClr val="000000"/>
                </a:solidFill>
                <a:latin typeface="Calibri" pitchFamily="34" charset="0"/>
                <a:ea typeface="Calibri" pitchFamily="34" charset="-122"/>
                <a:cs typeface="Calibri" pitchFamily="34" charset="-120"/>
              </a:rPr>
              <a:t>: </a:t>
            </a:r>
            <a:r>
              <a:rPr lang="en-US" sz="2000" dirty="0">
                <a:solidFill>
                  <a:srgbClr val="00B050"/>
                </a:solidFill>
                <a:latin typeface="Calibri" pitchFamily="34" charset="0"/>
                <a:ea typeface="Calibri" pitchFamily="34" charset="-122"/>
                <a:cs typeface="Calibri" pitchFamily="34" charset="-120"/>
              </a:rPr>
              <a:t>gold-medal standard at the IMO</a:t>
            </a:r>
            <a:endParaRPr lang="en-US" sz="2000" dirty="0"/>
          </a:p>
        </p:txBody>
      </p:sp>
      <p:sp>
        <p:nvSpPr>
          <p:cNvPr id="12" name="score"/>
          <p:cNvSpPr txBox="1"/>
          <p:nvPr/>
        </p:nvSpPr>
        <p:spPr>
          <a:xfrm>
            <a:off x="8591203" y="1188720"/>
            <a:ext cx="3341716" cy="1097280"/>
          </a:xfrm>
          <a:prstGeom prst="rect">
            <a:avLst/>
          </a:prstGeom>
          <a:noFill/>
        </p:spPr>
        <p:txBody>
          <a:bodyPr wrap="square" lIns="0" tIns="0" rIns="0" bIns="0">
            <a:spAutoFit/>
          </a:bodyPr>
          <a:lstStyle/>
          <a:p>
            <a:pPr algn="ctr">
              <a:spcAft>
                <a:spcPts val="1000"/>
              </a:spcAft>
            </a:pPr>
            <a:r>
              <a:rPr sz="6600" b="1" i="0">
                <a:solidFill>
                  <a:srgbClr val="FF0000"/>
                </a:solidFill>
                <a:latin typeface="Calibri"/>
              </a:rPr>
              <a:t>35</a:t>
            </a:r>
            <a:r>
              <a:rPr sz="4400" b="1" i="0">
                <a:solidFill>
                  <a:srgbClr val="595959"/>
                </a:solidFill>
                <a:latin typeface="Calibri"/>
              </a:rPr>
              <a:t>/42</a:t>
            </a:r>
          </a:p>
        </p:txBody>
      </p:sp>
      <p:grpSp>
        <p:nvGrpSpPr>
          <p:cNvPr id="13" name="problems"/>
          <p:cNvGrpSpPr/>
          <p:nvPr/>
        </p:nvGrpSpPr>
        <p:grpSpPr>
          <a:xfrm>
            <a:off x="6812280" y="2514600"/>
            <a:ext cx="5120640" cy="1188720"/>
            <a:chOff x="6812280" y="2514600"/>
            <a:chExt cx="5120640" cy="1188720"/>
          </a:xfrm>
        </p:grpSpPr>
        <p:sp>
          <p:nvSpPr>
            <p:cNvPr id="14" name="Rounded Rectangle 13"/>
            <p:cNvSpPr/>
            <p:nvPr/>
          </p:nvSpPr>
          <p:spPr>
            <a:xfrm>
              <a:off x="6812280" y="2514600"/>
              <a:ext cx="731520" cy="777240"/>
            </a:xfrm>
            <a:prstGeom prst="roundRect">
              <a:avLst>
                <a:gd name="adj" fmla="val 12000"/>
              </a:avLst>
            </a:prstGeom>
            <a:solidFill>
              <a:srgbClr val="D9F2E4"/>
            </a:solidFill>
            <a:ln>
              <a:noFill/>
            </a:ln>
          </p:spPr>
          <p:style>
            <a:lnRef idx="1">
              <a:schemeClr val="accent1"/>
            </a:lnRef>
            <a:fillRef idx="3">
              <a:schemeClr val="accent1"/>
            </a:fillRef>
            <a:effectRef idx="2">
              <a:schemeClr val="accent1"/>
            </a:effectRef>
            <a:fontRef idx="minor">
              <a:schemeClr val="lt1"/>
            </a:fontRef>
          </p:style>
          <p:txBody>
            <a:bodyPr wrap="square" lIns="45720" rIns="45720" rtlCol="0" anchor="ctr"/>
            <a:lstStyle/>
            <a:p>
              <a:pPr algn="ctr"/>
              <a:r>
                <a:rPr sz="1600" b="1">
                  <a:solidFill>
                    <a:srgbClr val="00843D"/>
                  </a:solidFill>
                  <a:latin typeface="Calibri"/>
                </a:rPr>
                <a:t>P1</a:t>
              </a:r>
              <a:br>
                <a:rPr sz="1600" b="1">
                  <a:solidFill>
                    <a:srgbClr val="00843D"/>
                  </a:solidFill>
                  <a:latin typeface="Calibri"/>
                </a:rPr>
              </a:br>
              <a:r>
                <a:rPr sz="1600" b="1">
                  <a:solidFill>
                    <a:srgbClr val="00843D"/>
                  </a:solidFill>
                  <a:latin typeface="Calibri"/>
                </a:rPr>
                <a:t>✓</a:t>
              </a:r>
            </a:p>
          </p:txBody>
        </p:sp>
        <p:sp>
          <p:nvSpPr>
            <p:cNvPr id="15" name="Rounded Rectangle 14"/>
            <p:cNvSpPr/>
            <p:nvPr/>
          </p:nvSpPr>
          <p:spPr>
            <a:xfrm>
              <a:off x="7690104" y="2514600"/>
              <a:ext cx="731520" cy="777240"/>
            </a:xfrm>
            <a:prstGeom prst="roundRect">
              <a:avLst>
                <a:gd name="adj" fmla="val 12000"/>
              </a:avLst>
            </a:prstGeom>
            <a:solidFill>
              <a:srgbClr val="D9F2E4"/>
            </a:solidFill>
            <a:ln>
              <a:noFill/>
            </a:ln>
          </p:spPr>
          <p:style>
            <a:lnRef idx="1">
              <a:schemeClr val="accent1"/>
            </a:lnRef>
            <a:fillRef idx="3">
              <a:schemeClr val="accent1"/>
            </a:fillRef>
            <a:effectRef idx="2">
              <a:schemeClr val="accent1"/>
            </a:effectRef>
            <a:fontRef idx="minor">
              <a:schemeClr val="lt1"/>
            </a:fontRef>
          </p:style>
          <p:txBody>
            <a:bodyPr wrap="square" lIns="45720" rIns="45720" rtlCol="0" anchor="ctr"/>
            <a:lstStyle/>
            <a:p>
              <a:pPr algn="ctr"/>
              <a:r>
                <a:rPr sz="1600" b="1">
                  <a:solidFill>
                    <a:srgbClr val="00843D"/>
                  </a:solidFill>
                  <a:latin typeface="Calibri"/>
                </a:rPr>
                <a:t>P2</a:t>
              </a:r>
              <a:br>
                <a:rPr sz="1600" b="1">
                  <a:solidFill>
                    <a:srgbClr val="00843D"/>
                  </a:solidFill>
                  <a:latin typeface="Calibri"/>
                </a:rPr>
              </a:br>
              <a:r>
                <a:rPr sz="1600" b="1">
                  <a:solidFill>
                    <a:srgbClr val="00843D"/>
                  </a:solidFill>
                  <a:latin typeface="Calibri"/>
                </a:rPr>
                <a:t>✓</a:t>
              </a:r>
            </a:p>
          </p:txBody>
        </p:sp>
        <p:sp>
          <p:nvSpPr>
            <p:cNvPr id="16" name="Rounded Rectangle 15"/>
            <p:cNvSpPr/>
            <p:nvPr/>
          </p:nvSpPr>
          <p:spPr>
            <a:xfrm>
              <a:off x="8567928" y="2514600"/>
              <a:ext cx="731520" cy="777240"/>
            </a:xfrm>
            <a:prstGeom prst="roundRect">
              <a:avLst>
                <a:gd name="adj" fmla="val 12000"/>
              </a:avLst>
            </a:prstGeom>
            <a:solidFill>
              <a:srgbClr val="D9F2E4"/>
            </a:solidFill>
            <a:ln>
              <a:noFill/>
            </a:ln>
          </p:spPr>
          <p:style>
            <a:lnRef idx="1">
              <a:schemeClr val="accent1"/>
            </a:lnRef>
            <a:fillRef idx="3">
              <a:schemeClr val="accent1"/>
            </a:fillRef>
            <a:effectRef idx="2">
              <a:schemeClr val="accent1"/>
            </a:effectRef>
            <a:fontRef idx="minor">
              <a:schemeClr val="lt1"/>
            </a:fontRef>
          </p:style>
          <p:txBody>
            <a:bodyPr wrap="square" lIns="45720" rIns="45720" rtlCol="0" anchor="ctr"/>
            <a:lstStyle/>
            <a:p>
              <a:pPr algn="ctr"/>
              <a:r>
                <a:rPr sz="1600" b="1">
                  <a:solidFill>
                    <a:srgbClr val="00843D"/>
                  </a:solidFill>
                  <a:latin typeface="Calibri"/>
                </a:rPr>
                <a:t>P3</a:t>
              </a:r>
              <a:br>
                <a:rPr sz="1600" b="1">
                  <a:solidFill>
                    <a:srgbClr val="00843D"/>
                  </a:solidFill>
                  <a:latin typeface="Calibri"/>
                </a:rPr>
              </a:br>
              <a:r>
                <a:rPr sz="1600" b="1">
                  <a:solidFill>
                    <a:srgbClr val="00843D"/>
                  </a:solidFill>
                  <a:latin typeface="Calibri"/>
                </a:rPr>
                <a:t>✓</a:t>
              </a:r>
            </a:p>
          </p:txBody>
        </p:sp>
        <p:sp>
          <p:nvSpPr>
            <p:cNvPr id="17" name="Rounded Rectangle 16"/>
            <p:cNvSpPr/>
            <p:nvPr/>
          </p:nvSpPr>
          <p:spPr>
            <a:xfrm>
              <a:off x="9445752" y="2514600"/>
              <a:ext cx="731520" cy="777240"/>
            </a:xfrm>
            <a:prstGeom prst="roundRect">
              <a:avLst>
                <a:gd name="adj" fmla="val 12000"/>
              </a:avLst>
            </a:prstGeom>
            <a:solidFill>
              <a:srgbClr val="D9F2E4"/>
            </a:solidFill>
            <a:ln>
              <a:noFill/>
            </a:ln>
          </p:spPr>
          <p:style>
            <a:lnRef idx="1">
              <a:schemeClr val="accent1"/>
            </a:lnRef>
            <a:fillRef idx="3">
              <a:schemeClr val="accent1"/>
            </a:fillRef>
            <a:effectRef idx="2">
              <a:schemeClr val="accent1"/>
            </a:effectRef>
            <a:fontRef idx="minor">
              <a:schemeClr val="lt1"/>
            </a:fontRef>
          </p:style>
          <p:txBody>
            <a:bodyPr wrap="square" lIns="45720" rIns="45720" rtlCol="0" anchor="ctr"/>
            <a:lstStyle/>
            <a:p>
              <a:pPr algn="ctr"/>
              <a:r>
                <a:rPr sz="1600" b="1">
                  <a:solidFill>
                    <a:srgbClr val="00843D"/>
                  </a:solidFill>
                  <a:latin typeface="Calibri"/>
                </a:rPr>
                <a:t>P4</a:t>
              </a:r>
              <a:br>
                <a:rPr sz="1600" b="1">
                  <a:solidFill>
                    <a:srgbClr val="00843D"/>
                  </a:solidFill>
                  <a:latin typeface="Calibri"/>
                </a:rPr>
              </a:br>
              <a:r>
                <a:rPr sz="1600" b="1">
                  <a:solidFill>
                    <a:srgbClr val="00843D"/>
                  </a:solidFill>
                  <a:latin typeface="Calibri"/>
                </a:rPr>
                <a:t>✓</a:t>
              </a:r>
            </a:p>
          </p:txBody>
        </p:sp>
        <p:sp>
          <p:nvSpPr>
            <p:cNvPr id="18" name="Rounded Rectangle 17"/>
            <p:cNvSpPr/>
            <p:nvPr/>
          </p:nvSpPr>
          <p:spPr>
            <a:xfrm>
              <a:off x="10323576" y="2514600"/>
              <a:ext cx="731520" cy="777240"/>
            </a:xfrm>
            <a:prstGeom prst="roundRect">
              <a:avLst>
                <a:gd name="adj" fmla="val 12000"/>
              </a:avLst>
            </a:prstGeom>
            <a:solidFill>
              <a:srgbClr val="D9F2E4"/>
            </a:solidFill>
            <a:ln>
              <a:noFill/>
            </a:ln>
          </p:spPr>
          <p:style>
            <a:lnRef idx="1">
              <a:schemeClr val="accent1"/>
            </a:lnRef>
            <a:fillRef idx="3">
              <a:schemeClr val="accent1"/>
            </a:fillRef>
            <a:effectRef idx="2">
              <a:schemeClr val="accent1"/>
            </a:effectRef>
            <a:fontRef idx="minor">
              <a:schemeClr val="lt1"/>
            </a:fontRef>
          </p:style>
          <p:txBody>
            <a:bodyPr wrap="square" lIns="45720" rIns="45720" rtlCol="0" anchor="ctr"/>
            <a:lstStyle/>
            <a:p>
              <a:pPr algn="ctr"/>
              <a:r>
                <a:rPr sz="1600" b="1">
                  <a:solidFill>
                    <a:srgbClr val="00843D"/>
                  </a:solidFill>
                  <a:latin typeface="Calibri"/>
                </a:rPr>
                <a:t>P5</a:t>
              </a:r>
              <a:br>
                <a:rPr sz="1600" b="1">
                  <a:solidFill>
                    <a:srgbClr val="00843D"/>
                  </a:solidFill>
                  <a:latin typeface="Calibri"/>
                </a:rPr>
              </a:br>
              <a:r>
                <a:rPr sz="1600" b="1">
                  <a:solidFill>
                    <a:srgbClr val="00843D"/>
                  </a:solidFill>
                  <a:latin typeface="Calibri"/>
                </a:rPr>
                <a:t>✓</a:t>
              </a:r>
            </a:p>
          </p:txBody>
        </p:sp>
        <p:sp>
          <p:nvSpPr>
            <p:cNvPr id="19" name="Rounded Rectangle 18"/>
            <p:cNvSpPr/>
            <p:nvPr/>
          </p:nvSpPr>
          <p:spPr>
            <a:xfrm>
              <a:off x="11201400" y="2514600"/>
              <a:ext cx="731520" cy="777240"/>
            </a:xfrm>
            <a:prstGeom prst="roundRect">
              <a:avLst>
                <a:gd name="adj" fmla="val 12000"/>
              </a:avLst>
            </a:prstGeom>
            <a:solidFill>
              <a:srgbClr val="EDEDED"/>
            </a:solidFill>
            <a:ln>
              <a:noFill/>
            </a:ln>
          </p:spPr>
          <p:style>
            <a:lnRef idx="1">
              <a:schemeClr val="accent1"/>
            </a:lnRef>
            <a:fillRef idx="3">
              <a:schemeClr val="accent1"/>
            </a:fillRef>
            <a:effectRef idx="2">
              <a:schemeClr val="accent1"/>
            </a:effectRef>
            <a:fontRef idx="minor">
              <a:schemeClr val="lt1"/>
            </a:fontRef>
          </p:style>
          <p:txBody>
            <a:bodyPr wrap="square" lIns="45720" rIns="45720" rtlCol="0" anchor="ctr"/>
            <a:lstStyle/>
            <a:p>
              <a:pPr algn="ctr"/>
              <a:r>
                <a:rPr sz="1600" b="1">
                  <a:solidFill>
                    <a:srgbClr val="595959"/>
                  </a:solidFill>
                  <a:latin typeface="Calibri"/>
                </a:rPr>
                <a:t>P6</a:t>
              </a:r>
              <a:br>
                <a:rPr sz="1600" b="1">
                  <a:solidFill>
                    <a:srgbClr val="595959"/>
                  </a:solidFill>
                  <a:latin typeface="Calibri"/>
                </a:rPr>
              </a:br>
              <a:r>
                <a:rPr sz="1600" b="1">
                  <a:solidFill>
                    <a:srgbClr val="595959"/>
                  </a:solidFill>
                  <a:latin typeface="Calibri"/>
                </a:rPr>
                <a:t>✗</a:t>
              </a:r>
            </a:p>
          </p:txBody>
        </p:sp>
        <p:sp>
          <p:nvSpPr>
            <p:cNvPr id="20" name="TextBox 19"/>
            <p:cNvSpPr txBox="1"/>
            <p:nvPr/>
          </p:nvSpPr>
          <p:spPr>
            <a:xfrm>
              <a:off x="6812280" y="3429000"/>
              <a:ext cx="5120640" cy="274320"/>
            </a:xfrm>
            <a:prstGeom prst="rect">
              <a:avLst/>
            </a:prstGeom>
            <a:noFill/>
          </p:spPr>
          <p:txBody>
            <a:bodyPr wrap="square" lIns="0" tIns="0" rIns="0" bIns="0" anchor="t">
              <a:spAutoFit/>
            </a:bodyPr>
            <a:lstStyle/>
            <a:p>
              <a:pPr algn="ctr"/>
              <a:r>
                <a:rPr sz="1400" b="0" i="0">
                  <a:solidFill>
                    <a:srgbClr val="000000"/>
                  </a:solidFill>
                  <a:latin typeface="Calibri"/>
                </a:rPr>
                <a:t>5 of 6 problems, 7 points each; the gold cutoff was 35</a:t>
              </a:r>
            </a:p>
          </p:txBody>
        </p:sp>
      </p:grpSp>
      <p:sp>
        <p:nvSpPr>
          <p:cNvPr id="21" name="description"/>
          <p:cNvSpPr txBox="1"/>
          <p:nvPr/>
        </p:nvSpPr>
        <p:spPr>
          <a:xfrm>
            <a:off x="6812280" y="3977639"/>
            <a:ext cx="5120640" cy="502920"/>
          </a:xfrm>
          <a:prstGeom prst="rect">
            <a:avLst/>
          </a:prstGeom>
          <a:noFill/>
        </p:spPr>
        <p:txBody>
          <a:bodyPr wrap="square" lIns="0" tIns="0" rIns="0" bIns="0" anchor="t">
            <a:spAutoFit/>
          </a:bodyPr>
          <a:lstStyle/>
          <a:p>
            <a:pPr algn="l"/>
            <a:r>
              <a:rPr sz="1400" b="0" i="0">
                <a:solidFill>
                  <a:srgbClr val="595959"/>
                </a:solidFill>
                <a:latin typeface="Calibri"/>
              </a:rPr>
              <a:t>An advanced version of Gemini Deep Think wrote natural-language proofs within the 4.5-hour limit, graded by the IMO coordinators (July 2025).</a:t>
            </a:r>
          </a:p>
        </p:txBody>
      </p:sp>
      <p:pic>
        <p:nvPicPr>
          <p:cNvPr id="22" name="IMO logo" descr="imo_logo.png"/>
          <p:cNvPicPr>
            <a:picLocks noChangeAspect="1"/>
          </p:cNvPicPr>
          <p:nvPr/>
        </p:nvPicPr>
        <p:blipFill>
          <a:blip r:embed="rId3"/>
          <a:stretch>
            <a:fillRect/>
          </a:stretch>
        </p:blipFill>
        <p:spPr>
          <a:xfrm>
            <a:off x="6812280" y="1188720"/>
            <a:ext cx="1596043" cy="1097280"/>
          </a:xfrm>
          <a:prstGeom prst="rect">
            <a:avLst/>
          </a:prstGeom>
        </p:spPr>
      </p:pic>
      <p:sp>
        <p:nvSpPr>
          <p:cNvPr id="23" name="post link"/>
          <p:cNvSpPr txBox="1"/>
          <p:nvPr/>
        </p:nvSpPr>
        <p:spPr>
          <a:xfrm>
            <a:off x="6812280" y="4800600"/>
            <a:ext cx="5120640" cy="320040"/>
          </a:xfrm>
          <a:prstGeom prst="rect">
            <a:avLst/>
          </a:prstGeom>
          <a:noFill/>
        </p:spPr>
        <p:txBody>
          <a:bodyPr wrap="square" lIns="0" rIns="0" tIns="0" bIns="0">
            <a:spAutoFit/>
          </a:bodyPr>
          <a:lstStyle/>
          <a:p>
            <a:pPr algn="l">
              <a:spcAft>
                <a:spcPts val="1000"/>
              </a:spcAft>
            </a:pPr>
            <a:r>
              <a:rPr sz="1200" b="0" i="0">
                <a:solidFill>
                  <a:srgbClr val="595959"/>
                </a:solidFill>
                <a:latin typeface="Calibri"/>
              </a:rPr>
              <a:t>Gemini Deep Think at gold-medal level: </a:t>
            </a:r>
            <a:r>
              <a:rPr sz="1200" b="0" i="0">
                <a:solidFill>
                  <a:srgbClr val="362FEC"/>
                </a:solidFill>
                <a:latin typeface="Calibri"/>
                <a:hlinkClick r:id="rId4"/>
              </a:rPr>
              <a:t>the post on r/singularity</a:t>
            </a:r>
          </a:p>
        </p:txBody>
      </p:sp>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11"/>
                                        </p:tgtEl>
                                        <p:attrNameLst>
                                          <p:attrName>style.visibility</p:attrName>
                                        </p:attrNameLst>
                                      </p:cBhvr>
                                      <p:to>
                                        <p:strVal val="visible"/>
                                      </p:to>
                                    </p:set>
                                  </p:childTnLst>
                                </p:cTn>
                              </p:par>
                              <p:par>
                                <p:cTn id="7" presetID="1" presetClass="entr" presetSubtype="0" fill="hold" grpId="0" nodeType="withEffect">
                                  <p:stCondLst>
                                    <p:cond delay="0"/>
                                  </p:stCondLst>
                                  <p:childTnLst>
                                    <p:set>
                                      <p:cBhvr>
                                        <p:cTn id="8" dur="1" fill="hold">
                                          <p:stCondLst>
                                            <p:cond delay="0"/>
                                          </p:stCondLst>
                                        </p:cTn>
                                        <p:tgtEl>
                                          <p:spTgt spid="22"/>
                                        </p:tgtEl>
                                        <p:attrNameLst>
                                          <p:attrName>style.visibility</p:attrName>
                                        </p:attrNameLst>
                                      </p:cBhvr>
                                      <p:to>
                                        <p:strVal val="visible"/>
                                      </p:to>
                                    </p:set>
                                  </p:childTnLst>
                                </p:cTn>
                              </p:par>
                              <p:par>
                                <p:cTn id="9" presetID="1" presetClass="entr" presetSubtype="0" fill="hold" grpId="0" nodeType="withEffect">
                                  <p:stCondLst>
                                    <p:cond delay="0"/>
                                  </p:stCondLst>
                                  <p:childTnLst>
                                    <p:set>
                                      <p:cBhvr>
                                        <p:cTn id="10" dur="1" fill="hold">
                                          <p:stCondLst>
                                            <p:cond delay="0"/>
                                          </p:stCondLst>
                                        </p:cTn>
                                        <p:tgtEl>
                                          <p:spTgt spid="12"/>
                                        </p:tgtEl>
                                        <p:attrNameLst>
                                          <p:attrName>style.visibility</p:attrName>
                                        </p:attrNameLst>
                                      </p:cBhvr>
                                      <p:to>
                                        <p:strVal val="visible"/>
                                      </p:to>
                                    </p:set>
                                  </p:childTnLst>
                                </p:cTn>
                              </p:par>
                              <p:par>
                                <p:cTn id="11" presetID="1" presetClass="entr" presetSubtype="0" fill="hold" grpId="0" nodeType="withEffect">
                                  <p:stCondLst>
                                    <p:cond delay="0"/>
                                  </p:stCondLst>
                                  <p:childTnLst>
                                    <p:set>
                                      <p:cBhvr>
                                        <p:cTn id="12" dur="1" fill="hold">
                                          <p:stCondLst>
                                            <p:cond delay="0"/>
                                          </p:stCondLst>
                                        </p:cTn>
                                        <p:tgtEl>
                                          <p:spTgt spid="13"/>
                                        </p:tgtEl>
                                        <p:attrNameLst>
                                          <p:attrName>style.visibility</p:attrName>
                                        </p:attrNameLst>
                                      </p:cBhvr>
                                      <p:to>
                                        <p:strVal val="visible"/>
                                      </p:to>
                                    </p:set>
                                  </p:childTnLst>
                                </p:cTn>
                              </p:par>
                              <p:par>
                                <p:cTn id="13" presetID="1" presetClass="entr" presetSubtype="0" fill="hold" grpId="0" nodeType="withEffect">
                                  <p:stCondLst>
                                    <p:cond delay="0"/>
                                  </p:stCondLst>
                                  <p:childTnLst>
                                    <p:set>
                                      <p:cBhvr>
                                        <p:cTn id="14" dur="1" fill="hold">
                                          <p:stCondLst>
                                            <p:cond delay="0"/>
                                          </p:stCondLst>
                                        </p:cTn>
                                        <p:tgtEl>
                                          <p:spTgt spid="21"/>
                                        </p:tgtEl>
                                        <p:attrNameLst>
                                          <p:attrName>style.visibility</p:attrName>
                                        </p:attrNameLst>
                                      </p:cBhvr>
                                      <p:to>
                                        <p:strVal val="visible"/>
                                      </p:to>
                                    </p:set>
                                  </p:childTnLst>
                                </p:cTn>
                              </p:par>
                              <p:par>
                                <p:cTn id="15" presetID="1" presetClass="entr" presetSubtype="0" fill="hold" grpId="0" nodeType="withEffect">
                                  <p:stCondLst>
                                    <p:cond delay="0"/>
                                  </p:stCondLst>
                                  <p:childTnLst>
                                    <p:set>
                                      <p:cBhvr>
                                        <p:cTn id="16" dur="1" fill="hold">
                                          <p:stCondLst>
                                            <p:cond delay="0"/>
                                          </p:stCondLst>
                                        </p:cTn>
                                        <p:tgtEl>
                                          <p:spTgt spid="23"/>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1" grpId="0"/>
      <p:bldP spid="12" grpId="0"/>
      <p:bldP spid="21" grpId="0"/>
      <p:bldP spid="23" grpId="0"/>
    </p:bldLst>
  </p:timing>
</p:sld>
</file>

<file path=ppt/slides/slide2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b0_2">
            <a:extLst>
              <a:ext uri="{FF2B5EF4-FFF2-40B4-BE49-F238E27FC236}">
                <a16:creationId xmlns:a16="http://schemas.microsoft.com/office/drawing/2014/main" id="{33DE8782-7F2B-1033-00F6-2A6652EE0E80}"/>
              </a:ext>
            </a:extLst>
          </p:cNvPr>
          <p:cNvSpPr txBox="1"/>
          <p:nvPr/>
        </p:nvSpPr>
        <p:spPr>
          <a:xfrm>
            <a:off x="0" y="148566"/>
            <a:ext cx="11680992" cy="548640"/>
          </a:xfrm>
          <a:prstGeom prst="rect">
            <a:avLst/>
          </a:prstGeom>
          <a:noFill/>
          <a:ln>
            <a:noFill/>
          </a:ln>
        </p:spPr>
        <p:txBody>
          <a:bodyPr wrap="square" rtlCol="0" anchor="ctr"/>
          <a:lstStyle/>
          <a:p>
            <a:r>
              <a:rPr lang="en-US" sz="3200" b="1" dirty="0">
                <a:latin typeface="Calibri" pitchFamily="34" charset="0"/>
                <a:ea typeface="Calibri" pitchFamily="34" charset="-122"/>
                <a:cs typeface="Calibri" pitchFamily="34" charset="-120"/>
              </a:rPr>
              <a:t>From </a:t>
            </a:r>
            <a:r>
              <a:rPr lang="en-US" sz="3200" b="1" dirty="0">
                <a:solidFill>
                  <a:srgbClr val="FF0000"/>
                </a:solidFill>
                <a:latin typeface="Calibri" pitchFamily="34" charset="0"/>
                <a:ea typeface="Calibri" pitchFamily="34" charset="-122"/>
                <a:cs typeface="Calibri" pitchFamily="34" charset="-120"/>
              </a:rPr>
              <a:t>Computation</a:t>
            </a:r>
            <a:r>
              <a:rPr lang="en-US" sz="3200" b="1" dirty="0">
                <a:latin typeface="Calibri" pitchFamily="34" charset="0"/>
                <a:ea typeface="Calibri" pitchFamily="34" charset="-122"/>
                <a:cs typeface="Calibri" pitchFamily="34" charset="-120"/>
              </a:rPr>
              <a:t> to </a:t>
            </a:r>
            <a:r>
              <a:rPr lang="en-US" sz="3200" b="1" dirty="0">
                <a:solidFill>
                  <a:srgbClr val="362FEC"/>
                </a:solidFill>
                <a:latin typeface="Calibri" pitchFamily="34" charset="0"/>
                <a:ea typeface="Calibri" pitchFamily="34" charset="-122"/>
                <a:cs typeface="Calibri" pitchFamily="34" charset="-120"/>
              </a:rPr>
              <a:t>Language Models</a:t>
            </a:r>
            <a:endParaRPr lang="en-US" sz="3200" dirty="0">
              <a:solidFill>
                <a:srgbClr val="362FEC"/>
              </a:solidFill>
            </a:endParaRPr>
          </a:p>
        </p:txBody>
      </p:sp>
      <p:sp>
        <p:nvSpPr>
          <p:cNvPr id="3" name="!!computation">
            <a:extLst>
              <a:ext uri="{FF2B5EF4-FFF2-40B4-BE49-F238E27FC236}">
                <a16:creationId xmlns:a16="http://schemas.microsoft.com/office/drawing/2014/main" id="{691E18F7-4F41-2F97-0124-8C09DE463973}"/>
              </a:ext>
            </a:extLst>
          </p:cNvPr>
          <p:cNvSpPr txBox="1"/>
          <p:nvPr/>
        </p:nvSpPr>
        <p:spPr>
          <a:xfrm>
            <a:off x="168339" y="980102"/>
            <a:ext cx="6355080" cy="707886"/>
          </a:xfrm>
          <a:prstGeom prst="rect">
            <a:avLst/>
          </a:prstGeom>
          <a:noFill/>
        </p:spPr>
        <p:txBody>
          <a:bodyPr wrap="square" rtlCol="0">
            <a:spAutoFit/>
          </a:bodyPr>
          <a:lstStyle/>
          <a:p>
            <a:r>
              <a:rPr lang="en-US" sz="2000" dirty="0">
                <a:latin typeface="Calibri" panose="020F0502020204030204" pitchFamily="34" charset="0"/>
                <a:cs typeface="Calibri" panose="020F0502020204030204" pitchFamily="34" charset="0"/>
              </a:rPr>
              <a:t>This is taken even further by the ability to transform information: Computation.</a:t>
            </a:r>
          </a:p>
        </p:txBody>
      </p:sp>
      <p:sp>
        <p:nvSpPr>
          <p:cNvPr id="4" name="LM heading">
            <a:extLst>
              <a:ext uri="{FF2B5EF4-FFF2-40B4-BE49-F238E27FC236}">
                <a16:creationId xmlns:a16="http://schemas.microsoft.com/office/drawing/2014/main" id="{5CB8A4AA-40B1-94AE-8EEE-080599481F78}"/>
              </a:ext>
            </a:extLst>
          </p:cNvPr>
          <p:cNvSpPr txBox="1"/>
          <p:nvPr/>
        </p:nvSpPr>
        <p:spPr>
          <a:xfrm>
            <a:off x="291358" y="1687988"/>
            <a:ext cx="3171479" cy="411480"/>
          </a:xfrm>
          <a:prstGeom prst="rect">
            <a:avLst/>
          </a:prstGeom>
          <a:noFill/>
          <a:ln>
            <a:noFill/>
          </a:ln>
        </p:spPr>
        <p:txBody>
          <a:bodyPr wrap="square" lIns="0" tIns="0" rIns="0" bIns="0" rtlCol="0" anchor="ctr"/>
          <a:lstStyle/>
          <a:p>
            <a:pPr marL="0" indent="0">
              <a:buNone/>
            </a:pPr>
            <a:r>
              <a:rPr lang="en-US" sz="2000" b="1" dirty="0">
                <a:solidFill>
                  <a:srgbClr val="362FEC"/>
                </a:solidFill>
                <a:latin typeface="Calibri" panose="020F0502020204030204" pitchFamily="34" charset="0"/>
                <a:cs typeface="Calibri" panose="020F0502020204030204" pitchFamily="34" charset="0"/>
              </a:rPr>
              <a:t>Language Models</a:t>
            </a:r>
          </a:p>
        </p:txBody>
      </p:sp>
      <p:sp>
        <p:nvSpPr>
          <p:cNvPr id="5" name="lm 2017"/>
          <p:cNvSpPr txBox="1"/>
          <p:nvPr/>
        </p:nvSpPr>
        <p:spPr>
          <a:xfrm>
            <a:off x="384048" y="2148840"/>
            <a:ext cx="6309360" cy="411480"/>
          </a:xfrm>
          <a:prstGeom prst="rect">
            <a:avLst/>
          </a:prstGeom>
          <a:noFill/>
          <a:ln>
            <a:noFill/>
          </a:ln>
        </p:spPr>
        <p:txBody>
          <a:bodyPr wrap="square" lIns="0" tIns="0" rIns="0" bIns="0" rtlCol="0" anchor="ctr"/>
          <a:lstStyle/>
          <a:p>
            <a:pPr marL="0" indent="0">
              <a:buNone/>
            </a:pPr>
            <a:r>
              <a:rPr lang="en-US" sz="2000" dirty="0">
                <a:solidFill>
                  <a:srgbClr val="362FEC"/>
                </a:solidFill>
                <a:latin typeface="Calibri" pitchFamily="34" charset="0"/>
                <a:ea typeface="Calibri" pitchFamily="34" charset="-122"/>
                <a:cs typeface="Calibri" pitchFamily="34" charset="-120"/>
              </a:rPr>
              <a:t>2017</a:t>
            </a:r>
            <a:r>
              <a:rPr lang="en-US" sz="2000" dirty="0">
                <a:solidFill>
                  <a:srgbClr val="000000"/>
                </a:solidFill>
                <a:latin typeface="Calibri" pitchFamily="34" charset="0"/>
                <a:ea typeface="Calibri" pitchFamily="34" charset="-122"/>
                <a:cs typeface="Calibri" pitchFamily="34" charset="-120"/>
              </a:rPr>
              <a:t>: </a:t>
            </a:r>
            <a:r>
              <a:rPr lang="en-US" sz="2000" dirty="0">
                <a:solidFill>
                  <a:srgbClr val="00B050"/>
                </a:solidFill>
                <a:latin typeface="Calibri" pitchFamily="34" charset="0"/>
                <a:ea typeface="Calibri" pitchFamily="34" charset="-122"/>
                <a:cs typeface="Calibri" pitchFamily="34" charset="-120"/>
              </a:rPr>
              <a:t>the Transformer</a:t>
            </a:r>
            <a:endParaRPr lang="en-US" sz="2000" dirty="0"/>
          </a:p>
        </p:txBody>
      </p:sp>
      <p:sp>
        <p:nvSpPr>
          <p:cNvPr id="6" name="lm 2018"/>
          <p:cNvSpPr txBox="1"/>
          <p:nvPr/>
        </p:nvSpPr>
        <p:spPr>
          <a:xfrm>
            <a:off x="384048" y="2587752"/>
            <a:ext cx="6309360" cy="411480"/>
          </a:xfrm>
          <a:prstGeom prst="rect">
            <a:avLst/>
          </a:prstGeom>
          <a:noFill/>
          <a:ln>
            <a:noFill/>
          </a:ln>
        </p:spPr>
        <p:txBody>
          <a:bodyPr wrap="square" lIns="0" tIns="0" rIns="0" bIns="0" rtlCol="0" anchor="ctr"/>
          <a:lstStyle/>
          <a:p>
            <a:pPr marL="0" indent="0">
              <a:buNone/>
            </a:pPr>
            <a:r>
              <a:rPr lang="en-US" sz="2000" dirty="0">
                <a:solidFill>
                  <a:srgbClr val="362FEC"/>
                </a:solidFill>
                <a:latin typeface="Calibri" pitchFamily="34" charset="0"/>
                <a:ea typeface="Calibri" pitchFamily="34" charset="-122"/>
                <a:cs typeface="Calibri" pitchFamily="34" charset="-120"/>
              </a:rPr>
              <a:t>2018</a:t>
            </a:r>
            <a:r>
              <a:rPr lang="en-US" sz="2000" dirty="0">
                <a:solidFill>
                  <a:srgbClr val="000000"/>
                </a:solidFill>
                <a:latin typeface="Calibri" pitchFamily="34" charset="0"/>
                <a:ea typeface="Calibri" pitchFamily="34" charset="-122"/>
                <a:cs typeface="Calibri" pitchFamily="34" charset="-120"/>
              </a:rPr>
              <a:t>: </a:t>
            </a:r>
            <a:r>
              <a:rPr lang="en-US" sz="2000" dirty="0">
                <a:solidFill>
                  <a:srgbClr val="00B050"/>
                </a:solidFill>
                <a:latin typeface="Calibri" pitchFamily="34" charset="0"/>
                <a:ea typeface="Calibri" pitchFamily="34" charset="-122"/>
                <a:cs typeface="Calibri" pitchFamily="34" charset="-120"/>
              </a:rPr>
              <a:t>GPT and BERT: pretrain, then fine-tune</a:t>
            </a:r>
            <a:endParaRPr lang="en-US" sz="2000" dirty="0"/>
          </a:p>
        </p:txBody>
      </p:sp>
      <p:sp>
        <p:nvSpPr>
          <p:cNvPr id="7" name="lm 2020"/>
          <p:cNvSpPr txBox="1"/>
          <p:nvPr/>
        </p:nvSpPr>
        <p:spPr>
          <a:xfrm>
            <a:off x="384048" y="3026664"/>
            <a:ext cx="6309360" cy="411480"/>
          </a:xfrm>
          <a:prstGeom prst="rect">
            <a:avLst/>
          </a:prstGeom>
          <a:noFill/>
          <a:ln>
            <a:noFill/>
          </a:ln>
        </p:spPr>
        <p:txBody>
          <a:bodyPr wrap="square" lIns="0" tIns="0" rIns="0" bIns="0" rtlCol="0" anchor="ctr"/>
          <a:lstStyle/>
          <a:p>
            <a:pPr marL="0" indent="0">
              <a:buNone/>
            </a:pPr>
            <a:r>
              <a:rPr lang="en-US" sz="2000" dirty="0">
                <a:solidFill>
                  <a:srgbClr val="362FEC"/>
                </a:solidFill>
                <a:latin typeface="Calibri" pitchFamily="34" charset="0"/>
                <a:ea typeface="Calibri" pitchFamily="34" charset="-122"/>
                <a:cs typeface="Calibri" pitchFamily="34" charset="-120"/>
              </a:rPr>
              <a:t>2020</a:t>
            </a:r>
            <a:r>
              <a:rPr lang="en-US" sz="2000" dirty="0">
                <a:solidFill>
                  <a:srgbClr val="000000"/>
                </a:solidFill>
                <a:latin typeface="Calibri" pitchFamily="34" charset="0"/>
                <a:ea typeface="Calibri" pitchFamily="34" charset="-122"/>
                <a:cs typeface="Calibri" pitchFamily="34" charset="-120"/>
              </a:rPr>
              <a:t>: </a:t>
            </a:r>
            <a:r>
              <a:rPr lang="en-US" sz="2000" dirty="0">
                <a:solidFill>
                  <a:srgbClr val="00B050"/>
                </a:solidFill>
                <a:latin typeface="Calibri" pitchFamily="34" charset="0"/>
                <a:ea typeface="Calibri" pitchFamily="34" charset="-122"/>
                <a:cs typeface="Calibri" pitchFamily="34" charset="-120"/>
              </a:rPr>
              <a:t>GPT-3: a task from a few examples</a:t>
            </a:r>
            <a:endParaRPr lang="en-US" sz="2000" dirty="0"/>
          </a:p>
        </p:txBody>
      </p:sp>
      <p:sp>
        <p:nvSpPr>
          <p:cNvPr id="8" name="lm 2022"/>
          <p:cNvSpPr txBox="1"/>
          <p:nvPr/>
        </p:nvSpPr>
        <p:spPr>
          <a:xfrm>
            <a:off x="384048" y="3465576"/>
            <a:ext cx="6309360" cy="411480"/>
          </a:xfrm>
          <a:prstGeom prst="rect">
            <a:avLst/>
          </a:prstGeom>
          <a:noFill/>
          <a:ln>
            <a:noFill/>
          </a:ln>
        </p:spPr>
        <p:txBody>
          <a:bodyPr wrap="square" lIns="0" tIns="0" rIns="0" bIns="0" rtlCol="0" anchor="ctr"/>
          <a:lstStyle/>
          <a:p>
            <a:pPr marL="0" indent="0">
              <a:buNone/>
            </a:pPr>
            <a:r>
              <a:rPr lang="en-US" sz="2000" dirty="0">
                <a:solidFill>
                  <a:srgbClr val="362FEC"/>
                </a:solidFill>
                <a:latin typeface="Calibri" pitchFamily="34" charset="0"/>
                <a:ea typeface="Calibri" pitchFamily="34" charset="-122"/>
                <a:cs typeface="Calibri" pitchFamily="34" charset="-120"/>
              </a:rPr>
              <a:t>2022</a:t>
            </a:r>
            <a:r>
              <a:rPr lang="en-US" sz="2000" dirty="0">
                <a:solidFill>
                  <a:srgbClr val="000000"/>
                </a:solidFill>
                <a:latin typeface="Calibri" pitchFamily="34" charset="0"/>
                <a:ea typeface="Calibri" pitchFamily="34" charset="-122"/>
                <a:cs typeface="Calibri" pitchFamily="34" charset="-120"/>
              </a:rPr>
              <a:t>: </a:t>
            </a:r>
            <a:r>
              <a:rPr lang="en-US" sz="2000" dirty="0">
                <a:solidFill>
                  <a:srgbClr val="00B050"/>
                </a:solidFill>
                <a:latin typeface="Calibri" pitchFamily="34" charset="0"/>
                <a:ea typeface="Calibri" pitchFamily="34" charset="-122"/>
                <a:cs typeface="Calibri" pitchFamily="34" charset="-120"/>
              </a:rPr>
              <a:t>ChatGPT: an assistant you can talk to</a:t>
            </a:r>
            <a:endParaRPr lang="en-US" sz="2000" dirty="0"/>
          </a:p>
        </p:txBody>
      </p:sp>
      <p:sp>
        <p:nvSpPr>
          <p:cNvPr id="9" name="lm 2023"/>
          <p:cNvSpPr txBox="1"/>
          <p:nvPr/>
        </p:nvSpPr>
        <p:spPr>
          <a:xfrm>
            <a:off x="384048" y="3904487"/>
            <a:ext cx="6309360" cy="411480"/>
          </a:xfrm>
          <a:prstGeom prst="rect">
            <a:avLst/>
          </a:prstGeom>
          <a:noFill/>
          <a:ln>
            <a:noFill/>
          </a:ln>
        </p:spPr>
        <p:txBody>
          <a:bodyPr wrap="square" lIns="0" tIns="0" rIns="0" bIns="0" rtlCol="0" anchor="ctr"/>
          <a:lstStyle/>
          <a:p>
            <a:pPr marL="0" indent="0">
              <a:buNone/>
            </a:pPr>
            <a:r>
              <a:rPr lang="en-US" sz="2000" dirty="0">
                <a:solidFill>
                  <a:srgbClr val="362FEC"/>
                </a:solidFill>
                <a:latin typeface="Calibri" pitchFamily="34" charset="0"/>
                <a:ea typeface="Calibri" pitchFamily="34" charset="-122"/>
                <a:cs typeface="Calibri" pitchFamily="34" charset="-120"/>
              </a:rPr>
              <a:t>2023–2024</a:t>
            </a:r>
            <a:r>
              <a:rPr lang="en-US" sz="2000" dirty="0">
                <a:solidFill>
                  <a:srgbClr val="000000"/>
                </a:solidFill>
                <a:latin typeface="Calibri" pitchFamily="34" charset="0"/>
                <a:ea typeface="Calibri" pitchFamily="34" charset="-122"/>
                <a:cs typeface="Calibri" pitchFamily="34" charset="-120"/>
              </a:rPr>
              <a:t>: </a:t>
            </a:r>
            <a:r>
              <a:rPr lang="en-US" sz="2000" dirty="0">
                <a:solidFill>
                  <a:srgbClr val="00B050"/>
                </a:solidFill>
                <a:latin typeface="Calibri" pitchFamily="34" charset="0"/>
                <a:ea typeface="Calibri" pitchFamily="34" charset="-122"/>
                <a:cs typeface="Calibri" pitchFamily="34" charset="-120"/>
              </a:rPr>
              <a:t>GPT-4 and GPT-4o: images and audio in</a:t>
            </a:r>
            <a:endParaRPr lang="en-US" sz="2000" dirty="0"/>
          </a:p>
        </p:txBody>
      </p:sp>
      <p:sp>
        <p:nvSpPr>
          <p:cNvPr id="10" name="lm 2024"/>
          <p:cNvSpPr txBox="1"/>
          <p:nvPr/>
        </p:nvSpPr>
        <p:spPr>
          <a:xfrm>
            <a:off x="384048" y="4343400"/>
            <a:ext cx="6309360" cy="411480"/>
          </a:xfrm>
          <a:prstGeom prst="rect">
            <a:avLst/>
          </a:prstGeom>
          <a:noFill/>
          <a:ln>
            <a:noFill/>
          </a:ln>
        </p:spPr>
        <p:txBody>
          <a:bodyPr wrap="square" lIns="0" tIns="0" rIns="0" bIns="0" rtlCol="0" anchor="ctr"/>
          <a:lstStyle/>
          <a:p>
            <a:pPr marL="0" indent="0">
              <a:buNone/>
            </a:pPr>
            <a:r>
              <a:rPr lang="en-US" sz="2000" dirty="0">
                <a:solidFill>
                  <a:srgbClr val="362FEC"/>
                </a:solidFill>
                <a:latin typeface="Calibri" pitchFamily="34" charset="0"/>
                <a:ea typeface="Calibri" pitchFamily="34" charset="-122"/>
                <a:cs typeface="Calibri" pitchFamily="34" charset="-120"/>
              </a:rPr>
              <a:t>2024–2025</a:t>
            </a:r>
            <a:r>
              <a:rPr lang="en-US" sz="2000" dirty="0">
                <a:solidFill>
                  <a:srgbClr val="000000"/>
                </a:solidFill>
                <a:latin typeface="Calibri" pitchFamily="34" charset="0"/>
                <a:ea typeface="Calibri" pitchFamily="34" charset="-122"/>
                <a:cs typeface="Calibri" pitchFamily="34" charset="-120"/>
              </a:rPr>
              <a:t>: </a:t>
            </a:r>
            <a:r>
              <a:rPr lang="en-US" sz="2000" dirty="0">
                <a:solidFill>
                  <a:srgbClr val="00B050"/>
                </a:solidFill>
                <a:latin typeface="Calibri" pitchFamily="34" charset="0"/>
                <a:ea typeface="Calibri" pitchFamily="34" charset="-122"/>
                <a:cs typeface="Calibri" pitchFamily="34" charset="-120"/>
              </a:rPr>
              <a:t>o1 and R1: reasoning before answering</a:t>
            </a:r>
            <a:endParaRPr lang="en-US" sz="2000" dirty="0"/>
          </a:p>
        </p:txBody>
      </p:sp>
      <p:sp>
        <p:nvSpPr>
          <p:cNvPr id="11" name="lm 2025"/>
          <p:cNvSpPr txBox="1"/>
          <p:nvPr/>
        </p:nvSpPr>
        <p:spPr>
          <a:xfrm>
            <a:off x="384048" y="4782312"/>
            <a:ext cx="6309360" cy="411480"/>
          </a:xfrm>
          <a:prstGeom prst="rect">
            <a:avLst/>
          </a:prstGeom>
          <a:noFill/>
          <a:ln>
            <a:noFill/>
          </a:ln>
        </p:spPr>
        <p:txBody>
          <a:bodyPr wrap="square" lIns="0" tIns="0" rIns="0" bIns="0" rtlCol="0" anchor="ctr"/>
          <a:lstStyle/>
          <a:p>
            <a:pPr marL="0" indent="0">
              <a:buNone/>
            </a:pPr>
            <a:r>
              <a:rPr lang="en-US" sz="2000" dirty="0">
                <a:solidFill>
                  <a:srgbClr val="362FEC"/>
                </a:solidFill>
                <a:latin typeface="Calibri" pitchFamily="34" charset="0"/>
                <a:ea typeface="Calibri" pitchFamily="34" charset="-122"/>
                <a:cs typeface="Calibri" pitchFamily="34" charset="-120"/>
              </a:rPr>
              <a:t>2025</a:t>
            </a:r>
            <a:r>
              <a:rPr lang="en-US" sz="2000" dirty="0">
                <a:solidFill>
                  <a:srgbClr val="000000"/>
                </a:solidFill>
                <a:latin typeface="Calibri" pitchFamily="34" charset="0"/>
                <a:ea typeface="Calibri" pitchFamily="34" charset="-122"/>
                <a:cs typeface="Calibri" pitchFamily="34" charset="-120"/>
              </a:rPr>
              <a:t>: </a:t>
            </a:r>
            <a:r>
              <a:rPr lang="en-US" sz="2000" dirty="0">
                <a:solidFill>
                  <a:srgbClr val="00B050"/>
                </a:solidFill>
                <a:latin typeface="Calibri" pitchFamily="34" charset="0"/>
                <a:ea typeface="Calibri" pitchFamily="34" charset="-122"/>
                <a:cs typeface="Calibri" pitchFamily="34" charset="-120"/>
              </a:rPr>
              <a:t>gold-medal standard at the IMO</a:t>
            </a:r>
            <a:endParaRPr lang="en-US" sz="2000" dirty="0"/>
          </a:p>
        </p:txBody>
      </p:sp>
      <p:sp>
        <p:nvSpPr>
          <p:cNvPr id="12" name="lm 2025b"/>
          <p:cNvSpPr txBox="1"/>
          <p:nvPr/>
        </p:nvSpPr>
        <p:spPr>
          <a:xfrm>
            <a:off x="384048" y="5221224"/>
            <a:ext cx="6309360" cy="411480"/>
          </a:xfrm>
          <a:prstGeom prst="rect">
            <a:avLst/>
          </a:prstGeom>
          <a:noFill/>
          <a:ln>
            <a:noFill/>
          </a:ln>
        </p:spPr>
        <p:txBody>
          <a:bodyPr wrap="square" lIns="0" tIns="0" rIns="0" bIns="0" rtlCol="0" anchor="ctr"/>
          <a:lstStyle/>
          <a:p>
            <a:pPr marL="0" indent="0">
              <a:buNone/>
            </a:pPr>
            <a:r>
              <a:rPr lang="en-US" sz="2000" dirty="0">
                <a:solidFill>
                  <a:srgbClr val="362FEC"/>
                </a:solidFill>
                <a:latin typeface="Calibri" pitchFamily="34" charset="0"/>
                <a:ea typeface="Calibri" pitchFamily="34" charset="-122"/>
                <a:cs typeface="Calibri" pitchFamily="34" charset="-120"/>
              </a:rPr>
              <a:t>2025–2026</a:t>
            </a:r>
            <a:r>
              <a:rPr lang="en-US" sz="2000" dirty="0">
                <a:solidFill>
                  <a:srgbClr val="000000"/>
                </a:solidFill>
                <a:latin typeface="Calibri" pitchFamily="34" charset="0"/>
                <a:ea typeface="Calibri" pitchFamily="34" charset="-122"/>
                <a:cs typeface="Calibri" pitchFamily="34" charset="-120"/>
              </a:rPr>
              <a:t>: </a:t>
            </a:r>
            <a:r>
              <a:rPr lang="en-US" sz="2000" dirty="0">
                <a:solidFill>
                  <a:srgbClr val="00B050"/>
                </a:solidFill>
                <a:latin typeface="Calibri" pitchFamily="34" charset="0"/>
                <a:ea typeface="Calibri" pitchFamily="34" charset="-122"/>
                <a:cs typeface="Calibri" pitchFamily="34" charset="-120"/>
              </a:rPr>
              <a:t>open Erdős problems resolved</a:t>
            </a:r>
            <a:endParaRPr lang="en-US" sz="2000" dirty="0"/>
          </a:p>
        </p:txBody>
      </p:sp>
      <p:pic>
        <p:nvPicPr>
          <p:cNvPr id="13" name="Erdos and Tao" descr="erdos_tao.jpg"/>
          <p:cNvPicPr>
            <a:picLocks noChangeAspect="1"/>
          </p:cNvPicPr>
          <p:nvPr/>
        </p:nvPicPr>
        <p:blipFill>
          <a:blip r:embed="rId3"/>
          <a:stretch>
            <a:fillRect/>
          </a:stretch>
        </p:blipFill>
        <p:spPr>
          <a:xfrm>
            <a:off x="7406640" y="1188720"/>
            <a:ext cx="3931920" cy="2656909"/>
          </a:xfrm>
          <a:prstGeom prst="rect">
            <a:avLst/>
          </a:prstGeom>
        </p:spPr>
      </p:pic>
      <p:sp>
        <p:nvSpPr>
          <p:cNvPr id="14" name="TextBox 13"/>
          <p:cNvSpPr txBox="1"/>
          <p:nvPr/>
        </p:nvSpPr>
        <p:spPr>
          <a:xfrm>
            <a:off x="6812280" y="3891349"/>
            <a:ext cx="5120640" cy="274320"/>
          </a:xfrm>
          <a:prstGeom prst="rect">
            <a:avLst/>
          </a:prstGeom>
          <a:noFill/>
        </p:spPr>
        <p:txBody>
          <a:bodyPr wrap="square" lIns="0" tIns="0" rIns="0" bIns="0" anchor="t">
            <a:spAutoFit/>
          </a:bodyPr>
          <a:lstStyle/>
          <a:p>
            <a:pPr algn="ctr"/>
            <a:r>
              <a:rPr sz="1200" b="0" i="0">
                <a:solidFill>
                  <a:srgbClr val="595959"/>
                </a:solidFill>
                <a:latin typeface="Calibri"/>
              </a:rPr>
              <a:t>Paul Erdős with a young Terence Tao</a:t>
            </a:r>
          </a:p>
        </p:txBody>
      </p:sp>
      <p:sp>
        <p:nvSpPr>
          <p:cNvPr id="15" name="description"/>
          <p:cNvSpPr txBox="1"/>
          <p:nvPr/>
        </p:nvSpPr>
        <p:spPr>
          <a:xfrm>
            <a:off x="6812280" y="4251960"/>
            <a:ext cx="5120640" cy="1097280"/>
          </a:xfrm>
          <a:prstGeom prst="rect">
            <a:avLst/>
          </a:prstGeom>
          <a:noFill/>
        </p:spPr>
        <p:txBody>
          <a:bodyPr wrap="square" lIns="0" tIns="0" rIns="0" bIns="0" anchor="t">
            <a:spAutoFit/>
          </a:bodyPr>
          <a:lstStyle/>
          <a:p>
            <a:pPr algn="l"/>
            <a:r>
              <a:rPr sz="1400" b="0" i="0">
                <a:solidFill>
                  <a:srgbClr val="595959"/>
                </a:solidFill>
                <a:latin typeface="Calibri"/>
              </a:rPr>
              <a:t>Erdős left over a thousand problems. Language models, sometimes with the Lean proof assistant, began resolving them; Problem 728 was settled in January 2026 with a Lean-checked proof. Tao's tracker records each contribution, from finding the literature to full solutions, and cautions that some problems had simply been overlooked.</a:t>
            </a:r>
          </a:p>
        </p:txBody>
      </p:sp>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12"/>
                                        </p:tgtEl>
                                        <p:attrNameLst>
                                          <p:attrName>style.visibility</p:attrName>
                                        </p:attrNameLst>
                                      </p:cBhvr>
                                      <p:to>
                                        <p:strVal val="visible"/>
                                      </p:to>
                                    </p:set>
                                  </p:childTnLst>
                                </p:cTn>
                              </p:par>
                              <p:par>
                                <p:cTn id="7" presetID="1" presetClass="entr" presetSubtype="0" fill="hold" grpId="0" nodeType="withEffect">
                                  <p:stCondLst>
                                    <p:cond delay="0"/>
                                  </p:stCondLst>
                                  <p:childTnLst>
                                    <p:set>
                                      <p:cBhvr>
                                        <p:cTn id="8" dur="1" fill="hold">
                                          <p:stCondLst>
                                            <p:cond delay="0"/>
                                          </p:stCondLst>
                                        </p:cTn>
                                        <p:tgtEl>
                                          <p:spTgt spid="13"/>
                                        </p:tgtEl>
                                        <p:attrNameLst>
                                          <p:attrName>style.visibility</p:attrName>
                                        </p:attrNameLst>
                                      </p:cBhvr>
                                      <p:to>
                                        <p:strVal val="visible"/>
                                      </p:to>
                                    </p:set>
                                  </p:childTnLst>
                                </p:cTn>
                              </p:par>
                              <p:par>
                                <p:cTn id="9" presetID="1" presetClass="entr" presetSubtype="0" fill="hold" grpId="0" nodeType="withEffect">
                                  <p:stCondLst>
                                    <p:cond delay="0"/>
                                  </p:stCondLst>
                                  <p:childTnLst>
                                    <p:set>
                                      <p:cBhvr>
                                        <p:cTn id="10" dur="1" fill="hold">
                                          <p:stCondLst>
                                            <p:cond delay="0"/>
                                          </p:stCondLst>
                                        </p:cTn>
                                        <p:tgtEl>
                                          <p:spTgt spid="14"/>
                                        </p:tgtEl>
                                        <p:attrNameLst>
                                          <p:attrName>style.visibility</p:attrName>
                                        </p:attrNameLst>
                                      </p:cBhvr>
                                      <p:to>
                                        <p:strVal val="visible"/>
                                      </p:to>
                                    </p:set>
                                  </p:childTnLst>
                                </p:cTn>
                              </p:par>
                              <p:par>
                                <p:cTn id="11" presetID="1" presetClass="entr" presetSubtype="0" fill="hold" grpId="0" nodeType="withEffect">
                                  <p:stCondLst>
                                    <p:cond delay="0"/>
                                  </p:stCondLst>
                                  <p:childTnLst>
                                    <p:set>
                                      <p:cBhvr>
                                        <p:cTn id="12" dur="1" fill="hold">
                                          <p:stCondLst>
                                            <p:cond delay="0"/>
                                          </p:stCondLst>
                                        </p:cTn>
                                        <p:tgtEl>
                                          <p:spTgt spid="15"/>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2" grpId="0"/>
      <p:bldP spid="14" grpId="0"/>
      <p:bldP spid="15" grpId="0"/>
    </p:bldLst>
  </p:timing>
</p:sld>
</file>

<file path=ppt/slides/slide2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b0_2">
            <a:extLst>
              <a:ext uri="{FF2B5EF4-FFF2-40B4-BE49-F238E27FC236}">
                <a16:creationId xmlns:a16="http://schemas.microsoft.com/office/drawing/2014/main" id="{33DE8782-7F2B-1033-00F6-2A6652EE0E80}"/>
              </a:ext>
            </a:extLst>
          </p:cNvPr>
          <p:cNvSpPr txBox="1"/>
          <p:nvPr/>
        </p:nvSpPr>
        <p:spPr>
          <a:xfrm>
            <a:off x="0" y="148566"/>
            <a:ext cx="11680992" cy="548640"/>
          </a:xfrm>
          <a:prstGeom prst="rect">
            <a:avLst/>
          </a:prstGeom>
          <a:noFill/>
          <a:ln>
            <a:noFill/>
          </a:ln>
        </p:spPr>
        <p:txBody>
          <a:bodyPr wrap="square" rtlCol="0" anchor="ctr"/>
          <a:lstStyle/>
          <a:p>
            <a:r>
              <a:rPr lang="en-US" sz="3200" b="1" dirty="0">
                <a:latin typeface="Calibri" pitchFamily="34" charset="0"/>
                <a:ea typeface="Calibri" pitchFamily="34" charset="-122"/>
                <a:cs typeface="Calibri" pitchFamily="34" charset="-120"/>
              </a:rPr>
              <a:t>From </a:t>
            </a:r>
            <a:r>
              <a:rPr lang="en-US" sz="3200" b="1" dirty="0">
                <a:solidFill>
                  <a:srgbClr val="FF0000"/>
                </a:solidFill>
                <a:latin typeface="Calibri" pitchFamily="34" charset="0"/>
                <a:ea typeface="Calibri" pitchFamily="34" charset="-122"/>
                <a:cs typeface="Calibri" pitchFamily="34" charset="-120"/>
              </a:rPr>
              <a:t>Computation</a:t>
            </a:r>
            <a:r>
              <a:rPr lang="en-US" sz="3200" b="1" dirty="0">
                <a:latin typeface="Calibri" pitchFamily="34" charset="0"/>
                <a:ea typeface="Calibri" pitchFamily="34" charset="-122"/>
                <a:cs typeface="Calibri" pitchFamily="34" charset="-120"/>
              </a:rPr>
              <a:t> to </a:t>
            </a:r>
            <a:r>
              <a:rPr lang="en-US" sz="3200" b="1" dirty="0">
                <a:solidFill>
                  <a:srgbClr val="362FEC"/>
                </a:solidFill>
                <a:latin typeface="Calibri" pitchFamily="34" charset="0"/>
                <a:ea typeface="Calibri" pitchFamily="34" charset="-122"/>
                <a:cs typeface="Calibri" pitchFamily="34" charset="-120"/>
              </a:rPr>
              <a:t>Language Models</a:t>
            </a:r>
            <a:endParaRPr lang="en-US" sz="3200" dirty="0">
              <a:solidFill>
                <a:srgbClr val="362FEC"/>
              </a:solidFill>
            </a:endParaRPr>
          </a:p>
        </p:txBody>
      </p:sp>
      <p:sp>
        <p:nvSpPr>
          <p:cNvPr id="3" name="!!computation">
            <a:extLst>
              <a:ext uri="{FF2B5EF4-FFF2-40B4-BE49-F238E27FC236}">
                <a16:creationId xmlns:a16="http://schemas.microsoft.com/office/drawing/2014/main" id="{691E18F7-4F41-2F97-0124-8C09DE463973}"/>
              </a:ext>
            </a:extLst>
          </p:cNvPr>
          <p:cNvSpPr txBox="1"/>
          <p:nvPr/>
        </p:nvSpPr>
        <p:spPr>
          <a:xfrm>
            <a:off x="168339" y="980102"/>
            <a:ext cx="6355080" cy="707886"/>
          </a:xfrm>
          <a:prstGeom prst="rect">
            <a:avLst/>
          </a:prstGeom>
          <a:noFill/>
        </p:spPr>
        <p:txBody>
          <a:bodyPr wrap="square" rtlCol="0">
            <a:spAutoFit/>
          </a:bodyPr>
          <a:lstStyle/>
          <a:p>
            <a:r>
              <a:rPr lang="en-US" sz="2000" dirty="0">
                <a:latin typeface="Calibri" panose="020F0502020204030204" pitchFamily="34" charset="0"/>
                <a:cs typeface="Calibri" panose="020F0502020204030204" pitchFamily="34" charset="0"/>
              </a:rPr>
              <a:t>This is taken even further by the ability to transform information: Computation.</a:t>
            </a:r>
          </a:p>
        </p:txBody>
      </p:sp>
      <p:sp>
        <p:nvSpPr>
          <p:cNvPr id="4" name="LM heading">
            <a:extLst>
              <a:ext uri="{FF2B5EF4-FFF2-40B4-BE49-F238E27FC236}">
                <a16:creationId xmlns:a16="http://schemas.microsoft.com/office/drawing/2014/main" id="{5CB8A4AA-40B1-94AE-8EEE-080599481F78}"/>
              </a:ext>
            </a:extLst>
          </p:cNvPr>
          <p:cNvSpPr txBox="1"/>
          <p:nvPr/>
        </p:nvSpPr>
        <p:spPr>
          <a:xfrm>
            <a:off x="291358" y="1687988"/>
            <a:ext cx="3171479" cy="411480"/>
          </a:xfrm>
          <a:prstGeom prst="rect">
            <a:avLst/>
          </a:prstGeom>
          <a:noFill/>
          <a:ln>
            <a:noFill/>
          </a:ln>
        </p:spPr>
        <p:txBody>
          <a:bodyPr wrap="square" lIns="0" tIns="0" rIns="0" bIns="0" rtlCol="0" anchor="ctr"/>
          <a:lstStyle/>
          <a:p>
            <a:pPr marL="0" indent="0">
              <a:buNone/>
            </a:pPr>
            <a:r>
              <a:rPr lang="en-US" sz="2000" b="1" dirty="0">
                <a:solidFill>
                  <a:srgbClr val="362FEC"/>
                </a:solidFill>
                <a:latin typeface="Calibri" panose="020F0502020204030204" pitchFamily="34" charset="0"/>
                <a:cs typeface="Calibri" panose="020F0502020204030204" pitchFamily="34" charset="0"/>
              </a:rPr>
              <a:t>Language Models</a:t>
            </a:r>
          </a:p>
        </p:txBody>
      </p:sp>
      <p:sp>
        <p:nvSpPr>
          <p:cNvPr id="5" name="lm 2017"/>
          <p:cNvSpPr txBox="1"/>
          <p:nvPr/>
        </p:nvSpPr>
        <p:spPr>
          <a:xfrm>
            <a:off x="384048" y="2148840"/>
            <a:ext cx="6309360" cy="411480"/>
          </a:xfrm>
          <a:prstGeom prst="rect">
            <a:avLst/>
          </a:prstGeom>
          <a:noFill/>
          <a:ln>
            <a:noFill/>
          </a:ln>
        </p:spPr>
        <p:txBody>
          <a:bodyPr wrap="square" lIns="0" tIns="0" rIns="0" bIns="0" rtlCol="0" anchor="ctr"/>
          <a:lstStyle/>
          <a:p>
            <a:pPr marL="0" indent="0">
              <a:buNone/>
            </a:pPr>
            <a:r>
              <a:rPr lang="en-US" sz="2000" dirty="0">
                <a:solidFill>
                  <a:srgbClr val="362FEC"/>
                </a:solidFill>
                <a:latin typeface="Calibri" pitchFamily="34" charset="0"/>
                <a:ea typeface="Calibri" pitchFamily="34" charset="-122"/>
                <a:cs typeface="Calibri" pitchFamily="34" charset="-120"/>
              </a:rPr>
              <a:t>2017</a:t>
            </a:r>
            <a:r>
              <a:rPr lang="en-US" sz="2000" dirty="0">
                <a:solidFill>
                  <a:srgbClr val="000000"/>
                </a:solidFill>
                <a:latin typeface="Calibri" pitchFamily="34" charset="0"/>
                <a:ea typeface="Calibri" pitchFamily="34" charset="-122"/>
                <a:cs typeface="Calibri" pitchFamily="34" charset="-120"/>
              </a:rPr>
              <a:t>: </a:t>
            </a:r>
            <a:r>
              <a:rPr lang="en-US" sz="2000" dirty="0">
                <a:solidFill>
                  <a:srgbClr val="00B050"/>
                </a:solidFill>
                <a:latin typeface="Calibri" pitchFamily="34" charset="0"/>
                <a:ea typeface="Calibri" pitchFamily="34" charset="-122"/>
                <a:cs typeface="Calibri" pitchFamily="34" charset="-120"/>
              </a:rPr>
              <a:t>the Transformer</a:t>
            </a:r>
            <a:endParaRPr lang="en-US" sz="2000" dirty="0"/>
          </a:p>
        </p:txBody>
      </p:sp>
      <p:sp>
        <p:nvSpPr>
          <p:cNvPr id="6" name="lm 2018"/>
          <p:cNvSpPr txBox="1"/>
          <p:nvPr/>
        </p:nvSpPr>
        <p:spPr>
          <a:xfrm>
            <a:off x="384048" y="2587752"/>
            <a:ext cx="6309360" cy="411480"/>
          </a:xfrm>
          <a:prstGeom prst="rect">
            <a:avLst/>
          </a:prstGeom>
          <a:noFill/>
          <a:ln>
            <a:noFill/>
          </a:ln>
        </p:spPr>
        <p:txBody>
          <a:bodyPr wrap="square" lIns="0" tIns="0" rIns="0" bIns="0" rtlCol="0" anchor="ctr"/>
          <a:lstStyle/>
          <a:p>
            <a:pPr marL="0" indent="0">
              <a:buNone/>
            </a:pPr>
            <a:r>
              <a:rPr lang="en-US" sz="2000" dirty="0">
                <a:solidFill>
                  <a:srgbClr val="362FEC"/>
                </a:solidFill>
                <a:latin typeface="Calibri" pitchFamily="34" charset="0"/>
                <a:ea typeface="Calibri" pitchFamily="34" charset="-122"/>
                <a:cs typeface="Calibri" pitchFamily="34" charset="-120"/>
              </a:rPr>
              <a:t>2018</a:t>
            </a:r>
            <a:r>
              <a:rPr lang="en-US" sz="2000" dirty="0">
                <a:solidFill>
                  <a:srgbClr val="000000"/>
                </a:solidFill>
                <a:latin typeface="Calibri" pitchFamily="34" charset="0"/>
                <a:ea typeface="Calibri" pitchFamily="34" charset="-122"/>
                <a:cs typeface="Calibri" pitchFamily="34" charset="-120"/>
              </a:rPr>
              <a:t>: </a:t>
            </a:r>
            <a:r>
              <a:rPr lang="en-US" sz="2000" dirty="0">
                <a:solidFill>
                  <a:srgbClr val="00B050"/>
                </a:solidFill>
                <a:latin typeface="Calibri" pitchFamily="34" charset="0"/>
                <a:ea typeface="Calibri" pitchFamily="34" charset="-122"/>
                <a:cs typeface="Calibri" pitchFamily="34" charset="-120"/>
              </a:rPr>
              <a:t>GPT and BERT: pretrain, then fine-tune</a:t>
            </a:r>
            <a:endParaRPr lang="en-US" sz="2000" dirty="0"/>
          </a:p>
        </p:txBody>
      </p:sp>
      <p:sp>
        <p:nvSpPr>
          <p:cNvPr id="7" name="lm 2020"/>
          <p:cNvSpPr txBox="1"/>
          <p:nvPr/>
        </p:nvSpPr>
        <p:spPr>
          <a:xfrm>
            <a:off x="384048" y="3026664"/>
            <a:ext cx="6309360" cy="411480"/>
          </a:xfrm>
          <a:prstGeom prst="rect">
            <a:avLst/>
          </a:prstGeom>
          <a:noFill/>
          <a:ln>
            <a:noFill/>
          </a:ln>
        </p:spPr>
        <p:txBody>
          <a:bodyPr wrap="square" lIns="0" tIns="0" rIns="0" bIns="0" rtlCol="0" anchor="ctr"/>
          <a:lstStyle/>
          <a:p>
            <a:pPr marL="0" indent="0">
              <a:buNone/>
            </a:pPr>
            <a:r>
              <a:rPr lang="en-US" sz="2000" dirty="0">
                <a:solidFill>
                  <a:srgbClr val="362FEC"/>
                </a:solidFill>
                <a:latin typeface="Calibri" pitchFamily="34" charset="0"/>
                <a:ea typeface="Calibri" pitchFamily="34" charset="-122"/>
                <a:cs typeface="Calibri" pitchFamily="34" charset="-120"/>
              </a:rPr>
              <a:t>2020</a:t>
            </a:r>
            <a:r>
              <a:rPr lang="en-US" sz="2000" dirty="0">
                <a:solidFill>
                  <a:srgbClr val="000000"/>
                </a:solidFill>
                <a:latin typeface="Calibri" pitchFamily="34" charset="0"/>
                <a:ea typeface="Calibri" pitchFamily="34" charset="-122"/>
                <a:cs typeface="Calibri" pitchFamily="34" charset="-120"/>
              </a:rPr>
              <a:t>: </a:t>
            </a:r>
            <a:r>
              <a:rPr lang="en-US" sz="2000" dirty="0">
                <a:solidFill>
                  <a:srgbClr val="00B050"/>
                </a:solidFill>
                <a:latin typeface="Calibri" pitchFamily="34" charset="0"/>
                <a:ea typeface="Calibri" pitchFamily="34" charset="-122"/>
                <a:cs typeface="Calibri" pitchFamily="34" charset="-120"/>
              </a:rPr>
              <a:t>GPT-3: a task from a few examples</a:t>
            </a:r>
            <a:endParaRPr lang="en-US" sz="2000" dirty="0"/>
          </a:p>
        </p:txBody>
      </p:sp>
      <p:sp>
        <p:nvSpPr>
          <p:cNvPr id="8" name="lm 2022"/>
          <p:cNvSpPr txBox="1"/>
          <p:nvPr/>
        </p:nvSpPr>
        <p:spPr>
          <a:xfrm>
            <a:off x="384048" y="3465576"/>
            <a:ext cx="6309360" cy="411480"/>
          </a:xfrm>
          <a:prstGeom prst="rect">
            <a:avLst/>
          </a:prstGeom>
          <a:noFill/>
          <a:ln>
            <a:noFill/>
          </a:ln>
        </p:spPr>
        <p:txBody>
          <a:bodyPr wrap="square" lIns="0" tIns="0" rIns="0" bIns="0" rtlCol="0" anchor="ctr"/>
          <a:lstStyle/>
          <a:p>
            <a:pPr marL="0" indent="0">
              <a:buNone/>
            </a:pPr>
            <a:r>
              <a:rPr lang="en-US" sz="2000" dirty="0">
                <a:solidFill>
                  <a:srgbClr val="362FEC"/>
                </a:solidFill>
                <a:latin typeface="Calibri" pitchFamily="34" charset="0"/>
                <a:ea typeface="Calibri" pitchFamily="34" charset="-122"/>
                <a:cs typeface="Calibri" pitchFamily="34" charset="-120"/>
              </a:rPr>
              <a:t>2022</a:t>
            </a:r>
            <a:r>
              <a:rPr lang="en-US" sz="2000" dirty="0">
                <a:solidFill>
                  <a:srgbClr val="000000"/>
                </a:solidFill>
                <a:latin typeface="Calibri" pitchFamily="34" charset="0"/>
                <a:ea typeface="Calibri" pitchFamily="34" charset="-122"/>
                <a:cs typeface="Calibri" pitchFamily="34" charset="-120"/>
              </a:rPr>
              <a:t>: </a:t>
            </a:r>
            <a:r>
              <a:rPr lang="en-US" sz="2000" dirty="0">
                <a:solidFill>
                  <a:srgbClr val="00B050"/>
                </a:solidFill>
                <a:latin typeface="Calibri" pitchFamily="34" charset="0"/>
                <a:ea typeface="Calibri" pitchFamily="34" charset="-122"/>
                <a:cs typeface="Calibri" pitchFamily="34" charset="-120"/>
              </a:rPr>
              <a:t>ChatGPT: an assistant you can talk to</a:t>
            </a:r>
            <a:endParaRPr lang="en-US" sz="2000" dirty="0"/>
          </a:p>
        </p:txBody>
      </p:sp>
      <p:sp>
        <p:nvSpPr>
          <p:cNvPr id="9" name="lm 2023"/>
          <p:cNvSpPr txBox="1"/>
          <p:nvPr/>
        </p:nvSpPr>
        <p:spPr>
          <a:xfrm>
            <a:off x="384048" y="3904487"/>
            <a:ext cx="6309360" cy="411480"/>
          </a:xfrm>
          <a:prstGeom prst="rect">
            <a:avLst/>
          </a:prstGeom>
          <a:noFill/>
          <a:ln>
            <a:noFill/>
          </a:ln>
        </p:spPr>
        <p:txBody>
          <a:bodyPr wrap="square" lIns="0" tIns="0" rIns="0" bIns="0" rtlCol="0" anchor="ctr"/>
          <a:lstStyle/>
          <a:p>
            <a:pPr marL="0" indent="0">
              <a:buNone/>
            </a:pPr>
            <a:r>
              <a:rPr lang="en-US" sz="2000" dirty="0">
                <a:solidFill>
                  <a:srgbClr val="362FEC"/>
                </a:solidFill>
                <a:latin typeface="Calibri" pitchFamily="34" charset="0"/>
                <a:ea typeface="Calibri" pitchFamily="34" charset="-122"/>
                <a:cs typeface="Calibri" pitchFamily="34" charset="-120"/>
              </a:rPr>
              <a:t>2023–2024</a:t>
            </a:r>
            <a:r>
              <a:rPr lang="en-US" sz="2000" dirty="0">
                <a:solidFill>
                  <a:srgbClr val="000000"/>
                </a:solidFill>
                <a:latin typeface="Calibri" pitchFamily="34" charset="0"/>
                <a:ea typeface="Calibri" pitchFamily="34" charset="-122"/>
                <a:cs typeface="Calibri" pitchFamily="34" charset="-120"/>
              </a:rPr>
              <a:t>: </a:t>
            </a:r>
            <a:r>
              <a:rPr lang="en-US" sz="2000" dirty="0">
                <a:solidFill>
                  <a:srgbClr val="00B050"/>
                </a:solidFill>
                <a:latin typeface="Calibri" pitchFamily="34" charset="0"/>
                <a:ea typeface="Calibri" pitchFamily="34" charset="-122"/>
                <a:cs typeface="Calibri" pitchFamily="34" charset="-120"/>
              </a:rPr>
              <a:t>GPT-4 and GPT-4o: images and audio in</a:t>
            </a:r>
            <a:endParaRPr lang="en-US" sz="2000" dirty="0"/>
          </a:p>
        </p:txBody>
      </p:sp>
      <p:sp>
        <p:nvSpPr>
          <p:cNvPr id="10" name="lm 2024"/>
          <p:cNvSpPr txBox="1"/>
          <p:nvPr/>
        </p:nvSpPr>
        <p:spPr>
          <a:xfrm>
            <a:off x="384048" y="4343400"/>
            <a:ext cx="6309360" cy="411480"/>
          </a:xfrm>
          <a:prstGeom prst="rect">
            <a:avLst/>
          </a:prstGeom>
          <a:noFill/>
          <a:ln>
            <a:noFill/>
          </a:ln>
        </p:spPr>
        <p:txBody>
          <a:bodyPr wrap="square" lIns="0" tIns="0" rIns="0" bIns="0" rtlCol="0" anchor="ctr"/>
          <a:lstStyle/>
          <a:p>
            <a:pPr marL="0" indent="0">
              <a:buNone/>
            </a:pPr>
            <a:r>
              <a:rPr lang="en-US" sz="2000" dirty="0">
                <a:solidFill>
                  <a:srgbClr val="362FEC"/>
                </a:solidFill>
                <a:latin typeface="Calibri" pitchFamily="34" charset="0"/>
                <a:ea typeface="Calibri" pitchFamily="34" charset="-122"/>
                <a:cs typeface="Calibri" pitchFamily="34" charset="-120"/>
              </a:rPr>
              <a:t>2024–2025</a:t>
            </a:r>
            <a:r>
              <a:rPr lang="en-US" sz="2000" dirty="0">
                <a:solidFill>
                  <a:srgbClr val="000000"/>
                </a:solidFill>
                <a:latin typeface="Calibri" pitchFamily="34" charset="0"/>
                <a:ea typeface="Calibri" pitchFamily="34" charset="-122"/>
                <a:cs typeface="Calibri" pitchFamily="34" charset="-120"/>
              </a:rPr>
              <a:t>: </a:t>
            </a:r>
            <a:r>
              <a:rPr lang="en-US" sz="2000" dirty="0">
                <a:solidFill>
                  <a:srgbClr val="00B050"/>
                </a:solidFill>
                <a:latin typeface="Calibri" pitchFamily="34" charset="0"/>
                <a:ea typeface="Calibri" pitchFamily="34" charset="-122"/>
                <a:cs typeface="Calibri" pitchFamily="34" charset="-120"/>
              </a:rPr>
              <a:t>o1 and R1: reasoning before answering</a:t>
            </a:r>
            <a:endParaRPr lang="en-US" sz="2000" dirty="0"/>
          </a:p>
        </p:txBody>
      </p:sp>
      <p:sp>
        <p:nvSpPr>
          <p:cNvPr id="11" name="lm 2025"/>
          <p:cNvSpPr txBox="1"/>
          <p:nvPr/>
        </p:nvSpPr>
        <p:spPr>
          <a:xfrm>
            <a:off x="384048" y="4782312"/>
            <a:ext cx="6309360" cy="411480"/>
          </a:xfrm>
          <a:prstGeom prst="rect">
            <a:avLst/>
          </a:prstGeom>
          <a:noFill/>
          <a:ln>
            <a:noFill/>
          </a:ln>
        </p:spPr>
        <p:txBody>
          <a:bodyPr wrap="square" lIns="0" tIns="0" rIns="0" bIns="0" rtlCol="0" anchor="ctr"/>
          <a:lstStyle/>
          <a:p>
            <a:pPr marL="0" indent="0">
              <a:buNone/>
            </a:pPr>
            <a:r>
              <a:rPr lang="en-US" sz="2000" dirty="0">
                <a:solidFill>
                  <a:srgbClr val="362FEC"/>
                </a:solidFill>
                <a:latin typeface="Calibri" pitchFamily="34" charset="0"/>
                <a:ea typeface="Calibri" pitchFamily="34" charset="-122"/>
                <a:cs typeface="Calibri" pitchFamily="34" charset="-120"/>
              </a:rPr>
              <a:t>2025</a:t>
            </a:r>
            <a:r>
              <a:rPr lang="en-US" sz="2000" dirty="0">
                <a:solidFill>
                  <a:srgbClr val="000000"/>
                </a:solidFill>
                <a:latin typeface="Calibri" pitchFamily="34" charset="0"/>
                <a:ea typeface="Calibri" pitchFamily="34" charset="-122"/>
                <a:cs typeface="Calibri" pitchFamily="34" charset="-120"/>
              </a:rPr>
              <a:t>: </a:t>
            </a:r>
            <a:r>
              <a:rPr lang="en-US" sz="2000" dirty="0">
                <a:solidFill>
                  <a:srgbClr val="00B050"/>
                </a:solidFill>
                <a:latin typeface="Calibri" pitchFamily="34" charset="0"/>
                <a:ea typeface="Calibri" pitchFamily="34" charset="-122"/>
                <a:cs typeface="Calibri" pitchFamily="34" charset="-120"/>
              </a:rPr>
              <a:t>gold-medal standard at the IMO</a:t>
            </a:r>
            <a:endParaRPr lang="en-US" sz="2000" dirty="0"/>
          </a:p>
        </p:txBody>
      </p:sp>
      <p:sp>
        <p:nvSpPr>
          <p:cNvPr id="12" name="lm 2025b"/>
          <p:cNvSpPr txBox="1"/>
          <p:nvPr/>
        </p:nvSpPr>
        <p:spPr>
          <a:xfrm>
            <a:off x="384048" y="5221224"/>
            <a:ext cx="6309360" cy="411480"/>
          </a:xfrm>
          <a:prstGeom prst="rect">
            <a:avLst/>
          </a:prstGeom>
          <a:noFill/>
          <a:ln>
            <a:noFill/>
          </a:ln>
        </p:spPr>
        <p:txBody>
          <a:bodyPr wrap="square" lIns="0" tIns="0" rIns="0" bIns="0" rtlCol="0" anchor="ctr"/>
          <a:lstStyle/>
          <a:p>
            <a:pPr marL="0" indent="0">
              <a:buNone/>
            </a:pPr>
            <a:r>
              <a:rPr lang="en-US" sz="2000" dirty="0">
                <a:solidFill>
                  <a:srgbClr val="362FEC"/>
                </a:solidFill>
                <a:latin typeface="Calibri" pitchFamily="34" charset="0"/>
                <a:ea typeface="Calibri" pitchFamily="34" charset="-122"/>
                <a:cs typeface="Calibri" pitchFamily="34" charset="-120"/>
              </a:rPr>
              <a:t>2025–2026</a:t>
            </a:r>
            <a:r>
              <a:rPr lang="en-US" sz="2000" dirty="0">
                <a:solidFill>
                  <a:srgbClr val="000000"/>
                </a:solidFill>
                <a:latin typeface="Calibri" pitchFamily="34" charset="0"/>
                <a:ea typeface="Calibri" pitchFamily="34" charset="-122"/>
                <a:cs typeface="Calibri" pitchFamily="34" charset="-120"/>
              </a:rPr>
              <a:t>: </a:t>
            </a:r>
            <a:r>
              <a:rPr lang="en-US" sz="2000" dirty="0">
                <a:solidFill>
                  <a:srgbClr val="00B050"/>
                </a:solidFill>
                <a:latin typeface="Calibri" pitchFamily="34" charset="0"/>
                <a:ea typeface="Calibri" pitchFamily="34" charset="-122"/>
                <a:cs typeface="Calibri" pitchFamily="34" charset="-120"/>
              </a:rPr>
              <a:t>open Erdős problems resolved</a:t>
            </a:r>
            <a:endParaRPr lang="en-US" sz="2000" dirty="0"/>
          </a:p>
        </p:txBody>
      </p:sp>
      <p:sp>
        <p:nvSpPr>
          <p:cNvPr id="13" name="lm 2026"/>
          <p:cNvSpPr txBox="1"/>
          <p:nvPr/>
        </p:nvSpPr>
        <p:spPr>
          <a:xfrm>
            <a:off x="384048" y="5660136"/>
            <a:ext cx="6309360" cy="411480"/>
          </a:xfrm>
          <a:prstGeom prst="rect">
            <a:avLst/>
          </a:prstGeom>
          <a:noFill/>
          <a:ln>
            <a:noFill/>
          </a:ln>
        </p:spPr>
        <p:txBody>
          <a:bodyPr wrap="square" lIns="0" tIns="0" rIns="0" bIns="0" rtlCol="0" anchor="ctr"/>
          <a:lstStyle/>
          <a:p>
            <a:pPr marL="0" indent="0">
              <a:buNone/>
            </a:pPr>
            <a:r>
              <a:rPr lang="en-US" sz="2000" dirty="0">
                <a:solidFill>
                  <a:srgbClr val="362FEC"/>
                </a:solidFill>
                <a:latin typeface="Calibri" pitchFamily="34" charset="0"/>
                <a:ea typeface="Calibri" pitchFamily="34" charset="-122"/>
                <a:cs typeface="Calibri" pitchFamily="34" charset="-120"/>
              </a:rPr>
              <a:t>2026</a:t>
            </a:r>
            <a:r>
              <a:rPr lang="en-US" sz="2000" dirty="0">
                <a:solidFill>
                  <a:srgbClr val="000000"/>
                </a:solidFill>
                <a:latin typeface="Calibri" pitchFamily="34" charset="0"/>
                <a:ea typeface="Calibri" pitchFamily="34" charset="-122"/>
                <a:cs typeface="Calibri" pitchFamily="34" charset="-120"/>
              </a:rPr>
              <a:t>: </a:t>
            </a:r>
            <a:r>
              <a:rPr lang="en-US" sz="2000" dirty="0">
                <a:solidFill>
                  <a:srgbClr val="00B050"/>
                </a:solidFill>
                <a:latin typeface="Calibri" pitchFamily="34" charset="0"/>
                <a:ea typeface="Calibri" pitchFamily="34" charset="-122"/>
                <a:cs typeface="Calibri" pitchFamily="34" charset="-120"/>
              </a:rPr>
              <a:t>the unit distance conjecture disproved</a:t>
            </a:r>
            <a:endParaRPr lang="en-US" sz="2000" dirty="0"/>
          </a:p>
        </p:txBody>
      </p:sp>
      <p:pic>
        <p:nvPicPr>
          <p:cNvPr id="14" name="unit distances" descr="unit-distances.png"/>
          <p:cNvPicPr>
            <a:picLocks noChangeAspect="1"/>
          </p:cNvPicPr>
          <p:nvPr/>
        </p:nvPicPr>
        <p:blipFill>
          <a:blip r:embed="rId3"/>
          <a:stretch>
            <a:fillRect/>
          </a:stretch>
        </p:blipFill>
        <p:spPr>
          <a:xfrm>
            <a:off x="8046720" y="1188720"/>
            <a:ext cx="2651760" cy="2651760"/>
          </a:xfrm>
          <a:prstGeom prst="rect">
            <a:avLst/>
          </a:prstGeom>
        </p:spPr>
      </p:pic>
      <p:sp>
        <p:nvSpPr>
          <p:cNvPr id="15" name="TextBox 14"/>
          <p:cNvSpPr txBox="1"/>
          <p:nvPr/>
        </p:nvSpPr>
        <p:spPr>
          <a:xfrm>
            <a:off x="6629400" y="3886200"/>
            <a:ext cx="5486400" cy="274320"/>
          </a:xfrm>
          <a:prstGeom prst="rect">
            <a:avLst/>
          </a:prstGeom>
          <a:noFill/>
        </p:spPr>
        <p:txBody>
          <a:bodyPr wrap="square" lIns="0" tIns="0" rIns="0" bIns="0" anchor="t">
            <a:spAutoFit/>
          </a:bodyPr>
          <a:lstStyle/>
          <a:p>
            <a:pPr algn="ctr"/>
            <a:r>
              <a:rPr sz="1200" b="0" i="0">
                <a:solidFill>
                  <a:srgbClr val="595959"/>
                </a:solidFill>
                <a:latin typeface="Calibri"/>
              </a:rPr>
              <a:t>a rescaled square grid: the old record, now beaten</a:t>
            </a:r>
          </a:p>
        </p:txBody>
      </p:sp>
      <p:pic>
        <p:nvPicPr>
          <p:cNvPr id="16" name="unit distance statement" descr="eq_unit.png"/>
          <p:cNvPicPr>
            <a:picLocks noChangeAspect="1"/>
          </p:cNvPicPr>
          <p:nvPr/>
        </p:nvPicPr>
        <p:blipFill>
          <a:blip r:embed="rId4"/>
          <a:stretch>
            <a:fillRect/>
          </a:stretch>
        </p:blipFill>
        <p:spPr>
          <a:xfrm>
            <a:off x="6995160" y="4297680"/>
            <a:ext cx="4754880" cy="300588"/>
          </a:xfrm>
          <a:prstGeom prst="rect">
            <a:avLst/>
          </a:prstGeom>
        </p:spPr>
      </p:pic>
      <p:sp>
        <p:nvSpPr>
          <p:cNvPr id="17" name="description"/>
          <p:cNvSpPr txBox="1"/>
          <p:nvPr/>
        </p:nvSpPr>
        <p:spPr>
          <a:xfrm>
            <a:off x="6812280" y="4846320"/>
            <a:ext cx="5120640" cy="685800"/>
          </a:xfrm>
          <a:prstGeom prst="rect">
            <a:avLst/>
          </a:prstGeom>
          <a:noFill/>
        </p:spPr>
        <p:txBody>
          <a:bodyPr wrap="square" lIns="0" tIns="0" rIns="0" bIns="0" anchor="t">
            <a:spAutoFit/>
          </a:bodyPr>
          <a:lstStyle/>
          <a:p>
            <a:pPr algn="l"/>
            <a:r>
              <a:rPr sz="1400" b="0" i="0">
                <a:solidFill>
                  <a:srgbClr val="595959"/>
                </a:solidFill>
                <a:latin typeface="Calibri"/>
              </a:rPr>
              <a:t>An internal OpenAI reasoning model built point sets with far more unit distances than Erdős believed possible, using algebraic number theory. Noga Alon, Tim Gowers, and others checked it and wrote a companion paper (May 2026).</a:t>
            </a:r>
          </a:p>
        </p:txBody>
      </p:sp>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13"/>
                                        </p:tgtEl>
                                        <p:attrNameLst>
                                          <p:attrName>style.visibility</p:attrName>
                                        </p:attrNameLst>
                                      </p:cBhvr>
                                      <p:to>
                                        <p:strVal val="visible"/>
                                      </p:to>
                                    </p:set>
                                  </p:childTnLst>
                                </p:cTn>
                              </p:par>
                              <p:par>
                                <p:cTn id="7" presetID="1" presetClass="entr" presetSubtype="0" fill="hold" grpId="0" nodeType="withEffect">
                                  <p:stCondLst>
                                    <p:cond delay="0"/>
                                  </p:stCondLst>
                                  <p:childTnLst>
                                    <p:set>
                                      <p:cBhvr>
                                        <p:cTn id="8" dur="1" fill="hold">
                                          <p:stCondLst>
                                            <p:cond delay="0"/>
                                          </p:stCondLst>
                                        </p:cTn>
                                        <p:tgtEl>
                                          <p:spTgt spid="14"/>
                                        </p:tgtEl>
                                        <p:attrNameLst>
                                          <p:attrName>style.visibility</p:attrName>
                                        </p:attrNameLst>
                                      </p:cBhvr>
                                      <p:to>
                                        <p:strVal val="visible"/>
                                      </p:to>
                                    </p:set>
                                  </p:childTnLst>
                                </p:cTn>
                              </p:par>
                              <p:par>
                                <p:cTn id="9" presetID="1" presetClass="entr" presetSubtype="0" fill="hold" grpId="0" nodeType="withEffect">
                                  <p:stCondLst>
                                    <p:cond delay="0"/>
                                  </p:stCondLst>
                                  <p:childTnLst>
                                    <p:set>
                                      <p:cBhvr>
                                        <p:cTn id="10" dur="1" fill="hold">
                                          <p:stCondLst>
                                            <p:cond delay="0"/>
                                          </p:stCondLst>
                                        </p:cTn>
                                        <p:tgtEl>
                                          <p:spTgt spid="15"/>
                                        </p:tgtEl>
                                        <p:attrNameLst>
                                          <p:attrName>style.visibility</p:attrName>
                                        </p:attrNameLst>
                                      </p:cBhvr>
                                      <p:to>
                                        <p:strVal val="visible"/>
                                      </p:to>
                                    </p:set>
                                  </p:childTnLst>
                                </p:cTn>
                              </p:par>
                              <p:par>
                                <p:cTn id="11" presetID="1" presetClass="entr" presetSubtype="0" fill="hold" grpId="0" nodeType="withEffect">
                                  <p:stCondLst>
                                    <p:cond delay="0"/>
                                  </p:stCondLst>
                                  <p:childTnLst>
                                    <p:set>
                                      <p:cBhvr>
                                        <p:cTn id="12" dur="1" fill="hold">
                                          <p:stCondLst>
                                            <p:cond delay="0"/>
                                          </p:stCondLst>
                                        </p:cTn>
                                        <p:tgtEl>
                                          <p:spTgt spid="16"/>
                                        </p:tgtEl>
                                        <p:attrNameLst>
                                          <p:attrName>style.visibility</p:attrName>
                                        </p:attrNameLst>
                                      </p:cBhvr>
                                      <p:to>
                                        <p:strVal val="visible"/>
                                      </p:to>
                                    </p:set>
                                  </p:childTnLst>
                                </p:cTn>
                              </p:par>
                              <p:par>
                                <p:cTn id="13" presetID="1" presetClass="entr" presetSubtype="0" fill="hold" grpId="0" nodeType="withEffect">
                                  <p:stCondLst>
                                    <p:cond delay="0"/>
                                  </p:stCondLst>
                                  <p:childTnLst>
                                    <p:set>
                                      <p:cBhvr>
                                        <p:cTn id="14" dur="1" fill="hold">
                                          <p:stCondLst>
                                            <p:cond delay="0"/>
                                          </p:stCondLst>
                                        </p:cTn>
                                        <p:tgtEl>
                                          <p:spTgt spid="17"/>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3" grpId="0"/>
      <p:bldP spid="15" grpId="0"/>
      <p:bldP spid="17" grpId="0"/>
    </p:bldLst>
  </p:timing>
</p:sld>
</file>

<file path=ppt/slides/slide2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b0_2">
            <a:extLst>
              <a:ext uri="{FF2B5EF4-FFF2-40B4-BE49-F238E27FC236}">
                <a16:creationId xmlns:a16="http://schemas.microsoft.com/office/drawing/2014/main" id="{33DE8782-7F2B-1033-00F6-2A6652EE0E80}"/>
              </a:ext>
            </a:extLst>
          </p:cNvPr>
          <p:cNvSpPr txBox="1"/>
          <p:nvPr/>
        </p:nvSpPr>
        <p:spPr>
          <a:xfrm>
            <a:off x="0" y="148566"/>
            <a:ext cx="11680992" cy="548640"/>
          </a:xfrm>
          <a:prstGeom prst="rect">
            <a:avLst/>
          </a:prstGeom>
          <a:noFill/>
          <a:ln>
            <a:noFill/>
          </a:ln>
        </p:spPr>
        <p:txBody>
          <a:bodyPr wrap="square" rtlCol="0" anchor="ctr"/>
          <a:lstStyle/>
          <a:p>
            <a:r>
              <a:rPr lang="en-US" sz="3200" b="1" dirty="0">
                <a:latin typeface="Calibri" pitchFamily="34" charset="0"/>
                <a:ea typeface="Calibri" pitchFamily="34" charset="-122"/>
                <a:cs typeface="Calibri" pitchFamily="34" charset="-120"/>
              </a:rPr>
              <a:t>From </a:t>
            </a:r>
            <a:r>
              <a:rPr lang="en-US" sz="3200" b="1" dirty="0">
                <a:solidFill>
                  <a:srgbClr val="FF0000"/>
                </a:solidFill>
                <a:latin typeface="Calibri" pitchFamily="34" charset="0"/>
                <a:ea typeface="Calibri" pitchFamily="34" charset="-122"/>
                <a:cs typeface="Calibri" pitchFamily="34" charset="-120"/>
              </a:rPr>
              <a:t>Computation</a:t>
            </a:r>
            <a:r>
              <a:rPr lang="en-US" sz="3200" b="1" dirty="0">
                <a:latin typeface="Calibri" pitchFamily="34" charset="0"/>
                <a:ea typeface="Calibri" pitchFamily="34" charset="-122"/>
                <a:cs typeface="Calibri" pitchFamily="34" charset="-120"/>
              </a:rPr>
              <a:t> to </a:t>
            </a:r>
            <a:r>
              <a:rPr lang="en-US" sz="3200" b="1" dirty="0">
                <a:solidFill>
                  <a:srgbClr val="362FEC"/>
                </a:solidFill>
                <a:latin typeface="Calibri" pitchFamily="34" charset="0"/>
                <a:ea typeface="Calibri" pitchFamily="34" charset="-122"/>
                <a:cs typeface="Calibri" pitchFamily="34" charset="-120"/>
              </a:rPr>
              <a:t>Language Models</a:t>
            </a:r>
            <a:endParaRPr lang="en-US" sz="3200" dirty="0">
              <a:solidFill>
                <a:srgbClr val="362FEC"/>
              </a:solidFill>
            </a:endParaRPr>
          </a:p>
        </p:txBody>
      </p:sp>
      <p:sp>
        <p:nvSpPr>
          <p:cNvPr id="3" name="!!computation">
            <a:extLst>
              <a:ext uri="{FF2B5EF4-FFF2-40B4-BE49-F238E27FC236}">
                <a16:creationId xmlns:a16="http://schemas.microsoft.com/office/drawing/2014/main" id="{691E18F7-4F41-2F97-0124-8C09DE463973}"/>
              </a:ext>
            </a:extLst>
          </p:cNvPr>
          <p:cNvSpPr txBox="1"/>
          <p:nvPr/>
        </p:nvSpPr>
        <p:spPr>
          <a:xfrm>
            <a:off x="168339" y="980102"/>
            <a:ext cx="6355080" cy="707886"/>
          </a:xfrm>
          <a:prstGeom prst="rect">
            <a:avLst/>
          </a:prstGeom>
          <a:noFill/>
        </p:spPr>
        <p:txBody>
          <a:bodyPr wrap="square" rtlCol="0">
            <a:spAutoFit/>
          </a:bodyPr>
          <a:lstStyle/>
          <a:p>
            <a:r>
              <a:rPr lang="en-US" sz="2000" dirty="0">
                <a:latin typeface="Calibri" panose="020F0502020204030204" pitchFamily="34" charset="0"/>
                <a:cs typeface="Calibri" panose="020F0502020204030204" pitchFamily="34" charset="0"/>
              </a:rPr>
              <a:t>This is taken even further by the ability to transform information: Computation.</a:t>
            </a:r>
          </a:p>
        </p:txBody>
      </p:sp>
      <p:sp>
        <p:nvSpPr>
          <p:cNvPr id="4" name="LM heading">
            <a:extLst>
              <a:ext uri="{FF2B5EF4-FFF2-40B4-BE49-F238E27FC236}">
                <a16:creationId xmlns:a16="http://schemas.microsoft.com/office/drawing/2014/main" id="{5CB8A4AA-40B1-94AE-8EEE-080599481F78}"/>
              </a:ext>
            </a:extLst>
          </p:cNvPr>
          <p:cNvSpPr txBox="1"/>
          <p:nvPr/>
        </p:nvSpPr>
        <p:spPr>
          <a:xfrm>
            <a:off x="291358" y="1687988"/>
            <a:ext cx="3171479" cy="411480"/>
          </a:xfrm>
          <a:prstGeom prst="rect">
            <a:avLst/>
          </a:prstGeom>
          <a:noFill/>
          <a:ln>
            <a:noFill/>
          </a:ln>
        </p:spPr>
        <p:txBody>
          <a:bodyPr wrap="square" lIns="0" tIns="0" rIns="0" bIns="0" rtlCol="0" anchor="ctr"/>
          <a:lstStyle/>
          <a:p>
            <a:pPr marL="0" indent="0">
              <a:buNone/>
            </a:pPr>
            <a:r>
              <a:rPr lang="en-US" sz="2000" b="1" dirty="0">
                <a:solidFill>
                  <a:srgbClr val="362FEC"/>
                </a:solidFill>
                <a:latin typeface="Calibri" panose="020F0502020204030204" pitchFamily="34" charset="0"/>
                <a:cs typeface="Calibri" panose="020F0502020204030204" pitchFamily="34" charset="0"/>
              </a:rPr>
              <a:t>Language Models</a:t>
            </a:r>
          </a:p>
        </p:txBody>
      </p:sp>
      <p:sp>
        <p:nvSpPr>
          <p:cNvPr id="5" name="lm 2017"/>
          <p:cNvSpPr txBox="1"/>
          <p:nvPr/>
        </p:nvSpPr>
        <p:spPr>
          <a:xfrm>
            <a:off x="384048" y="2148840"/>
            <a:ext cx="6309360" cy="411480"/>
          </a:xfrm>
          <a:prstGeom prst="rect">
            <a:avLst/>
          </a:prstGeom>
          <a:noFill/>
          <a:ln>
            <a:noFill/>
          </a:ln>
        </p:spPr>
        <p:txBody>
          <a:bodyPr wrap="square" lIns="0" tIns="0" rIns="0" bIns="0" rtlCol="0" anchor="ctr"/>
          <a:lstStyle/>
          <a:p>
            <a:pPr marL="0" indent="0">
              <a:buNone/>
            </a:pPr>
            <a:r>
              <a:rPr lang="en-US" sz="2000" dirty="0">
                <a:solidFill>
                  <a:srgbClr val="362FEC"/>
                </a:solidFill>
                <a:latin typeface="Calibri" pitchFamily="34" charset="0"/>
                <a:ea typeface="Calibri" pitchFamily="34" charset="-122"/>
                <a:cs typeface="Calibri" pitchFamily="34" charset="-120"/>
              </a:rPr>
              <a:t>2017</a:t>
            </a:r>
            <a:r>
              <a:rPr lang="en-US" sz="2000" dirty="0">
                <a:solidFill>
                  <a:srgbClr val="000000"/>
                </a:solidFill>
                <a:latin typeface="Calibri" pitchFamily="34" charset="0"/>
                <a:ea typeface="Calibri" pitchFamily="34" charset="-122"/>
                <a:cs typeface="Calibri" pitchFamily="34" charset="-120"/>
              </a:rPr>
              <a:t>: </a:t>
            </a:r>
            <a:r>
              <a:rPr lang="en-US" sz="2000" dirty="0">
                <a:solidFill>
                  <a:srgbClr val="00B050"/>
                </a:solidFill>
                <a:latin typeface="Calibri" pitchFamily="34" charset="0"/>
                <a:ea typeface="Calibri" pitchFamily="34" charset="-122"/>
                <a:cs typeface="Calibri" pitchFamily="34" charset="-120"/>
              </a:rPr>
              <a:t>the Transformer</a:t>
            </a:r>
            <a:endParaRPr lang="en-US" sz="2000" dirty="0"/>
          </a:p>
        </p:txBody>
      </p:sp>
      <p:sp>
        <p:nvSpPr>
          <p:cNvPr id="6" name="lm 2018"/>
          <p:cNvSpPr txBox="1"/>
          <p:nvPr/>
        </p:nvSpPr>
        <p:spPr>
          <a:xfrm>
            <a:off x="384048" y="2587752"/>
            <a:ext cx="6309360" cy="411480"/>
          </a:xfrm>
          <a:prstGeom prst="rect">
            <a:avLst/>
          </a:prstGeom>
          <a:noFill/>
          <a:ln>
            <a:noFill/>
          </a:ln>
        </p:spPr>
        <p:txBody>
          <a:bodyPr wrap="square" lIns="0" tIns="0" rIns="0" bIns="0" rtlCol="0" anchor="ctr"/>
          <a:lstStyle/>
          <a:p>
            <a:pPr marL="0" indent="0">
              <a:buNone/>
            </a:pPr>
            <a:r>
              <a:rPr lang="en-US" sz="2000" dirty="0">
                <a:solidFill>
                  <a:srgbClr val="362FEC"/>
                </a:solidFill>
                <a:latin typeface="Calibri" pitchFamily="34" charset="0"/>
                <a:ea typeface="Calibri" pitchFamily="34" charset="-122"/>
                <a:cs typeface="Calibri" pitchFamily="34" charset="-120"/>
              </a:rPr>
              <a:t>2018</a:t>
            </a:r>
            <a:r>
              <a:rPr lang="en-US" sz="2000" dirty="0">
                <a:solidFill>
                  <a:srgbClr val="000000"/>
                </a:solidFill>
                <a:latin typeface="Calibri" pitchFamily="34" charset="0"/>
                <a:ea typeface="Calibri" pitchFamily="34" charset="-122"/>
                <a:cs typeface="Calibri" pitchFamily="34" charset="-120"/>
              </a:rPr>
              <a:t>: </a:t>
            </a:r>
            <a:r>
              <a:rPr lang="en-US" sz="2000" dirty="0">
                <a:solidFill>
                  <a:srgbClr val="00B050"/>
                </a:solidFill>
                <a:latin typeface="Calibri" pitchFamily="34" charset="0"/>
                <a:ea typeface="Calibri" pitchFamily="34" charset="-122"/>
                <a:cs typeface="Calibri" pitchFamily="34" charset="-120"/>
              </a:rPr>
              <a:t>GPT and BERT: pretrain, then fine-tune</a:t>
            </a:r>
            <a:endParaRPr lang="en-US" sz="2000" dirty="0"/>
          </a:p>
        </p:txBody>
      </p:sp>
      <p:sp>
        <p:nvSpPr>
          <p:cNvPr id="7" name="lm 2020"/>
          <p:cNvSpPr txBox="1"/>
          <p:nvPr/>
        </p:nvSpPr>
        <p:spPr>
          <a:xfrm>
            <a:off x="384048" y="3026664"/>
            <a:ext cx="6309360" cy="411480"/>
          </a:xfrm>
          <a:prstGeom prst="rect">
            <a:avLst/>
          </a:prstGeom>
          <a:noFill/>
          <a:ln>
            <a:noFill/>
          </a:ln>
        </p:spPr>
        <p:txBody>
          <a:bodyPr wrap="square" lIns="0" tIns="0" rIns="0" bIns="0" rtlCol="0" anchor="ctr"/>
          <a:lstStyle/>
          <a:p>
            <a:pPr marL="0" indent="0">
              <a:buNone/>
            </a:pPr>
            <a:r>
              <a:rPr lang="en-US" sz="2000" dirty="0">
                <a:solidFill>
                  <a:srgbClr val="362FEC"/>
                </a:solidFill>
                <a:latin typeface="Calibri" pitchFamily="34" charset="0"/>
                <a:ea typeface="Calibri" pitchFamily="34" charset="-122"/>
                <a:cs typeface="Calibri" pitchFamily="34" charset="-120"/>
              </a:rPr>
              <a:t>2020</a:t>
            </a:r>
            <a:r>
              <a:rPr lang="en-US" sz="2000" dirty="0">
                <a:solidFill>
                  <a:srgbClr val="000000"/>
                </a:solidFill>
                <a:latin typeface="Calibri" pitchFamily="34" charset="0"/>
                <a:ea typeface="Calibri" pitchFamily="34" charset="-122"/>
                <a:cs typeface="Calibri" pitchFamily="34" charset="-120"/>
              </a:rPr>
              <a:t>: </a:t>
            </a:r>
            <a:r>
              <a:rPr lang="en-US" sz="2000" dirty="0">
                <a:solidFill>
                  <a:srgbClr val="00B050"/>
                </a:solidFill>
                <a:latin typeface="Calibri" pitchFamily="34" charset="0"/>
                <a:ea typeface="Calibri" pitchFamily="34" charset="-122"/>
                <a:cs typeface="Calibri" pitchFamily="34" charset="-120"/>
              </a:rPr>
              <a:t>GPT-3: a task from a few examples</a:t>
            </a:r>
            <a:endParaRPr lang="en-US" sz="2000" dirty="0"/>
          </a:p>
        </p:txBody>
      </p:sp>
      <p:sp>
        <p:nvSpPr>
          <p:cNvPr id="8" name="lm 2022"/>
          <p:cNvSpPr txBox="1"/>
          <p:nvPr/>
        </p:nvSpPr>
        <p:spPr>
          <a:xfrm>
            <a:off x="384048" y="3465576"/>
            <a:ext cx="6309360" cy="411480"/>
          </a:xfrm>
          <a:prstGeom prst="rect">
            <a:avLst/>
          </a:prstGeom>
          <a:noFill/>
          <a:ln>
            <a:noFill/>
          </a:ln>
        </p:spPr>
        <p:txBody>
          <a:bodyPr wrap="square" lIns="0" tIns="0" rIns="0" bIns="0" rtlCol="0" anchor="ctr"/>
          <a:lstStyle/>
          <a:p>
            <a:pPr marL="0" indent="0">
              <a:buNone/>
            </a:pPr>
            <a:r>
              <a:rPr lang="en-US" sz="2000" dirty="0">
                <a:solidFill>
                  <a:srgbClr val="362FEC"/>
                </a:solidFill>
                <a:latin typeface="Calibri" pitchFamily="34" charset="0"/>
                <a:ea typeface="Calibri" pitchFamily="34" charset="-122"/>
                <a:cs typeface="Calibri" pitchFamily="34" charset="-120"/>
              </a:rPr>
              <a:t>2022</a:t>
            </a:r>
            <a:r>
              <a:rPr lang="en-US" sz="2000" dirty="0">
                <a:solidFill>
                  <a:srgbClr val="000000"/>
                </a:solidFill>
                <a:latin typeface="Calibri" pitchFamily="34" charset="0"/>
                <a:ea typeface="Calibri" pitchFamily="34" charset="-122"/>
                <a:cs typeface="Calibri" pitchFamily="34" charset="-120"/>
              </a:rPr>
              <a:t>: </a:t>
            </a:r>
            <a:r>
              <a:rPr lang="en-US" sz="2000" dirty="0">
                <a:solidFill>
                  <a:srgbClr val="00B050"/>
                </a:solidFill>
                <a:latin typeface="Calibri" pitchFamily="34" charset="0"/>
                <a:ea typeface="Calibri" pitchFamily="34" charset="-122"/>
                <a:cs typeface="Calibri" pitchFamily="34" charset="-120"/>
              </a:rPr>
              <a:t>ChatGPT: an assistant you can talk to</a:t>
            </a:r>
            <a:endParaRPr lang="en-US" sz="2000" dirty="0"/>
          </a:p>
        </p:txBody>
      </p:sp>
      <p:sp>
        <p:nvSpPr>
          <p:cNvPr id="9" name="lm 2023"/>
          <p:cNvSpPr txBox="1"/>
          <p:nvPr/>
        </p:nvSpPr>
        <p:spPr>
          <a:xfrm>
            <a:off x="384048" y="3904487"/>
            <a:ext cx="6309360" cy="411480"/>
          </a:xfrm>
          <a:prstGeom prst="rect">
            <a:avLst/>
          </a:prstGeom>
          <a:noFill/>
          <a:ln>
            <a:noFill/>
          </a:ln>
        </p:spPr>
        <p:txBody>
          <a:bodyPr wrap="square" lIns="0" tIns="0" rIns="0" bIns="0" rtlCol="0" anchor="ctr"/>
          <a:lstStyle/>
          <a:p>
            <a:pPr marL="0" indent="0">
              <a:buNone/>
            </a:pPr>
            <a:r>
              <a:rPr lang="en-US" sz="2000" dirty="0">
                <a:solidFill>
                  <a:srgbClr val="362FEC"/>
                </a:solidFill>
                <a:latin typeface="Calibri" pitchFamily="34" charset="0"/>
                <a:ea typeface="Calibri" pitchFamily="34" charset="-122"/>
                <a:cs typeface="Calibri" pitchFamily="34" charset="-120"/>
              </a:rPr>
              <a:t>2023–2024</a:t>
            </a:r>
            <a:r>
              <a:rPr lang="en-US" sz="2000" dirty="0">
                <a:solidFill>
                  <a:srgbClr val="000000"/>
                </a:solidFill>
                <a:latin typeface="Calibri" pitchFamily="34" charset="0"/>
                <a:ea typeface="Calibri" pitchFamily="34" charset="-122"/>
                <a:cs typeface="Calibri" pitchFamily="34" charset="-120"/>
              </a:rPr>
              <a:t>: </a:t>
            </a:r>
            <a:r>
              <a:rPr lang="en-US" sz="2000" dirty="0">
                <a:solidFill>
                  <a:srgbClr val="00B050"/>
                </a:solidFill>
                <a:latin typeface="Calibri" pitchFamily="34" charset="0"/>
                <a:ea typeface="Calibri" pitchFamily="34" charset="-122"/>
                <a:cs typeface="Calibri" pitchFamily="34" charset="-120"/>
              </a:rPr>
              <a:t>GPT-4 and GPT-4o: images and audio in</a:t>
            </a:r>
            <a:endParaRPr lang="en-US" sz="2000" dirty="0"/>
          </a:p>
        </p:txBody>
      </p:sp>
      <p:sp>
        <p:nvSpPr>
          <p:cNvPr id="10" name="lm 2024"/>
          <p:cNvSpPr txBox="1"/>
          <p:nvPr/>
        </p:nvSpPr>
        <p:spPr>
          <a:xfrm>
            <a:off x="384048" y="4343400"/>
            <a:ext cx="6309360" cy="411480"/>
          </a:xfrm>
          <a:prstGeom prst="rect">
            <a:avLst/>
          </a:prstGeom>
          <a:noFill/>
          <a:ln>
            <a:noFill/>
          </a:ln>
        </p:spPr>
        <p:txBody>
          <a:bodyPr wrap="square" lIns="0" tIns="0" rIns="0" bIns="0" rtlCol="0" anchor="ctr"/>
          <a:lstStyle/>
          <a:p>
            <a:pPr marL="0" indent="0">
              <a:buNone/>
            </a:pPr>
            <a:r>
              <a:rPr lang="en-US" sz="2000" dirty="0">
                <a:solidFill>
                  <a:srgbClr val="362FEC"/>
                </a:solidFill>
                <a:latin typeface="Calibri" pitchFamily="34" charset="0"/>
                <a:ea typeface="Calibri" pitchFamily="34" charset="-122"/>
                <a:cs typeface="Calibri" pitchFamily="34" charset="-120"/>
              </a:rPr>
              <a:t>2024–2025</a:t>
            </a:r>
            <a:r>
              <a:rPr lang="en-US" sz="2000" dirty="0">
                <a:solidFill>
                  <a:srgbClr val="000000"/>
                </a:solidFill>
                <a:latin typeface="Calibri" pitchFamily="34" charset="0"/>
                <a:ea typeface="Calibri" pitchFamily="34" charset="-122"/>
                <a:cs typeface="Calibri" pitchFamily="34" charset="-120"/>
              </a:rPr>
              <a:t>: </a:t>
            </a:r>
            <a:r>
              <a:rPr lang="en-US" sz="2000" dirty="0">
                <a:solidFill>
                  <a:srgbClr val="00B050"/>
                </a:solidFill>
                <a:latin typeface="Calibri" pitchFamily="34" charset="0"/>
                <a:ea typeface="Calibri" pitchFamily="34" charset="-122"/>
                <a:cs typeface="Calibri" pitchFamily="34" charset="-120"/>
              </a:rPr>
              <a:t>o1 and R1: reasoning before answering</a:t>
            </a:r>
            <a:endParaRPr lang="en-US" sz="2000" dirty="0"/>
          </a:p>
        </p:txBody>
      </p:sp>
      <p:sp>
        <p:nvSpPr>
          <p:cNvPr id="11" name="lm 2025"/>
          <p:cNvSpPr txBox="1"/>
          <p:nvPr/>
        </p:nvSpPr>
        <p:spPr>
          <a:xfrm>
            <a:off x="384048" y="4782312"/>
            <a:ext cx="6309360" cy="411480"/>
          </a:xfrm>
          <a:prstGeom prst="rect">
            <a:avLst/>
          </a:prstGeom>
          <a:noFill/>
          <a:ln>
            <a:noFill/>
          </a:ln>
        </p:spPr>
        <p:txBody>
          <a:bodyPr wrap="square" lIns="0" tIns="0" rIns="0" bIns="0" rtlCol="0" anchor="ctr"/>
          <a:lstStyle/>
          <a:p>
            <a:pPr marL="0" indent="0">
              <a:buNone/>
            </a:pPr>
            <a:r>
              <a:rPr lang="en-US" sz="2000" dirty="0">
                <a:solidFill>
                  <a:srgbClr val="362FEC"/>
                </a:solidFill>
                <a:latin typeface="Calibri" pitchFamily="34" charset="0"/>
                <a:ea typeface="Calibri" pitchFamily="34" charset="-122"/>
                <a:cs typeface="Calibri" pitchFamily="34" charset="-120"/>
              </a:rPr>
              <a:t>2025</a:t>
            </a:r>
            <a:r>
              <a:rPr lang="en-US" sz="2000" dirty="0">
                <a:solidFill>
                  <a:srgbClr val="000000"/>
                </a:solidFill>
                <a:latin typeface="Calibri" pitchFamily="34" charset="0"/>
                <a:ea typeface="Calibri" pitchFamily="34" charset="-122"/>
                <a:cs typeface="Calibri" pitchFamily="34" charset="-120"/>
              </a:rPr>
              <a:t>: </a:t>
            </a:r>
            <a:r>
              <a:rPr lang="en-US" sz="2000" dirty="0">
                <a:solidFill>
                  <a:srgbClr val="00B050"/>
                </a:solidFill>
                <a:latin typeface="Calibri" pitchFamily="34" charset="0"/>
                <a:ea typeface="Calibri" pitchFamily="34" charset="-122"/>
                <a:cs typeface="Calibri" pitchFamily="34" charset="-120"/>
              </a:rPr>
              <a:t>gold-medal standard at the IMO</a:t>
            </a:r>
            <a:endParaRPr lang="en-US" sz="2000" dirty="0"/>
          </a:p>
        </p:txBody>
      </p:sp>
      <p:sp>
        <p:nvSpPr>
          <p:cNvPr id="12" name="lm 2025b"/>
          <p:cNvSpPr txBox="1"/>
          <p:nvPr/>
        </p:nvSpPr>
        <p:spPr>
          <a:xfrm>
            <a:off x="384048" y="5221224"/>
            <a:ext cx="6309360" cy="411480"/>
          </a:xfrm>
          <a:prstGeom prst="rect">
            <a:avLst/>
          </a:prstGeom>
          <a:noFill/>
          <a:ln>
            <a:noFill/>
          </a:ln>
        </p:spPr>
        <p:txBody>
          <a:bodyPr wrap="square" lIns="0" tIns="0" rIns="0" bIns="0" rtlCol="0" anchor="ctr"/>
          <a:lstStyle/>
          <a:p>
            <a:pPr marL="0" indent="0">
              <a:buNone/>
            </a:pPr>
            <a:r>
              <a:rPr lang="en-US" sz="2000" dirty="0">
                <a:solidFill>
                  <a:srgbClr val="362FEC"/>
                </a:solidFill>
                <a:latin typeface="Calibri" pitchFamily="34" charset="0"/>
                <a:ea typeface="Calibri" pitchFamily="34" charset="-122"/>
                <a:cs typeface="Calibri" pitchFamily="34" charset="-120"/>
              </a:rPr>
              <a:t>2025–2026</a:t>
            </a:r>
            <a:r>
              <a:rPr lang="en-US" sz="2000" dirty="0">
                <a:solidFill>
                  <a:srgbClr val="000000"/>
                </a:solidFill>
                <a:latin typeface="Calibri" pitchFamily="34" charset="0"/>
                <a:ea typeface="Calibri" pitchFamily="34" charset="-122"/>
                <a:cs typeface="Calibri" pitchFamily="34" charset="-120"/>
              </a:rPr>
              <a:t>: </a:t>
            </a:r>
            <a:r>
              <a:rPr lang="en-US" sz="2000" dirty="0">
                <a:solidFill>
                  <a:srgbClr val="00B050"/>
                </a:solidFill>
                <a:latin typeface="Calibri" pitchFamily="34" charset="0"/>
                <a:ea typeface="Calibri" pitchFamily="34" charset="-122"/>
                <a:cs typeface="Calibri" pitchFamily="34" charset="-120"/>
              </a:rPr>
              <a:t>open Erdős problems resolved</a:t>
            </a:r>
            <a:endParaRPr lang="en-US" sz="2000" dirty="0"/>
          </a:p>
        </p:txBody>
      </p:sp>
      <p:sp>
        <p:nvSpPr>
          <p:cNvPr id="13" name="lm 2026"/>
          <p:cNvSpPr txBox="1"/>
          <p:nvPr/>
        </p:nvSpPr>
        <p:spPr>
          <a:xfrm>
            <a:off x="384048" y="5660136"/>
            <a:ext cx="6309360" cy="411480"/>
          </a:xfrm>
          <a:prstGeom prst="rect">
            <a:avLst/>
          </a:prstGeom>
          <a:noFill/>
          <a:ln>
            <a:noFill/>
          </a:ln>
        </p:spPr>
        <p:txBody>
          <a:bodyPr wrap="square" lIns="0" tIns="0" rIns="0" bIns="0" rtlCol="0" anchor="ctr"/>
          <a:lstStyle/>
          <a:p>
            <a:pPr marL="0" indent="0">
              <a:buNone/>
            </a:pPr>
            <a:r>
              <a:rPr lang="en-US" sz="2000" dirty="0">
                <a:solidFill>
                  <a:srgbClr val="362FEC"/>
                </a:solidFill>
                <a:latin typeface="Calibri" pitchFamily="34" charset="0"/>
                <a:ea typeface="Calibri" pitchFamily="34" charset="-122"/>
                <a:cs typeface="Calibri" pitchFamily="34" charset="-120"/>
              </a:rPr>
              <a:t>2026</a:t>
            </a:r>
            <a:r>
              <a:rPr lang="en-US" sz="2000" dirty="0">
                <a:solidFill>
                  <a:srgbClr val="000000"/>
                </a:solidFill>
                <a:latin typeface="Calibri" pitchFamily="34" charset="0"/>
                <a:ea typeface="Calibri" pitchFamily="34" charset="-122"/>
                <a:cs typeface="Calibri" pitchFamily="34" charset="-120"/>
              </a:rPr>
              <a:t>: </a:t>
            </a:r>
            <a:r>
              <a:rPr lang="en-US" sz="2000" dirty="0">
                <a:solidFill>
                  <a:srgbClr val="00B050"/>
                </a:solidFill>
                <a:latin typeface="Calibri" pitchFamily="34" charset="0"/>
                <a:ea typeface="Calibri" pitchFamily="34" charset="-122"/>
                <a:cs typeface="Calibri" pitchFamily="34" charset="-120"/>
              </a:rPr>
              <a:t>the unit distance conjecture disproved</a:t>
            </a:r>
            <a:endParaRPr lang="en-US" sz="2000" dirty="0"/>
          </a:p>
        </p:txBody>
      </p:sp>
      <p:sp>
        <p:nvSpPr>
          <p:cNvPr id="14" name="lm 2026b"/>
          <p:cNvSpPr txBox="1"/>
          <p:nvPr/>
        </p:nvSpPr>
        <p:spPr>
          <a:xfrm>
            <a:off x="384048" y="6099048"/>
            <a:ext cx="6309360" cy="411480"/>
          </a:xfrm>
          <a:prstGeom prst="rect">
            <a:avLst/>
          </a:prstGeom>
          <a:noFill/>
          <a:ln>
            <a:noFill/>
          </a:ln>
        </p:spPr>
        <p:txBody>
          <a:bodyPr wrap="square" lIns="0" tIns="0" rIns="0" bIns="0" rtlCol="0" anchor="ctr"/>
          <a:lstStyle/>
          <a:p>
            <a:pPr marL="0" indent="0">
              <a:buNone/>
            </a:pPr>
            <a:r>
              <a:rPr lang="en-US" sz="2000" dirty="0">
                <a:solidFill>
                  <a:srgbClr val="362FEC"/>
                </a:solidFill>
                <a:latin typeface="Calibri" pitchFamily="34" charset="0"/>
                <a:ea typeface="Calibri" pitchFamily="34" charset="-122"/>
                <a:cs typeface="Calibri" pitchFamily="34" charset="-120"/>
              </a:rPr>
              <a:t>2026</a:t>
            </a:r>
            <a:r>
              <a:rPr lang="en-US" sz="2000" dirty="0">
                <a:solidFill>
                  <a:srgbClr val="000000"/>
                </a:solidFill>
                <a:latin typeface="Calibri" pitchFamily="34" charset="0"/>
                <a:ea typeface="Calibri" pitchFamily="34" charset="-122"/>
                <a:cs typeface="Calibri" pitchFamily="34" charset="-120"/>
              </a:rPr>
              <a:t>: </a:t>
            </a:r>
            <a:r>
              <a:rPr lang="en-US" sz="2000" dirty="0">
                <a:solidFill>
                  <a:srgbClr val="00B050"/>
                </a:solidFill>
                <a:latin typeface="Calibri" pitchFamily="34" charset="0"/>
                <a:ea typeface="Calibri" pitchFamily="34" charset="-122"/>
                <a:cs typeface="Calibri" pitchFamily="34" charset="-120"/>
              </a:rPr>
              <a:t>Navier–Stokes blowup, claimed</a:t>
            </a:r>
            <a:endParaRPr lang="en-US" sz="2000" dirty="0"/>
          </a:p>
        </p:txBody>
      </p:sp>
      <p:pic>
        <p:nvPicPr>
          <p:cNvPr id="15" name="Navier-Stokes flow" descr="navier-stokes.jpg"/>
          <p:cNvPicPr>
            <a:picLocks noChangeAspect="1"/>
          </p:cNvPicPr>
          <p:nvPr/>
        </p:nvPicPr>
        <p:blipFill>
          <a:blip r:embed="rId3"/>
          <a:stretch>
            <a:fillRect/>
          </a:stretch>
        </p:blipFill>
        <p:spPr>
          <a:xfrm>
            <a:off x="7955280" y="1188720"/>
            <a:ext cx="2834640" cy="2834640"/>
          </a:xfrm>
          <a:prstGeom prst="rect">
            <a:avLst/>
          </a:prstGeom>
        </p:spPr>
      </p:pic>
      <p:sp>
        <p:nvSpPr>
          <p:cNvPr id="16" name="TextBox 15"/>
          <p:cNvSpPr txBox="1"/>
          <p:nvPr/>
        </p:nvSpPr>
        <p:spPr>
          <a:xfrm>
            <a:off x="6812280" y="4069080"/>
            <a:ext cx="5120640" cy="274320"/>
          </a:xfrm>
          <a:prstGeom prst="rect">
            <a:avLst/>
          </a:prstGeom>
          <a:noFill/>
        </p:spPr>
        <p:txBody>
          <a:bodyPr wrap="square" lIns="0" tIns="0" rIns="0" bIns="0" anchor="t">
            <a:spAutoFit/>
          </a:bodyPr>
          <a:lstStyle/>
          <a:p>
            <a:pPr algn="ctr"/>
            <a:r>
              <a:rPr sz="1200" b="0" i="0">
                <a:solidFill>
                  <a:srgbClr val="595959"/>
                </a:solidFill>
                <a:latin typeface="Calibri"/>
              </a:rPr>
              <a:t>a swirling flow, spiraling inward and stretching along its axis</a:t>
            </a:r>
          </a:p>
        </p:txBody>
      </p:sp>
      <p:sp>
        <p:nvSpPr>
          <p:cNvPr id="17" name="description"/>
          <p:cNvSpPr txBox="1"/>
          <p:nvPr/>
        </p:nvSpPr>
        <p:spPr>
          <a:xfrm>
            <a:off x="6812280" y="4434840"/>
            <a:ext cx="5120640" cy="914400"/>
          </a:xfrm>
          <a:prstGeom prst="rect">
            <a:avLst/>
          </a:prstGeom>
          <a:noFill/>
        </p:spPr>
        <p:txBody>
          <a:bodyPr wrap="square" lIns="0" tIns="0" rIns="0" bIns="0" anchor="t">
            <a:spAutoFit/>
          </a:bodyPr>
          <a:lstStyle/>
          <a:p>
            <a:pPr algn="l"/>
            <a:r>
              <a:rPr sz="1400" b="0" i="0">
                <a:solidFill>
                  <a:srgbClr val="595959"/>
                </a:solidFill>
                <a:latin typeface="Calibri"/>
              </a:rPr>
              <a:t>About 10,000 coordinated agents produced a Lean-checked proof that a fluid at rest, driven by a smooth force, can blow up in finite time in 3D. The Clay Institute says the problem “has apparently been settled” and is reviewing; priority and the role of the forcing are debated.</a:t>
            </a:r>
          </a:p>
        </p:txBody>
      </p:sp>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14"/>
                                        </p:tgtEl>
                                        <p:attrNameLst>
                                          <p:attrName>style.visibility</p:attrName>
                                        </p:attrNameLst>
                                      </p:cBhvr>
                                      <p:to>
                                        <p:strVal val="visible"/>
                                      </p:to>
                                    </p:set>
                                  </p:childTnLst>
                                </p:cTn>
                              </p:par>
                              <p:par>
                                <p:cTn id="7" presetID="1" presetClass="entr" presetSubtype="0" fill="hold" grpId="0" nodeType="withEffect">
                                  <p:stCondLst>
                                    <p:cond delay="0"/>
                                  </p:stCondLst>
                                  <p:childTnLst>
                                    <p:set>
                                      <p:cBhvr>
                                        <p:cTn id="8" dur="1" fill="hold">
                                          <p:stCondLst>
                                            <p:cond delay="0"/>
                                          </p:stCondLst>
                                        </p:cTn>
                                        <p:tgtEl>
                                          <p:spTgt spid="15"/>
                                        </p:tgtEl>
                                        <p:attrNameLst>
                                          <p:attrName>style.visibility</p:attrName>
                                        </p:attrNameLst>
                                      </p:cBhvr>
                                      <p:to>
                                        <p:strVal val="visible"/>
                                      </p:to>
                                    </p:set>
                                  </p:childTnLst>
                                </p:cTn>
                              </p:par>
                              <p:par>
                                <p:cTn id="9" presetID="1" presetClass="entr" presetSubtype="0" fill="hold" grpId="0" nodeType="withEffect">
                                  <p:stCondLst>
                                    <p:cond delay="0"/>
                                  </p:stCondLst>
                                  <p:childTnLst>
                                    <p:set>
                                      <p:cBhvr>
                                        <p:cTn id="10" dur="1" fill="hold">
                                          <p:stCondLst>
                                            <p:cond delay="0"/>
                                          </p:stCondLst>
                                        </p:cTn>
                                        <p:tgtEl>
                                          <p:spTgt spid="16"/>
                                        </p:tgtEl>
                                        <p:attrNameLst>
                                          <p:attrName>style.visibility</p:attrName>
                                        </p:attrNameLst>
                                      </p:cBhvr>
                                      <p:to>
                                        <p:strVal val="visible"/>
                                      </p:to>
                                    </p:set>
                                  </p:childTnLst>
                                </p:cTn>
                              </p:par>
                              <p:par>
                                <p:cTn id="11" presetID="1" presetClass="entr" presetSubtype="0" fill="hold" grpId="0" nodeType="withEffect">
                                  <p:stCondLst>
                                    <p:cond delay="0"/>
                                  </p:stCondLst>
                                  <p:childTnLst>
                                    <p:set>
                                      <p:cBhvr>
                                        <p:cTn id="12" dur="1" fill="hold">
                                          <p:stCondLst>
                                            <p:cond delay="0"/>
                                          </p:stCondLst>
                                        </p:cTn>
                                        <p:tgtEl>
                                          <p:spTgt spid="17"/>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4" grpId="0"/>
      <p:bldP spid="16" grpId="0"/>
      <p:bldP spid="17" grpId="0"/>
    </p:bldLst>
  </p:timing>
</p:sld>
</file>

<file path=ppt/slides/slide2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b0_2">
            <a:extLst>
              <a:ext uri="{FF2B5EF4-FFF2-40B4-BE49-F238E27FC236}">
                <a16:creationId xmlns:a16="http://schemas.microsoft.com/office/drawing/2014/main" id="{63D8B88D-36C4-45E1-74C8-A7D5EAB586FB}"/>
              </a:ext>
            </a:extLst>
          </p:cNvPr>
          <p:cNvSpPr txBox="1"/>
          <p:nvPr/>
        </p:nvSpPr>
        <p:spPr>
          <a:xfrm>
            <a:off x="0" y="148566"/>
            <a:ext cx="11680992" cy="548640"/>
          </a:xfrm>
          <a:prstGeom prst="rect">
            <a:avLst/>
          </a:prstGeom>
          <a:noFill/>
          <a:ln>
            <a:noFill/>
          </a:ln>
        </p:spPr>
        <p:txBody>
          <a:bodyPr wrap="square" rtlCol="0" anchor="ctr"/>
          <a:lstStyle/>
          <a:p>
            <a:pPr marL="0" indent="0">
              <a:buNone/>
            </a:pPr>
            <a:r>
              <a:rPr lang="en-US" sz="3200" b="1" dirty="0">
                <a:solidFill>
                  <a:srgbClr val="362FEC"/>
                </a:solidFill>
                <a:latin typeface="Calibri" pitchFamily="34" charset="0"/>
                <a:ea typeface="Calibri" pitchFamily="34" charset="-122"/>
                <a:cs typeface="Calibri" pitchFamily="34" charset="-120"/>
              </a:rPr>
              <a:t>Lecture 1</a:t>
            </a:r>
            <a:r>
              <a:rPr lang="en-US" sz="3200" b="1" dirty="0">
                <a:latin typeface="Calibri" pitchFamily="34" charset="0"/>
                <a:ea typeface="Calibri" pitchFamily="34" charset="-122"/>
                <a:cs typeface="Calibri" pitchFamily="34" charset="-120"/>
              </a:rPr>
              <a:t>:</a:t>
            </a:r>
            <a:r>
              <a:rPr lang="en-US" sz="3200" b="1" dirty="0">
                <a:solidFill>
                  <a:srgbClr val="00B050"/>
                </a:solidFill>
                <a:latin typeface="Calibri" pitchFamily="34" charset="0"/>
                <a:ea typeface="Calibri" pitchFamily="34" charset="-122"/>
                <a:cs typeface="Calibri" pitchFamily="34" charset="-120"/>
              </a:rPr>
              <a:t> </a:t>
            </a:r>
            <a:r>
              <a:rPr lang="en-US" sz="3200" b="1" dirty="0">
                <a:solidFill>
                  <a:srgbClr val="000000"/>
                </a:solidFill>
                <a:latin typeface="Calibri" pitchFamily="34" charset="0"/>
                <a:ea typeface="Calibri" pitchFamily="34" charset="-122"/>
                <a:cs typeface="Calibri" pitchFamily="34" charset="-120"/>
              </a:rPr>
              <a:t>(Artificial) </a:t>
            </a:r>
            <a:r>
              <a:rPr lang="en-US" sz="3200" b="1" dirty="0">
                <a:solidFill>
                  <a:srgbClr val="FF0000"/>
                </a:solidFill>
                <a:latin typeface="Calibri" pitchFamily="34" charset="0"/>
                <a:ea typeface="Calibri" pitchFamily="34" charset="-122"/>
                <a:cs typeface="Calibri" pitchFamily="34" charset="-120"/>
              </a:rPr>
              <a:t>Intelligence</a:t>
            </a:r>
            <a:r>
              <a:rPr lang="en-US" sz="3200" b="1" dirty="0">
                <a:solidFill>
                  <a:srgbClr val="000000"/>
                </a:solidFill>
                <a:latin typeface="Calibri" pitchFamily="34" charset="0"/>
                <a:ea typeface="Calibri" pitchFamily="34" charset="-122"/>
                <a:cs typeface="Calibri" pitchFamily="34" charset="-120"/>
              </a:rPr>
              <a:t>, </a:t>
            </a:r>
            <a:r>
              <a:rPr lang="en-US" sz="3200" b="1" dirty="0">
                <a:solidFill>
                  <a:srgbClr val="00B050"/>
                </a:solidFill>
                <a:latin typeface="Calibri" pitchFamily="34" charset="0"/>
                <a:ea typeface="Calibri" pitchFamily="34" charset="-122"/>
                <a:cs typeface="Calibri" pitchFamily="34" charset="-120"/>
              </a:rPr>
              <a:t>Learning</a:t>
            </a:r>
            <a:r>
              <a:rPr lang="en-US" sz="3200" b="1" dirty="0">
                <a:solidFill>
                  <a:srgbClr val="000000"/>
                </a:solidFill>
                <a:latin typeface="Calibri" pitchFamily="34" charset="0"/>
                <a:ea typeface="Calibri" pitchFamily="34" charset="-122"/>
                <a:cs typeface="Calibri" pitchFamily="34" charset="-120"/>
              </a:rPr>
              <a:t>, </a:t>
            </a:r>
            <a:r>
              <a:rPr lang="en-US" sz="3200" b="1" dirty="0">
                <a:solidFill>
                  <a:srgbClr val="362FEC"/>
                </a:solidFill>
                <a:latin typeface="Calibri" pitchFamily="34" charset="0"/>
                <a:ea typeface="Calibri" pitchFamily="34" charset="-122"/>
                <a:cs typeface="Calibri" pitchFamily="34" charset="-120"/>
              </a:rPr>
              <a:t>Language</a:t>
            </a:r>
            <a:r>
              <a:rPr lang="en-US" sz="3200" b="1" dirty="0">
                <a:solidFill>
                  <a:srgbClr val="000000"/>
                </a:solidFill>
                <a:latin typeface="Calibri" pitchFamily="34" charset="0"/>
                <a:ea typeface="Calibri" pitchFamily="34" charset="-122"/>
                <a:cs typeface="Calibri" pitchFamily="34" charset="-120"/>
              </a:rPr>
              <a:t>, and </a:t>
            </a:r>
            <a:r>
              <a:rPr lang="en-US" sz="3200" b="1" dirty="0">
                <a:solidFill>
                  <a:schemeClr val="accent2"/>
                </a:solidFill>
                <a:latin typeface="Calibri" pitchFamily="34" charset="0"/>
                <a:ea typeface="Calibri" pitchFamily="34" charset="-122"/>
                <a:cs typeface="Calibri" pitchFamily="34" charset="-120"/>
              </a:rPr>
              <a:t>Meaning</a:t>
            </a:r>
            <a:endParaRPr lang="en-US" sz="3200" dirty="0">
              <a:solidFill>
                <a:schemeClr val="accent2"/>
              </a:solidFill>
            </a:endParaRPr>
          </a:p>
        </p:txBody>
      </p:sp>
      <p:sp>
        <p:nvSpPr>
          <p:cNvPr id="3" name="TextBox 4">
            <a:extLst>
              <a:ext uri="{FF2B5EF4-FFF2-40B4-BE49-F238E27FC236}">
                <a16:creationId xmlns:a16="http://schemas.microsoft.com/office/drawing/2014/main" id="{66572BAD-DD8C-3E32-5E0A-D54192545328}"/>
              </a:ext>
            </a:extLst>
          </p:cNvPr>
          <p:cNvSpPr txBox="1"/>
          <p:nvPr/>
        </p:nvSpPr>
        <p:spPr>
          <a:xfrm>
            <a:off x="599290" y="1382286"/>
            <a:ext cx="6646637" cy="3785652"/>
          </a:xfrm>
          <a:prstGeom prst="rect">
            <a:avLst/>
          </a:prstGeom>
          <a:noFill/>
        </p:spPr>
        <p:txBody>
          <a:bodyPr wrap="square" rtlCol="0">
            <a:spAutoFit/>
          </a:bodyPr>
          <a:lstStyle/>
          <a:p>
            <a:pPr marL="342900" indent="-342900">
              <a:buFont typeface="+mj-lt"/>
              <a:buAutoNum type="arabicPeriod"/>
            </a:pPr>
            <a:r>
              <a:rPr lang="en-US" sz="2000" dirty="0">
                <a:latin typeface="Calibri" panose="020F0502020204030204" pitchFamily="34" charset="0"/>
                <a:cs typeface="Calibri" panose="020F0502020204030204" pitchFamily="34" charset="0"/>
              </a:rPr>
              <a:t>Short timeline highlighting language and its modeling, course description: what we will study and build</a:t>
            </a:r>
          </a:p>
          <a:p>
            <a:pPr marL="342900" indent="-342900">
              <a:buFont typeface="+mj-lt"/>
              <a:buAutoNum type="arabicPeriod"/>
            </a:pPr>
            <a:endParaRPr lang="en-US" sz="2000" dirty="0">
              <a:latin typeface="Calibri" panose="020F0502020204030204" pitchFamily="34" charset="0"/>
              <a:cs typeface="Calibri" panose="020F0502020204030204" pitchFamily="34" charset="0"/>
            </a:endParaRPr>
          </a:p>
          <a:p>
            <a:pPr marL="342900" indent="-342900">
              <a:buFont typeface="+mj-lt"/>
              <a:buAutoNum type="arabicPeriod"/>
            </a:pPr>
            <a:r>
              <a:rPr lang="en-US" sz="2000" dirty="0">
                <a:latin typeface="Calibri" panose="020F0502020204030204" pitchFamily="34" charset="0"/>
                <a:cs typeface="Calibri" panose="020F0502020204030204" pitchFamily="34" charset="0"/>
              </a:rPr>
              <a:t>Basic AI/ML/DL terminology</a:t>
            </a:r>
          </a:p>
          <a:p>
            <a:pPr marL="342900" indent="-342900">
              <a:buFont typeface="+mj-lt"/>
              <a:buAutoNum type="arabicPeriod"/>
            </a:pPr>
            <a:endParaRPr lang="en-US" sz="2000" dirty="0">
              <a:latin typeface="Calibri" panose="020F0502020204030204" pitchFamily="34" charset="0"/>
              <a:cs typeface="Calibri" panose="020F0502020204030204" pitchFamily="34" charset="0"/>
            </a:endParaRPr>
          </a:p>
          <a:p>
            <a:pPr marL="342900" indent="-342900">
              <a:buFont typeface="+mj-lt"/>
              <a:buAutoNum type="arabicPeriod"/>
            </a:pPr>
            <a:r>
              <a:rPr lang="en-US" sz="2000" dirty="0">
                <a:latin typeface="Calibri" panose="020F0502020204030204" pitchFamily="34" charset="0"/>
                <a:cs typeface="Calibri" panose="020F0502020204030204" pitchFamily="34" charset="0"/>
              </a:rPr>
              <a:t>Understanding </a:t>
            </a:r>
          </a:p>
          <a:p>
            <a:pPr marL="800100" lvl="1" indent="-342900">
              <a:buFont typeface="Arial" panose="020B0604020202020204" pitchFamily="34" charset="0"/>
              <a:buChar char="•"/>
            </a:pPr>
            <a:r>
              <a:rPr lang="en-US" sz="2000" dirty="0">
                <a:latin typeface="Calibri" pitchFamily="34" charset="0"/>
                <a:ea typeface="Calibri" pitchFamily="34" charset="-122"/>
                <a:cs typeface="Calibri" pitchFamily="34" charset="-120"/>
              </a:rPr>
              <a:t>Intelligence</a:t>
            </a:r>
          </a:p>
          <a:p>
            <a:pPr marL="800100" lvl="1" indent="-342900">
              <a:buFont typeface="Arial" panose="020B0604020202020204" pitchFamily="34" charset="0"/>
              <a:buChar char="•"/>
            </a:pPr>
            <a:r>
              <a:rPr lang="en-US" sz="2000" dirty="0">
                <a:latin typeface="Calibri" pitchFamily="34" charset="0"/>
                <a:ea typeface="Calibri" pitchFamily="34" charset="-122"/>
                <a:cs typeface="Calibri" pitchFamily="34" charset="-120"/>
              </a:rPr>
              <a:t>Learning</a:t>
            </a:r>
          </a:p>
          <a:p>
            <a:pPr marL="800100" lvl="1" indent="-342900">
              <a:buFont typeface="Arial" panose="020B0604020202020204" pitchFamily="34" charset="0"/>
              <a:buChar char="•"/>
            </a:pPr>
            <a:r>
              <a:rPr lang="en-US" sz="2000" dirty="0">
                <a:latin typeface="Calibri" pitchFamily="34" charset="0"/>
                <a:ea typeface="Calibri" pitchFamily="34" charset="-122"/>
                <a:cs typeface="Calibri" pitchFamily="34" charset="-120"/>
              </a:rPr>
              <a:t>Language</a:t>
            </a:r>
          </a:p>
          <a:p>
            <a:pPr marL="800100" lvl="1" indent="-342900">
              <a:buFont typeface="Arial" panose="020B0604020202020204" pitchFamily="34" charset="0"/>
              <a:buChar char="•"/>
            </a:pPr>
            <a:r>
              <a:rPr lang="en-US" sz="2000" dirty="0">
                <a:latin typeface="Calibri" pitchFamily="34" charset="0"/>
                <a:ea typeface="Calibri" pitchFamily="34" charset="-122"/>
                <a:cs typeface="Calibri" pitchFamily="34" charset="-120"/>
              </a:rPr>
              <a:t>Meaning</a:t>
            </a:r>
            <a:endParaRPr lang="en-US" sz="2000" dirty="0">
              <a:latin typeface="Calibri" panose="020F0502020204030204" pitchFamily="34" charset="0"/>
              <a:cs typeface="Calibri" panose="020F0502020204030204" pitchFamily="34" charset="0"/>
            </a:endParaRPr>
          </a:p>
          <a:p>
            <a:pPr lvl="1"/>
            <a:endParaRPr lang="en-US" sz="2000" dirty="0">
              <a:latin typeface="Calibri" panose="020F0502020204030204" pitchFamily="34" charset="0"/>
              <a:cs typeface="Calibri" panose="020F0502020204030204" pitchFamily="34" charset="0"/>
            </a:endParaRPr>
          </a:p>
          <a:p>
            <a:pPr marL="457200" indent="-457200">
              <a:buFont typeface="+mj-lt"/>
              <a:buAutoNum type="arabicPeriod"/>
            </a:pPr>
            <a:r>
              <a:rPr lang="en-US" sz="2000" dirty="0">
                <a:latin typeface="Calibri" panose="020F0502020204030204" pitchFamily="34" charset="0"/>
                <a:cs typeface="Calibri" panose="020F0502020204030204" pitchFamily="34" charset="0"/>
              </a:rPr>
              <a:t>Hands-on: an autograd engine</a:t>
            </a:r>
          </a:p>
        </p:txBody>
      </p:sp>
      <p:sp>
        <p:nvSpPr>
          <p:cNvPr id="4" name="red box">
            <a:extLst>
              <a:ext uri="{FF2B5EF4-FFF2-40B4-BE49-F238E27FC236}">
                <a16:creationId xmlns:a16="http://schemas.microsoft.com/office/drawing/2014/main" id="{614C2DA7-5561-EFDE-A18D-698F7356000C}"/>
              </a:ext>
            </a:extLst>
          </p:cNvPr>
          <p:cNvSpPr/>
          <p:nvPr/>
        </p:nvSpPr>
        <p:spPr>
          <a:xfrm>
            <a:off x="955964" y="1692280"/>
            <a:ext cx="5100340" cy="377241"/>
          </a:xfrm>
          <a:prstGeom prst="rect">
            <a:avLst/>
          </a:prstGeom>
          <a:noFill/>
          <a:ln w="28575">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b0_2">
            <a:extLst>
              <a:ext uri="{FF2B5EF4-FFF2-40B4-BE49-F238E27FC236}">
                <a16:creationId xmlns:a16="http://schemas.microsoft.com/office/drawing/2014/main" id="{33DE8782-7F2B-1033-00F6-2A6652EE0E80}"/>
              </a:ext>
            </a:extLst>
          </p:cNvPr>
          <p:cNvSpPr txBox="1"/>
          <p:nvPr/>
        </p:nvSpPr>
        <p:spPr>
          <a:xfrm>
            <a:off x="0" y="310896"/>
            <a:ext cx="11680992" cy="548640"/>
          </a:xfrm>
          <a:prstGeom prst="rect">
            <a:avLst/>
          </a:prstGeom>
          <a:noFill/>
          <a:ln>
            <a:noFill/>
          </a:ln>
        </p:spPr>
        <p:txBody>
          <a:bodyPr wrap="square" rtlCol="0" anchor="ctr"/>
          <a:lstStyle/>
          <a:p>
            <a:r>
              <a:rPr lang="en-US" sz="3200" b="1" dirty="0">
                <a:solidFill>
                  <a:srgbClr val="000000"/>
                </a:solidFill>
                <a:latin typeface="Calibri" pitchFamily="34" charset="0"/>
                <a:ea typeface="Calibri" pitchFamily="34" charset="-122"/>
                <a:cs typeface="Calibri" pitchFamily="34" charset="-120"/>
              </a:rPr>
              <a:t>The </a:t>
            </a:r>
            <a:r>
              <a:rPr lang="en-US" sz="3200" b="1" dirty="0">
                <a:solidFill>
                  <a:srgbClr val="362FEC"/>
                </a:solidFill>
                <a:latin typeface="Calibri" pitchFamily="34" charset="0"/>
                <a:ea typeface="Calibri" pitchFamily="34" charset="-122"/>
                <a:cs typeface="Calibri" pitchFamily="34" charset="-120"/>
              </a:rPr>
              <a:t>Language Model</a:t>
            </a:r>
            <a:endParaRPr lang="en-US" sz="3200" dirty="0">
              <a:solidFill>
                <a:srgbClr val="362FEC"/>
              </a:solidFill>
            </a:endParaRPr>
          </a:p>
        </p:txBody>
      </p:sp>
      <p:sp>
        <p:nvSpPr>
          <p:cNvPr id="3" name="LM text"/>
          <p:cNvSpPr txBox="1"/>
          <p:nvPr/>
        </p:nvSpPr>
        <p:spPr>
          <a:xfrm>
            <a:off x="384048" y="1188720"/>
            <a:ext cx="6126480" cy="4283224"/>
          </a:xfrm>
          <a:prstGeom prst="rect">
            <a:avLst/>
          </a:prstGeom>
          <a:noFill/>
        </p:spPr>
        <p:txBody>
          <a:bodyPr wrap="square" lIns="0" tIns="0" rIns="0" bIns="0">
            <a:spAutoFit/>
          </a:bodyPr>
          <a:lstStyle/>
          <a:p>
            <a:pPr algn="l">
              <a:spcAft>
                <a:spcPts val="1400"/>
              </a:spcAft>
            </a:pPr>
            <a:r>
              <a:rPr sz="2000" b="0" i="0" dirty="0">
                <a:solidFill>
                  <a:srgbClr val="000000"/>
                </a:solidFill>
                <a:latin typeface="Calibri"/>
              </a:rPr>
              <a:t>A </a:t>
            </a:r>
            <a:r>
              <a:rPr sz="2000" b="0" i="0" dirty="0">
                <a:solidFill>
                  <a:srgbClr val="362FEC"/>
                </a:solidFill>
                <a:latin typeface="Calibri"/>
              </a:rPr>
              <a:t>language model </a:t>
            </a:r>
            <a:r>
              <a:rPr sz="2000" b="0" i="0" dirty="0">
                <a:solidFill>
                  <a:srgbClr val="000000"/>
                </a:solidFill>
                <a:latin typeface="Calibri"/>
              </a:rPr>
              <a:t>is a </a:t>
            </a:r>
            <a:r>
              <a:rPr sz="2000" b="1" i="0" dirty="0">
                <a:solidFill>
                  <a:srgbClr val="000000"/>
                </a:solidFill>
                <a:latin typeface="Calibri"/>
              </a:rPr>
              <a:t>generative model of text</a:t>
            </a:r>
            <a:r>
              <a:rPr sz="2000" i="0" dirty="0">
                <a:solidFill>
                  <a:srgbClr val="000000"/>
                </a:solidFill>
                <a:latin typeface="Calibri"/>
              </a:rPr>
              <a:t>: a </a:t>
            </a:r>
            <a:r>
              <a:rPr sz="2000" b="1" i="0" dirty="0">
                <a:latin typeface="Calibri"/>
              </a:rPr>
              <a:t>probability distribution over strings </a:t>
            </a:r>
            <a:r>
              <a:rPr sz="2000" b="0" i="0" dirty="0">
                <a:solidFill>
                  <a:srgbClr val="000000"/>
                </a:solidFill>
                <a:latin typeface="Calibri"/>
              </a:rPr>
              <a:t>of </a:t>
            </a:r>
            <a:r>
              <a:rPr sz="2000" b="0" i="0" dirty="0">
                <a:solidFill>
                  <a:srgbClr val="FF0000"/>
                </a:solidFill>
                <a:latin typeface="Calibri"/>
              </a:rPr>
              <a:t>tokens</a:t>
            </a:r>
            <a:r>
              <a:rPr sz="2000" b="0" i="0" dirty="0">
                <a:solidFill>
                  <a:srgbClr val="000000"/>
                </a:solidFill>
                <a:latin typeface="Calibri"/>
              </a:rPr>
              <a:t> (characters, words, or pieces of words).</a:t>
            </a:r>
          </a:p>
          <a:p>
            <a:pPr algn="l">
              <a:spcAft>
                <a:spcPts val="1400"/>
              </a:spcAft>
            </a:pPr>
            <a:r>
              <a:rPr sz="2000" b="0" i="0" dirty="0">
                <a:solidFill>
                  <a:srgbClr val="000000"/>
                </a:solidFill>
                <a:latin typeface="Calibri"/>
              </a:rPr>
              <a:t>It predicts </a:t>
            </a:r>
            <a:r>
              <a:rPr sz="2000" b="1" i="0" dirty="0">
                <a:solidFill>
                  <a:srgbClr val="000000"/>
                </a:solidFill>
                <a:latin typeface="Calibri"/>
              </a:rPr>
              <a:t>one token at a time</a:t>
            </a:r>
            <a:r>
              <a:rPr sz="2000" b="0" i="0" dirty="0">
                <a:solidFill>
                  <a:srgbClr val="000000"/>
                </a:solidFill>
                <a:latin typeface="Calibri"/>
              </a:rPr>
              <a:t>: each factor is a distribution over the vocabulary, given everything before it.</a:t>
            </a:r>
          </a:p>
          <a:p>
            <a:pPr algn="l">
              <a:spcAft>
                <a:spcPts val="1400"/>
              </a:spcAft>
            </a:pPr>
            <a:r>
              <a:rPr sz="2000" b="0" i="0" dirty="0">
                <a:solidFill>
                  <a:srgbClr val="000000"/>
                </a:solidFill>
                <a:latin typeface="Calibri"/>
              </a:rPr>
              <a:t>To generate text: sample a token, append it, repeat.</a:t>
            </a:r>
            <a:endParaRPr lang="en-US" sz="2000" b="0" i="0" dirty="0">
              <a:solidFill>
                <a:srgbClr val="000000"/>
              </a:solidFill>
              <a:latin typeface="Calibri"/>
            </a:endParaRPr>
          </a:p>
          <a:p>
            <a:pPr algn="l">
              <a:spcAft>
                <a:spcPts val="1400"/>
              </a:spcAft>
            </a:pPr>
            <a:endParaRPr sz="2000" b="0" i="0" dirty="0">
              <a:solidFill>
                <a:srgbClr val="000000"/>
              </a:solidFill>
              <a:latin typeface="Calibri"/>
            </a:endParaRPr>
          </a:p>
          <a:p>
            <a:pPr algn="l">
              <a:spcAft>
                <a:spcPts val="1400"/>
              </a:spcAft>
            </a:pPr>
            <a:r>
              <a:rPr sz="2000" b="1" i="0" dirty="0">
                <a:solidFill>
                  <a:srgbClr val="FF0000"/>
                </a:solidFill>
                <a:latin typeface="Calibri"/>
              </a:rPr>
              <a:t>Not a new idea. </a:t>
            </a:r>
            <a:r>
              <a:rPr sz="2000" b="0" i="0" dirty="0">
                <a:solidFill>
                  <a:srgbClr val="000000"/>
                </a:solidFill>
                <a:latin typeface="Calibri"/>
              </a:rPr>
              <a:t>The product is the chain rule of probability, and Shannon generated English this way in 1948.</a:t>
            </a:r>
          </a:p>
          <a:p>
            <a:pPr algn="l">
              <a:spcAft>
                <a:spcPts val="1400"/>
              </a:spcAft>
            </a:pPr>
            <a:r>
              <a:rPr sz="2000" b="1" i="0" dirty="0">
                <a:solidFill>
                  <a:srgbClr val="00B050"/>
                </a:solidFill>
                <a:latin typeface="Calibri"/>
              </a:rPr>
              <a:t>The main innovation </a:t>
            </a:r>
            <a:r>
              <a:rPr sz="2000" b="0" i="0" dirty="0">
                <a:solidFill>
                  <a:srgbClr val="000000"/>
                </a:solidFill>
                <a:latin typeface="Calibri"/>
              </a:rPr>
              <a:t>is how each conditional is computed and fitted</a:t>
            </a:r>
            <a:r>
              <a:rPr lang="en-US" sz="2000" b="0" i="0" dirty="0">
                <a:solidFill>
                  <a:srgbClr val="000000"/>
                </a:solidFill>
                <a:latin typeface="Calibri"/>
              </a:rPr>
              <a:t>.</a:t>
            </a:r>
            <a:endParaRPr sz="2000" b="0" i="0" dirty="0">
              <a:solidFill>
                <a:srgbClr val="000000"/>
              </a:solidFill>
              <a:latin typeface="Calibri"/>
            </a:endParaRPr>
          </a:p>
        </p:txBody>
      </p:sp>
      <p:pic>
        <p:nvPicPr>
          <p:cNvPr id="4" name="LM equation" descr="eq_lm.png"/>
          <p:cNvPicPr>
            <a:picLocks noChangeAspect="1"/>
          </p:cNvPicPr>
          <p:nvPr/>
        </p:nvPicPr>
        <p:blipFill>
          <a:blip r:embed="rId3"/>
          <a:stretch>
            <a:fillRect/>
          </a:stretch>
        </p:blipFill>
        <p:spPr>
          <a:xfrm>
            <a:off x="6858000" y="1234440"/>
            <a:ext cx="4983480" cy="1033388"/>
          </a:xfrm>
          <a:prstGeom prst="rect">
            <a:avLst/>
          </a:prstGeom>
        </p:spPr>
      </p:pic>
      <p:sp>
        <p:nvSpPr>
          <p:cNvPr id="5" name="context"/>
          <p:cNvSpPr txBox="1"/>
          <p:nvPr/>
        </p:nvSpPr>
        <p:spPr>
          <a:xfrm>
            <a:off x="6995160" y="2606040"/>
            <a:ext cx="5120640" cy="365760"/>
          </a:xfrm>
          <a:prstGeom prst="rect">
            <a:avLst/>
          </a:prstGeom>
          <a:noFill/>
        </p:spPr>
        <p:txBody>
          <a:bodyPr wrap="square" lIns="0" tIns="0" rIns="0" bIns="0">
            <a:spAutoFit/>
          </a:bodyPr>
          <a:lstStyle/>
          <a:p>
            <a:pPr algn="l">
              <a:spcAft>
                <a:spcPts val="1000"/>
              </a:spcAft>
            </a:pPr>
            <a:r>
              <a:rPr sz="2000" b="0" i="0">
                <a:solidFill>
                  <a:srgbClr val="000000"/>
                </a:solidFill>
                <a:latin typeface="Calibri"/>
              </a:rPr>
              <a:t>the cat sat on the </a:t>
            </a:r>
            <a:r>
              <a:rPr sz="2000" b="1" i="0">
                <a:solidFill>
                  <a:srgbClr val="362FEC"/>
                </a:solidFill>
                <a:latin typeface="Calibri"/>
              </a:rPr>
              <a:t>___</a:t>
            </a:r>
          </a:p>
        </p:txBody>
      </p:sp>
      <p:pic>
        <p:nvPicPr>
          <p:cNvPr id="6" name="next-token probabilities" descr="next_token.png"/>
          <p:cNvPicPr>
            <a:picLocks noChangeAspect="1"/>
          </p:cNvPicPr>
          <p:nvPr/>
        </p:nvPicPr>
        <p:blipFill>
          <a:blip r:embed="rId4"/>
          <a:stretch>
            <a:fillRect/>
          </a:stretch>
        </p:blipFill>
        <p:spPr>
          <a:xfrm>
            <a:off x="6903720" y="3063240"/>
            <a:ext cx="4937760" cy="3209544"/>
          </a:xfrm>
          <a:prstGeom prst="rect">
            <a:avLst/>
          </a:prstGeom>
        </p:spPr>
      </p:pic>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3">
                                            <p:txEl>
                                              <p:pRg st="0" end="0"/>
                                            </p:txEl>
                                          </p:spTgt>
                                        </p:tgtEl>
                                        <p:attrNameLst>
                                          <p:attrName>style.visibility</p:attrName>
                                        </p:attrNameLst>
                                      </p:cBhvr>
                                      <p:to>
                                        <p:strVal val="visible"/>
                                      </p:to>
                                    </p:set>
                                  </p:childTnLst>
                                </p:cTn>
                              </p:par>
                              <p:par>
                                <p:cTn id="7" presetID="1" presetClass="entr" presetSubtype="0" fill="hold" grpId="0" nodeType="withEffect">
                                  <p:stCondLst>
                                    <p:cond delay="0"/>
                                  </p:stCondLst>
                                  <p:childTnLst>
                                    <p:set>
                                      <p:cBhvr>
                                        <p:cTn id="8" dur="1" fill="hold">
                                          <p:stCondLst>
                                            <p:cond delay="0"/>
                                          </p:stCondLst>
                                        </p:cTn>
                                        <p:tgtEl>
                                          <p:spTgt spid="4"/>
                                        </p:tgtEl>
                                        <p:attrNameLst>
                                          <p:attrName>style.visibility</p:attrName>
                                        </p:attrNameLst>
                                      </p:cBhvr>
                                      <p:to>
                                        <p:strVal val="visible"/>
                                      </p:to>
                                    </p:set>
                                  </p:childTnLst>
                                </p:cTn>
                              </p:par>
                            </p:childTnLst>
                          </p:cTn>
                        </p:par>
                      </p:childTnLst>
                    </p:cTn>
                  </p:par>
                  <p:par>
                    <p:cTn id="9" fill="hold">
                      <p:stCondLst>
                        <p:cond delay="indefinite"/>
                      </p:stCondLst>
                      <p:childTnLst>
                        <p:par>
                          <p:cTn id="10" fill="hold">
                            <p:stCondLst>
                              <p:cond delay="0"/>
                            </p:stCondLst>
                            <p:childTnLst>
                              <p:par>
                                <p:cTn id="11" presetID="1" presetClass="entr" presetSubtype="0" fill="hold" grpId="0" nodeType="clickEffect">
                                  <p:stCondLst>
                                    <p:cond delay="0"/>
                                  </p:stCondLst>
                                  <p:childTnLst>
                                    <p:set>
                                      <p:cBhvr>
                                        <p:cTn id="12" dur="1" fill="hold">
                                          <p:stCondLst>
                                            <p:cond delay="0"/>
                                          </p:stCondLst>
                                        </p:cTn>
                                        <p:tgtEl>
                                          <p:spTgt spid="3">
                                            <p:txEl>
                                              <p:pRg st="1" end="1"/>
                                            </p:txEl>
                                          </p:spTgt>
                                        </p:tgtEl>
                                        <p:attrNameLst>
                                          <p:attrName>style.visibility</p:attrName>
                                        </p:attrNameLst>
                                      </p:cBhvr>
                                      <p:to>
                                        <p:strVal val="visible"/>
                                      </p:to>
                                    </p:set>
                                  </p:childTnLst>
                                </p:cTn>
                              </p:par>
                              <p:par>
                                <p:cTn id="13" presetID="1" presetClass="entr" presetSubtype="0" fill="hold" grpId="0" nodeType="withEffect">
                                  <p:stCondLst>
                                    <p:cond delay="0"/>
                                  </p:stCondLst>
                                  <p:childTnLst>
                                    <p:set>
                                      <p:cBhvr>
                                        <p:cTn id="14" dur="1" fill="hold">
                                          <p:stCondLst>
                                            <p:cond delay="0"/>
                                          </p:stCondLst>
                                        </p:cTn>
                                        <p:tgtEl>
                                          <p:spTgt spid="5"/>
                                        </p:tgtEl>
                                        <p:attrNameLst>
                                          <p:attrName>style.visibility</p:attrName>
                                        </p:attrNameLst>
                                      </p:cBhvr>
                                      <p:to>
                                        <p:strVal val="visible"/>
                                      </p:to>
                                    </p:set>
                                  </p:childTnLst>
                                </p:cTn>
                              </p:par>
                              <p:par>
                                <p:cTn id="15" presetID="1" presetClass="entr" presetSubtype="0" fill="hold" grpId="0" nodeType="withEffect">
                                  <p:stCondLst>
                                    <p:cond delay="0"/>
                                  </p:stCondLst>
                                  <p:childTnLst>
                                    <p:set>
                                      <p:cBhvr>
                                        <p:cTn id="16" dur="1" fill="hold">
                                          <p:stCondLst>
                                            <p:cond delay="0"/>
                                          </p:stCondLst>
                                        </p:cTn>
                                        <p:tgtEl>
                                          <p:spTgt spid="6"/>
                                        </p:tgtEl>
                                        <p:attrNameLst>
                                          <p:attrName>style.visibility</p:attrName>
                                        </p:attrNameLst>
                                      </p:cBhvr>
                                      <p:to>
                                        <p:strVal val="visible"/>
                                      </p:to>
                                    </p:set>
                                  </p:childTnLst>
                                </p:cTn>
                              </p:par>
                            </p:childTnLst>
                          </p:cTn>
                        </p:par>
                      </p:childTnLst>
                    </p:cTn>
                  </p:par>
                  <p:par>
                    <p:cTn id="17" fill="hold">
                      <p:stCondLst>
                        <p:cond delay="indefinite"/>
                      </p:stCondLst>
                      <p:childTnLst>
                        <p:par>
                          <p:cTn id="18" fill="hold">
                            <p:stCondLst>
                              <p:cond delay="0"/>
                            </p:stCondLst>
                            <p:childTnLst>
                              <p:par>
                                <p:cTn id="19" presetID="1" presetClass="entr" presetSubtype="0" fill="hold" grpId="0" nodeType="clickEffect">
                                  <p:stCondLst>
                                    <p:cond delay="0"/>
                                  </p:stCondLst>
                                  <p:childTnLst>
                                    <p:set>
                                      <p:cBhvr>
                                        <p:cTn id="20" dur="1" fill="hold">
                                          <p:stCondLst>
                                            <p:cond delay="0"/>
                                          </p:stCondLst>
                                        </p:cTn>
                                        <p:tgtEl>
                                          <p:spTgt spid="3">
                                            <p:txEl>
                                              <p:pRg st="2" end="2"/>
                                            </p:txEl>
                                          </p:spTgt>
                                        </p:tgtEl>
                                        <p:attrNameLst>
                                          <p:attrName>style.visibility</p:attrName>
                                        </p:attrNameLst>
                                      </p:cBhvr>
                                      <p:to>
                                        <p:strVal val="visible"/>
                                      </p:to>
                                    </p:set>
                                  </p:childTnLst>
                                </p:cTn>
                              </p:par>
                            </p:childTnLst>
                          </p:cTn>
                        </p:par>
                      </p:childTnLst>
                    </p:cTn>
                  </p:par>
                  <p:par>
                    <p:cTn id="21" fill="hold">
                      <p:stCondLst>
                        <p:cond delay="indefinite"/>
                      </p:stCondLst>
                      <p:childTnLst>
                        <p:par>
                          <p:cTn id="22" fill="hold">
                            <p:stCondLst>
                              <p:cond delay="0"/>
                            </p:stCondLst>
                            <p:childTnLst>
                              <p:par>
                                <p:cTn id="23" presetID="1" presetClass="entr" presetSubtype="0" fill="hold" grpId="0" nodeType="clickEffect">
                                  <p:stCondLst>
                                    <p:cond delay="0"/>
                                  </p:stCondLst>
                                  <p:childTnLst>
                                    <p:set>
                                      <p:cBhvr>
                                        <p:cTn id="24" dur="1" fill="hold">
                                          <p:stCondLst>
                                            <p:cond delay="0"/>
                                          </p:stCondLst>
                                        </p:cTn>
                                        <p:tgtEl>
                                          <p:spTgt spid="3">
                                            <p:txEl>
                                              <p:pRg st="4" end="4"/>
                                            </p:txEl>
                                          </p:spTgt>
                                        </p:tgtEl>
                                        <p:attrNameLst>
                                          <p:attrName>style.visibility</p:attrName>
                                        </p:attrNameLst>
                                      </p:cBhvr>
                                      <p:to>
                                        <p:strVal val="visible"/>
                                      </p:to>
                                    </p:set>
                                  </p:childTnLst>
                                </p:cTn>
                              </p:par>
                            </p:childTnLst>
                          </p:cTn>
                        </p:par>
                      </p:childTnLst>
                    </p:cTn>
                  </p:par>
                  <p:par>
                    <p:cTn id="25" fill="hold">
                      <p:stCondLst>
                        <p:cond delay="indefinite"/>
                      </p:stCondLst>
                      <p:childTnLst>
                        <p:par>
                          <p:cTn id="26" fill="hold">
                            <p:stCondLst>
                              <p:cond delay="0"/>
                            </p:stCondLst>
                            <p:childTnLst>
                              <p:par>
                                <p:cTn id="27" presetID="1" presetClass="entr" presetSubtype="0" fill="hold" grpId="0" nodeType="clickEffect">
                                  <p:stCondLst>
                                    <p:cond delay="0"/>
                                  </p:stCondLst>
                                  <p:childTnLst>
                                    <p:set>
                                      <p:cBhvr>
                                        <p:cTn id="28" dur="1" fill="hold">
                                          <p:stCondLst>
                                            <p:cond delay="0"/>
                                          </p:stCondLst>
                                        </p:cTn>
                                        <p:tgtEl>
                                          <p:spTgt spid="3">
                                            <p:txEl>
                                              <p:pRg st="5" end="5"/>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build="p"/>
      <p:bldP spid="5" grpId="0"/>
    </p:bldLst>
  </p:timing>
</p:sld>
</file>

<file path=ppt/slides/slide2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b0_2">
            <a:extLst>
              <a:ext uri="{FF2B5EF4-FFF2-40B4-BE49-F238E27FC236}">
                <a16:creationId xmlns:a16="http://schemas.microsoft.com/office/drawing/2014/main" id="{33DE8782-7F2B-1033-00F6-2A6652EE0E80}"/>
              </a:ext>
            </a:extLst>
          </p:cNvPr>
          <p:cNvSpPr txBox="1"/>
          <p:nvPr/>
        </p:nvSpPr>
        <p:spPr>
          <a:xfrm>
            <a:off x="0" y="157072"/>
            <a:ext cx="11680992" cy="548640"/>
          </a:xfrm>
          <a:prstGeom prst="rect">
            <a:avLst/>
          </a:prstGeom>
          <a:noFill/>
          <a:ln>
            <a:noFill/>
          </a:ln>
        </p:spPr>
        <p:txBody>
          <a:bodyPr wrap="square" rtlCol="0" anchor="ctr"/>
          <a:lstStyle/>
          <a:p>
            <a:r>
              <a:rPr lang="en-US" sz="3200" b="1" dirty="0">
                <a:solidFill>
                  <a:srgbClr val="00B050"/>
                </a:solidFill>
                <a:latin typeface="Calibri" pitchFamily="34" charset="0"/>
                <a:ea typeface="Calibri" pitchFamily="34" charset="-122"/>
                <a:cs typeface="Calibri" pitchFamily="34" charset="-120"/>
              </a:rPr>
              <a:t>Course Plan</a:t>
            </a:r>
            <a:endParaRPr lang="en-US" sz="3200" dirty="0">
              <a:solidFill>
                <a:srgbClr val="00B050"/>
              </a:solidFill>
            </a:endParaRPr>
          </a:p>
        </p:txBody>
      </p:sp>
      <p:grpSp>
        <p:nvGrpSpPr>
          <p:cNvPr id="4" name="header"/>
          <p:cNvGrpSpPr/>
          <p:nvPr/>
        </p:nvGrpSpPr>
        <p:grpSpPr>
          <a:xfrm>
            <a:off x="381000" y="1134494"/>
            <a:ext cx="11503152" cy="274320"/>
            <a:chOff x="384048" y="1783080"/>
            <a:chExt cx="11503152" cy="274320"/>
          </a:xfrm>
        </p:grpSpPr>
        <p:sp>
          <p:nvSpPr>
            <p:cNvPr id="5" name="TextBox 4"/>
            <p:cNvSpPr txBox="1"/>
            <p:nvPr/>
          </p:nvSpPr>
          <p:spPr>
            <a:xfrm>
              <a:off x="384048" y="1783080"/>
              <a:ext cx="914400" cy="274320"/>
            </a:xfrm>
            <a:prstGeom prst="rect">
              <a:avLst/>
            </a:prstGeom>
            <a:noFill/>
          </p:spPr>
          <p:txBody>
            <a:bodyPr wrap="square" lIns="0" tIns="0" rIns="0" bIns="0" anchor="t">
              <a:spAutoFit/>
            </a:bodyPr>
            <a:lstStyle/>
            <a:p>
              <a:pPr algn="l"/>
              <a:r>
                <a:rPr sz="1400" b="0" i="0">
                  <a:solidFill>
                    <a:srgbClr val="595959"/>
                  </a:solidFill>
                  <a:latin typeface="Calibri"/>
                </a:rPr>
                <a:t>week</a:t>
              </a:r>
            </a:p>
          </p:txBody>
        </p:sp>
        <p:sp>
          <p:nvSpPr>
            <p:cNvPr id="6" name="TextBox 5"/>
            <p:cNvSpPr txBox="1"/>
            <p:nvPr/>
          </p:nvSpPr>
          <p:spPr>
            <a:xfrm>
              <a:off x="1325880" y="1783080"/>
              <a:ext cx="5760720" cy="274320"/>
            </a:xfrm>
            <a:prstGeom prst="rect">
              <a:avLst/>
            </a:prstGeom>
            <a:noFill/>
          </p:spPr>
          <p:txBody>
            <a:bodyPr wrap="square" lIns="0" tIns="0" rIns="0" bIns="0" anchor="t">
              <a:spAutoFit/>
            </a:bodyPr>
            <a:lstStyle/>
            <a:p>
              <a:pPr algn="l"/>
              <a:r>
                <a:rPr sz="1400" b="0" i="0">
                  <a:solidFill>
                    <a:srgbClr val="595959"/>
                  </a:solidFill>
                  <a:latin typeface="Calibri"/>
                </a:rPr>
                <a:t>lecture</a:t>
              </a:r>
            </a:p>
          </p:txBody>
        </p:sp>
        <p:sp>
          <p:nvSpPr>
            <p:cNvPr id="7" name="TextBox 6"/>
            <p:cNvSpPr txBox="1"/>
            <p:nvPr/>
          </p:nvSpPr>
          <p:spPr>
            <a:xfrm>
              <a:off x="7315200" y="1783080"/>
              <a:ext cx="4572000" cy="274320"/>
            </a:xfrm>
            <a:prstGeom prst="rect">
              <a:avLst/>
            </a:prstGeom>
            <a:noFill/>
          </p:spPr>
          <p:txBody>
            <a:bodyPr wrap="square" lIns="0" tIns="0" rIns="0" bIns="0" anchor="t">
              <a:spAutoFit/>
            </a:bodyPr>
            <a:lstStyle/>
            <a:p>
              <a:pPr algn="l"/>
              <a:r>
                <a:rPr sz="1400" b="0" i="0">
                  <a:solidFill>
                    <a:srgbClr val="595959"/>
                  </a:solidFill>
                  <a:latin typeface="Calibri"/>
                </a:rPr>
                <a:t>we build</a:t>
              </a:r>
            </a:p>
          </p:txBody>
        </p:sp>
      </p:grpSp>
      <p:grpSp>
        <p:nvGrpSpPr>
          <p:cNvPr id="8" name="week 1"/>
          <p:cNvGrpSpPr/>
          <p:nvPr/>
        </p:nvGrpSpPr>
        <p:grpSpPr>
          <a:xfrm>
            <a:off x="381000" y="1472822"/>
            <a:ext cx="11594592" cy="365760"/>
            <a:chOff x="384048" y="2121408"/>
            <a:chExt cx="11594592" cy="365760"/>
          </a:xfrm>
        </p:grpSpPr>
        <p:sp>
          <p:nvSpPr>
            <p:cNvPr id="9" name="TextBox 8"/>
            <p:cNvSpPr txBox="1"/>
            <p:nvPr/>
          </p:nvSpPr>
          <p:spPr>
            <a:xfrm>
              <a:off x="384048" y="2121408"/>
              <a:ext cx="914400" cy="365760"/>
            </a:xfrm>
            <a:prstGeom prst="rect">
              <a:avLst/>
            </a:prstGeom>
            <a:noFill/>
          </p:spPr>
          <p:txBody>
            <a:bodyPr wrap="square" lIns="0" tIns="0" rIns="0" bIns="0" anchor="t">
              <a:spAutoFit/>
            </a:bodyPr>
            <a:lstStyle/>
            <a:p>
              <a:pPr algn="l"/>
              <a:r>
                <a:rPr sz="1800" b="1" i="0">
                  <a:solidFill>
                    <a:srgbClr val="362FEC"/>
                  </a:solidFill>
                  <a:latin typeface="Calibri"/>
                </a:rPr>
                <a:t>Week 1</a:t>
              </a:r>
            </a:p>
          </p:txBody>
        </p:sp>
        <p:sp>
          <p:nvSpPr>
            <p:cNvPr id="10" name="TextBox 9"/>
            <p:cNvSpPr txBox="1"/>
            <p:nvPr/>
          </p:nvSpPr>
          <p:spPr>
            <a:xfrm>
              <a:off x="1325880" y="2121408"/>
              <a:ext cx="5897880" cy="365760"/>
            </a:xfrm>
            <a:prstGeom prst="rect">
              <a:avLst/>
            </a:prstGeom>
            <a:noFill/>
          </p:spPr>
          <p:txBody>
            <a:bodyPr wrap="square" lIns="0" tIns="0" rIns="0" bIns="0" anchor="t">
              <a:spAutoFit/>
            </a:bodyPr>
            <a:lstStyle/>
            <a:p>
              <a:pPr algn="l"/>
              <a:r>
                <a:rPr sz="1800" b="0" i="0">
                  <a:solidFill>
                    <a:srgbClr val="000000"/>
                  </a:solidFill>
                  <a:latin typeface="Calibri"/>
                </a:rPr>
                <a:t>(Artificial) Intelligence, Learning, Language, and Meaning</a:t>
              </a:r>
            </a:p>
          </p:txBody>
        </p:sp>
        <p:sp>
          <p:nvSpPr>
            <p:cNvPr id="11" name="TextBox 10"/>
            <p:cNvSpPr txBox="1"/>
            <p:nvPr/>
          </p:nvSpPr>
          <p:spPr>
            <a:xfrm>
              <a:off x="7315200" y="2121408"/>
              <a:ext cx="4663440" cy="365760"/>
            </a:xfrm>
            <a:prstGeom prst="rect">
              <a:avLst/>
            </a:prstGeom>
            <a:noFill/>
          </p:spPr>
          <p:txBody>
            <a:bodyPr wrap="square" lIns="0" tIns="0" rIns="0" bIns="0" anchor="t">
              <a:spAutoFit/>
            </a:bodyPr>
            <a:lstStyle/>
            <a:p>
              <a:pPr algn="l"/>
              <a:r>
                <a:rPr sz="1800" b="0" i="0">
                  <a:solidFill>
                    <a:srgbClr val="00843D"/>
                  </a:solidFill>
                  <a:latin typeface="Calibri"/>
                </a:rPr>
                <a:t>an autograd engine</a:t>
              </a:r>
            </a:p>
          </p:txBody>
        </p:sp>
      </p:grpSp>
      <p:grpSp>
        <p:nvGrpSpPr>
          <p:cNvPr id="12" name="week 2"/>
          <p:cNvGrpSpPr/>
          <p:nvPr/>
        </p:nvGrpSpPr>
        <p:grpSpPr>
          <a:xfrm>
            <a:off x="381000" y="1930022"/>
            <a:ext cx="11594592" cy="365760"/>
            <a:chOff x="384048" y="2578608"/>
            <a:chExt cx="11594592" cy="365760"/>
          </a:xfrm>
        </p:grpSpPr>
        <p:sp>
          <p:nvSpPr>
            <p:cNvPr id="13" name="TextBox 12"/>
            <p:cNvSpPr txBox="1"/>
            <p:nvPr/>
          </p:nvSpPr>
          <p:spPr>
            <a:xfrm>
              <a:off x="384048" y="2578608"/>
              <a:ext cx="914400" cy="365760"/>
            </a:xfrm>
            <a:prstGeom prst="rect">
              <a:avLst/>
            </a:prstGeom>
            <a:noFill/>
          </p:spPr>
          <p:txBody>
            <a:bodyPr wrap="square" lIns="0" tIns="0" rIns="0" bIns="0" anchor="t">
              <a:spAutoFit/>
            </a:bodyPr>
            <a:lstStyle/>
            <a:p>
              <a:pPr algn="l"/>
              <a:r>
                <a:rPr sz="1800" b="1" i="0">
                  <a:solidFill>
                    <a:srgbClr val="362FEC"/>
                  </a:solidFill>
                  <a:latin typeface="Calibri"/>
                </a:rPr>
                <a:t>Week 2</a:t>
              </a:r>
            </a:p>
          </p:txBody>
        </p:sp>
        <p:sp>
          <p:nvSpPr>
            <p:cNvPr id="14" name="TextBox 13"/>
            <p:cNvSpPr txBox="1"/>
            <p:nvPr/>
          </p:nvSpPr>
          <p:spPr>
            <a:xfrm>
              <a:off x="1325880" y="2578608"/>
              <a:ext cx="5897880" cy="365760"/>
            </a:xfrm>
            <a:prstGeom prst="rect">
              <a:avLst/>
            </a:prstGeom>
            <a:noFill/>
          </p:spPr>
          <p:txBody>
            <a:bodyPr wrap="square" lIns="0" tIns="0" rIns="0" bIns="0" anchor="t">
              <a:spAutoFit/>
            </a:bodyPr>
            <a:lstStyle/>
            <a:p>
              <a:pPr algn="l"/>
              <a:r>
                <a:rPr sz="1800" b="0" i="0">
                  <a:solidFill>
                    <a:srgbClr val="000000"/>
                  </a:solidFill>
                  <a:latin typeface="Calibri"/>
                </a:rPr>
                <a:t>Language Modeling: Grammars, Counts, Neural Networks</a:t>
              </a:r>
            </a:p>
          </p:txBody>
        </p:sp>
        <p:sp>
          <p:nvSpPr>
            <p:cNvPr id="15" name="TextBox 14"/>
            <p:cNvSpPr txBox="1"/>
            <p:nvPr/>
          </p:nvSpPr>
          <p:spPr>
            <a:xfrm>
              <a:off x="7315200" y="2578608"/>
              <a:ext cx="4663440" cy="365760"/>
            </a:xfrm>
            <a:prstGeom prst="rect">
              <a:avLst/>
            </a:prstGeom>
            <a:noFill/>
          </p:spPr>
          <p:txBody>
            <a:bodyPr wrap="square" lIns="0" tIns="0" rIns="0" bIns="0" anchor="t">
              <a:spAutoFit/>
            </a:bodyPr>
            <a:lstStyle/>
            <a:p>
              <a:pPr algn="l"/>
              <a:r>
                <a:rPr sz="1800" b="0" i="0">
                  <a:solidFill>
                    <a:srgbClr val="00843D"/>
                  </a:solidFill>
                  <a:latin typeface="Calibri"/>
                </a:rPr>
                <a:t>count-based language models</a:t>
              </a:r>
            </a:p>
          </p:txBody>
        </p:sp>
      </p:grpSp>
      <p:grpSp>
        <p:nvGrpSpPr>
          <p:cNvPr id="16" name="week 3"/>
          <p:cNvGrpSpPr/>
          <p:nvPr/>
        </p:nvGrpSpPr>
        <p:grpSpPr>
          <a:xfrm>
            <a:off x="381000" y="2387222"/>
            <a:ext cx="11594592" cy="365760"/>
            <a:chOff x="384048" y="3035808"/>
            <a:chExt cx="11594592" cy="365760"/>
          </a:xfrm>
        </p:grpSpPr>
        <p:sp>
          <p:nvSpPr>
            <p:cNvPr id="17" name="TextBox 16"/>
            <p:cNvSpPr txBox="1"/>
            <p:nvPr/>
          </p:nvSpPr>
          <p:spPr>
            <a:xfrm>
              <a:off x="384048" y="3035808"/>
              <a:ext cx="914400" cy="365760"/>
            </a:xfrm>
            <a:prstGeom prst="rect">
              <a:avLst/>
            </a:prstGeom>
            <a:noFill/>
          </p:spPr>
          <p:txBody>
            <a:bodyPr wrap="square" lIns="0" tIns="0" rIns="0" bIns="0" anchor="t">
              <a:spAutoFit/>
            </a:bodyPr>
            <a:lstStyle/>
            <a:p>
              <a:pPr algn="l"/>
              <a:r>
                <a:rPr sz="1800" b="1" i="0">
                  <a:solidFill>
                    <a:srgbClr val="362FEC"/>
                  </a:solidFill>
                  <a:latin typeface="Calibri"/>
                </a:rPr>
                <a:t>Week 3</a:t>
              </a:r>
            </a:p>
          </p:txBody>
        </p:sp>
        <p:sp>
          <p:nvSpPr>
            <p:cNvPr id="18" name="TextBox 17"/>
            <p:cNvSpPr txBox="1"/>
            <p:nvPr/>
          </p:nvSpPr>
          <p:spPr>
            <a:xfrm>
              <a:off x="1325880" y="3035808"/>
              <a:ext cx="5897880" cy="365760"/>
            </a:xfrm>
            <a:prstGeom prst="rect">
              <a:avLst/>
            </a:prstGeom>
            <a:noFill/>
          </p:spPr>
          <p:txBody>
            <a:bodyPr wrap="square" lIns="0" tIns="0" rIns="0" bIns="0" anchor="t">
              <a:spAutoFit/>
            </a:bodyPr>
            <a:lstStyle/>
            <a:p>
              <a:pPr algn="l"/>
              <a:r>
                <a:rPr sz="1800" b="0" i="0">
                  <a:solidFill>
                    <a:srgbClr val="000000"/>
                  </a:solidFill>
                  <a:latin typeface="Calibri"/>
                </a:rPr>
                <a:t>Attention and Transformers: Computation and Limits</a:t>
              </a:r>
            </a:p>
          </p:txBody>
        </p:sp>
        <p:sp>
          <p:nvSpPr>
            <p:cNvPr id="19" name="TextBox 18"/>
            <p:cNvSpPr txBox="1"/>
            <p:nvPr/>
          </p:nvSpPr>
          <p:spPr>
            <a:xfrm>
              <a:off x="7315200" y="3035808"/>
              <a:ext cx="4663440" cy="365760"/>
            </a:xfrm>
            <a:prstGeom prst="rect">
              <a:avLst/>
            </a:prstGeom>
            <a:noFill/>
          </p:spPr>
          <p:txBody>
            <a:bodyPr wrap="square" lIns="0" tIns="0" rIns="0" bIns="0" anchor="t">
              <a:spAutoFit/>
            </a:bodyPr>
            <a:lstStyle/>
            <a:p>
              <a:pPr algn="l"/>
              <a:r>
                <a:rPr sz="1800" b="0" i="0">
                  <a:solidFill>
                    <a:srgbClr val="00843D"/>
                  </a:solidFill>
                  <a:latin typeface="Calibri"/>
                </a:rPr>
                <a:t>a decoder-only Transformer</a:t>
              </a:r>
            </a:p>
          </p:txBody>
        </p:sp>
      </p:grpSp>
      <p:grpSp>
        <p:nvGrpSpPr>
          <p:cNvPr id="20" name="week 4"/>
          <p:cNvGrpSpPr/>
          <p:nvPr/>
        </p:nvGrpSpPr>
        <p:grpSpPr>
          <a:xfrm>
            <a:off x="381000" y="2844422"/>
            <a:ext cx="11594592" cy="365760"/>
            <a:chOff x="384048" y="3493008"/>
            <a:chExt cx="11594592" cy="365760"/>
          </a:xfrm>
        </p:grpSpPr>
        <p:sp>
          <p:nvSpPr>
            <p:cNvPr id="21" name="TextBox 20"/>
            <p:cNvSpPr txBox="1"/>
            <p:nvPr/>
          </p:nvSpPr>
          <p:spPr>
            <a:xfrm>
              <a:off x="384048" y="3493008"/>
              <a:ext cx="914400" cy="365760"/>
            </a:xfrm>
            <a:prstGeom prst="rect">
              <a:avLst/>
            </a:prstGeom>
            <a:noFill/>
          </p:spPr>
          <p:txBody>
            <a:bodyPr wrap="square" lIns="0" tIns="0" rIns="0" bIns="0" anchor="t">
              <a:spAutoFit/>
            </a:bodyPr>
            <a:lstStyle/>
            <a:p>
              <a:pPr algn="l"/>
              <a:r>
                <a:rPr sz="1800" b="1" i="0">
                  <a:solidFill>
                    <a:srgbClr val="362FEC"/>
                  </a:solidFill>
                  <a:latin typeface="Calibri"/>
                </a:rPr>
                <a:t>Week 4</a:t>
              </a:r>
            </a:p>
          </p:txBody>
        </p:sp>
        <p:sp>
          <p:nvSpPr>
            <p:cNvPr id="22" name="TextBox 21"/>
            <p:cNvSpPr txBox="1"/>
            <p:nvPr/>
          </p:nvSpPr>
          <p:spPr>
            <a:xfrm>
              <a:off x="1325880" y="3493008"/>
              <a:ext cx="5897880" cy="365760"/>
            </a:xfrm>
            <a:prstGeom prst="rect">
              <a:avLst/>
            </a:prstGeom>
            <a:noFill/>
          </p:spPr>
          <p:txBody>
            <a:bodyPr wrap="square" lIns="0" tIns="0" rIns="0" bIns="0" anchor="t">
              <a:spAutoFit/>
            </a:bodyPr>
            <a:lstStyle/>
            <a:p>
              <a:pPr algn="l"/>
              <a:r>
                <a:rPr sz="1800" b="0" i="0">
                  <a:solidFill>
                    <a:srgbClr val="000000"/>
                  </a:solidFill>
                  <a:latin typeface="Calibri"/>
                </a:rPr>
                <a:t>Pretraining: Data, Optimization, and Scale</a:t>
              </a:r>
            </a:p>
          </p:txBody>
        </p:sp>
        <p:sp>
          <p:nvSpPr>
            <p:cNvPr id="23" name="TextBox 22"/>
            <p:cNvSpPr txBox="1"/>
            <p:nvPr/>
          </p:nvSpPr>
          <p:spPr>
            <a:xfrm>
              <a:off x="7315200" y="3493008"/>
              <a:ext cx="4663440" cy="365760"/>
            </a:xfrm>
            <a:prstGeom prst="rect">
              <a:avLst/>
            </a:prstGeom>
            <a:noFill/>
          </p:spPr>
          <p:txBody>
            <a:bodyPr wrap="square" lIns="0" tIns="0" rIns="0" bIns="0" anchor="t">
              <a:spAutoFit/>
            </a:bodyPr>
            <a:lstStyle/>
            <a:p>
              <a:pPr algn="l"/>
              <a:r>
                <a:rPr sz="1800" b="0" i="0">
                  <a:solidFill>
                    <a:srgbClr val="00843D"/>
                  </a:solidFill>
                  <a:latin typeface="Calibri"/>
                </a:rPr>
                <a:t>a tokenizer, training loop, scaling sweep</a:t>
              </a:r>
            </a:p>
          </p:txBody>
        </p:sp>
      </p:grpSp>
      <p:grpSp>
        <p:nvGrpSpPr>
          <p:cNvPr id="24" name="week 5"/>
          <p:cNvGrpSpPr/>
          <p:nvPr/>
        </p:nvGrpSpPr>
        <p:grpSpPr>
          <a:xfrm>
            <a:off x="381000" y="3301622"/>
            <a:ext cx="11594592" cy="365760"/>
            <a:chOff x="384048" y="3950208"/>
            <a:chExt cx="11594592" cy="365760"/>
          </a:xfrm>
        </p:grpSpPr>
        <p:sp>
          <p:nvSpPr>
            <p:cNvPr id="25" name="TextBox 24"/>
            <p:cNvSpPr txBox="1"/>
            <p:nvPr/>
          </p:nvSpPr>
          <p:spPr>
            <a:xfrm>
              <a:off x="384048" y="3950208"/>
              <a:ext cx="914400" cy="365760"/>
            </a:xfrm>
            <a:prstGeom prst="rect">
              <a:avLst/>
            </a:prstGeom>
            <a:noFill/>
          </p:spPr>
          <p:txBody>
            <a:bodyPr wrap="square" lIns="0" tIns="0" rIns="0" bIns="0" anchor="t">
              <a:spAutoFit/>
            </a:bodyPr>
            <a:lstStyle/>
            <a:p>
              <a:pPr algn="l"/>
              <a:r>
                <a:rPr sz="1800" b="1" i="0">
                  <a:solidFill>
                    <a:srgbClr val="362FEC"/>
                  </a:solidFill>
                  <a:latin typeface="Calibri"/>
                </a:rPr>
                <a:t>Week 5</a:t>
              </a:r>
            </a:p>
          </p:txBody>
        </p:sp>
        <p:sp>
          <p:nvSpPr>
            <p:cNvPr id="26" name="TextBox 25"/>
            <p:cNvSpPr txBox="1"/>
            <p:nvPr/>
          </p:nvSpPr>
          <p:spPr>
            <a:xfrm>
              <a:off x="1325880" y="3950208"/>
              <a:ext cx="5897880" cy="365760"/>
            </a:xfrm>
            <a:prstGeom prst="rect">
              <a:avLst/>
            </a:prstGeom>
            <a:noFill/>
          </p:spPr>
          <p:txBody>
            <a:bodyPr wrap="square" lIns="0" tIns="0" rIns="0" bIns="0" anchor="t">
              <a:spAutoFit/>
            </a:bodyPr>
            <a:lstStyle/>
            <a:p>
              <a:pPr algn="l"/>
              <a:r>
                <a:rPr sz="1800" b="0" i="0">
                  <a:solidFill>
                    <a:srgbClr val="000000"/>
                  </a:solidFill>
                  <a:latin typeface="Calibri"/>
                </a:rPr>
                <a:t>From Base Models to Assistants</a:t>
              </a:r>
            </a:p>
          </p:txBody>
        </p:sp>
        <p:sp>
          <p:nvSpPr>
            <p:cNvPr id="27" name="TextBox 26"/>
            <p:cNvSpPr txBox="1"/>
            <p:nvPr/>
          </p:nvSpPr>
          <p:spPr>
            <a:xfrm>
              <a:off x="7315200" y="3950208"/>
              <a:ext cx="4663440" cy="365760"/>
            </a:xfrm>
            <a:prstGeom prst="rect">
              <a:avLst/>
            </a:prstGeom>
            <a:noFill/>
          </p:spPr>
          <p:txBody>
            <a:bodyPr wrap="square" lIns="0" tIns="0" rIns="0" bIns="0" anchor="t">
              <a:spAutoFit/>
            </a:bodyPr>
            <a:lstStyle/>
            <a:p>
              <a:pPr algn="l"/>
              <a:r>
                <a:rPr sz="1800" b="0" i="0">
                  <a:solidFill>
                    <a:srgbClr val="00843D"/>
                  </a:solidFill>
                  <a:latin typeface="Calibri"/>
                </a:rPr>
                <a:t>a chatbot, by supervised fine-tuning</a:t>
              </a:r>
            </a:p>
          </p:txBody>
        </p:sp>
      </p:grpSp>
      <p:grpSp>
        <p:nvGrpSpPr>
          <p:cNvPr id="28" name="week 6"/>
          <p:cNvGrpSpPr/>
          <p:nvPr/>
        </p:nvGrpSpPr>
        <p:grpSpPr>
          <a:xfrm>
            <a:off x="381000" y="3758822"/>
            <a:ext cx="11594592" cy="365760"/>
            <a:chOff x="384048" y="4407408"/>
            <a:chExt cx="11594592" cy="365760"/>
          </a:xfrm>
        </p:grpSpPr>
        <p:sp>
          <p:nvSpPr>
            <p:cNvPr id="29" name="TextBox 28"/>
            <p:cNvSpPr txBox="1"/>
            <p:nvPr/>
          </p:nvSpPr>
          <p:spPr>
            <a:xfrm>
              <a:off x="384048" y="4407408"/>
              <a:ext cx="914400" cy="365760"/>
            </a:xfrm>
            <a:prstGeom prst="rect">
              <a:avLst/>
            </a:prstGeom>
            <a:noFill/>
          </p:spPr>
          <p:txBody>
            <a:bodyPr wrap="square" lIns="0" tIns="0" rIns="0" bIns="0" anchor="t">
              <a:spAutoFit/>
            </a:bodyPr>
            <a:lstStyle/>
            <a:p>
              <a:pPr algn="l"/>
              <a:r>
                <a:rPr sz="1800" b="1" i="0">
                  <a:solidFill>
                    <a:srgbClr val="362FEC"/>
                  </a:solidFill>
                  <a:latin typeface="Calibri"/>
                </a:rPr>
                <a:t>Week 6</a:t>
              </a:r>
            </a:p>
          </p:txBody>
        </p:sp>
        <p:sp>
          <p:nvSpPr>
            <p:cNvPr id="30" name="TextBox 29"/>
            <p:cNvSpPr txBox="1"/>
            <p:nvPr/>
          </p:nvSpPr>
          <p:spPr>
            <a:xfrm>
              <a:off x="1325880" y="4407408"/>
              <a:ext cx="5897880" cy="365760"/>
            </a:xfrm>
            <a:prstGeom prst="rect">
              <a:avLst/>
            </a:prstGeom>
            <a:noFill/>
          </p:spPr>
          <p:txBody>
            <a:bodyPr wrap="square" lIns="0" tIns="0" rIns="0" bIns="0" anchor="t">
              <a:spAutoFit/>
            </a:bodyPr>
            <a:lstStyle/>
            <a:p>
              <a:pPr algn="l"/>
              <a:r>
                <a:rPr sz="1800" b="0" i="0">
                  <a:solidFill>
                    <a:srgbClr val="000000"/>
                  </a:solidFill>
                  <a:latin typeface="Calibri"/>
                </a:rPr>
                <a:t>Reinforcement Learning for Sequence Generation</a:t>
              </a:r>
            </a:p>
          </p:txBody>
        </p:sp>
        <p:sp>
          <p:nvSpPr>
            <p:cNvPr id="31" name="TextBox 30"/>
            <p:cNvSpPr txBox="1"/>
            <p:nvPr/>
          </p:nvSpPr>
          <p:spPr>
            <a:xfrm>
              <a:off x="7315200" y="4407408"/>
              <a:ext cx="4663440" cy="365760"/>
            </a:xfrm>
            <a:prstGeom prst="rect">
              <a:avLst/>
            </a:prstGeom>
            <a:noFill/>
          </p:spPr>
          <p:txBody>
            <a:bodyPr wrap="square" lIns="0" tIns="0" rIns="0" bIns="0" anchor="t">
              <a:spAutoFit/>
            </a:bodyPr>
            <a:lstStyle/>
            <a:p>
              <a:pPr algn="l"/>
              <a:r>
                <a:rPr sz="1800" b="0" i="0">
                  <a:solidFill>
                    <a:srgbClr val="00843D"/>
                  </a:solidFill>
                  <a:latin typeface="Calibri"/>
                </a:rPr>
                <a:t>policy gradients; rewards for the chatbot</a:t>
              </a:r>
            </a:p>
          </p:txBody>
        </p:sp>
      </p:grpSp>
      <p:grpSp>
        <p:nvGrpSpPr>
          <p:cNvPr id="32" name="week 7"/>
          <p:cNvGrpSpPr/>
          <p:nvPr/>
        </p:nvGrpSpPr>
        <p:grpSpPr>
          <a:xfrm>
            <a:off x="381000" y="4216022"/>
            <a:ext cx="11594592" cy="365760"/>
            <a:chOff x="384048" y="4864608"/>
            <a:chExt cx="11594592" cy="365760"/>
          </a:xfrm>
        </p:grpSpPr>
        <p:sp>
          <p:nvSpPr>
            <p:cNvPr id="33" name="TextBox 32"/>
            <p:cNvSpPr txBox="1"/>
            <p:nvPr/>
          </p:nvSpPr>
          <p:spPr>
            <a:xfrm>
              <a:off x="384048" y="4864608"/>
              <a:ext cx="914400" cy="365760"/>
            </a:xfrm>
            <a:prstGeom prst="rect">
              <a:avLst/>
            </a:prstGeom>
            <a:noFill/>
          </p:spPr>
          <p:txBody>
            <a:bodyPr wrap="square" lIns="0" tIns="0" rIns="0" bIns="0" anchor="t">
              <a:spAutoFit/>
            </a:bodyPr>
            <a:lstStyle/>
            <a:p>
              <a:pPr algn="l"/>
              <a:r>
                <a:rPr sz="1800" b="1" i="0">
                  <a:solidFill>
                    <a:srgbClr val="362FEC"/>
                  </a:solidFill>
                  <a:latin typeface="Calibri"/>
                </a:rPr>
                <a:t>Week 7</a:t>
              </a:r>
            </a:p>
          </p:txBody>
        </p:sp>
        <p:sp>
          <p:nvSpPr>
            <p:cNvPr id="34" name="TextBox 33"/>
            <p:cNvSpPr txBox="1"/>
            <p:nvPr/>
          </p:nvSpPr>
          <p:spPr>
            <a:xfrm>
              <a:off x="1325880" y="4864608"/>
              <a:ext cx="5897880" cy="365760"/>
            </a:xfrm>
            <a:prstGeom prst="rect">
              <a:avLst/>
            </a:prstGeom>
            <a:noFill/>
          </p:spPr>
          <p:txBody>
            <a:bodyPr wrap="square" lIns="0" tIns="0" rIns="0" bIns="0" anchor="t">
              <a:spAutoFit/>
            </a:bodyPr>
            <a:lstStyle/>
            <a:p>
              <a:pPr algn="l"/>
              <a:r>
                <a:rPr sz="1800" b="0" i="0">
                  <a:solidFill>
                    <a:srgbClr val="000000"/>
                  </a:solidFill>
                  <a:latin typeface="Calibri"/>
                </a:rPr>
                <a:t>Post-Training: Demonstrations, Preferences, Rewards</a:t>
              </a:r>
            </a:p>
          </p:txBody>
        </p:sp>
        <p:sp>
          <p:nvSpPr>
            <p:cNvPr id="35" name="TextBox 34"/>
            <p:cNvSpPr txBox="1"/>
            <p:nvPr/>
          </p:nvSpPr>
          <p:spPr>
            <a:xfrm>
              <a:off x="7315200" y="4864608"/>
              <a:ext cx="4663440" cy="365760"/>
            </a:xfrm>
            <a:prstGeom prst="rect">
              <a:avLst/>
            </a:prstGeom>
            <a:noFill/>
          </p:spPr>
          <p:txBody>
            <a:bodyPr wrap="square" lIns="0" tIns="0" rIns="0" bIns="0" anchor="t">
              <a:spAutoFit/>
            </a:bodyPr>
            <a:lstStyle/>
            <a:p>
              <a:pPr algn="l"/>
              <a:r>
                <a:rPr sz="1800" b="0" i="0">
                  <a:solidFill>
                    <a:srgbClr val="00843D"/>
                  </a:solidFill>
                  <a:latin typeface="Calibri"/>
                </a:rPr>
                <a:t>a reward model, DPO, and GRPO</a:t>
              </a:r>
            </a:p>
          </p:txBody>
        </p:sp>
      </p:grpSp>
      <p:grpSp>
        <p:nvGrpSpPr>
          <p:cNvPr id="36" name="week 8"/>
          <p:cNvGrpSpPr/>
          <p:nvPr/>
        </p:nvGrpSpPr>
        <p:grpSpPr>
          <a:xfrm>
            <a:off x="381000" y="4673222"/>
            <a:ext cx="11594592" cy="365760"/>
            <a:chOff x="384048" y="5321808"/>
            <a:chExt cx="11594592" cy="365760"/>
          </a:xfrm>
        </p:grpSpPr>
        <p:sp>
          <p:nvSpPr>
            <p:cNvPr id="37" name="TextBox 36"/>
            <p:cNvSpPr txBox="1"/>
            <p:nvPr/>
          </p:nvSpPr>
          <p:spPr>
            <a:xfrm>
              <a:off x="384048" y="5321808"/>
              <a:ext cx="914400" cy="365760"/>
            </a:xfrm>
            <a:prstGeom prst="rect">
              <a:avLst/>
            </a:prstGeom>
            <a:noFill/>
          </p:spPr>
          <p:txBody>
            <a:bodyPr wrap="square" lIns="0" tIns="0" rIns="0" bIns="0" anchor="t">
              <a:spAutoFit/>
            </a:bodyPr>
            <a:lstStyle/>
            <a:p>
              <a:pPr algn="l"/>
              <a:r>
                <a:rPr sz="1800" b="1" i="0">
                  <a:solidFill>
                    <a:srgbClr val="362FEC"/>
                  </a:solidFill>
                  <a:latin typeface="Calibri"/>
                </a:rPr>
                <a:t>Week 8</a:t>
              </a:r>
            </a:p>
          </p:txBody>
        </p:sp>
        <p:sp>
          <p:nvSpPr>
            <p:cNvPr id="38" name="TextBox 37"/>
            <p:cNvSpPr txBox="1"/>
            <p:nvPr/>
          </p:nvSpPr>
          <p:spPr>
            <a:xfrm>
              <a:off x="1325880" y="5321808"/>
              <a:ext cx="5897880" cy="365760"/>
            </a:xfrm>
            <a:prstGeom prst="rect">
              <a:avLst/>
            </a:prstGeom>
            <a:noFill/>
          </p:spPr>
          <p:txBody>
            <a:bodyPr wrap="square" lIns="0" tIns="0" rIns="0" bIns="0" anchor="t">
              <a:spAutoFit/>
            </a:bodyPr>
            <a:lstStyle/>
            <a:p>
              <a:pPr algn="l"/>
              <a:r>
                <a:rPr sz="1800" b="0" i="0">
                  <a:solidFill>
                    <a:srgbClr val="000000"/>
                  </a:solidFill>
                  <a:latin typeface="Calibri"/>
                </a:rPr>
                <a:t>Inference: Decoding, Test-Time Compute, Serving, Evaluation</a:t>
              </a:r>
            </a:p>
          </p:txBody>
        </p:sp>
        <p:sp>
          <p:nvSpPr>
            <p:cNvPr id="39" name="TextBox 38"/>
            <p:cNvSpPr txBox="1"/>
            <p:nvPr/>
          </p:nvSpPr>
          <p:spPr>
            <a:xfrm>
              <a:off x="7315200" y="5321808"/>
              <a:ext cx="4663440" cy="365760"/>
            </a:xfrm>
            <a:prstGeom prst="rect">
              <a:avLst/>
            </a:prstGeom>
            <a:noFill/>
          </p:spPr>
          <p:txBody>
            <a:bodyPr wrap="square" lIns="0" tIns="0" rIns="0" bIns="0" anchor="t">
              <a:spAutoFit/>
            </a:bodyPr>
            <a:lstStyle/>
            <a:p>
              <a:pPr algn="l"/>
              <a:r>
                <a:rPr sz="1800" b="0" i="0">
                  <a:solidFill>
                    <a:srgbClr val="00843D"/>
                  </a:solidFill>
                  <a:latin typeface="Calibri"/>
                </a:rPr>
                <a:t>samplers, a KV cache, speculative decoding</a:t>
              </a:r>
            </a:p>
          </p:txBody>
        </p:sp>
      </p:grpSp>
      <p:grpSp>
        <p:nvGrpSpPr>
          <p:cNvPr id="40" name="week 9*"/>
          <p:cNvGrpSpPr/>
          <p:nvPr/>
        </p:nvGrpSpPr>
        <p:grpSpPr>
          <a:xfrm>
            <a:off x="381000" y="5130422"/>
            <a:ext cx="11594592" cy="365760"/>
            <a:chOff x="384048" y="5779008"/>
            <a:chExt cx="11594592" cy="365760"/>
          </a:xfrm>
        </p:grpSpPr>
        <p:sp>
          <p:nvSpPr>
            <p:cNvPr id="41" name="TextBox 40"/>
            <p:cNvSpPr txBox="1"/>
            <p:nvPr/>
          </p:nvSpPr>
          <p:spPr>
            <a:xfrm>
              <a:off x="384048" y="5779008"/>
              <a:ext cx="914400" cy="365760"/>
            </a:xfrm>
            <a:prstGeom prst="rect">
              <a:avLst/>
            </a:prstGeom>
            <a:noFill/>
          </p:spPr>
          <p:txBody>
            <a:bodyPr wrap="square" lIns="0" tIns="0" rIns="0" bIns="0" anchor="t">
              <a:spAutoFit/>
            </a:bodyPr>
            <a:lstStyle/>
            <a:p>
              <a:pPr algn="l"/>
              <a:r>
                <a:rPr sz="1800" b="1" i="0">
                  <a:solidFill>
                    <a:srgbClr val="362FEC"/>
                  </a:solidFill>
                  <a:latin typeface="Calibri"/>
                </a:rPr>
                <a:t>Week 9*</a:t>
              </a:r>
            </a:p>
          </p:txBody>
        </p:sp>
        <p:sp>
          <p:nvSpPr>
            <p:cNvPr id="42" name="TextBox 41"/>
            <p:cNvSpPr txBox="1"/>
            <p:nvPr/>
          </p:nvSpPr>
          <p:spPr>
            <a:xfrm>
              <a:off x="1325880" y="5779008"/>
              <a:ext cx="5897880" cy="365760"/>
            </a:xfrm>
            <a:prstGeom prst="rect">
              <a:avLst/>
            </a:prstGeom>
            <a:noFill/>
          </p:spPr>
          <p:txBody>
            <a:bodyPr wrap="square" lIns="0" tIns="0" rIns="0" bIns="0" anchor="t">
              <a:spAutoFit/>
            </a:bodyPr>
            <a:lstStyle/>
            <a:p>
              <a:pPr algn="l"/>
              <a:r>
                <a:rPr sz="1800" b="0" i="0">
                  <a:solidFill>
                    <a:srgbClr val="000000"/>
                  </a:solidFill>
                  <a:latin typeface="Calibri"/>
                </a:rPr>
                <a:t>Alignment and Language Model Agents</a:t>
              </a:r>
            </a:p>
          </p:txBody>
        </p:sp>
        <p:sp>
          <p:nvSpPr>
            <p:cNvPr id="43" name="TextBox 42"/>
            <p:cNvSpPr txBox="1"/>
            <p:nvPr/>
          </p:nvSpPr>
          <p:spPr>
            <a:xfrm>
              <a:off x="7315200" y="5779008"/>
              <a:ext cx="4663440" cy="365760"/>
            </a:xfrm>
            <a:prstGeom prst="rect">
              <a:avLst/>
            </a:prstGeom>
            <a:noFill/>
          </p:spPr>
          <p:txBody>
            <a:bodyPr wrap="square" lIns="0" tIns="0" rIns="0" bIns="0" anchor="t">
              <a:spAutoFit/>
            </a:bodyPr>
            <a:lstStyle/>
            <a:p>
              <a:pPr algn="l"/>
              <a:r>
                <a:rPr sz="1800" b="0" i="0">
                  <a:solidFill>
                    <a:srgbClr val="00843D"/>
                  </a:solidFill>
                  <a:latin typeface="Calibri"/>
                </a:rPr>
                <a:t>a tool-use loop</a:t>
              </a:r>
            </a:p>
          </p:txBody>
        </p:sp>
      </p:grpSp>
      <p:sp>
        <p:nvSpPr>
          <p:cNvPr id="44" name="TextBox 43"/>
          <p:cNvSpPr txBox="1"/>
          <p:nvPr/>
        </p:nvSpPr>
        <p:spPr>
          <a:xfrm>
            <a:off x="381000" y="5706494"/>
            <a:ext cx="11430000" cy="320040"/>
          </a:xfrm>
          <a:prstGeom prst="rect">
            <a:avLst/>
          </a:prstGeom>
          <a:noFill/>
        </p:spPr>
        <p:txBody>
          <a:bodyPr wrap="square" lIns="0" tIns="0" rIns="0" bIns="0" anchor="t">
            <a:spAutoFit/>
          </a:bodyPr>
          <a:lstStyle/>
          <a:p>
            <a:pPr algn="l"/>
            <a:r>
              <a:rPr sz="1400" b="0" i="0">
                <a:solidFill>
                  <a:srgbClr val="595959"/>
                </a:solidFill>
                <a:latin typeface="Calibri"/>
              </a:rPr>
              <a:t>Every model trains on a laptop in minutes to an hour. Week 9 is optional.</a:t>
            </a:r>
          </a:p>
        </p:txBody>
      </p:sp>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4"/>
                                        </p:tgtEl>
                                        <p:attrNameLst>
                                          <p:attrName>style.visibility</p:attrName>
                                        </p:attrNameLst>
                                      </p:cBhvr>
                                      <p:to>
                                        <p:strVal val="visible"/>
                                      </p:to>
                                    </p:set>
                                  </p:childTnLst>
                                </p:cTn>
                              </p:par>
                              <p:par>
                                <p:cTn id="7" presetID="1" presetClass="entr" presetSubtype="0" fill="hold" nodeType="withEffect">
                                  <p:stCondLst>
                                    <p:cond delay="0"/>
                                  </p:stCondLst>
                                  <p:childTnLst>
                                    <p:set>
                                      <p:cBhvr>
                                        <p:cTn id="8" dur="1" fill="hold">
                                          <p:stCondLst>
                                            <p:cond delay="0"/>
                                          </p:stCondLst>
                                        </p:cTn>
                                        <p:tgtEl>
                                          <p:spTgt spid="8"/>
                                        </p:tgtEl>
                                        <p:attrNameLst>
                                          <p:attrName>style.visibility</p:attrName>
                                        </p:attrNameLst>
                                      </p:cBhvr>
                                      <p:to>
                                        <p:strVal val="visible"/>
                                      </p:to>
                                    </p:set>
                                  </p:childTnLst>
                                </p:cTn>
                              </p:par>
                            </p:childTnLst>
                          </p:cTn>
                        </p:par>
                      </p:childTnLst>
                    </p:cTn>
                  </p:par>
                  <p:par>
                    <p:cTn id="9" fill="hold">
                      <p:stCondLst>
                        <p:cond delay="indefinite"/>
                      </p:stCondLst>
                      <p:childTnLst>
                        <p:par>
                          <p:cTn id="10" fill="hold">
                            <p:stCondLst>
                              <p:cond delay="0"/>
                            </p:stCondLst>
                            <p:childTnLst>
                              <p:par>
                                <p:cTn id="11" presetID="1" presetClass="entr" presetSubtype="0" fill="hold" nodeType="clickEffect">
                                  <p:stCondLst>
                                    <p:cond delay="0"/>
                                  </p:stCondLst>
                                  <p:childTnLst>
                                    <p:set>
                                      <p:cBhvr>
                                        <p:cTn id="12" dur="1" fill="hold">
                                          <p:stCondLst>
                                            <p:cond delay="0"/>
                                          </p:stCondLst>
                                        </p:cTn>
                                        <p:tgtEl>
                                          <p:spTgt spid="12"/>
                                        </p:tgtEl>
                                        <p:attrNameLst>
                                          <p:attrName>style.visibility</p:attrName>
                                        </p:attrNameLst>
                                      </p:cBhvr>
                                      <p:to>
                                        <p:strVal val="visible"/>
                                      </p:to>
                                    </p:set>
                                  </p:childTnLst>
                                </p:cTn>
                              </p:par>
                            </p:childTnLst>
                          </p:cTn>
                        </p:par>
                      </p:childTnLst>
                    </p:cTn>
                  </p:par>
                  <p:par>
                    <p:cTn id="13" fill="hold">
                      <p:stCondLst>
                        <p:cond delay="indefinite"/>
                      </p:stCondLst>
                      <p:childTnLst>
                        <p:par>
                          <p:cTn id="14" fill="hold">
                            <p:stCondLst>
                              <p:cond delay="0"/>
                            </p:stCondLst>
                            <p:childTnLst>
                              <p:par>
                                <p:cTn id="15" presetID="1" presetClass="entr" presetSubtype="0" fill="hold" nodeType="clickEffect">
                                  <p:stCondLst>
                                    <p:cond delay="0"/>
                                  </p:stCondLst>
                                  <p:childTnLst>
                                    <p:set>
                                      <p:cBhvr>
                                        <p:cTn id="16" dur="1" fill="hold">
                                          <p:stCondLst>
                                            <p:cond delay="0"/>
                                          </p:stCondLst>
                                        </p:cTn>
                                        <p:tgtEl>
                                          <p:spTgt spid="16"/>
                                        </p:tgtEl>
                                        <p:attrNameLst>
                                          <p:attrName>style.visibility</p:attrName>
                                        </p:attrNameLst>
                                      </p:cBhvr>
                                      <p:to>
                                        <p:strVal val="visible"/>
                                      </p:to>
                                    </p:set>
                                  </p:childTnLst>
                                </p:cTn>
                              </p:par>
                            </p:childTnLst>
                          </p:cTn>
                        </p:par>
                      </p:childTnLst>
                    </p:cTn>
                  </p:par>
                  <p:par>
                    <p:cTn id="17" fill="hold">
                      <p:stCondLst>
                        <p:cond delay="indefinite"/>
                      </p:stCondLst>
                      <p:childTnLst>
                        <p:par>
                          <p:cTn id="18" fill="hold">
                            <p:stCondLst>
                              <p:cond delay="0"/>
                            </p:stCondLst>
                            <p:childTnLst>
                              <p:par>
                                <p:cTn id="19" presetID="1" presetClass="entr" presetSubtype="0" fill="hold" nodeType="clickEffect">
                                  <p:stCondLst>
                                    <p:cond delay="0"/>
                                  </p:stCondLst>
                                  <p:childTnLst>
                                    <p:set>
                                      <p:cBhvr>
                                        <p:cTn id="20" dur="1" fill="hold">
                                          <p:stCondLst>
                                            <p:cond delay="0"/>
                                          </p:stCondLst>
                                        </p:cTn>
                                        <p:tgtEl>
                                          <p:spTgt spid="20"/>
                                        </p:tgtEl>
                                        <p:attrNameLst>
                                          <p:attrName>style.visibility</p:attrName>
                                        </p:attrNameLst>
                                      </p:cBhvr>
                                      <p:to>
                                        <p:strVal val="visible"/>
                                      </p:to>
                                    </p:set>
                                  </p:childTnLst>
                                </p:cTn>
                              </p:par>
                            </p:childTnLst>
                          </p:cTn>
                        </p:par>
                      </p:childTnLst>
                    </p:cTn>
                  </p:par>
                  <p:par>
                    <p:cTn id="21" fill="hold">
                      <p:stCondLst>
                        <p:cond delay="indefinite"/>
                      </p:stCondLst>
                      <p:childTnLst>
                        <p:par>
                          <p:cTn id="22" fill="hold">
                            <p:stCondLst>
                              <p:cond delay="0"/>
                            </p:stCondLst>
                            <p:childTnLst>
                              <p:par>
                                <p:cTn id="23" presetID="1" presetClass="entr" presetSubtype="0" fill="hold" nodeType="clickEffect">
                                  <p:stCondLst>
                                    <p:cond delay="0"/>
                                  </p:stCondLst>
                                  <p:childTnLst>
                                    <p:set>
                                      <p:cBhvr>
                                        <p:cTn id="24" dur="1" fill="hold">
                                          <p:stCondLst>
                                            <p:cond delay="0"/>
                                          </p:stCondLst>
                                        </p:cTn>
                                        <p:tgtEl>
                                          <p:spTgt spid="24"/>
                                        </p:tgtEl>
                                        <p:attrNameLst>
                                          <p:attrName>style.visibility</p:attrName>
                                        </p:attrNameLst>
                                      </p:cBhvr>
                                      <p:to>
                                        <p:strVal val="visible"/>
                                      </p:to>
                                    </p:set>
                                  </p:childTnLst>
                                </p:cTn>
                              </p:par>
                            </p:childTnLst>
                          </p:cTn>
                        </p:par>
                      </p:childTnLst>
                    </p:cTn>
                  </p:par>
                  <p:par>
                    <p:cTn id="25" fill="hold">
                      <p:stCondLst>
                        <p:cond delay="indefinite"/>
                      </p:stCondLst>
                      <p:childTnLst>
                        <p:par>
                          <p:cTn id="26" fill="hold">
                            <p:stCondLst>
                              <p:cond delay="0"/>
                            </p:stCondLst>
                            <p:childTnLst>
                              <p:par>
                                <p:cTn id="27" presetID="1" presetClass="entr" presetSubtype="0" fill="hold" nodeType="clickEffect">
                                  <p:stCondLst>
                                    <p:cond delay="0"/>
                                  </p:stCondLst>
                                  <p:childTnLst>
                                    <p:set>
                                      <p:cBhvr>
                                        <p:cTn id="28" dur="1" fill="hold">
                                          <p:stCondLst>
                                            <p:cond delay="0"/>
                                          </p:stCondLst>
                                        </p:cTn>
                                        <p:tgtEl>
                                          <p:spTgt spid="28"/>
                                        </p:tgtEl>
                                        <p:attrNameLst>
                                          <p:attrName>style.visibility</p:attrName>
                                        </p:attrNameLst>
                                      </p:cBhvr>
                                      <p:to>
                                        <p:strVal val="visible"/>
                                      </p:to>
                                    </p:set>
                                  </p:childTnLst>
                                </p:cTn>
                              </p:par>
                            </p:childTnLst>
                          </p:cTn>
                        </p:par>
                      </p:childTnLst>
                    </p:cTn>
                  </p:par>
                  <p:par>
                    <p:cTn id="29" fill="hold">
                      <p:stCondLst>
                        <p:cond delay="indefinite"/>
                      </p:stCondLst>
                      <p:childTnLst>
                        <p:par>
                          <p:cTn id="30" fill="hold">
                            <p:stCondLst>
                              <p:cond delay="0"/>
                            </p:stCondLst>
                            <p:childTnLst>
                              <p:par>
                                <p:cTn id="31" presetID="1" presetClass="entr" presetSubtype="0" fill="hold" nodeType="clickEffect">
                                  <p:stCondLst>
                                    <p:cond delay="0"/>
                                  </p:stCondLst>
                                  <p:childTnLst>
                                    <p:set>
                                      <p:cBhvr>
                                        <p:cTn id="32" dur="1" fill="hold">
                                          <p:stCondLst>
                                            <p:cond delay="0"/>
                                          </p:stCondLst>
                                        </p:cTn>
                                        <p:tgtEl>
                                          <p:spTgt spid="32"/>
                                        </p:tgtEl>
                                        <p:attrNameLst>
                                          <p:attrName>style.visibility</p:attrName>
                                        </p:attrNameLst>
                                      </p:cBhvr>
                                      <p:to>
                                        <p:strVal val="visible"/>
                                      </p:to>
                                    </p:set>
                                  </p:childTnLst>
                                </p:cTn>
                              </p:par>
                            </p:childTnLst>
                          </p:cTn>
                        </p:par>
                      </p:childTnLst>
                    </p:cTn>
                  </p:par>
                  <p:par>
                    <p:cTn id="33" fill="hold">
                      <p:stCondLst>
                        <p:cond delay="indefinite"/>
                      </p:stCondLst>
                      <p:childTnLst>
                        <p:par>
                          <p:cTn id="34" fill="hold">
                            <p:stCondLst>
                              <p:cond delay="0"/>
                            </p:stCondLst>
                            <p:childTnLst>
                              <p:par>
                                <p:cTn id="35" presetID="1" presetClass="entr" presetSubtype="0" fill="hold" nodeType="clickEffect">
                                  <p:stCondLst>
                                    <p:cond delay="0"/>
                                  </p:stCondLst>
                                  <p:childTnLst>
                                    <p:set>
                                      <p:cBhvr>
                                        <p:cTn id="36" dur="1" fill="hold">
                                          <p:stCondLst>
                                            <p:cond delay="0"/>
                                          </p:stCondLst>
                                        </p:cTn>
                                        <p:tgtEl>
                                          <p:spTgt spid="36"/>
                                        </p:tgtEl>
                                        <p:attrNameLst>
                                          <p:attrName>style.visibility</p:attrName>
                                        </p:attrNameLst>
                                      </p:cBhvr>
                                      <p:to>
                                        <p:strVal val="visible"/>
                                      </p:to>
                                    </p:set>
                                  </p:childTnLst>
                                </p:cTn>
                              </p:par>
                            </p:childTnLst>
                          </p:cTn>
                        </p:par>
                      </p:childTnLst>
                    </p:cTn>
                  </p:par>
                  <p:par>
                    <p:cTn id="37" fill="hold">
                      <p:stCondLst>
                        <p:cond delay="indefinite"/>
                      </p:stCondLst>
                      <p:childTnLst>
                        <p:par>
                          <p:cTn id="38" fill="hold">
                            <p:stCondLst>
                              <p:cond delay="0"/>
                            </p:stCondLst>
                            <p:childTnLst>
                              <p:par>
                                <p:cTn id="39" presetID="1" presetClass="entr" presetSubtype="0" fill="hold" nodeType="clickEffect">
                                  <p:stCondLst>
                                    <p:cond delay="0"/>
                                  </p:stCondLst>
                                  <p:childTnLst>
                                    <p:set>
                                      <p:cBhvr>
                                        <p:cTn id="40" dur="1" fill="hold">
                                          <p:stCondLst>
                                            <p:cond delay="0"/>
                                          </p:stCondLst>
                                        </p:cTn>
                                        <p:tgtEl>
                                          <p:spTgt spid="40"/>
                                        </p:tgtEl>
                                        <p:attrNameLst>
                                          <p:attrName>style.visibility</p:attrName>
                                        </p:attrNameLst>
                                      </p:cBhvr>
                                      <p:to>
                                        <p:strVal val="visible"/>
                                      </p:to>
                                    </p:set>
                                  </p:childTnLst>
                                </p:cTn>
                              </p:par>
                              <p:par>
                                <p:cTn id="41" presetID="1" presetClass="entr" presetSubtype="0" fill="hold" grpId="0" nodeType="withEffect">
                                  <p:stCondLst>
                                    <p:cond delay="0"/>
                                  </p:stCondLst>
                                  <p:childTnLst>
                                    <p:set>
                                      <p:cBhvr>
                                        <p:cTn id="42" dur="1" fill="hold">
                                          <p:stCondLst>
                                            <p:cond delay="0"/>
                                          </p:stCondLst>
                                        </p:cTn>
                                        <p:tgtEl>
                                          <p:spTgt spid="44"/>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44" grpId="0"/>
    </p:bldLst>
  </p:timing>
</p:sld>
</file>

<file path=ppt/slides/slide2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b0_2">
            <a:extLst>
              <a:ext uri="{FF2B5EF4-FFF2-40B4-BE49-F238E27FC236}">
                <a16:creationId xmlns:a16="http://schemas.microsoft.com/office/drawing/2014/main" id="{63D8B88D-36C4-45E1-74C8-A7D5EAB586FB}"/>
              </a:ext>
            </a:extLst>
          </p:cNvPr>
          <p:cNvSpPr txBox="1"/>
          <p:nvPr/>
        </p:nvSpPr>
        <p:spPr>
          <a:xfrm>
            <a:off x="0" y="148566"/>
            <a:ext cx="11680992" cy="548640"/>
          </a:xfrm>
          <a:prstGeom prst="rect">
            <a:avLst/>
          </a:prstGeom>
          <a:noFill/>
          <a:ln>
            <a:noFill/>
          </a:ln>
        </p:spPr>
        <p:txBody>
          <a:bodyPr wrap="square" rtlCol="0" anchor="ctr"/>
          <a:lstStyle/>
          <a:p>
            <a:pPr marL="0" indent="0">
              <a:buNone/>
            </a:pPr>
            <a:r>
              <a:rPr lang="en-US" sz="3200" b="1" dirty="0">
                <a:solidFill>
                  <a:srgbClr val="362FEC"/>
                </a:solidFill>
                <a:latin typeface="Calibri" pitchFamily="34" charset="0"/>
                <a:ea typeface="Calibri" pitchFamily="34" charset="-122"/>
                <a:cs typeface="Calibri" pitchFamily="34" charset="-120"/>
              </a:rPr>
              <a:t>Lecture 1</a:t>
            </a:r>
            <a:r>
              <a:rPr lang="en-US" sz="3200" b="1" dirty="0">
                <a:latin typeface="Calibri" pitchFamily="34" charset="0"/>
                <a:ea typeface="Calibri" pitchFamily="34" charset="-122"/>
                <a:cs typeface="Calibri" pitchFamily="34" charset="-120"/>
              </a:rPr>
              <a:t>:</a:t>
            </a:r>
            <a:r>
              <a:rPr lang="en-US" sz="3200" b="1" dirty="0">
                <a:solidFill>
                  <a:srgbClr val="00B050"/>
                </a:solidFill>
                <a:latin typeface="Calibri" pitchFamily="34" charset="0"/>
                <a:ea typeface="Calibri" pitchFamily="34" charset="-122"/>
                <a:cs typeface="Calibri" pitchFamily="34" charset="-120"/>
              </a:rPr>
              <a:t> </a:t>
            </a:r>
            <a:r>
              <a:rPr lang="en-US" sz="3200" b="1" dirty="0">
                <a:solidFill>
                  <a:srgbClr val="000000"/>
                </a:solidFill>
                <a:latin typeface="Calibri" pitchFamily="34" charset="0"/>
                <a:ea typeface="Calibri" pitchFamily="34" charset="-122"/>
                <a:cs typeface="Calibri" pitchFamily="34" charset="-120"/>
              </a:rPr>
              <a:t>(Artificial) </a:t>
            </a:r>
            <a:r>
              <a:rPr lang="en-US" sz="3200" b="1" dirty="0">
                <a:solidFill>
                  <a:srgbClr val="FF0000"/>
                </a:solidFill>
                <a:latin typeface="Calibri" pitchFamily="34" charset="0"/>
                <a:ea typeface="Calibri" pitchFamily="34" charset="-122"/>
                <a:cs typeface="Calibri" pitchFamily="34" charset="-120"/>
              </a:rPr>
              <a:t>Intelligence</a:t>
            </a:r>
            <a:r>
              <a:rPr lang="en-US" sz="3200" b="1" dirty="0">
                <a:solidFill>
                  <a:srgbClr val="000000"/>
                </a:solidFill>
                <a:latin typeface="Calibri" pitchFamily="34" charset="0"/>
                <a:ea typeface="Calibri" pitchFamily="34" charset="-122"/>
                <a:cs typeface="Calibri" pitchFamily="34" charset="-120"/>
              </a:rPr>
              <a:t>, </a:t>
            </a:r>
            <a:r>
              <a:rPr lang="en-US" sz="3200" b="1" dirty="0">
                <a:solidFill>
                  <a:srgbClr val="00B050"/>
                </a:solidFill>
                <a:latin typeface="Calibri" pitchFamily="34" charset="0"/>
                <a:ea typeface="Calibri" pitchFamily="34" charset="-122"/>
                <a:cs typeface="Calibri" pitchFamily="34" charset="-120"/>
              </a:rPr>
              <a:t>Learning</a:t>
            </a:r>
            <a:r>
              <a:rPr lang="en-US" sz="3200" b="1" dirty="0">
                <a:solidFill>
                  <a:srgbClr val="000000"/>
                </a:solidFill>
                <a:latin typeface="Calibri" pitchFamily="34" charset="0"/>
                <a:ea typeface="Calibri" pitchFamily="34" charset="-122"/>
                <a:cs typeface="Calibri" pitchFamily="34" charset="-120"/>
              </a:rPr>
              <a:t>, </a:t>
            </a:r>
            <a:r>
              <a:rPr lang="en-US" sz="3200" b="1" dirty="0">
                <a:solidFill>
                  <a:srgbClr val="362FEC"/>
                </a:solidFill>
                <a:latin typeface="Calibri" pitchFamily="34" charset="0"/>
                <a:ea typeface="Calibri" pitchFamily="34" charset="-122"/>
                <a:cs typeface="Calibri" pitchFamily="34" charset="-120"/>
              </a:rPr>
              <a:t>Language</a:t>
            </a:r>
            <a:r>
              <a:rPr lang="en-US" sz="3200" b="1" dirty="0">
                <a:solidFill>
                  <a:srgbClr val="000000"/>
                </a:solidFill>
                <a:latin typeface="Calibri" pitchFamily="34" charset="0"/>
                <a:ea typeface="Calibri" pitchFamily="34" charset="-122"/>
                <a:cs typeface="Calibri" pitchFamily="34" charset="-120"/>
              </a:rPr>
              <a:t>, and </a:t>
            </a:r>
            <a:r>
              <a:rPr lang="en-US" sz="3200" b="1" dirty="0">
                <a:solidFill>
                  <a:schemeClr val="accent2"/>
                </a:solidFill>
                <a:latin typeface="Calibri" pitchFamily="34" charset="0"/>
                <a:ea typeface="Calibri" pitchFamily="34" charset="-122"/>
                <a:cs typeface="Calibri" pitchFamily="34" charset="-120"/>
              </a:rPr>
              <a:t>Meaning</a:t>
            </a:r>
            <a:endParaRPr lang="en-US" sz="3200" dirty="0">
              <a:solidFill>
                <a:schemeClr val="accent2"/>
              </a:solidFill>
            </a:endParaRPr>
          </a:p>
        </p:txBody>
      </p:sp>
      <p:sp>
        <p:nvSpPr>
          <p:cNvPr id="3" name="TextBox 4">
            <a:extLst>
              <a:ext uri="{FF2B5EF4-FFF2-40B4-BE49-F238E27FC236}">
                <a16:creationId xmlns:a16="http://schemas.microsoft.com/office/drawing/2014/main" id="{66572BAD-DD8C-3E32-5E0A-D54192545328}"/>
              </a:ext>
            </a:extLst>
          </p:cNvPr>
          <p:cNvSpPr txBox="1"/>
          <p:nvPr/>
        </p:nvSpPr>
        <p:spPr>
          <a:xfrm>
            <a:off x="599290" y="1382286"/>
            <a:ext cx="6646637" cy="3785652"/>
          </a:xfrm>
          <a:prstGeom prst="rect">
            <a:avLst/>
          </a:prstGeom>
          <a:noFill/>
        </p:spPr>
        <p:txBody>
          <a:bodyPr wrap="square" rtlCol="0">
            <a:spAutoFit/>
          </a:bodyPr>
          <a:lstStyle/>
          <a:p>
            <a:pPr marL="342900" indent="-342900">
              <a:buFont typeface="+mj-lt"/>
              <a:buAutoNum type="arabicPeriod"/>
            </a:pPr>
            <a:r>
              <a:rPr lang="en-US" sz="2000" dirty="0">
                <a:latin typeface="Calibri" panose="020F0502020204030204" pitchFamily="34" charset="0"/>
                <a:cs typeface="Calibri" panose="020F0502020204030204" pitchFamily="34" charset="0"/>
              </a:rPr>
              <a:t>Short timeline highlighting language and its modeling, course description: what we will study and build</a:t>
            </a:r>
          </a:p>
          <a:p>
            <a:pPr marL="342900" indent="-342900">
              <a:buFont typeface="+mj-lt"/>
              <a:buAutoNum type="arabicPeriod"/>
            </a:pPr>
            <a:endParaRPr lang="en-US" sz="2000" dirty="0">
              <a:latin typeface="Calibri" panose="020F0502020204030204" pitchFamily="34" charset="0"/>
              <a:cs typeface="Calibri" panose="020F0502020204030204" pitchFamily="34" charset="0"/>
            </a:endParaRPr>
          </a:p>
          <a:p>
            <a:pPr marL="342900" indent="-342900">
              <a:buFont typeface="+mj-lt"/>
              <a:buAutoNum type="arabicPeriod"/>
            </a:pPr>
            <a:r>
              <a:rPr lang="en-US" sz="2000" dirty="0">
                <a:latin typeface="Calibri" panose="020F0502020204030204" pitchFamily="34" charset="0"/>
                <a:cs typeface="Calibri" panose="020F0502020204030204" pitchFamily="34" charset="0"/>
              </a:rPr>
              <a:t>Basic AI/ML/DL terminology</a:t>
            </a:r>
          </a:p>
          <a:p>
            <a:pPr marL="342900" indent="-342900">
              <a:buFont typeface="+mj-lt"/>
              <a:buAutoNum type="arabicPeriod"/>
            </a:pPr>
            <a:endParaRPr lang="en-US" sz="2000" dirty="0">
              <a:latin typeface="Calibri" panose="020F0502020204030204" pitchFamily="34" charset="0"/>
              <a:cs typeface="Calibri" panose="020F0502020204030204" pitchFamily="34" charset="0"/>
            </a:endParaRPr>
          </a:p>
          <a:p>
            <a:pPr marL="342900" indent="-342900">
              <a:buFont typeface="+mj-lt"/>
              <a:buAutoNum type="arabicPeriod"/>
            </a:pPr>
            <a:r>
              <a:rPr lang="en-US" sz="2000" dirty="0">
                <a:latin typeface="Calibri" panose="020F0502020204030204" pitchFamily="34" charset="0"/>
                <a:cs typeface="Calibri" panose="020F0502020204030204" pitchFamily="34" charset="0"/>
              </a:rPr>
              <a:t>Understanding </a:t>
            </a:r>
          </a:p>
          <a:p>
            <a:pPr marL="800100" lvl="1" indent="-342900">
              <a:buFont typeface="Arial" panose="020B0604020202020204" pitchFamily="34" charset="0"/>
              <a:buChar char="•"/>
            </a:pPr>
            <a:r>
              <a:rPr lang="en-US" sz="2000" dirty="0">
                <a:latin typeface="Calibri" pitchFamily="34" charset="0"/>
                <a:ea typeface="Calibri" pitchFamily="34" charset="-122"/>
                <a:cs typeface="Calibri" pitchFamily="34" charset="-120"/>
              </a:rPr>
              <a:t>Intelligence</a:t>
            </a:r>
          </a:p>
          <a:p>
            <a:pPr marL="800100" lvl="1" indent="-342900">
              <a:buFont typeface="Arial" panose="020B0604020202020204" pitchFamily="34" charset="0"/>
              <a:buChar char="•"/>
            </a:pPr>
            <a:r>
              <a:rPr lang="en-US" sz="2000" dirty="0">
                <a:latin typeface="Calibri" pitchFamily="34" charset="0"/>
                <a:ea typeface="Calibri" pitchFamily="34" charset="-122"/>
                <a:cs typeface="Calibri" pitchFamily="34" charset="-120"/>
              </a:rPr>
              <a:t>Learning</a:t>
            </a:r>
          </a:p>
          <a:p>
            <a:pPr marL="800100" lvl="1" indent="-342900">
              <a:buFont typeface="Arial" panose="020B0604020202020204" pitchFamily="34" charset="0"/>
              <a:buChar char="•"/>
            </a:pPr>
            <a:r>
              <a:rPr lang="en-US" sz="2000" dirty="0">
                <a:latin typeface="Calibri" pitchFamily="34" charset="0"/>
                <a:ea typeface="Calibri" pitchFamily="34" charset="-122"/>
                <a:cs typeface="Calibri" pitchFamily="34" charset="-120"/>
              </a:rPr>
              <a:t>Language</a:t>
            </a:r>
          </a:p>
          <a:p>
            <a:pPr marL="800100" lvl="1" indent="-342900">
              <a:buFont typeface="Arial" panose="020B0604020202020204" pitchFamily="34" charset="0"/>
              <a:buChar char="•"/>
            </a:pPr>
            <a:r>
              <a:rPr lang="en-US" sz="2000" dirty="0">
                <a:latin typeface="Calibri" pitchFamily="34" charset="0"/>
                <a:ea typeface="Calibri" pitchFamily="34" charset="-122"/>
                <a:cs typeface="Calibri" pitchFamily="34" charset="-120"/>
              </a:rPr>
              <a:t>Meaning</a:t>
            </a:r>
            <a:endParaRPr lang="en-US" sz="2000" dirty="0">
              <a:latin typeface="Calibri" panose="020F0502020204030204" pitchFamily="34" charset="0"/>
              <a:cs typeface="Calibri" panose="020F0502020204030204" pitchFamily="34" charset="0"/>
            </a:endParaRPr>
          </a:p>
          <a:p>
            <a:pPr lvl="1"/>
            <a:endParaRPr lang="en-US" sz="2000" dirty="0">
              <a:latin typeface="Calibri" panose="020F0502020204030204" pitchFamily="34" charset="0"/>
              <a:cs typeface="Calibri" panose="020F0502020204030204" pitchFamily="34" charset="0"/>
            </a:endParaRPr>
          </a:p>
          <a:p>
            <a:pPr marL="457200" indent="-457200">
              <a:buFont typeface="+mj-lt"/>
              <a:buAutoNum type="arabicPeriod"/>
            </a:pPr>
            <a:r>
              <a:rPr lang="en-US" sz="2000" dirty="0">
                <a:latin typeface="Calibri" panose="020F0502020204030204" pitchFamily="34" charset="0"/>
                <a:cs typeface="Calibri" panose="020F0502020204030204" pitchFamily="34" charset="0"/>
              </a:rPr>
              <a:t>Hands-on: an autograd engine</a:t>
            </a:r>
          </a:p>
        </p:txBody>
      </p:sp>
      <p:sp>
        <p:nvSpPr>
          <p:cNvPr id="4" name="red box">
            <a:extLst>
              <a:ext uri="{FF2B5EF4-FFF2-40B4-BE49-F238E27FC236}">
                <a16:creationId xmlns:a16="http://schemas.microsoft.com/office/drawing/2014/main" id="{614C2DA7-5561-EFDE-A18D-698F7356000C}"/>
              </a:ext>
            </a:extLst>
          </p:cNvPr>
          <p:cNvSpPr/>
          <p:nvPr/>
        </p:nvSpPr>
        <p:spPr>
          <a:xfrm>
            <a:off x="955964" y="2312243"/>
            <a:ext cx="3029224" cy="377241"/>
          </a:xfrm>
          <a:prstGeom prst="rect">
            <a:avLst/>
          </a:prstGeom>
          <a:noFill/>
          <a:ln w="28575">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Tree>
  </p:cSld>
  <p:clrMapOvr>
    <a:masterClrMapping/>
  </p:clrMapOvr>
</p:sld>
</file>

<file path=ppt/slides/slide2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b0_2">
            <a:extLst>
              <a:ext uri="{FF2B5EF4-FFF2-40B4-BE49-F238E27FC236}">
                <a16:creationId xmlns:a16="http://schemas.microsoft.com/office/drawing/2014/main" id="{33DE8782-7F2B-1033-00F6-2A6652EE0E80}"/>
              </a:ext>
            </a:extLst>
          </p:cNvPr>
          <p:cNvSpPr txBox="1"/>
          <p:nvPr/>
        </p:nvSpPr>
        <p:spPr>
          <a:xfrm>
            <a:off x="0" y="148566"/>
            <a:ext cx="11680992" cy="548640"/>
          </a:xfrm>
          <a:prstGeom prst="rect">
            <a:avLst/>
          </a:prstGeom>
          <a:noFill/>
          <a:ln>
            <a:noFill/>
          </a:ln>
        </p:spPr>
        <p:txBody>
          <a:bodyPr wrap="square" rtlCol="0" anchor="ctr"/>
          <a:lstStyle/>
          <a:p>
            <a:r>
              <a:rPr lang="en-US" sz="3200" b="1" dirty="0">
                <a:solidFill>
                  <a:srgbClr val="000000"/>
                </a:solidFill>
                <a:latin typeface="Calibri" pitchFamily="34" charset="0"/>
                <a:ea typeface="Calibri" pitchFamily="34" charset="-122"/>
                <a:cs typeface="Calibri" pitchFamily="34" charset="-120"/>
              </a:rPr>
              <a:t>Basic </a:t>
            </a:r>
            <a:r>
              <a:rPr lang="en-US" sz="3200" b="1" dirty="0">
                <a:solidFill>
                  <a:srgbClr val="FF0000"/>
                </a:solidFill>
                <a:latin typeface="Calibri" pitchFamily="34" charset="0"/>
                <a:ea typeface="Calibri" pitchFamily="34" charset="-122"/>
                <a:cs typeface="Calibri" pitchFamily="34" charset="-120"/>
              </a:rPr>
              <a:t>AI</a:t>
            </a:r>
            <a:r>
              <a:rPr lang="en-US" sz="3200" b="1" dirty="0">
                <a:solidFill>
                  <a:srgbClr val="000000"/>
                </a:solidFill>
                <a:latin typeface="Calibri" pitchFamily="34" charset="0"/>
                <a:ea typeface="Calibri" pitchFamily="34" charset="-122"/>
                <a:cs typeface="Calibri" pitchFamily="34" charset="-120"/>
              </a:rPr>
              <a:t>/</a:t>
            </a:r>
            <a:r>
              <a:rPr lang="en-US" sz="3200" b="1" dirty="0">
                <a:solidFill>
                  <a:srgbClr val="00B050"/>
                </a:solidFill>
                <a:latin typeface="Calibri" pitchFamily="34" charset="0"/>
                <a:ea typeface="Calibri" pitchFamily="34" charset="-122"/>
                <a:cs typeface="Calibri" pitchFamily="34" charset="-120"/>
              </a:rPr>
              <a:t>ML</a:t>
            </a:r>
            <a:r>
              <a:rPr lang="en-US" sz="3200" b="1" dirty="0">
                <a:solidFill>
                  <a:srgbClr val="000000"/>
                </a:solidFill>
                <a:latin typeface="Calibri" pitchFamily="34" charset="0"/>
                <a:ea typeface="Calibri" pitchFamily="34" charset="-122"/>
                <a:cs typeface="Calibri" pitchFamily="34" charset="-120"/>
              </a:rPr>
              <a:t>/</a:t>
            </a:r>
            <a:r>
              <a:rPr lang="en-US" sz="3200" b="1" dirty="0">
                <a:solidFill>
                  <a:srgbClr val="362FEC"/>
                </a:solidFill>
                <a:latin typeface="Calibri" pitchFamily="34" charset="0"/>
                <a:ea typeface="Calibri" pitchFamily="34" charset="-122"/>
                <a:cs typeface="Calibri" pitchFamily="34" charset="-120"/>
              </a:rPr>
              <a:t>DL</a:t>
            </a:r>
            <a:r>
              <a:rPr lang="en-US" sz="3200" b="1" dirty="0">
                <a:solidFill>
                  <a:srgbClr val="000000"/>
                </a:solidFill>
                <a:latin typeface="Calibri" pitchFamily="34" charset="0"/>
                <a:ea typeface="Calibri" pitchFamily="34" charset="-122"/>
                <a:cs typeface="Calibri" pitchFamily="34" charset="-120"/>
              </a:rPr>
              <a:t> Terminology</a:t>
            </a:r>
            <a:endParaRPr lang="en-US" sz="3200" dirty="0">
              <a:solidFill>
                <a:srgbClr val="362FEC"/>
              </a:solidFill>
            </a:endParaRPr>
          </a:p>
        </p:txBody>
      </p:sp>
      <p:sp>
        <p:nvSpPr>
          <p:cNvPr id="3" name="points"/>
          <p:cNvSpPr txBox="1"/>
          <p:nvPr/>
        </p:nvSpPr>
        <p:spPr>
          <a:xfrm>
            <a:off x="384048" y="1188720"/>
            <a:ext cx="6126480" cy="5394960"/>
          </a:xfrm>
          <a:prstGeom prst="rect">
            <a:avLst/>
          </a:prstGeom>
          <a:noFill/>
        </p:spPr>
        <p:txBody>
          <a:bodyPr wrap="square" lIns="0" rIns="0" tIns="0" bIns="0">
            <a:spAutoFit/>
          </a:bodyPr>
          <a:lstStyle/>
          <a:p>
            <a:pPr algn="l">
              <a:spcAft>
                <a:spcPts val="1600"/>
              </a:spcAft>
            </a:pPr>
            <a:r>
              <a:rPr sz="2000" b="1" i="0">
                <a:solidFill>
                  <a:srgbClr val="FF0000"/>
                </a:solidFill>
                <a:latin typeface="Calibri"/>
              </a:rPr>
              <a:t>Artificial intelligence</a:t>
            </a:r>
            <a:r>
              <a:rPr sz="1800" b="0" i="0">
                <a:solidFill>
                  <a:srgbClr val="000000"/>
                </a:solidFill>
                <a:latin typeface="Calibri"/>
              </a:rPr>
              <a:t/>
            </a:r>
            <a:br>
              <a:rPr sz="1800" b="0" i="0">
                <a:solidFill>
                  <a:srgbClr val="000000"/>
                </a:solidFill>
                <a:latin typeface="Calibri"/>
              </a:rPr>
            </a:br>
            <a:r>
              <a:rPr sz="1800" b="0" i="0">
                <a:solidFill>
                  <a:srgbClr val="000000"/>
                </a:solidFill>
                <a:latin typeface="Calibri"/>
              </a:rPr>
              <a:t>Computational systems that perform tasks associated with human intelligence: perception, reasoning, language, planning, action. Methods: search, logic, probabilistic reasoning, learning.</a:t>
            </a:r>
          </a:p>
          <a:p>
            <a:pPr algn="l">
              <a:spcAft>
                <a:spcPts val="1600"/>
              </a:spcAft>
            </a:pPr>
            <a:r>
              <a:rPr sz="2000" b="1" i="0">
                <a:solidFill>
                  <a:srgbClr val="00B050"/>
                </a:solidFill>
                <a:latin typeface="Calibri"/>
              </a:rPr>
              <a:t>Machine learning</a:t>
            </a:r>
            <a:r>
              <a:rPr sz="1800" b="0" i="0">
                <a:solidFill>
                  <a:srgbClr val="000000"/>
                </a:solidFill>
                <a:latin typeface="Calibri"/>
              </a:rPr>
              <a:t/>
            </a:r>
            <a:br>
              <a:rPr sz="1800" b="0" i="0">
                <a:solidFill>
                  <a:srgbClr val="000000"/>
                </a:solidFill>
                <a:latin typeface="Calibri"/>
              </a:rPr>
            </a:br>
            <a:r>
              <a:rPr sz="1800" b="0" i="0">
                <a:solidFill>
                  <a:srgbClr val="000000"/>
                </a:solidFill>
                <a:latin typeface="Calibri"/>
              </a:rPr>
              <a:t>Algorithms that learn from data and generalize to unseen data, instead of having every rule programmed. Foundations: statistics and optimization.</a:t>
            </a:r>
          </a:p>
          <a:p>
            <a:pPr algn="l">
              <a:spcAft>
                <a:spcPts val="1600"/>
              </a:spcAft>
            </a:pPr>
            <a:r>
              <a:rPr sz="2000" b="1" i="0">
                <a:solidFill>
                  <a:srgbClr val="362FEC"/>
                </a:solidFill>
                <a:latin typeface="Calibri"/>
              </a:rPr>
              <a:t>Deep learning</a:t>
            </a:r>
            <a:r>
              <a:rPr sz="1800" b="0" i="0">
                <a:solidFill>
                  <a:srgbClr val="000000"/>
                </a:solidFill>
                <a:latin typeface="Calibri"/>
              </a:rPr>
              <a:t/>
            </a:r>
            <a:br>
              <a:rPr sz="1800" b="0" i="0">
                <a:solidFill>
                  <a:srgbClr val="000000"/>
                </a:solidFill>
                <a:latin typeface="Calibri"/>
              </a:rPr>
            </a:br>
            <a:r>
              <a:rPr sz="1800" b="0" i="0">
                <a:solidFill>
                  <a:srgbClr val="000000"/>
                </a:solidFill>
                <a:latin typeface="Calibri"/>
              </a:rPr>
              <a:t>Machine learning with multilayer neural networks: many trainable transformations, composed, learn intermediate representations (features) along with the prediction.</a:t>
            </a:r>
          </a:p>
        </p:txBody>
      </p:sp>
      <p:grpSp>
        <p:nvGrpSpPr>
          <p:cNvPr id="4" name="picture 1"/>
          <p:cNvGrpSpPr/>
          <p:nvPr/>
        </p:nvGrpSpPr>
        <p:grpSpPr>
          <a:xfrm>
            <a:off x="6629400" y="1371600"/>
            <a:ext cx="5486400" cy="4572000"/>
            <a:chOff x="6629400" y="1371600"/>
            <a:chExt cx="5486400" cy="4572000"/>
          </a:xfrm>
        </p:grpSpPr>
        <p:pic>
          <p:nvPicPr>
            <p:cNvPr id="5" name="Picture 4" descr="image.jpg"/>
            <p:cNvPicPr>
              <a:picLocks noChangeAspect="1"/>
            </p:cNvPicPr>
            <p:nvPr/>
          </p:nvPicPr>
          <p:blipFill>
            <a:blip r:embed="rId2"/>
            <a:stretch>
              <a:fillRect/>
            </a:stretch>
          </p:blipFill>
          <p:spPr>
            <a:xfrm>
              <a:off x="6814175" y="1371600"/>
              <a:ext cx="5116849" cy="3291840"/>
            </a:xfrm>
            <a:prstGeom prst="rect">
              <a:avLst/>
            </a:prstGeom>
          </p:spPr>
        </p:pic>
        <p:sp>
          <p:nvSpPr>
            <p:cNvPr id="6" name="TextBox 5"/>
            <p:cNvSpPr txBox="1"/>
            <p:nvPr/>
          </p:nvSpPr>
          <p:spPr>
            <a:xfrm>
              <a:off x="6629400" y="4709159"/>
              <a:ext cx="5486400" cy="274320"/>
            </a:xfrm>
            <a:prstGeom prst="rect">
              <a:avLst/>
            </a:prstGeom>
            <a:noFill/>
          </p:spPr>
          <p:txBody>
            <a:bodyPr wrap="square" anchor="t" lIns="0" rIns="0" tIns="0" bIns="0">
              <a:spAutoFit/>
            </a:bodyPr>
            <a:lstStyle/>
            <a:p>
              <a:pPr algn="ctr"/>
              <a:r>
                <a:rPr sz="1200" b="0" i="0">
                  <a:solidFill>
                    <a:srgbClr val="595959"/>
                  </a:solidFill>
                  <a:latin typeface="Calibri"/>
                </a:rPr>
                <a:t>Kasparov (left) and Deep Blue's terminal (right), Philadelphia, 1996</a:t>
              </a:r>
            </a:p>
          </p:txBody>
        </p:sp>
        <p:sp>
          <p:nvSpPr>
            <p:cNvPr id="7" name="description"/>
            <p:cNvSpPr txBox="1"/>
            <p:nvPr/>
          </p:nvSpPr>
          <p:spPr>
            <a:xfrm>
              <a:off x="6812280" y="5120640"/>
              <a:ext cx="5120640" cy="822960"/>
            </a:xfrm>
            <a:prstGeom prst="rect">
              <a:avLst/>
            </a:prstGeom>
            <a:noFill/>
          </p:spPr>
          <p:txBody>
            <a:bodyPr wrap="square" anchor="t" lIns="0" rIns="0" tIns="0" bIns="0">
              <a:spAutoFit/>
            </a:bodyPr>
            <a:lstStyle/>
            <a:p>
              <a:pPr algn="l"/>
              <a:r>
                <a:rPr sz="1400" b="0" i="0">
                  <a:solidFill>
                    <a:srgbClr val="595959"/>
                  </a:solidFill>
                  <a:latin typeface="Calibri"/>
                </a:rPr>
                <a:t>Example: Deep Blue searched the game tree and scored positions with an evaluation function designed mostly by hand: intelligent behavior from search, with almost no learning.</a:t>
              </a:r>
            </a:p>
          </p:txBody>
        </p:sp>
      </p:grpSp>
      <p:grpSp>
        <p:nvGrpSpPr>
          <p:cNvPr id="8" name="picture 2"/>
          <p:cNvGrpSpPr/>
          <p:nvPr/>
        </p:nvGrpSpPr>
        <p:grpSpPr>
          <a:xfrm>
            <a:off x="6812280" y="1371600"/>
            <a:ext cx="5120640" cy="4407408"/>
            <a:chOff x="6812280" y="1371600"/>
            <a:chExt cx="5120640" cy="4407408"/>
          </a:xfrm>
        </p:grpSpPr>
        <p:pic>
          <p:nvPicPr>
            <p:cNvPr id="9" name="Picture 8" descr="image.png"/>
            <p:cNvPicPr>
              <a:picLocks noChangeAspect="1"/>
            </p:cNvPicPr>
            <p:nvPr/>
          </p:nvPicPr>
          <p:blipFill>
            <a:blip r:embed="rId3"/>
            <a:stretch>
              <a:fillRect/>
            </a:stretch>
          </p:blipFill>
          <p:spPr>
            <a:xfrm>
              <a:off x="6868094" y="1371600"/>
              <a:ext cx="5009011" cy="3474720"/>
            </a:xfrm>
            <a:prstGeom prst="rect">
              <a:avLst/>
            </a:prstGeom>
          </p:spPr>
        </p:pic>
        <p:sp>
          <p:nvSpPr>
            <p:cNvPr id="10" name="description"/>
            <p:cNvSpPr txBox="1"/>
            <p:nvPr/>
          </p:nvSpPr>
          <p:spPr>
            <a:xfrm>
              <a:off x="6812280" y="4956048"/>
              <a:ext cx="5120640" cy="822960"/>
            </a:xfrm>
            <a:prstGeom prst="rect">
              <a:avLst/>
            </a:prstGeom>
            <a:noFill/>
          </p:spPr>
          <p:txBody>
            <a:bodyPr wrap="square" anchor="t" lIns="0" rIns="0" tIns="0" bIns="0">
              <a:spAutoFit/>
            </a:bodyPr>
            <a:lstStyle/>
            <a:p>
              <a:pPr algn="l"/>
              <a:r>
                <a:rPr sz="1400" b="0" i="0">
                  <a:solidFill>
                    <a:srgbClr val="595959"/>
                  </a:solidFill>
                  <a:latin typeface="Calibri"/>
                </a:rPr>
                <a:t>Example: iris flowers. From 150 labeled flowers, the learning algorithm chose the questions, the thresholds, and the labels at the leaves. Petals 4.5 cm by 1.2 cm: No, Yes, Yes, so Versicolor. Machine learning without deep learning.</a:t>
              </a:r>
            </a:p>
          </p:txBody>
        </p:sp>
      </p:grpSp>
      <p:grpSp>
        <p:nvGrpSpPr>
          <p:cNvPr id="11" name="picture 3"/>
          <p:cNvGrpSpPr/>
          <p:nvPr/>
        </p:nvGrpSpPr>
        <p:grpSpPr>
          <a:xfrm>
            <a:off x="6812280" y="1325880"/>
            <a:ext cx="5120640" cy="4629899"/>
            <a:chOff x="6812280" y="1325880"/>
            <a:chExt cx="5120640" cy="4629899"/>
          </a:xfrm>
        </p:grpSpPr>
        <p:pic>
          <p:nvPicPr>
            <p:cNvPr id="12" name="Picture 11" descr="image.png"/>
            <p:cNvPicPr>
              <a:picLocks noChangeAspect="1"/>
            </p:cNvPicPr>
            <p:nvPr/>
          </p:nvPicPr>
          <p:blipFill>
            <a:blip r:embed="rId4"/>
            <a:stretch>
              <a:fillRect/>
            </a:stretch>
          </p:blipFill>
          <p:spPr>
            <a:xfrm>
              <a:off x="6812280" y="1325880"/>
              <a:ext cx="5120640" cy="1400958"/>
            </a:xfrm>
            <a:prstGeom prst="rect">
              <a:avLst/>
            </a:prstGeom>
          </p:spPr>
        </p:pic>
        <p:pic>
          <p:nvPicPr>
            <p:cNvPr id="13" name="Picture 12" descr="image.png"/>
            <p:cNvPicPr>
              <a:picLocks noChangeAspect="1"/>
            </p:cNvPicPr>
            <p:nvPr/>
          </p:nvPicPr>
          <p:blipFill>
            <a:blip r:embed="rId5"/>
            <a:stretch>
              <a:fillRect/>
            </a:stretch>
          </p:blipFill>
          <p:spPr>
            <a:xfrm>
              <a:off x="7269480" y="2909718"/>
              <a:ext cx="4206240" cy="2223101"/>
            </a:xfrm>
            <a:prstGeom prst="rect">
              <a:avLst/>
            </a:prstGeom>
          </p:spPr>
        </p:pic>
        <p:sp>
          <p:nvSpPr>
            <p:cNvPr id="14" name="description"/>
            <p:cNvSpPr txBox="1"/>
            <p:nvPr/>
          </p:nvSpPr>
          <p:spPr>
            <a:xfrm>
              <a:off x="6812280" y="5224259"/>
              <a:ext cx="5120640" cy="731520"/>
            </a:xfrm>
            <a:prstGeom prst="rect">
              <a:avLst/>
            </a:prstGeom>
            <a:noFill/>
          </p:spPr>
          <p:txBody>
            <a:bodyPr wrap="square" anchor="t" lIns="0" rIns="0" tIns="0" bIns="0">
              <a:spAutoFit/>
            </a:bodyPr>
            <a:lstStyle/>
            <a:p>
              <a:pPr algn="l"/>
              <a:r>
                <a:rPr sz="1400" b="0" i="0">
                  <a:solidFill>
                    <a:srgbClr val="595959"/>
                  </a:solidFill>
                  <a:latin typeface="Calibri"/>
                </a:rPr>
                <a:t>A held-out 8×8 digit passes through three hidden layers, whose activations are learned features. The output is a probability distribution; an ambiguous digit splits it between two classes.</a:t>
              </a:r>
            </a:p>
          </p:txBody>
        </p:sp>
      </p:grpSp>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3">
                                            <p:txEl>
                                              <p:pRg st="0" end="0"/>
                                            </p:txEl>
                                          </p:spTgt>
                                        </p:tgtEl>
                                        <p:attrNameLst>
                                          <p:attrName>style.visibility</p:attrName>
                                        </p:attrNameLst>
                                      </p:cBhvr>
                                      <p:to>
                                        <p:strVal val="visible"/>
                                      </p:to>
                                    </p:set>
                                  </p:childTnLst>
                                </p:cTn>
                              </p:par>
                              <p:par>
                                <p:cTn id="7" presetID="1" presetClass="entr" presetSubtype="0" fill="hold" grpId="0" nodeType="withEffect">
                                  <p:stCondLst>
                                    <p:cond delay="0"/>
                                  </p:stCondLst>
                                  <p:childTnLst>
                                    <p:set>
                                      <p:cBhvr>
                                        <p:cTn id="8" dur="1" fill="hold">
                                          <p:stCondLst>
                                            <p:cond delay="0"/>
                                          </p:stCondLst>
                                        </p:cTn>
                                        <p:tgtEl>
                                          <p:spTgt spid="4"/>
                                        </p:tgtEl>
                                        <p:attrNameLst>
                                          <p:attrName>style.visibility</p:attrName>
                                        </p:attrNameLst>
                                      </p:cBhvr>
                                      <p:to>
                                        <p:strVal val="visible"/>
                                      </p:to>
                                    </p:set>
                                  </p:childTnLst>
                                </p:cTn>
                              </p:par>
                            </p:childTnLst>
                          </p:cTn>
                        </p:par>
                      </p:childTnLst>
                    </p:cTn>
                  </p:par>
                  <p:par>
                    <p:cTn id="9" fill="hold">
                      <p:stCondLst>
                        <p:cond delay="indefinite"/>
                      </p:stCondLst>
                      <p:childTnLst>
                        <p:par>
                          <p:cTn id="10" fill="hold">
                            <p:stCondLst>
                              <p:cond delay="0"/>
                            </p:stCondLst>
                            <p:childTnLst>
                              <p:par>
                                <p:cTn id="11" presetID="1" presetClass="entr" presetSubtype="0" fill="hold" grpId="0" nodeType="clickEffect">
                                  <p:stCondLst>
                                    <p:cond delay="0"/>
                                  </p:stCondLst>
                                  <p:childTnLst>
                                    <p:set>
                                      <p:cBhvr>
                                        <p:cTn id="12" dur="1" fill="hold">
                                          <p:stCondLst>
                                            <p:cond delay="0"/>
                                          </p:stCondLst>
                                        </p:cTn>
                                        <p:tgtEl>
                                          <p:spTgt spid="3">
                                            <p:txEl>
                                              <p:pRg st="1" end="1"/>
                                            </p:txEl>
                                          </p:spTgt>
                                        </p:tgtEl>
                                        <p:attrNameLst>
                                          <p:attrName>style.visibility</p:attrName>
                                        </p:attrNameLst>
                                      </p:cBhvr>
                                      <p:to>
                                        <p:strVal val="visible"/>
                                      </p:to>
                                    </p:set>
                                  </p:childTnLst>
                                </p:cTn>
                              </p:par>
                              <p:par>
                                <p:cTn id="13" presetID="1" presetClass="entr" presetSubtype="0" fill="hold" grpId="0" nodeType="withEffect">
                                  <p:stCondLst>
                                    <p:cond delay="0"/>
                                  </p:stCondLst>
                                  <p:childTnLst>
                                    <p:set>
                                      <p:cBhvr>
                                        <p:cTn id="14" dur="1" fill="hold">
                                          <p:stCondLst>
                                            <p:cond delay="0"/>
                                          </p:stCondLst>
                                        </p:cTn>
                                        <p:tgtEl>
                                          <p:spTgt spid="8"/>
                                        </p:tgtEl>
                                        <p:attrNameLst>
                                          <p:attrName>style.visibility</p:attrName>
                                        </p:attrNameLst>
                                      </p:cBhvr>
                                      <p:to>
                                        <p:strVal val="visible"/>
                                      </p:to>
                                    </p:set>
                                  </p:childTnLst>
                                </p:cTn>
                              </p:par>
                              <p:par>
                                <p:cTn id="15" presetID="1" presetClass="exit" presetSubtype="0" fill="hold" grpId="1" nodeType="withEffect">
                                  <p:stCondLst>
                                    <p:cond delay="0"/>
                                  </p:stCondLst>
                                  <p:childTnLst>
                                    <p:set>
                                      <p:cBhvr>
                                        <p:cTn id="16" dur="1" fill="hold">
                                          <p:stCondLst>
                                            <p:cond delay="0"/>
                                          </p:stCondLst>
                                        </p:cTn>
                                        <p:tgtEl>
                                          <p:spTgt spid="4"/>
                                        </p:tgtEl>
                                        <p:attrNameLst>
                                          <p:attrName>style.visibility</p:attrName>
                                        </p:attrNameLst>
                                      </p:cBhvr>
                                      <p:to>
                                        <p:strVal val="hidden"/>
                                      </p:to>
                                    </p:set>
                                  </p:childTnLst>
                                </p:cTn>
                              </p:par>
                            </p:childTnLst>
                          </p:cTn>
                        </p:par>
                      </p:childTnLst>
                    </p:cTn>
                  </p:par>
                  <p:par>
                    <p:cTn id="17" fill="hold">
                      <p:stCondLst>
                        <p:cond delay="indefinite"/>
                      </p:stCondLst>
                      <p:childTnLst>
                        <p:par>
                          <p:cTn id="18" fill="hold">
                            <p:stCondLst>
                              <p:cond delay="0"/>
                            </p:stCondLst>
                            <p:childTnLst>
                              <p:par>
                                <p:cTn id="19" presetID="1" presetClass="entr" presetSubtype="0" fill="hold" grpId="0" nodeType="clickEffect">
                                  <p:stCondLst>
                                    <p:cond delay="0"/>
                                  </p:stCondLst>
                                  <p:childTnLst>
                                    <p:set>
                                      <p:cBhvr>
                                        <p:cTn id="20" dur="1" fill="hold">
                                          <p:stCondLst>
                                            <p:cond delay="0"/>
                                          </p:stCondLst>
                                        </p:cTn>
                                        <p:tgtEl>
                                          <p:spTgt spid="3">
                                            <p:txEl>
                                              <p:pRg st="2" end="2"/>
                                            </p:txEl>
                                          </p:spTgt>
                                        </p:tgtEl>
                                        <p:attrNameLst>
                                          <p:attrName>style.visibility</p:attrName>
                                        </p:attrNameLst>
                                      </p:cBhvr>
                                      <p:to>
                                        <p:strVal val="visible"/>
                                      </p:to>
                                    </p:set>
                                  </p:childTnLst>
                                </p:cTn>
                              </p:par>
                              <p:par>
                                <p:cTn id="21" presetID="1" presetClass="entr" presetSubtype="0" fill="hold" grpId="0" nodeType="withEffect">
                                  <p:stCondLst>
                                    <p:cond delay="0"/>
                                  </p:stCondLst>
                                  <p:childTnLst>
                                    <p:set>
                                      <p:cBhvr>
                                        <p:cTn id="22" dur="1" fill="hold">
                                          <p:stCondLst>
                                            <p:cond delay="0"/>
                                          </p:stCondLst>
                                        </p:cTn>
                                        <p:tgtEl>
                                          <p:spTgt spid="11"/>
                                        </p:tgtEl>
                                        <p:attrNameLst>
                                          <p:attrName>style.visibility</p:attrName>
                                        </p:attrNameLst>
                                      </p:cBhvr>
                                      <p:to>
                                        <p:strVal val="visible"/>
                                      </p:to>
                                    </p:set>
                                  </p:childTnLst>
                                </p:cTn>
                              </p:par>
                              <p:par>
                                <p:cTn id="23" presetID="1" presetClass="exit" presetSubtype="0" fill="hold" grpId="1" nodeType="withEffect">
                                  <p:stCondLst>
                                    <p:cond delay="0"/>
                                  </p:stCondLst>
                                  <p:childTnLst>
                                    <p:set>
                                      <p:cBhvr>
                                        <p:cTn id="24" dur="1" fill="hold">
                                          <p:stCondLst>
                                            <p:cond delay="0"/>
                                          </p:stCondLst>
                                        </p:cTn>
                                        <p:tgtEl>
                                          <p:spTgt spid="8"/>
                                        </p:tgtEl>
                                        <p:attrNameLst>
                                          <p:attrName>style.visibility</p:attrName>
                                        </p:attrNameLst>
                                      </p:cBhvr>
                                      <p:to>
                                        <p:strVal val="hidden"/>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build="p"/>
    </p:bldLst>
  </p:timing>
</p:sld>
</file>

<file path=ppt/slides/slide3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b0_2">
            <a:extLst>
              <a:ext uri="{FF2B5EF4-FFF2-40B4-BE49-F238E27FC236}">
                <a16:creationId xmlns:a16="http://schemas.microsoft.com/office/drawing/2014/main" id="{33DE8782-7F2B-1033-00F6-2A6652EE0E80}"/>
              </a:ext>
            </a:extLst>
          </p:cNvPr>
          <p:cNvSpPr txBox="1"/>
          <p:nvPr/>
        </p:nvSpPr>
        <p:spPr>
          <a:xfrm>
            <a:off x="0" y="148566"/>
            <a:ext cx="11680992" cy="548640"/>
          </a:xfrm>
          <a:prstGeom prst="rect">
            <a:avLst/>
          </a:prstGeom>
          <a:noFill/>
          <a:ln>
            <a:noFill/>
          </a:ln>
        </p:spPr>
        <p:txBody>
          <a:bodyPr wrap="square" rtlCol="0" anchor="ctr"/>
          <a:lstStyle/>
          <a:p>
            <a:r>
              <a:rPr lang="en-US" sz="3200" b="1" dirty="0">
                <a:solidFill>
                  <a:srgbClr val="000000"/>
                </a:solidFill>
                <a:latin typeface="Calibri" pitchFamily="34" charset="0"/>
                <a:ea typeface="Calibri" pitchFamily="34" charset="-122"/>
                <a:cs typeface="Calibri" pitchFamily="34" charset="-120"/>
              </a:rPr>
              <a:t>Basic </a:t>
            </a:r>
            <a:r>
              <a:rPr lang="en-US" sz="3200" b="1" dirty="0">
                <a:solidFill>
                  <a:srgbClr val="FF0000"/>
                </a:solidFill>
                <a:latin typeface="Calibri" pitchFamily="34" charset="0"/>
                <a:ea typeface="Calibri" pitchFamily="34" charset="-122"/>
                <a:cs typeface="Calibri" pitchFamily="34" charset="-120"/>
              </a:rPr>
              <a:t>AI</a:t>
            </a:r>
            <a:r>
              <a:rPr lang="en-US" sz="3200" b="1" dirty="0">
                <a:solidFill>
                  <a:srgbClr val="000000"/>
                </a:solidFill>
                <a:latin typeface="Calibri" pitchFamily="34" charset="0"/>
                <a:ea typeface="Calibri" pitchFamily="34" charset="-122"/>
                <a:cs typeface="Calibri" pitchFamily="34" charset="-120"/>
              </a:rPr>
              <a:t>/</a:t>
            </a:r>
            <a:r>
              <a:rPr lang="en-US" sz="3200" b="1" dirty="0">
                <a:solidFill>
                  <a:srgbClr val="00B050"/>
                </a:solidFill>
                <a:latin typeface="Calibri" pitchFamily="34" charset="0"/>
                <a:ea typeface="Calibri" pitchFamily="34" charset="-122"/>
                <a:cs typeface="Calibri" pitchFamily="34" charset="-120"/>
              </a:rPr>
              <a:t>ML</a:t>
            </a:r>
            <a:r>
              <a:rPr lang="en-US" sz="3200" b="1" dirty="0">
                <a:solidFill>
                  <a:srgbClr val="000000"/>
                </a:solidFill>
                <a:latin typeface="Calibri" pitchFamily="34" charset="0"/>
                <a:ea typeface="Calibri" pitchFamily="34" charset="-122"/>
                <a:cs typeface="Calibri" pitchFamily="34" charset="-120"/>
              </a:rPr>
              <a:t>/</a:t>
            </a:r>
            <a:r>
              <a:rPr lang="en-US" sz="3200" b="1" dirty="0">
                <a:solidFill>
                  <a:srgbClr val="362FEC"/>
                </a:solidFill>
                <a:latin typeface="Calibri" pitchFamily="34" charset="0"/>
                <a:ea typeface="Calibri" pitchFamily="34" charset="-122"/>
                <a:cs typeface="Calibri" pitchFamily="34" charset="-120"/>
              </a:rPr>
              <a:t>DL</a:t>
            </a:r>
            <a:r>
              <a:rPr lang="en-US" sz="3200" b="1" dirty="0">
                <a:solidFill>
                  <a:srgbClr val="000000"/>
                </a:solidFill>
                <a:latin typeface="Calibri" pitchFamily="34" charset="0"/>
                <a:ea typeface="Calibri" pitchFamily="34" charset="-122"/>
                <a:cs typeface="Calibri" pitchFamily="34" charset="-120"/>
              </a:rPr>
              <a:t> Terminology</a:t>
            </a:r>
            <a:endParaRPr lang="en-US" sz="3200" dirty="0">
              <a:solidFill>
                <a:srgbClr val="362FEC"/>
              </a:solidFill>
            </a:endParaRPr>
          </a:p>
        </p:txBody>
      </p:sp>
      <p:sp>
        <p:nvSpPr>
          <p:cNvPr id="3" name="subheading">
            <a:extLst>
              <a:ext uri="{FF2B5EF4-FFF2-40B4-BE49-F238E27FC236}">
                <a16:creationId xmlns:a16="http://schemas.microsoft.com/office/drawing/2014/main" id="{5CB8A4AA-40B1-94AE-8EEE-080599481F78}"/>
              </a:ext>
            </a:extLst>
          </p:cNvPr>
          <p:cNvSpPr txBox="1"/>
          <p:nvPr/>
        </p:nvSpPr>
        <p:spPr>
          <a:xfrm>
            <a:off x="292608" y="868680"/>
            <a:ext cx="11430000" cy="411480"/>
          </a:xfrm>
          <a:prstGeom prst="rect">
            <a:avLst/>
          </a:prstGeom>
          <a:noFill/>
          <a:ln>
            <a:noFill/>
          </a:ln>
        </p:spPr>
        <p:txBody>
          <a:bodyPr wrap="square" lIns="0" tIns="0" rIns="0" bIns="0" rtlCol="0" anchor="ctr"/>
          <a:lstStyle/>
          <a:p>
            <a:pPr marL="0" indent="0">
              <a:buNone/>
            </a:pPr>
            <a:r>
              <a:rPr lang="en-US" sz="2000" b="1" dirty="0">
                <a:solidFill>
                  <a:srgbClr val="362FEC"/>
                </a:solidFill>
                <a:latin typeface="Calibri" panose="020F0502020204030204" pitchFamily="34" charset="0"/>
                <a:cs typeface="Calibri" panose="020F0502020204030204" pitchFamily="34" charset="0"/>
              </a:rPr>
              <a:t>Learning from experience</a:t>
            </a:r>
          </a:p>
        </p:txBody>
      </p:sp>
      <p:sp>
        <p:nvSpPr>
          <p:cNvPr id="4" name="Mitchell"/>
          <p:cNvSpPr/>
          <p:nvPr/>
        </p:nvSpPr>
        <p:spPr>
          <a:xfrm>
            <a:off x="384048" y="1417320"/>
            <a:ext cx="6126480" cy="1783080"/>
          </a:xfrm>
          <a:prstGeom prst="roundRect">
            <a:avLst>
              <a:gd name="adj" fmla="val 12000"/>
            </a:avLst>
          </a:prstGeom>
          <a:solidFill>
            <a:srgbClr val="E3E2FD"/>
          </a:solidFill>
          <a:ln>
            <a:noFill/>
          </a:ln>
        </p:spPr>
        <p:style>
          <a:lnRef idx="1">
            <a:schemeClr val="accent1"/>
          </a:lnRef>
          <a:fillRef idx="3">
            <a:schemeClr val="accent1"/>
          </a:fillRef>
          <a:effectRef idx="2">
            <a:schemeClr val="accent1"/>
          </a:effectRef>
          <a:fontRef idx="minor">
            <a:schemeClr val="lt1"/>
          </a:fontRef>
        </p:style>
        <p:txBody>
          <a:bodyPr rtlCol="0" anchor="ctr" wrap="square" lIns="182880" rIns="182880"/>
          <a:lstStyle/>
          <a:p>
            <a:pPr algn="l"/>
            <a:r>
              <a:rPr sz="1900" b="0">
                <a:solidFill>
                  <a:srgbClr val="000000"/>
                </a:solidFill>
                <a:latin typeface="Calibri"/>
              </a:rPr>
              <a:t>A program learns from experience </a:t>
            </a:r>
            <a:r>
              <a:rPr sz="1900" b="1">
                <a:solidFill>
                  <a:srgbClr val="00B050"/>
                </a:solidFill>
                <a:latin typeface="Calibri"/>
              </a:rPr>
              <a:t>E</a:t>
            </a:r>
            <a:r>
              <a:rPr sz="1900" b="0">
                <a:solidFill>
                  <a:srgbClr val="000000"/>
                </a:solidFill>
                <a:latin typeface="Calibri"/>
              </a:rPr>
              <a:t> with respect to a class of tasks </a:t>
            </a:r>
            <a:r>
              <a:rPr sz="1900" b="1">
                <a:solidFill>
                  <a:srgbClr val="362FEC"/>
                </a:solidFill>
                <a:latin typeface="Calibri"/>
              </a:rPr>
              <a:t>T</a:t>
            </a:r>
            <a:r>
              <a:rPr sz="1900" b="0">
                <a:solidFill>
                  <a:srgbClr val="000000"/>
                </a:solidFill>
                <a:latin typeface="Calibri"/>
              </a:rPr>
              <a:t> and a performance measure </a:t>
            </a:r>
            <a:r>
              <a:rPr sz="1900" b="1">
                <a:solidFill>
                  <a:srgbClr val="FF0000"/>
                </a:solidFill>
                <a:latin typeface="Calibri"/>
              </a:rPr>
              <a:t>P</a:t>
            </a:r>
            <a:r>
              <a:rPr sz="1900" b="0">
                <a:solidFill>
                  <a:srgbClr val="000000"/>
                </a:solidFill>
                <a:latin typeface="Calibri"/>
              </a:rPr>
              <a:t> if its performance on tasks in T, as measured by P, improves with E.</a:t>
            </a:r>
          </a:p>
          <a:p>
            <a:pPr algn="r"/>
            <a:r>
              <a:rPr sz="1400">
                <a:solidFill>
                  <a:srgbClr val="595959"/>
                </a:solidFill>
                <a:latin typeface="Calibri"/>
              </a:rPr>
              <a:t>Tom Mitchell, Machine Learning (1997)</a:t>
            </a:r>
          </a:p>
        </p:txBody>
      </p:sp>
      <p:grpSp>
        <p:nvGrpSpPr>
          <p:cNvPr id="6" name="TEP labels"/>
          <p:cNvGrpSpPr/>
          <p:nvPr/>
        </p:nvGrpSpPr>
        <p:grpSpPr>
          <a:xfrm>
            <a:off x="6812280" y="2011680"/>
            <a:ext cx="914400" cy="3017520"/>
            <a:chOff x="6812280" y="2011680"/>
            <a:chExt cx="914400" cy="3017520"/>
          </a:xfrm>
        </p:grpSpPr>
        <p:sp>
          <p:nvSpPr>
            <p:cNvPr id="7" name="TextBox 6"/>
            <p:cNvSpPr txBox="1"/>
            <p:nvPr/>
          </p:nvSpPr>
          <p:spPr>
            <a:xfrm>
              <a:off x="6812280" y="2011680"/>
              <a:ext cx="914400" cy="822960"/>
            </a:xfrm>
            <a:prstGeom prst="rect">
              <a:avLst/>
            </a:prstGeom>
            <a:noFill/>
          </p:spPr>
          <p:txBody>
            <a:bodyPr wrap="square" anchor="t" lIns="0" rIns="0" tIns="0" bIns="0">
              <a:spAutoFit/>
            </a:bodyPr>
            <a:lstStyle/>
            <a:p>
              <a:pPr algn="ctr"/>
              <a:r>
                <a:rPr sz="2400" b="1" i="0">
                  <a:solidFill>
                    <a:srgbClr val="362FEC"/>
                  </a:solidFill>
                  <a:latin typeface="Calibri"/>
                </a:rPr>
                <a:t>T</a:t>
              </a:r>
              <a:r>
                <a:rPr sz="1200" b="0" i="0">
                  <a:solidFill>
                    <a:srgbClr val="595959"/>
                  </a:solidFill>
                  <a:latin typeface="Calibri"/>
                </a:rPr>
                <a:t/>
              </a:r>
              <a:br>
                <a:rPr sz="1200" b="0" i="0">
                  <a:solidFill>
                    <a:srgbClr val="595959"/>
                  </a:solidFill>
                  <a:latin typeface="Calibri"/>
                </a:rPr>
              </a:br>
              <a:r>
                <a:rPr sz="1200" b="0" i="0">
                  <a:solidFill>
                    <a:srgbClr val="595959"/>
                  </a:solidFill>
                  <a:latin typeface="Calibri"/>
                </a:rPr>
                <a:t>task</a:t>
              </a:r>
            </a:p>
          </p:txBody>
        </p:sp>
        <p:sp>
          <p:nvSpPr>
            <p:cNvPr id="8" name="TextBox 7"/>
            <p:cNvSpPr txBox="1"/>
            <p:nvPr/>
          </p:nvSpPr>
          <p:spPr>
            <a:xfrm>
              <a:off x="6812280" y="3108960"/>
              <a:ext cx="914400" cy="822960"/>
            </a:xfrm>
            <a:prstGeom prst="rect">
              <a:avLst/>
            </a:prstGeom>
            <a:noFill/>
          </p:spPr>
          <p:txBody>
            <a:bodyPr wrap="square" anchor="t" lIns="0" rIns="0" tIns="0" bIns="0">
              <a:spAutoFit/>
            </a:bodyPr>
            <a:lstStyle/>
            <a:p>
              <a:pPr algn="ctr"/>
              <a:r>
                <a:rPr sz="2400" b="1" i="0">
                  <a:solidFill>
                    <a:srgbClr val="00B050"/>
                  </a:solidFill>
                  <a:latin typeface="Calibri"/>
                </a:rPr>
                <a:t>E</a:t>
              </a:r>
              <a:r>
                <a:rPr sz="1200" b="0" i="0">
                  <a:solidFill>
                    <a:srgbClr val="595959"/>
                  </a:solidFill>
                  <a:latin typeface="Calibri"/>
                </a:rPr>
                <a:t/>
              </a:r>
              <a:br>
                <a:rPr sz="1200" b="0" i="0">
                  <a:solidFill>
                    <a:srgbClr val="595959"/>
                  </a:solidFill>
                  <a:latin typeface="Calibri"/>
                </a:rPr>
              </a:br>
              <a:r>
                <a:rPr sz="1200" b="0" i="0">
                  <a:solidFill>
                    <a:srgbClr val="595959"/>
                  </a:solidFill>
                  <a:latin typeface="Calibri"/>
                </a:rPr>
                <a:t>experience</a:t>
              </a:r>
            </a:p>
          </p:txBody>
        </p:sp>
        <p:sp>
          <p:nvSpPr>
            <p:cNvPr id="9" name="TextBox 8"/>
            <p:cNvSpPr txBox="1"/>
            <p:nvPr/>
          </p:nvSpPr>
          <p:spPr>
            <a:xfrm>
              <a:off x="6812280" y="4206240"/>
              <a:ext cx="914400" cy="822960"/>
            </a:xfrm>
            <a:prstGeom prst="rect">
              <a:avLst/>
            </a:prstGeom>
            <a:noFill/>
          </p:spPr>
          <p:txBody>
            <a:bodyPr wrap="square" anchor="t" lIns="0" rIns="0" tIns="0" bIns="0">
              <a:spAutoFit/>
            </a:bodyPr>
            <a:lstStyle/>
            <a:p>
              <a:pPr algn="ctr"/>
              <a:r>
                <a:rPr sz="2400" b="1" i="0">
                  <a:solidFill>
                    <a:srgbClr val="FF0000"/>
                  </a:solidFill>
                  <a:latin typeface="Calibri"/>
                </a:rPr>
                <a:t>P</a:t>
              </a:r>
              <a:r>
                <a:rPr sz="1200" b="0" i="0">
                  <a:solidFill>
                    <a:srgbClr val="595959"/>
                  </a:solidFill>
                  <a:latin typeface="Calibri"/>
                </a:rPr>
                <a:t/>
              </a:r>
              <a:br>
                <a:rPr sz="1200" b="0" i="0">
                  <a:solidFill>
                    <a:srgbClr val="595959"/>
                  </a:solidFill>
                  <a:latin typeface="Calibri"/>
                </a:rPr>
              </a:br>
              <a:r>
                <a:rPr sz="1200" b="0" i="0">
                  <a:solidFill>
                    <a:srgbClr val="595959"/>
                  </a:solidFill>
                  <a:latin typeface="Calibri"/>
                </a:rPr>
                <a:t>performance</a:t>
              </a:r>
            </a:p>
          </p:txBody>
        </p:sp>
      </p:grpSp>
      <p:grpSp>
        <p:nvGrpSpPr>
          <p:cNvPr id="10" name="iris column"/>
          <p:cNvGrpSpPr/>
          <p:nvPr/>
        </p:nvGrpSpPr>
        <p:grpSpPr>
          <a:xfrm>
            <a:off x="7772400" y="1417320"/>
            <a:ext cx="1965960" cy="3611879"/>
            <a:chOff x="7772400" y="1417320"/>
            <a:chExt cx="1965960" cy="3611879"/>
          </a:xfrm>
        </p:grpSpPr>
        <p:sp>
          <p:nvSpPr>
            <p:cNvPr id="11" name="Rounded Rectangle 10"/>
            <p:cNvSpPr/>
            <p:nvPr/>
          </p:nvSpPr>
          <p:spPr>
            <a:xfrm>
              <a:off x="7772400" y="1417320"/>
              <a:ext cx="1965960" cy="457200"/>
            </a:xfrm>
            <a:prstGeom prst="roundRect">
              <a:avLst>
                <a:gd name="adj" fmla="val 12000"/>
              </a:avLst>
            </a:prstGeom>
            <a:solidFill>
              <a:srgbClr val="EDEDED"/>
            </a:solidFill>
            <a:ln>
              <a:noFill/>
            </a:ln>
          </p:spPr>
          <p:style>
            <a:lnRef idx="1">
              <a:schemeClr val="accent1"/>
            </a:lnRef>
            <a:fillRef idx="3">
              <a:schemeClr val="accent1"/>
            </a:fillRef>
            <a:effectRef idx="2">
              <a:schemeClr val="accent1"/>
            </a:effectRef>
            <a:fontRef idx="minor">
              <a:schemeClr val="lt1"/>
            </a:fontRef>
          </p:style>
          <p:txBody>
            <a:bodyPr rtlCol="0" anchor="ctr" wrap="square" lIns="45720" rIns="45720"/>
            <a:lstStyle/>
            <a:p>
              <a:pPr algn="ctr"/>
              <a:r>
                <a:rPr sz="1600" b="1">
                  <a:solidFill>
                    <a:srgbClr val="000000"/>
                  </a:solidFill>
                  <a:latin typeface="Calibri"/>
                </a:rPr>
                <a:t>iris flowers</a:t>
              </a:r>
            </a:p>
          </p:txBody>
        </p:sp>
        <p:sp>
          <p:nvSpPr>
            <p:cNvPr id="12" name="TextBox 11"/>
            <p:cNvSpPr txBox="1"/>
            <p:nvPr/>
          </p:nvSpPr>
          <p:spPr>
            <a:xfrm>
              <a:off x="7818120" y="2103120"/>
              <a:ext cx="1874519" cy="731520"/>
            </a:xfrm>
            <a:prstGeom prst="rect">
              <a:avLst/>
            </a:prstGeom>
            <a:noFill/>
          </p:spPr>
          <p:txBody>
            <a:bodyPr wrap="square" anchor="t" lIns="0" rIns="0" tIns="0" bIns="0">
              <a:spAutoFit/>
            </a:bodyPr>
            <a:lstStyle/>
            <a:p>
              <a:pPr algn="ctr"/>
              <a:r>
                <a:rPr sz="1600" b="0" i="0">
                  <a:solidFill>
                    <a:srgbClr val="000000"/>
                  </a:solidFill>
                  <a:latin typeface="Calibri"/>
                </a:rPr>
                <a:t>name a flower's species</a:t>
              </a:r>
            </a:p>
          </p:txBody>
        </p:sp>
        <p:sp>
          <p:nvSpPr>
            <p:cNvPr id="13" name="TextBox 12"/>
            <p:cNvSpPr txBox="1"/>
            <p:nvPr/>
          </p:nvSpPr>
          <p:spPr>
            <a:xfrm>
              <a:off x="7818120" y="3200400"/>
              <a:ext cx="1874519" cy="731520"/>
            </a:xfrm>
            <a:prstGeom prst="rect">
              <a:avLst/>
            </a:prstGeom>
            <a:noFill/>
          </p:spPr>
          <p:txBody>
            <a:bodyPr wrap="square" anchor="t" lIns="0" rIns="0" tIns="0" bIns="0">
              <a:spAutoFit/>
            </a:bodyPr>
            <a:lstStyle/>
            <a:p>
              <a:pPr algn="ctr"/>
              <a:r>
                <a:rPr sz="1600" b="0" i="0">
                  <a:solidFill>
                    <a:srgbClr val="000000"/>
                  </a:solidFill>
                  <a:latin typeface="Calibri"/>
                </a:rPr>
                <a:t>150 labeled flowers</a:t>
              </a:r>
            </a:p>
          </p:txBody>
        </p:sp>
        <p:sp>
          <p:nvSpPr>
            <p:cNvPr id="14" name="TextBox 13"/>
            <p:cNvSpPr txBox="1"/>
            <p:nvPr/>
          </p:nvSpPr>
          <p:spPr>
            <a:xfrm>
              <a:off x="7818120" y="4297679"/>
              <a:ext cx="1874519" cy="731520"/>
            </a:xfrm>
            <a:prstGeom prst="rect">
              <a:avLst/>
            </a:prstGeom>
            <a:noFill/>
          </p:spPr>
          <p:txBody>
            <a:bodyPr wrap="square" anchor="t" lIns="0" rIns="0" tIns="0" bIns="0">
              <a:spAutoFit/>
            </a:bodyPr>
            <a:lstStyle/>
            <a:p>
              <a:pPr algn="ctr"/>
              <a:r>
                <a:rPr sz="1600" b="0" i="0">
                  <a:solidFill>
                    <a:srgbClr val="000000"/>
                  </a:solidFill>
                  <a:latin typeface="Calibri"/>
                </a:rPr>
                <a:t>fraction named correctly</a:t>
              </a:r>
            </a:p>
          </p:txBody>
        </p:sp>
      </p:grpSp>
      <p:grpSp>
        <p:nvGrpSpPr>
          <p:cNvPr id="15" name="LM column"/>
          <p:cNvGrpSpPr/>
          <p:nvPr/>
        </p:nvGrpSpPr>
        <p:grpSpPr>
          <a:xfrm>
            <a:off x="9829800" y="1417320"/>
            <a:ext cx="2103120" cy="3611879"/>
            <a:chOff x="9829800" y="1417320"/>
            <a:chExt cx="2103120" cy="3611879"/>
          </a:xfrm>
        </p:grpSpPr>
        <p:sp>
          <p:nvSpPr>
            <p:cNvPr id="16" name="Rounded Rectangle 15"/>
            <p:cNvSpPr/>
            <p:nvPr/>
          </p:nvSpPr>
          <p:spPr>
            <a:xfrm>
              <a:off x="9829800" y="1417320"/>
              <a:ext cx="2103120" cy="457200"/>
            </a:xfrm>
            <a:prstGeom prst="roundRect">
              <a:avLst>
                <a:gd name="adj" fmla="val 12000"/>
              </a:avLst>
            </a:prstGeom>
            <a:solidFill>
              <a:srgbClr val="EDEDED"/>
            </a:solidFill>
            <a:ln>
              <a:noFill/>
            </a:ln>
          </p:spPr>
          <p:style>
            <a:lnRef idx="1">
              <a:schemeClr val="accent1"/>
            </a:lnRef>
            <a:fillRef idx="3">
              <a:schemeClr val="accent1"/>
            </a:fillRef>
            <a:effectRef idx="2">
              <a:schemeClr val="accent1"/>
            </a:effectRef>
            <a:fontRef idx="minor">
              <a:schemeClr val="lt1"/>
            </a:fontRef>
          </p:style>
          <p:txBody>
            <a:bodyPr rtlCol="0" anchor="ctr" wrap="square" lIns="45720" rIns="45720"/>
            <a:lstStyle/>
            <a:p>
              <a:pPr algn="ctr"/>
              <a:r>
                <a:rPr sz="1600" b="1">
                  <a:solidFill>
                    <a:srgbClr val="000000"/>
                  </a:solidFill>
                  <a:latin typeface="Calibri"/>
                </a:rPr>
                <a:t>a language model</a:t>
              </a:r>
            </a:p>
          </p:txBody>
        </p:sp>
        <p:sp>
          <p:nvSpPr>
            <p:cNvPr id="17" name="TextBox 16"/>
            <p:cNvSpPr txBox="1"/>
            <p:nvPr/>
          </p:nvSpPr>
          <p:spPr>
            <a:xfrm>
              <a:off x="9875520" y="2103120"/>
              <a:ext cx="2011679" cy="731520"/>
            </a:xfrm>
            <a:prstGeom prst="rect">
              <a:avLst/>
            </a:prstGeom>
            <a:noFill/>
          </p:spPr>
          <p:txBody>
            <a:bodyPr wrap="square" anchor="t" lIns="0" rIns="0" tIns="0" bIns="0">
              <a:spAutoFit/>
            </a:bodyPr>
            <a:lstStyle/>
            <a:p>
              <a:pPr algn="ctr"/>
              <a:r>
                <a:rPr sz="1600" b="0" i="0">
                  <a:solidFill>
                    <a:srgbClr val="000000"/>
                  </a:solidFill>
                  <a:latin typeface="Calibri"/>
                </a:rPr>
                <a:t>predict the next token of text</a:t>
              </a:r>
            </a:p>
          </p:txBody>
        </p:sp>
        <p:sp>
          <p:nvSpPr>
            <p:cNvPr id="18" name="TextBox 17"/>
            <p:cNvSpPr txBox="1"/>
            <p:nvPr/>
          </p:nvSpPr>
          <p:spPr>
            <a:xfrm>
              <a:off x="9875520" y="3200400"/>
              <a:ext cx="2011679" cy="731520"/>
            </a:xfrm>
            <a:prstGeom prst="rect">
              <a:avLst/>
            </a:prstGeom>
            <a:noFill/>
          </p:spPr>
          <p:txBody>
            <a:bodyPr wrap="square" anchor="t" lIns="0" rIns="0" tIns="0" bIns="0">
              <a:spAutoFit/>
            </a:bodyPr>
            <a:lstStyle/>
            <a:p>
              <a:pPr algn="ctr"/>
              <a:r>
                <a:rPr sz="1600" b="0" i="0">
                  <a:solidFill>
                    <a:srgbClr val="000000"/>
                  </a:solidFill>
                  <a:latin typeface="Calibri"/>
                </a:rPr>
                <a:t>a corpus of documents</a:t>
              </a:r>
            </a:p>
          </p:txBody>
        </p:sp>
        <p:sp>
          <p:nvSpPr>
            <p:cNvPr id="19" name="TextBox 18"/>
            <p:cNvSpPr txBox="1"/>
            <p:nvPr/>
          </p:nvSpPr>
          <p:spPr>
            <a:xfrm>
              <a:off x="9875520" y="4297679"/>
              <a:ext cx="2011679" cy="731520"/>
            </a:xfrm>
            <a:prstGeom prst="rect">
              <a:avLst/>
            </a:prstGeom>
            <a:noFill/>
          </p:spPr>
          <p:txBody>
            <a:bodyPr wrap="square" anchor="t" lIns="0" rIns="0" tIns="0" bIns="0">
              <a:spAutoFit/>
            </a:bodyPr>
            <a:lstStyle/>
            <a:p>
              <a:pPr algn="ctr"/>
              <a:r>
                <a:rPr sz="1600" b="0" i="0">
                  <a:solidFill>
                    <a:srgbClr val="000000"/>
                  </a:solidFill>
                  <a:latin typeface="Calibri"/>
                </a:rPr>
                <a:t>average log probability of held-out text</a:t>
              </a:r>
            </a:p>
          </p:txBody>
        </p:sp>
      </p:grpSp>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4"/>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6"/>
                                        </p:tgtEl>
                                        <p:attrNameLst>
                                          <p:attrName>style.visibility</p:attrName>
                                        </p:attrNameLst>
                                      </p:cBhvr>
                                      <p:to>
                                        <p:strVal val="visible"/>
                                      </p:to>
                                    </p:set>
                                  </p:childTnLst>
                                </p:cTn>
                              </p:par>
                              <p:par>
                                <p:cTn id="11" presetID="1" presetClass="entr" presetSubtype="0" fill="hold" grpId="0" nodeType="withEffect">
                                  <p:stCondLst>
                                    <p:cond delay="0"/>
                                  </p:stCondLst>
                                  <p:childTnLst>
                                    <p:set>
                                      <p:cBhvr>
                                        <p:cTn id="12" dur="1" fill="hold">
                                          <p:stCondLst>
                                            <p:cond delay="0"/>
                                          </p:stCondLst>
                                        </p:cTn>
                                        <p:tgtEl>
                                          <p:spTgt spid="10"/>
                                        </p:tgtEl>
                                        <p:attrNameLst>
                                          <p:attrName>style.visibility</p:attrName>
                                        </p:attrNameLst>
                                      </p:cBhvr>
                                      <p:to>
                                        <p:strVal val="visible"/>
                                      </p:to>
                                    </p:set>
                                  </p:childTnLst>
                                </p:cTn>
                              </p:par>
                            </p:childTnLst>
                          </p:cTn>
                        </p:par>
                      </p:childTnLst>
                    </p:cTn>
                  </p:par>
                  <p:par>
                    <p:cTn id="13" fill="hold">
                      <p:stCondLst>
                        <p:cond delay="indefinite"/>
                      </p:stCondLst>
                      <p:childTnLst>
                        <p:par>
                          <p:cTn id="14" fill="hold">
                            <p:stCondLst>
                              <p:cond delay="0"/>
                            </p:stCondLst>
                            <p:childTnLst>
                              <p:par>
                                <p:cTn id="15" presetID="1" presetClass="entr" presetSubtype="0" fill="hold" grpId="0" nodeType="clickEffect">
                                  <p:stCondLst>
                                    <p:cond delay="0"/>
                                  </p:stCondLst>
                                  <p:childTnLst>
                                    <p:set>
                                      <p:cBhvr>
                                        <p:cTn id="16" dur="1" fill="hold">
                                          <p:stCondLst>
                                            <p:cond delay="0"/>
                                          </p:stCondLst>
                                        </p:cTn>
                                        <p:tgtEl>
                                          <p:spTgt spid="15"/>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4" grpId="0" animBg="1"/>
    </p:bldLst>
  </p:timing>
</p:sld>
</file>

<file path=ppt/slides/slide3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b0_2">
            <a:extLst>
              <a:ext uri="{FF2B5EF4-FFF2-40B4-BE49-F238E27FC236}">
                <a16:creationId xmlns:a16="http://schemas.microsoft.com/office/drawing/2014/main" id="{33DE8782-7F2B-1033-00F6-2A6652EE0E80}"/>
              </a:ext>
            </a:extLst>
          </p:cNvPr>
          <p:cNvSpPr txBox="1"/>
          <p:nvPr/>
        </p:nvSpPr>
        <p:spPr>
          <a:xfrm>
            <a:off x="0" y="148566"/>
            <a:ext cx="11680992" cy="548640"/>
          </a:xfrm>
          <a:prstGeom prst="rect">
            <a:avLst/>
          </a:prstGeom>
          <a:noFill/>
          <a:ln>
            <a:noFill/>
          </a:ln>
        </p:spPr>
        <p:txBody>
          <a:bodyPr wrap="square" rtlCol="0" anchor="ctr"/>
          <a:lstStyle/>
          <a:p>
            <a:r>
              <a:rPr lang="en-US" sz="3200" b="1" dirty="0">
                <a:solidFill>
                  <a:srgbClr val="000000"/>
                </a:solidFill>
                <a:latin typeface="Calibri" pitchFamily="34" charset="0"/>
                <a:ea typeface="Calibri" pitchFamily="34" charset="-122"/>
                <a:cs typeface="Calibri" pitchFamily="34" charset="-120"/>
              </a:rPr>
              <a:t>Basic </a:t>
            </a:r>
            <a:r>
              <a:rPr lang="en-US" sz="3200" b="1" dirty="0">
                <a:solidFill>
                  <a:srgbClr val="FF0000"/>
                </a:solidFill>
                <a:latin typeface="Calibri" pitchFamily="34" charset="0"/>
                <a:ea typeface="Calibri" pitchFamily="34" charset="-122"/>
                <a:cs typeface="Calibri" pitchFamily="34" charset="-120"/>
              </a:rPr>
              <a:t>AI</a:t>
            </a:r>
            <a:r>
              <a:rPr lang="en-US" sz="3200" b="1" dirty="0">
                <a:solidFill>
                  <a:srgbClr val="000000"/>
                </a:solidFill>
                <a:latin typeface="Calibri" pitchFamily="34" charset="0"/>
                <a:ea typeface="Calibri" pitchFamily="34" charset="-122"/>
                <a:cs typeface="Calibri" pitchFamily="34" charset="-120"/>
              </a:rPr>
              <a:t>/</a:t>
            </a:r>
            <a:r>
              <a:rPr lang="en-US" sz="3200" b="1" dirty="0">
                <a:solidFill>
                  <a:srgbClr val="00B050"/>
                </a:solidFill>
                <a:latin typeface="Calibri" pitchFamily="34" charset="0"/>
                <a:ea typeface="Calibri" pitchFamily="34" charset="-122"/>
                <a:cs typeface="Calibri" pitchFamily="34" charset="-120"/>
              </a:rPr>
              <a:t>ML</a:t>
            </a:r>
            <a:r>
              <a:rPr lang="en-US" sz="3200" b="1" dirty="0">
                <a:solidFill>
                  <a:srgbClr val="000000"/>
                </a:solidFill>
                <a:latin typeface="Calibri" pitchFamily="34" charset="0"/>
                <a:ea typeface="Calibri" pitchFamily="34" charset="-122"/>
                <a:cs typeface="Calibri" pitchFamily="34" charset="-120"/>
              </a:rPr>
              <a:t>/</a:t>
            </a:r>
            <a:r>
              <a:rPr lang="en-US" sz="3200" b="1" dirty="0">
                <a:solidFill>
                  <a:srgbClr val="362FEC"/>
                </a:solidFill>
                <a:latin typeface="Calibri" pitchFamily="34" charset="0"/>
                <a:ea typeface="Calibri" pitchFamily="34" charset="-122"/>
                <a:cs typeface="Calibri" pitchFamily="34" charset="-120"/>
              </a:rPr>
              <a:t>DL</a:t>
            </a:r>
            <a:r>
              <a:rPr lang="en-US" sz="3200" b="1" dirty="0">
                <a:solidFill>
                  <a:srgbClr val="000000"/>
                </a:solidFill>
                <a:latin typeface="Calibri" pitchFamily="34" charset="0"/>
                <a:ea typeface="Calibri" pitchFamily="34" charset="-122"/>
                <a:cs typeface="Calibri" pitchFamily="34" charset="-120"/>
              </a:rPr>
              <a:t> Terminology</a:t>
            </a:r>
            <a:endParaRPr lang="en-US" sz="3200" dirty="0">
              <a:solidFill>
                <a:srgbClr val="362FEC"/>
              </a:solidFill>
            </a:endParaRPr>
          </a:p>
        </p:txBody>
      </p:sp>
      <p:sp>
        <p:nvSpPr>
          <p:cNvPr id="3" name="subheading">
            <a:extLst>
              <a:ext uri="{FF2B5EF4-FFF2-40B4-BE49-F238E27FC236}">
                <a16:creationId xmlns:a16="http://schemas.microsoft.com/office/drawing/2014/main" id="{5CB8A4AA-40B1-94AE-8EEE-080599481F78}"/>
              </a:ext>
            </a:extLst>
          </p:cNvPr>
          <p:cNvSpPr txBox="1"/>
          <p:nvPr/>
        </p:nvSpPr>
        <p:spPr>
          <a:xfrm>
            <a:off x="292608" y="868680"/>
            <a:ext cx="11430000" cy="411480"/>
          </a:xfrm>
          <a:prstGeom prst="rect">
            <a:avLst/>
          </a:prstGeom>
          <a:noFill/>
          <a:ln>
            <a:noFill/>
          </a:ln>
        </p:spPr>
        <p:txBody>
          <a:bodyPr wrap="square" lIns="0" tIns="0" rIns="0" bIns="0" rtlCol="0" anchor="ctr"/>
          <a:lstStyle/>
          <a:p>
            <a:pPr marL="0" indent="0">
              <a:buNone/>
            </a:pPr>
            <a:r>
              <a:rPr lang="en-US" sz="2000" b="1" dirty="0">
                <a:solidFill>
                  <a:srgbClr val="362FEC"/>
                </a:solidFill>
                <a:latin typeface="Calibri" panose="020F0502020204030204" pitchFamily="34" charset="0"/>
                <a:cs typeface="Calibri" panose="020F0502020204030204" pitchFamily="34" charset="0"/>
              </a:rPr>
              <a:t>Describing an ML system</a:t>
            </a:r>
          </a:p>
        </p:txBody>
      </p:sp>
      <p:grpSp>
        <p:nvGrpSpPr>
          <p:cNvPr id="4" name="table header"/>
          <p:cNvGrpSpPr/>
          <p:nvPr/>
        </p:nvGrpSpPr>
        <p:grpSpPr>
          <a:xfrm>
            <a:off x="548640" y="1417320"/>
            <a:ext cx="11247120" cy="274320"/>
            <a:chOff x="548640" y="1417320"/>
            <a:chExt cx="11247120" cy="274320"/>
          </a:xfrm>
        </p:grpSpPr>
        <p:sp>
          <p:nvSpPr>
            <p:cNvPr id="5" name="TextBox 4"/>
            <p:cNvSpPr txBox="1"/>
            <p:nvPr/>
          </p:nvSpPr>
          <p:spPr>
            <a:xfrm>
              <a:off x="548640" y="1417320"/>
              <a:ext cx="3017520" cy="274320"/>
            </a:xfrm>
            <a:prstGeom prst="rect">
              <a:avLst/>
            </a:prstGeom>
            <a:noFill/>
          </p:spPr>
          <p:txBody>
            <a:bodyPr wrap="square" anchor="t" lIns="0" rIns="0" tIns="0" bIns="0">
              <a:spAutoFit/>
            </a:bodyPr>
            <a:lstStyle/>
            <a:p>
              <a:pPr algn="l"/>
              <a:r>
                <a:rPr sz="1400" b="0" i="0">
                  <a:solidFill>
                    <a:srgbClr val="595959"/>
                  </a:solidFill>
                  <a:latin typeface="Calibri"/>
                </a:rPr>
                <a:t>dimension</a:t>
              </a:r>
            </a:p>
          </p:txBody>
        </p:sp>
        <p:sp>
          <p:nvSpPr>
            <p:cNvPr id="6" name="TextBox 5"/>
            <p:cNvSpPr txBox="1"/>
            <p:nvPr/>
          </p:nvSpPr>
          <p:spPr>
            <a:xfrm>
              <a:off x="3657600" y="1417320"/>
              <a:ext cx="3840480" cy="274320"/>
            </a:xfrm>
            <a:prstGeom prst="rect">
              <a:avLst/>
            </a:prstGeom>
            <a:noFill/>
          </p:spPr>
          <p:txBody>
            <a:bodyPr wrap="square" anchor="t" lIns="0" rIns="0" tIns="0" bIns="0">
              <a:spAutoFit/>
            </a:bodyPr>
            <a:lstStyle/>
            <a:p>
              <a:pPr algn="l"/>
              <a:r>
                <a:rPr sz="1400" b="0" i="0">
                  <a:solidFill>
                    <a:srgbClr val="595959"/>
                  </a:solidFill>
                  <a:latin typeface="Calibri"/>
                </a:rPr>
                <a:t>question</a:t>
              </a:r>
            </a:p>
          </p:txBody>
        </p:sp>
        <p:sp>
          <p:nvSpPr>
            <p:cNvPr id="7" name="TextBox 6"/>
            <p:cNvSpPr txBox="1"/>
            <p:nvPr/>
          </p:nvSpPr>
          <p:spPr>
            <a:xfrm>
              <a:off x="7635240" y="1417320"/>
              <a:ext cx="4160520" cy="274320"/>
            </a:xfrm>
            <a:prstGeom prst="rect">
              <a:avLst/>
            </a:prstGeom>
            <a:noFill/>
          </p:spPr>
          <p:txBody>
            <a:bodyPr wrap="square" anchor="t" lIns="0" rIns="0" tIns="0" bIns="0">
              <a:spAutoFit/>
            </a:bodyPr>
            <a:lstStyle/>
            <a:p>
              <a:pPr algn="l"/>
              <a:r>
                <a:rPr sz="1400" b="0" i="0">
                  <a:solidFill>
                    <a:srgbClr val="595959"/>
                  </a:solidFill>
                  <a:latin typeface="Calibri"/>
                </a:rPr>
                <a:t>examples</a:t>
              </a:r>
            </a:p>
          </p:txBody>
        </p:sp>
      </p:grpSp>
      <p:grpSp>
        <p:nvGrpSpPr>
          <p:cNvPr id="8" name="row 1"/>
          <p:cNvGrpSpPr/>
          <p:nvPr/>
        </p:nvGrpSpPr>
        <p:grpSpPr>
          <a:xfrm>
            <a:off x="411480" y="1709928"/>
            <a:ext cx="11384280" cy="713232"/>
            <a:chOff x="411480" y="1709928"/>
            <a:chExt cx="11384280" cy="713232"/>
          </a:xfrm>
        </p:grpSpPr>
        <p:sp>
          <p:nvSpPr>
            <p:cNvPr id="9" name="Rectangle 8"/>
            <p:cNvSpPr/>
            <p:nvPr/>
          </p:nvSpPr>
          <p:spPr>
            <a:xfrm>
              <a:off x="411480" y="1709928"/>
              <a:ext cx="11384280" cy="713232"/>
            </a:xfrm>
            <a:prstGeom prst="rect">
              <a:avLst/>
            </a:prstGeom>
            <a:solidFill>
              <a:srgbClr val="F4F4F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548640" y="1783080"/>
              <a:ext cx="3017520" cy="640080"/>
            </a:xfrm>
            <a:prstGeom prst="rect">
              <a:avLst/>
            </a:prstGeom>
            <a:noFill/>
          </p:spPr>
          <p:txBody>
            <a:bodyPr wrap="square" lIns="0" rIns="0" tIns="0" bIns="0">
              <a:spAutoFit/>
            </a:bodyPr>
            <a:lstStyle/>
            <a:p>
              <a:pPr algn="l">
                <a:spcAft>
                  <a:spcPts val="1000"/>
                </a:spcAft>
              </a:pPr>
              <a:r>
                <a:rPr sz="1800" b="1" i="0">
                  <a:solidFill>
                    <a:srgbClr val="362FEC"/>
                  </a:solidFill>
                  <a:latin typeface="Calibri"/>
                </a:rPr>
                <a:t>Learning paradigm</a:t>
              </a:r>
            </a:p>
          </p:txBody>
        </p:sp>
        <p:sp>
          <p:nvSpPr>
            <p:cNvPr id="11" name="TextBox 10"/>
            <p:cNvSpPr txBox="1"/>
            <p:nvPr/>
          </p:nvSpPr>
          <p:spPr>
            <a:xfrm>
              <a:off x="3657600" y="1783080"/>
              <a:ext cx="3840480" cy="640080"/>
            </a:xfrm>
            <a:prstGeom prst="rect">
              <a:avLst/>
            </a:prstGeom>
            <a:noFill/>
          </p:spPr>
          <p:txBody>
            <a:bodyPr wrap="square" anchor="t" lIns="0" rIns="0" tIns="0" bIns="0">
              <a:spAutoFit/>
            </a:bodyPr>
            <a:lstStyle/>
            <a:p>
              <a:pPr algn="l"/>
              <a:r>
                <a:rPr sz="1800" b="0" i="0">
                  <a:solidFill>
                    <a:srgbClr val="000000"/>
                  </a:solidFill>
                  <a:latin typeface="Calibri"/>
                </a:rPr>
                <a:t>What feedback is available?</a:t>
              </a:r>
            </a:p>
          </p:txBody>
        </p:sp>
        <p:sp>
          <p:nvSpPr>
            <p:cNvPr id="12" name="TextBox 11"/>
            <p:cNvSpPr txBox="1"/>
            <p:nvPr/>
          </p:nvSpPr>
          <p:spPr>
            <a:xfrm>
              <a:off x="7635240" y="1783080"/>
              <a:ext cx="4160520" cy="640080"/>
            </a:xfrm>
            <a:prstGeom prst="rect">
              <a:avLst/>
            </a:prstGeom>
            <a:noFill/>
          </p:spPr>
          <p:txBody>
            <a:bodyPr wrap="square" anchor="t" lIns="0" rIns="0" tIns="0" bIns="0">
              <a:spAutoFit/>
            </a:bodyPr>
            <a:lstStyle/>
            <a:p>
              <a:pPr algn="l"/>
              <a:r>
                <a:rPr sz="1800" b="0" i="0">
                  <a:solidFill>
                    <a:srgbClr val="595959"/>
                  </a:solidFill>
                  <a:latin typeface="Calibri"/>
                </a:rPr>
                <a:t>supervised, unsupervised, or reinforcement learning</a:t>
              </a:r>
            </a:p>
          </p:txBody>
        </p:sp>
      </p:grpSp>
      <p:grpSp>
        <p:nvGrpSpPr>
          <p:cNvPr id="13" name="row 2"/>
          <p:cNvGrpSpPr/>
          <p:nvPr/>
        </p:nvGrpSpPr>
        <p:grpSpPr>
          <a:xfrm>
            <a:off x="548640" y="2532888"/>
            <a:ext cx="11247120" cy="640080"/>
            <a:chOff x="548640" y="2532888"/>
            <a:chExt cx="11247120" cy="640080"/>
          </a:xfrm>
        </p:grpSpPr>
        <p:sp>
          <p:nvSpPr>
            <p:cNvPr id="14" name="TextBox 13"/>
            <p:cNvSpPr txBox="1"/>
            <p:nvPr/>
          </p:nvSpPr>
          <p:spPr>
            <a:xfrm>
              <a:off x="548640" y="2532888"/>
              <a:ext cx="3017520" cy="640080"/>
            </a:xfrm>
            <a:prstGeom prst="rect">
              <a:avLst/>
            </a:prstGeom>
            <a:noFill/>
          </p:spPr>
          <p:txBody>
            <a:bodyPr wrap="square" lIns="0" rIns="0" tIns="0" bIns="0">
              <a:spAutoFit/>
            </a:bodyPr>
            <a:lstStyle/>
            <a:p>
              <a:pPr algn="l">
                <a:spcAft>
                  <a:spcPts val="1000"/>
                </a:spcAft>
              </a:pPr>
              <a:r>
                <a:rPr sz="1800" b="1" i="0">
                  <a:solidFill>
                    <a:srgbClr val="00B050"/>
                  </a:solidFill>
                  <a:latin typeface="Calibri"/>
                </a:rPr>
                <a:t>Learning setting</a:t>
              </a:r>
            </a:p>
          </p:txBody>
        </p:sp>
        <p:sp>
          <p:nvSpPr>
            <p:cNvPr id="15" name="TextBox 14"/>
            <p:cNvSpPr txBox="1"/>
            <p:nvPr/>
          </p:nvSpPr>
          <p:spPr>
            <a:xfrm>
              <a:off x="3657600" y="2532888"/>
              <a:ext cx="3840480" cy="640080"/>
            </a:xfrm>
            <a:prstGeom prst="rect">
              <a:avLst/>
            </a:prstGeom>
            <a:noFill/>
          </p:spPr>
          <p:txBody>
            <a:bodyPr wrap="square" anchor="t" lIns="0" rIns="0" tIns="0" bIns="0">
              <a:spAutoFit/>
            </a:bodyPr>
            <a:lstStyle/>
            <a:p>
              <a:pPr algn="l"/>
              <a:r>
                <a:rPr sz="1800" b="0" i="0">
                  <a:solidFill>
                    <a:srgbClr val="000000"/>
                  </a:solidFill>
                  <a:latin typeface="Calibri"/>
                </a:rPr>
                <a:t>When does learning occur?</a:t>
              </a:r>
            </a:p>
          </p:txBody>
        </p:sp>
        <p:sp>
          <p:nvSpPr>
            <p:cNvPr id="16" name="TextBox 15"/>
            <p:cNvSpPr txBox="1"/>
            <p:nvPr/>
          </p:nvSpPr>
          <p:spPr>
            <a:xfrm>
              <a:off x="7635240" y="2532888"/>
              <a:ext cx="4160520" cy="640080"/>
            </a:xfrm>
            <a:prstGeom prst="rect">
              <a:avLst/>
            </a:prstGeom>
            <a:noFill/>
          </p:spPr>
          <p:txBody>
            <a:bodyPr wrap="square" anchor="t" lIns="0" rIns="0" tIns="0" bIns="0">
              <a:spAutoFit/>
            </a:bodyPr>
            <a:lstStyle/>
            <a:p>
              <a:pPr algn="l"/>
              <a:r>
                <a:rPr sz="1800" b="0" i="0">
                  <a:solidFill>
                    <a:srgbClr val="595959"/>
                  </a:solidFill>
                  <a:latin typeface="Calibri"/>
                </a:rPr>
                <a:t>offline or online learning</a:t>
              </a:r>
            </a:p>
          </p:txBody>
        </p:sp>
      </p:grpSp>
      <p:grpSp>
        <p:nvGrpSpPr>
          <p:cNvPr id="17" name="row 3"/>
          <p:cNvGrpSpPr/>
          <p:nvPr/>
        </p:nvGrpSpPr>
        <p:grpSpPr>
          <a:xfrm>
            <a:off x="411480" y="3209544"/>
            <a:ext cx="11384280" cy="713232"/>
            <a:chOff x="411480" y="3209544"/>
            <a:chExt cx="11384280" cy="713232"/>
          </a:xfrm>
        </p:grpSpPr>
        <p:sp>
          <p:nvSpPr>
            <p:cNvPr id="18" name="Rectangle 17"/>
            <p:cNvSpPr/>
            <p:nvPr/>
          </p:nvSpPr>
          <p:spPr>
            <a:xfrm>
              <a:off x="411480" y="3209544"/>
              <a:ext cx="11384280" cy="713232"/>
            </a:xfrm>
            <a:prstGeom prst="rect">
              <a:avLst/>
            </a:prstGeom>
            <a:solidFill>
              <a:srgbClr val="F4F4F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548640" y="3282696"/>
              <a:ext cx="3017520" cy="640080"/>
            </a:xfrm>
            <a:prstGeom prst="rect">
              <a:avLst/>
            </a:prstGeom>
            <a:noFill/>
          </p:spPr>
          <p:txBody>
            <a:bodyPr wrap="square" lIns="0" rIns="0" tIns="0" bIns="0">
              <a:spAutoFit/>
            </a:bodyPr>
            <a:lstStyle/>
            <a:p>
              <a:pPr algn="l">
                <a:spcAft>
                  <a:spcPts val="1000"/>
                </a:spcAft>
              </a:pPr>
              <a:r>
                <a:rPr sz="1800" b="1" i="0">
                  <a:solidFill>
                    <a:srgbClr val="FF0000"/>
                  </a:solidFill>
                  <a:latin typeface="Calibri"/>
                </a:rPr>
                <a:t>Task</a:t>
              </a:r>
            </a:p>
          </p:txBody>
        </p:sp>
        <p:sp>
          <p:nvSpPr>
            <p:cNvPr id="20" name="TextBox 19"/>
            <p:cNvSpPr txBox="1"/>
            <p:nvPr/>
          </p:nvSpPr>
          <p:spPr>
            <a:xfrm>
              <a:off x="3657600" y="3282696"/>
              <a:ext cx="3840480" cy="640080"/>
            </a:xfrm>
            <a:prstGeom prst="rect">
              <a:avLst/>
            </a:prstGeom>
            <a:noFill/>
          </p:spPr>
          <p:txBody>
            <a:bodyPr wrap="square" anchor="t" lIns="0" rIns="0" tIns="0" bIns="0">
              <a:spAutoFit/>
            </a:bodyPr>
            <a:lstStyle/>
            <a:p>
              <a:pPr algn="l"/>
              <a:r>
                <a:rPr sz="1800" b="0" i="0">
                  <a:solidFill>
                    <a:srgbClr val="000000"/>
                  </a:solidFill>
                  <a:latin typeface="Calibri"/>
                </a:rPr>
                <a:t>What result is required?</a:t>
              </a:r>
            </a:p>
          </p:txBody>
        </p:sp>
        <p:sp>
          <p:nvSpPr>
            <p:cNvPr id="21" name="TextBox 20"/>
            <p:cNvSpPr txBox="1"/>
            <p:nvPr/>
          </p:nvSpPr>
          <p:spPr>
            <a:xfrm>
              <a:off x="7635240" y="3282696"/>
              <a:ext cx="4160520" cy="640080"/>
            </a:xfrm>
            <a:prstGeom prst="rect">
              <a:avLst/>
            </a:prstGeom>
            <a:noFill/>
          </p:spPr>
          <p:txBody>
            <a:bodyPr wrap="square" anchor="t" lIns="0" rIns="0" tIns="0" bIns="0">
              <a:spAutoFit/>
            </a:bodyPr>
            <a:lstStyle/>
            <a:p>
              <a:pPr algn="l"/>
              <a:r>
                <a:rPr sz="1800" b="0" i="0">
                  <a:solidFill>
                    <a:srgbClr val="595959"/>
                  </a:solidFill>
                  <a:latin typeface="Calibri"/>
                </a:rPr>
                <a:t>a class label, a number, a grouping, or a distribution</a:t>
              </a:r>
            </a:p>
          </p:txBody>
        </p:sp>
      </p:grpSp>
      <p:grpSp>
        <p:nvGrpSpPr>
          <p:cNvPr id="22" name="row 4"/>
          <p:cNvGrpSpPr/>
          <p:nvPr/>
        </p:nvGrpSpPr>
        <p:grpSpPr>
          <a:xfrm>
            <a:off x="548640" y="4032504"/>
            <a:ext cx="11247120" cy="640080"/>
            <a:chOff x="548640" y="4032504"/>
            <a:chExt cx="11247120" cy="640080"/>
          </a:xfrm>
        </p:grpSpPr>
        <p:sp>
          <p:nvSpPr>
            <p:cNvPr id="23" name="TextBox 22"/>
            <p:cNvSpPr txBox="1"/>
            <p:nvPr/>
          </p:nvSpPr>
          <p:spPr>
            <a:xfrm>
              <a:off x="548640" y="4032504"/>
              <a:ext cx="3017520" cy="640080"/>
            </a:xfrm>
            <a:prstGeom prst="rect">
              <a:avLst/>
            </a:prstGeom>
            <a:noFill/>
          </p:spPr>
          <p:txBody>
            <a:bodyPr wrap="square" lIns="0" rIns="0" tIns="0" bIns="0">
              <a:spAutoFit/>
            </a:bodyPr>
            <a:lstStyle/>
            <a:p>
              <a:pPr algn="l">
                <a:spcAft>
                  <a:spcPts val="1000"/>
                </a:spcAft>
              </a:pPr>
              <a:r>
                <a:rPr sz="1800" b="1" i="0">
                  <a:solidFill>
                    <a:srgbClr val="362FEC"/>
                  </a:solidFill>
                  <a:latin typeface="Calibri"/>
                </a:rPr>
                <a:t>Model and algorithm</a:t>
              </a:r>
            </a:p>
          </p:txBody>
        </p:sp>
        <p:sp>
          <p:nvSpPr>
            <p:cNvPr id="24" name="TextBox 23"/>
            <p:cNvSpPr txBox="1"/>
            <p:nvPr/>
          </p:nvSpPr>
          <p:spPr>
            <a:xfrm>
              <a:off x="3657600" y="4032504"/>
              <a:ext cx="3840480" cy="640080"/>
            </a:xfrm>
            <a:prstGeom prst="rect">
              <a:avLst/>
            </a:prstGeom>
            <a:noFill/>
          </p:spPr>
          <p:txBody>
            <a:bodyPr wrap="square" anchor="t" lIns="0" rIns="0" tIns="0" bIns="0">
              <a:spAutoFit/>
            </a:bodyPr>
            <a:lstStyle/>
            <a:p>
              <a:pPr algn="l"/>
              <a:r>
                <a:rPr sz="1800" b="0" i="0">
                  <a:solidFill>
                    <a:srgbClr val="000000"/>
                  </a:solidFill>
                  <a:latin typeface="Calibri"/>
                </a:rPr>
                <a:t>What is represented, and how is it learned?</a:t>
              </a:r>
            </a:p>
          </p:txBody>
        </p:sp>
        <p:sp>
          <p:nvSpPr>
            <p:cNvPr id="25" name="TextBox 24"/>
            <p:cNvSpPr txBox="1"/>
            <p:nvPr/>
          </p:nvSpPr>
          <p:spPr>
            <a:xfrm>
              <a:off x="7635240" y="4032504"/>
              <a:ext cx="4160520" cy="640080"/>
            </a:xfrm>
            <a:prstGeom prst="rect">
              <a:avLst/>
            </a:prstGeom>
            <a:noFill/>
          </p:spPr>
          <p:txBody>
            <a:bodyPr wrap="square" anchor="t" lIns="0" rIns="0" tIns="0" bIns="0">
              <a:spAutoFit/>
            </a:bodyPr>
            <a:lstStyle/>
            <a:p>
              <a:pPr algn="l"/>
              <a:r>
                <a:rPr sz="1800" b="0" i="0">
                  <a:solidFill>
                    <a:srgbClr val="595959"/>
                  </a:solidFill>
                  <a:latin typeface="Calibri"/>
                </a:rPr>
                <a:t>a linear predictor fitted by gradient descent</a:t>
              </a:r>
            </a:p>
          </p:txBody>
        </p:sp>
      </p:grpSp>
      <p:grpSp>
        <p:nvGrpSpPr>
          <p:cNvPr id="26" name="row 5"/>
          <p:cNvGrpSpPr/>
          <p:nvPr/>
        </p:nvGrpSpPr>
        <p:grpSpPr>
          <a:xfrm>
            <a:off x="411480" y="4709159"/>
            <a:ext cx="11384280" cy="713233"/>
            <a:chOff x="411480" y="4709159"/>
            <a:chExt cx="11384280" cy="713233"/>
          </a:xfrm>
        </p:grpSpPr>
        <p:sp>
          <p:nvSpPr>
            <p:cNvPr id="27" name="Rectangle 26"/>
            <p:cNvSpPr/>
            <p:nvPr/>
          </p:nvSpPr>
          <p:spPr>
            <a:xfrm>
              <a:off x="411480" y="4709159"/>
              <a:ext cx="11384280" cy="713232"/>
            </a:xfrm>
            <a:prstGeom prst="rect">
              <a:avLst/>
            </a:prstGeom>
            <a:solidFill>
              <a:srgbClr val="F4F4F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TextBox 27"/>
            <p:cNvSpPr txBox="1"/>
            <p:nvPr/>
          </p:nvSpPr>
          <p:spPr>
            <a:xfrm>
              <a:off x="548640" y="4782312"/>
              <a:ext cx="3017520" cy="640080"/>
            </a:xfrm>
            <a:prstGeom prst="rect">
              <a:avLst/>
            </a:prstGeom>
            <a:noFill/>
          </p:spPr>
          <p:txBody>
            <a:bodyPr wrap="square" lIns="0" rIns="0" tIns="0" bIns="0">
              <a:spAutoFit/>
            </a:bodyPr>
            <a:lstStyle/>
            <a:p>
              <a:pPr algn="l">
                <a:spcAft>
                  <a:spcPts val="1000"/>
                </a:spcAft>
              </a:pPr>
              <a:r>
                <a:rPr sz="1800" b="1" i="0">
                  <a:solidFill>
                    <a:srgbClr val="362FEC"/>
                  </a:solidFill>
                  <a:latin typeface="Calibri"/>
                </a:rPr>
                <a:t>Learning</a:t>
              </a:r>
              <a:r>
                <a:rPr sz="1800" b="0" i="0">
                  <a:solidFill>
                    <a:srgbClr val="000000"/>
                  </a:solidFill>
                  <a:latin typeface="Calibri"/>
                </a:rPr>
                <a:t>, </a:t>
              </a:r>
              <a:r>
                <a:rPr sz="1800" b="1" i="0">
                  <a:solidFill>
                    <a:srgbClr val="00843D"/>
                  </a:solidFill>
                  <a:latin typeface="Calibri"/>
                </a:rPr>
                <a:t>prediction</a:t>
              </a:r>
              <a:r>
                <a:rPr sz="1800" b="0" i="0">
                  <a:solidFill>
                    <a:srgbClr val="000000"/>
                  </a:solidFill>
                  <a:latin typeface="Calibri"/>
                </a:rPr>
                <a:t>, and </a:t>
              </a:r>
              <a:r>
                <a:rPr sz="1800" b="1" i="0">
                  <a:solidFill>
                    <a:srgbClr val="FF0000"/>
                  </a:solidFill>
                  <a:latin typeface="Calibri"/>
                </a:rPr>
                <a:t>action</a:t>
              </a:r>
            </a:p>
          </p:txBody>
        </p:sp>
        <p:sp>
          <p:nvSpPr>
            <p:cNvPr id="29" name="TextBox 28"/>
            <p:cNvSpPr txBox="1"/>
            <p:nvPr/>
          </p:nvSpPr>
          <p:spPr>
            <a:xfrm>
              <a:off x="3657600" y="4782312"/>
              <a:ext cx="3840480" cy="640080"/>
            </a:xfrm>
            <a:prstGeom prst="rect">
              <a:avLst/>
            </a:prstGeom>
            <a:noFill/>
          </p:spPr>
          <p:txBody>
            <a:bodyPr wrap="square" anchor="t" lIns="0" rIns="0" tIns="0" bIns="0">
              <a:spAutoFit/>
            </a:bodyPr>
            <a:lstStyle/>
            <a:p>
              <a:pPr algn="l"/>
              <a:r>
                <a:rPr sz="1800" b="0" i="0">
                  <a:solidFill>
                    <a:srgbClr val="000000"/>
                  </a:solidFill>
                  <a:latin typeface="Calibri"/>
                </a:rPr>
                <a:t>What is the system doing at a given moment?</a:t>
              </a:r>
            </a:p>
          </p:txBody>
        </p:sp>
        <p:sp>
          <p:nvSpPr>
            <p:cNvPr id="30" name="TextBox 29"/>
            <p:cNvSpPr txBox="1"/>
            <p:nvPr/>
          </p:nvSpPr>
          <p:spPr>
            <a:xfrm>
              <a:off x="7635240" y="4782312"/>
              <a:ext cx="4160520" cy="640080"/>
            </a:xfrm>
            <a:prstGeom prst="rect">
              <a:avLst/>
            </a:prstGeom>
            <a:noFill/>
          </p:spPr>
          <p:txBody>
            <a:bodyPr wrap="square" anchor="t" lIns="0" rIns="0" tIns="0" bIns="0">
              <a:spAutoFit/>
            </a:bodyPr>
            <a:lstStyle/>
            <a:p>
              <a:pPr algn="l"/>
              <a:r>
                <a:rPr sz="1800" b="0" i="0">
                  <a:solidFill>
                    <a:srgbClr val="595959"/>
                  </a:solidFill>
                  <a:latin typeface="Calibri"/>
                </a:rPr>
                <a:t>updating a model, computing an output, or acting on it</a:t>
              </a:r>
            </a:p>
          </p:txBody>
        </p:sp>
      </p:grpSp>
      <p:sp>
        <p:nvSpPr>
          <p:cNvPr id="31" name="description"/>
          <p:cNvSpPr txBox="1"/>
          <p:nvPr/>
        </p:nvSpPr>
        <p:spPr>
          <a:xfrm>
            <a:off x="548640" y="5669280"/>
            <a:ext cx="11155680" cy="640080"/>
          </a:xfrm>
          <a:prstGeom prst="rect">
            <a:avLst/>
          </a:prstGeom>
          <a:noFill/>
        </p:spPr>
        <p:txBody>
          <a:bodyPr wrap="square" anchor="t" lIns="0" rIns="0" tIns="0" bIns="0">
            <a:spAutoFit/>
          </a:bodyPr>
          <a:lstStyle/>
          <a:p>
            <a:pPr algn="l"/>
            <a:r>
              <a:rPr sz="1400" b="0" i="0">
                <a:solidFill>
                  <a:srgbClr val="595959"/>
                </a:solidFill>
                <a:latin typeface="Calibri"/>
              </a:rPr>
              <a:t>The descriptions apply together: a classifier can be trained by supervised learning on an offline dataset, then used to predict as new inputs arrive. The next slides take the dimensions one at a time.</a:t>
            </a:r>
          </a:p>
        </p:txBody>
      </p:sp>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4"/>
                                        </p:tgtEl>
                                        <p:attrNameLst>
                                          <p:attrName>style.visibility</p:attrName>
                                        </p:attrNameLst>
                                      </p:cBhvr>
                                      <p:to>
                                        <p:strVal val="visible"/>
                                      </p:to>
                                    </p:set>
                                  </p:childTnLst>
                                </p:cTn>
                              </p:par>
                              <p:par>
                                <p:cTn id="7" presetID="1" presetClass="entr" presetSubtype="0" fill="hold" grpId="0" nodeType="withEffect">
                                  <p:stCondLst>
                                    <p:cond delay="0"/>
                                  </p:stCondLst>
                                  <p:childTnLst>
                                    <p:set>
                                      <p:cBhvr>
                                        <p:cTn id="8" dur="1" fill="hold">
                                          <p:stCondLst>
                                            <p:cond delay="0"/>
                                          </p:stCondLst>
                                        </p:cTn>
                                        <p:tgtEl>
                                          <p:spTgt spid="8"/>
                                        </p:tgtEl>
                                        <p:attrNameLst>
                                          <p:attrName>style.visibility</p:attrName>
                                        </p:attrNameLst>
                                      </p:cBhvr>
                                      <p:to>
                                        <p:strVal val="visible"/>
                                      </p:to>
                                    </p:set>
                                  </p:childTnLst>
                                </p:cTn>
                              </p:par>
                            </p:childTnLst>
                          </p:cTn>
                        </p:par>
                      </p:childTnLst>
                    </p:cTn>
                  </p:par>
                  <p:par>
                    <p:cTn id="9" fill="hold">
                      <p:stCondLst>
                        <p:cond delay="indefinite"/>
                      </p:stCondLst>
                      <p:childTnLst>
                        <p:par>
                          <p:cTn id="10" fill="hold">
                            <p:stCondLst>
                              <p:cond delay="0"/>
                            </p:stCondLst>
                            <p:childTnLst>
                              <p:par>
                                <p:cTn id="11" presetID="1" presetClass="entr" presetSubtype="0" fill="hold" grpId="0" nodeType="clickEffect">
                                  <p:stCondLst>
                                    <p:cond delay="0"/>
                                  </p:stCondLst>
                                  <p:childTnLst>
                                    <p:set>
                                      <p:cBhvr>
                                        <p:cTn id="12" dur="1" fill="hold">
                                          <p:stCondLst>
                                            <p:cond delay="0"/>
                                          </p:stCondLst>
                                        </p:cTn>
                                        <p:tgtEl>
                                          <p:spTgt spid="13"/>
                                        </p:tgtEl>
                                        <p:attrNameLst>
                                          <p:attrName>style.visibility</p:attrName>
                                        </p:attrNameLst>
                                      </p:cBhvr>
                                      <p:to>
                                        <p:strVal val="visible"/>
                                      </p:to>
                                    </p:set>
                                  </p:childTnLst>
                                </p:cTn>
                              </p:par>
                            </p:childTnLst>
                          </p:cTn>
                        </p:par>
                      </p:childTnLst>
                    </p:cTn>
                  </p:par>
                  <p:par>
                    <p:cTn id="13" fill="hold">
                      <p:stCondLst>
                        <p:cond delay="indefinite"/>
                      </p:stCondLst>
                      <p:childTnLst>
                        <p:par>
                          <p:cTn id="14" fill="hold">
                            <p:stCondLst>
                              <p:cond delay="0"/>
                            </p:stCondLst>
                            <p:childTnLst>
                              <p:par>
                                <p:cTn id="15" presetID="1" presetClass="entr" presetSubtype="0" fill="hold" grpId="0" nodeType="clickEffect">
                                  <p:stCondLst>
                                    <p:cond delay="0"/>
                                  </p:stCondLst>
                                  <p:childTnLst>
                                    <p:set>
                                      <p:cBhvr>
                                        <p:cTn id="16" dur="1" fill="hold">
                                          <p:stCondLst>
                                            <p:cond delay="0"/>
                                          </p:stCondLst>
                                        </p:cTn>
                                        <p:tgtEl>
                                          <p:spTgt spid="17"/>
                                        </p:tgtEl>
                                        <p:attrNameLst>
                                          <p:attrName>style.visibility</p:attrName>
                                        </p:attrNameLst>
                                      </p:cBhvr>
                                      <p:to>
                                        <p:strVal val="visible"/>
                                      </p:to>
                                    </p:set>
                                  </p:childTnLst>
                                </p:cTn>
                              </p:par>
                            </p:childTnLst>
                          </p:cTn>
                        </p:par>
                      </p:childTnLst>
                    </p:cTn>
                  </p:par>
                  <p:par>
                    <p:cTn id="17" fill="hold">
                      <p:stCondLst>
                        <p:cond delay="indefinite"/>
                      </p:stCondLst>
                      <p:childTnLst>
                        <p:par>
                          <p:cTn id="18" fill="hold">
                            <p:stCondLst>
                              <p:cond delay="0"/>
                            </p:stCondLst>
                            <p:childTnLst>
                              <p:par>
                                <p:cTn id="19" presetID="1" presetClass="entr" presetSubtype="0" fill="hold" grpId="0" nodeType="clickEffect">
                                  <p:stCondLst>
                                    <p:cond delay="0"/>
                                  </p:stCondLst>
                                  <p:childTnLst>
                                    <p:set>
                                      <p:cBhvr>
                                        <p:cTn id="20" dur="1" fill="hold">
                                          <p:stCondLst>
                                            <p:cond delay="0"/>
                                          </p:stCondLst>
                                        </p:cTn>
                                        <p:tgtEl>
                                          <p:spTgt spid="22"/>
                                        </p:tgtEl>
                                        <p:attrNameLst>
                                          <p:attrName>style.visibility</p:attrName>
                                        </p:attrNameLst>
                                      </p:cBhvr>
                                      <p:to>
                                        <p:strVal val="visible"/>
                                      </p:to>
                                    </p:set>
                                  </p:childTnLst>
                                </p:cTn>
                              </p:par>
                            </p:childTnLst>
                          </p:cTn>
                        </p:par>
                      </p:childTnLst>
                    </p:cTn>
                  </p:par>
                  <p:par>
                    <p:cTn id="21" fill="hold">
                      <p:stCondLst>
                        <p:cond delay="indefinite"/>
                      </p:stCondLst>
                      <p:childTnLst>
                        <p:par>
                          <p:cTn id="22" fill="hold">
                            <p:stCondLst>
                              <p:cond delay="0"/>
                            </p:stCondLst>
                            <p:childTnLst>
                              <p:par>
                                <p:cTn id="23" presetID="1" presetClass="entr" presetSubtype="0" fill="hold" grpId="0" nodeType="clickEffect">
                                  <p:stCondLst>
                                    <p:cond delay="0"/>
                                  </p:stCondLst>
                                  <p:childTnLst>
                                    <p:set>
                                      <p:cBhvr>
                                        <p:cTn id="24" dur="1" fill="hold">
                                          <p:stCondLst>
                                            <p:cond delay="0"/>
                                          </p:stCondLst>
                                        </p:cTn>
                                        <p:tgtEl>
                                          <p:spTgt spid="26"/>
                                        </p:tgtEl>
                                        <p:attrNameLst>
                                          <p:attrName>style.visibility</p:attrName>
                                        </p:attrNameLst>
                                      </p:cBhvr>
                                      <p:to>
                                        <p:strVal val="visible"/>
                                      </p:to>
                                    </p:set>
                                  </p:childTnLst>
                                </p:cTn>
                              </p:par>
                              <p:par>
                                <p:cTn id="25" presetID="1" presetClass="entr" presetSubtype="0" fill="hold" grpId="0" nodeType="withEffect">
                                  <p:stCondLst>
                                    <p:cond delay="0"/>
                                  </p:stCondLst>
                                  <p:childTnLst>
                                    <p:set>
                                      <p:cBhvr>
                                        <p:cTn id="26" dur="1" fill="hold">
                                          <p:stCondLst>
                                            <p:cond delay="0"/>
                                          </p:stCondLst>
                                        </p:cTn>
                                        <p:tgtEl>
                                          <p:spTgt spid="31"/>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1" grpId="0"/>
    </p:bldLst>
  </p:timing>
</p:sld>
</file>

<file path=ppt/slides/slide3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b0_2">
            <a:extLst>
              <a:ext uri="{FF2B5EF4-FFF2-40B4-BE49-F238E27FC236}">
                <a16:creationId xmlns:a16="http://schemas.microsoft.com/office/drawing/2014/main" id="{33DE8782-7F2B-1033-00F6-2A6652EE0E80}"/>
              </a:ext>
            </a:extLst>
          </p:cNvPr>
          <p:cNvSpPr txBox="1"/>
          <p:nvPr/>
        </p:nvSpPr>
        <p:spPr>
          <a:xfrm>
            <a:off x="0" y="148566"/>
            <a:ext cx="11680992" cy="548640"/>
          </a:xfrm>
          <a:prstGeom prst="rect">
            <a:avLst/>
          </a:prstGeom>
          <a:noFill/>
          <a:ln>
            <a:noFill/>
          </a:ln>
        </p:spPr>
        <p:txBody>
          <a:bodyPr wrap="square" rtlCol="0" anchor="ctr"/>
          <a:lstStyle/>
          <a:p>
            <a:r>
              <a:rPr lang="en-US" sz="3200" b="1" dirty="0">
                <a:solidFill>
                  <a:srgbClr val="000000"/>
                </a:solidFill>
                <a:latin typeface="Calibri" pitchFamily="34" charset="0"/>
                <a:ea typeface="Calibri" pitchFamily="34" charset="-122"/>
                <a:cs typeface="Calibri" pitchFamily="34" charset="-120"/>
              </a:rPr>
              <a:t>Basic </a:t>
            </a:r>
            <a:r>
              <a:rPr lang="en-US" sz="3200" b="1" dirty="0">
                <a:solidFill>
                  <a:srgbClr val="FF0000"/>
                </a:solidFill>
                <a:latin typeface="Calibri" pitchFamily="34" charset="0"/>
                <a:ea typeface="Calibri" pitchFamily="34" charset="-122"/>
                <a:cs typeface="Calibri" pitchFamily="34" charset="-120"/>
              </a:rPr>
              <a:t>AI</a:t>
            </a:r>
            <a:r>
              <a:rPr lang="en-US" sz="3200" b="1" dirty="0">
                <a:solidFill>
                  <a:srgbClr val="000000"/>
                </a:solidFill>
                <a:latin typeface="Calibri" pitchFamily="34" charset="0"/>
                <a:ea typeface="Calibri" pitchFamily="34" charset="-122"/>
                <a:cs typeface="Calibri" pitchFamily="34" charset="-120"/>
              </a:rPr>
              <a:t>/</a:t>
            </a:r>
            <a:r>
              <a:rPr lang="en-US" sz="3200" b="1" dirty="0">
                <a:solidFill>
                  <a:srgbClr val="00B050"/>
                </a:solidFill>
                <a:latin typeface="Calibri" pitchFamily="34" charset="0"/>
                <a:ea typeface="Calibri" pitchFamily="34" charset="-122"/>
                <a:cs typeface="Calibri" pitchFamily="34" charset="-120"/>
              </a:rPr>
              <a:t>ML</a:t>
            </a:r>
            <a:r>
              <a:rPr lang="en-US" sz="3200" b="1" dirty="0">
                <a:solidFill>
                  <a:srgbClr val="000000"/>
                </a:solidFill>
                <a:latin typeface="Calibri" pitchFamily="34" charset="0"/>
                <a:ea typeface="Calibri" pitchFamily="34" charset="-122"/>
                <a:cs typeface="Calibri" pitchFamily="34" charset="-120"/>
              </a:rPr>
              <a:t>/</a:t>
            </a:r>
            <a:r>
              <a:rPr lang="en-US" sz="3200" b="1" dirty="0">
                <a:solidFill>
                  <a:srgbClr val="362FEC"/>
                </a:solidFill>
                <a:latin typeface="Calibri" pitchFamily="34" charset="0"/>
                <a:ea typeface="Calibri" pitchFamily="34" charset="-122"/>
                <a:cs typeface="Calibri" pitchFamily="34" charset="-120"/>
              </a:rPr>
              <a:t>DL</a:t>
            </a:r>
            <a:r>
              <a:rPr lang="en-US" sz="3200" b="1" dirty="0">
                <a:solidFill>
                  <a:srgbClr val="000000"/>
                </a:solidFill>
                <a:latin typeface="Calibri" pitchFamily="34" charset="0"/>
                <a:ea typeface="Calibri" pitchFamily="34" charset="-122"/>
                <a:cs typeface="Calibri" pitchFamily="34" charset="-120"/>
              </a:rPr>
              <a:t> Terminology</a:t>
            </a:r>
            <a:endParaRPr lang="en-US" sz="3200" dirty="0">
              <a:solidFill>
                <a:srgbClr val="362FEC"/>
              </a:solidFill>
            </a:endParaRPr>
          </a:p>
        </p:txBody>
      </p:sp>
      <p:sp>
        <p:nvSpPr>
          <p:cNvPr id="3" name="subheading">
            <a:extLst>
              <a:ext uri="{FF2B5EF4-FFF2-40B4-BE49-F238E27FC236}">
                <a16:creationId xmlns:a16="http://schemas.microsoft.com/office/drawing/2014/main" id="{5CB8A4AA-40B1-94AE-8EEE-080599481F78}"/>
              </a:ext>
            </a:extLst>
          </p:cNvPr>
          <p:cNvSpPr txBox="1"/>
          <p:nvPr/>
        </p:nvSpPr>
        <p:spPr>
          <a:xfrm>
            <a:off x="292608" y="868680"/>
            <a:ext cx="11430000" cy="411480"/>
          </a:xfrm>
          <a:prstGeom prst="rect">
            <a:avLst/>
          </a:prstGeom>
          <a:noFill/>
          <a:ln>
            <a:noFill/>
          </a:ln>
        </p:spPr>
        <p:txBody>
          <a:bodyPr wrap="square" lIns="0" tIns="0" rIns="0" bIns="0" rtlCol="0" anchor="ctr"/>
          <a:lstStyle/>
          <a:p>
            <a:pPr marL="0" indent="0">
              <a:buNone/>
            </a:pPr>
            <a:r>
              <a:rPr lang="en-US" sz="2000" b="1" dirty="0">
                <a:solidFill>
                  <a:srgbClr val="362FEC"/>
                </a:solidFill>
                <a:latin typeface="Calibri" panose="020F0502020204030204" pitchFamily="34" charset="0"/>
                <a:cs typeface="Calibri" panose="020F0502020204030204" pitchFamily="34" charset="0"/>
              </a:rPr>
              <a:t>Learning paradigms: where the learning signal comes from</a:t>
            </a:r>
          </a:p>
        </p:txBody>
      </p:sp>
      <p:sp>
        <p:nvSpPr>
          <p:cNvPr id="4" name="points"/>
          <p:cNvSpPr txBox="1"/>
          <p:nvPr/>
        </p:nvSpPr>
        <p:spPr>
          <a:xfrm>
            <a:off x="384048" y="1417320"/>
            <a:ext cx="6126480" cy="5166360"/>
          </a:xfrm>
          <a:prstGeom prst="rect">
            <a:avLst/>
          </a:prstGeom>
          <a:noFill/>
        </p:spPr>
        <p:txBody>
          <a:bodyPr wrap="square" lIns="0" rIns="0" tIns="0" bIns="0">
            <a:spAutoFit/>
          </a:bodyPr>
          <a:lstStyle/>
          <a:p>
            <a:pPr algn="l">
              <a:spcAft>
                <a:spcPts val="1400"/>
              </a:spcAft>
            </a:pPr>
            <a:r>
              <a:rPr sz="2000" b="1" i="0">
                <a:solidFill>
                  <a:srgbClr val="362FEC"/>
                </a:solidFill>
                <a:latin typeface="Calibri"/>
              </a:rPr>
              <a:t>Supervised</a:t>
            </a:r>
            <a:r>
              <a:rPr sz="2000" b="0" i="0">
                <a:solidFill>
                  <a:srgbClr val="000000"/>
                </a:solidFill>
                <a:latin typeface="Calibri"/>
              </a:rPr>
              <a:t>: each input comes with a target. Learn to predict the target for new inputs.</a:t>
            </a:r>
          </a:p>
          <a:p>
            <a:pPr algn="l">
              <a:spcAft>
                <a:spcPts val="1400"/>
              </a:spcAft>
            </a:pPr>
            <a:r>
              <a:rPr sz="2000" b="1" i="0">
                <a:solidFill>
                  <a:srgbClr val="00B050"/>
                </a:solidFill>
                <a:latin typeface="Calibri"/>
              </a:rPr>
              <a:t>Unsupervised</a:t>
            </a:r>
            <a:r>
              <a:rPr sz="2000" b="0" i="0">
                <a:solidFill>
                  <a:srgbClr val="000000"/>
                </a:solidFill>
                <a:latin typeface="Calibri"/>
              </a:rPr>
              <a:t>: inputs only. Find structure: groups, a density, a representation.</a:t>
            </a:r>
          </a:p>
          <a:p>
            <a:pPr algn="l">
              <a:spcAft>
                <a:spcPts val="1400"/>
              </a:spcAft>
            </a:pPr>
            <a:r>
              <a:rPr sz="2000" b="1" i="0">
                <a:solidFill>
                  <a:srgbClr val="ED7D31"/>
                </a:solidFill>
                <a:latin typeface="Calibri"/>
              </a:rPr>
              <a:t>Self-supervised</a:t>
            </a:r>
            <a:r>
              <a:rPr sz="2000" b="0" i="0">
                <a:solidFill>
                  <a:srgbClr val="000000"/>
                </a:solidFill>
                <a:latin typeface="Calibri"/>
              </a:rPr>
              <a:t>: targets constructed from the data itself, such as the next word.</a:t>
            </a:r>
          </a:p>
          <a:p>
            <a:pPr algn="l">
              <a:spcAft>
                <a:spcPts val="1400"/>
              </a:spcAft>
            </a:pPr>
            <a:r>
              <a:rPr sz="2000" b="1" i="0">
                <a:solidFill>
                  <a:srgbClr val="FF0000"/>
                </a:solidFill>
                <a:latin typeface="Calibri"/>
              </a:rPr>
              <a:t>Reinforcement</a:t>
            </a:r>
            <a:r>
              <a:rPr sz="2000" b="0" i="0">
                <a:solidFill>
                  <a:srgbClr val="000000"/>
                </a:solidFill>
                <a:latin typeface="Calibri"/>
              </a:rPr>
              <a:t>: act and receive rewards; the actions change what is seen next.</a:t>
            </a:r>
          </a:p>
        </p:txBody>
      </p:sp>
      <p:grpSp>
        <p:nvGrpSpPr>
          <p:cNvPr id="5" name="picture 1"/>
          <p:cNvGrpSpPr/>
          <p:nvPr/>
        </p:nvGrpSpPr>
        <p:grpSpPr>
          <a:xfrm>
            <a:off x="6812280" y="1371600"/>
            <a:ext cx="5120640" cy="4498848"/>
            <a:chOff x="6812280" y="1371600"/>
            <a:chExt cx="5120640" cy="4498848"/>
          </a:xfrm>
        </p:grpSpPr>
        <p:pic>
          <p:nvPicPr>
            <p:cNvPr id="6" name="Picture 5" descr="image.png"/>
            <p:cNvPicPr>
              <a:picLocks noChangeAspect="1"/>
            </p:cNvPicPr>
            <p:nvPr/>
          </p:nvPicPr>
          <p:blipFill>
            <a:blip r:embed="rId2"/>
            <a:stretch>
              <a:fillRect/>
            </a:stretch>
          </p:blipFill>
          <p:spPr>
            <a:xfrm>
              <a:off x="6962546" y="1371600"/>
              <a:ext cx="4820106" cy="3566160"/>
            </a:xfrm>
            <a:prstGeom prst="rect">
              <a:avLst/>
            </a:prstGeom>
          </p:spPr>
        </p:pic>
        <p:sp>
          <p:nvSpPr>
            <p:cNvPr id="7" name="description"/>
            <p:cNvSpPr txBox="1"/>
            <p:nvPr/>
          </p:nvSpPr>
          <p:spPr>
            <a:xfrm>
              <a:off x="6812280" y="5047488"/>
              <a:ext cx="5120640" cy="822960"/>
            </a:xfrm>
            <a:prstGeom prst="rect">
              <a:avLst/>
            </a:prstGeom>
            <a:noFill/>
          </p:spPr>
          <p:txBody>
            <a:bodyPr wrap="square" anchor="t" lIns="0" rIns="0" tIns="0" bIns="0">
              <a:spAutoFit/>
            </a:bodyPr>
            <a:lstStyle/>
            <a:p>
              <a:pPr algn="l"/>
              <a:r>
                <a:rPr sz="1400" b="0" i="0">
                  <a:solidFill>
                    <a:srgbClr val="595959"/>
                  </a:solidFill>
                  <a:latin typeface="Calibri"/>
                </a:rPr>
                <a:t>Each flower comes with its species, the label. The learner must name the species of flowers it has not seen: what matters is the error on new examples, estimated on held-out ones.</a:t>
              </a:r>
            </a:p>
          </p:txBody>
        </p:sp>
      </p:grpSp>
      <p:grpSp>
        <p:nvGrpSpPr>
          <p:cNvPr id="8" name="picture 2"/>
          <p:cNvGrpSpPr/>
          <p:nvPr/>
        </p:nvGrpSpPr>
        <p:grpSpPr>
          <a:xfrm>
            <a:off x="6812280" y="1371600"/>
            <a:ext cx="5120640" cy="3386852"/>
            <a:chOff x="6812280" y="1371600"/>
            <a:chExt cx="5120640" cy="3386852"/>
          </a:xfrm>
        </p:grpSpPr>
        <p:pic>
          <p:nvPicPr>
            <p:cNvPr id="9" name="Picture 8" descr="image.png"/>
            <p:cNvPicPr>
              <a:picLocks noChangeAspect="1"/>
            </p:cNvPicPr>
            <p:nvPr/>
          </p:nvPicPr>
          <p:blipFill>
            <a:blip r:embed="rId3"/>
            <a:stretch>
              <a:fillRect/>
            </a:stretch>
          </p:blipFill>
          <p:spPr>
            <a:xfrm>
              <a:off x="6812280" y="1371600"/>
              <a:ext cx="5120640" cy="2454164"/>
            </a:xfrm>
            <a:prstGeom prst="rect">
              <a:avLst/>
            </a:prstGeom>
          </p:spPr>
        </p:pic>
        <p:sp>
          <p:nvSpPr>
            <p:cNvPr id="10" name="description"/>
            <p:cNvSpPr txBox="1"/>
            <p:nvPr/>
          </p:nvSpPr>
          <p:spPr>
            <a:xfrm>
              <a:off x="6812280" y="3935492"/>
              <a:ext cx="5120640" cy="822960"/>
            </a:xfrm>
            <a:prstGeom prst="rect">
              <a:avLst/>
            </a:prstGeom>
            <a:noFill/>
          </p:spPr>
          <p:txBody>
            <a:bodyPr wrap="square" anchor="t" lIns="0" rIns="0" tIns="0" bIns="0">
              <a:spAutoFit/>
            </a:bodyPr>
            <a:lstStyle/>
            <a:p>
              <a:pPr algn="l"/>
              <a:r>
                <a:rPr sz="1400" b="0" i="0">
                  <a:solidFill>
                    <a:srgbClr val="595959"/>
                  </a:solidFill>
                  <a:latin typeface="Calibri"/>
                </a:rPr>
                <a:t>The same flowers without their species. k-means finds three groups that match the species for 144 of the 150 flowers; the groups depend on the features and on the chosen notion of similarity.</a:t>
              </a:r>
            </a:p>
          </p:txBody>
        </p:sp>
      </p:grpSp>
      <p:grpSp>
        <p:nvGrpSpPr>
          <p:cNvPr id="11" name="picture 3"/>
          <p:cNvGrpSpPr/>
          <p:nvPr/>
        </p:nvGrpSpPr>
        <p:grpSpPr>
          <a:xfrm>
            <a:off x="6812280" y="1371600"/>
            <a:ext cx="5303520" cy="4434840"/>
            <a:chOff x="6812280" y="1371600"/>
            <a:chExt cx="5303520" cy="4434840"/>
          </a:xfrm>
        </p:grpSpPr>
        <p:sp>
          <p:nvSpPr>
            <p:cNvPr id="12" name="TextBox 11"/>
            <p:cNvSpPr txBox="1"/>
            <p:nvPr/>
          </p:nvSpPr>
          <p:spPr>
            <a:xfrm>
              <a:off x="6995160" y="1371600"/>
              <a:ext cx="5120640" cy="365760"/>
            </a:xfrm>
            <a:prstGeom prst="rect">
              <a:avLst/>
            </a:prstGeom>
            <a:noFill/>
          </p:spPr>
          <p:txBody>
            <a:bodyPr wrap="square" lIns="0" rIns="0" tIns="0" bIns="0">
              <a:spAutoFit/>
            </a:bodyPr>
            <a:lstStyle/>
            <a:p>
              <a:pPr algn="l">
                <a:spcAft>
                  <a:spcPts val="1000"/>
                </a:spcAft>
              </a:pPr>
              <a:r>
                <a:rPr sz="2000" b="0" i="0">
                  <a:solidFill>
                    <a:srgbClr val="000000"/>
                  </a:solidFill>
                  <a:latin typeface="Calibri"/>
                </a:rPr>
                <a:t>the cat sat on the </a:t>
              </a:r>
              <a:r>
                <a:rPr sz="2000" b="1" i="0">
                  <a:solidFill>
                    <a:srgbClr val="362FEC"/>
                  </a:solidFill>
                  <a:latin typeface="Calibri"/>
                </a:rPr>
                <a:t>___</a:t>
              </a:r>
            </a:p>
          </p:txBody>
        </p:sp>
        <p:pic>
          <p:nvPicPr>
            <p:cNvPr id="13" name="Picture 12" descr="image.png"/>
            <p:cNvPicPr>
              <a:picLocks noChangeAspect="1"/>
            </p:cNvPicPr>
            <p:nvPr/>
          </p:nvPicPr>
          <p:blipFill>
            <a:blip r:embed="rId4"/>
            <a:stretch>
              <a:fillRect/>
            </a:stretch>
          </p:blipFill>
          <p:spPr>
            <a:xfrm>
              <a:off x="6949440" y="1828800"/>
              <a:ext cx="4783015" cy="3108960"/>
            </a:xfrm>
            <a:prstGeom prst="rect">
              <a:avLst/>
            </a:prstGeom>
          </p:spPr>
        </p:pic>
        <p:sp>
          <p:nvSpPr>
            <p:cNvPr id="14" name="description"/>
            <p:cNvSpPr txBox="1"/>
            <p:nvPr/>
          </p:nvSpPr>
          <p:spPr>
            <a:xfrm>
              <a:off x="6812280" y="5074920"/>
              <a:ext cx="5120640" cy="731520"/>
            </a:xfrm>
            <a:prstGeom prst="rect">
              <a:avLst/>
            </a:prstGeom>
            <a:noFill/>
          </p:spPr>
          <p:txBody>
            <a:bodyPr wrap="square" anchor="t" lIns="0" rIns="0" tIns="0" bIns="0">
              <a:spAutoFit/>
            </a:bodyPr>
            <a:lstStyle/>
            <a:p>
              <a:pPr algn="l"/>
              <a:r>
                <a:rPr sz="1400" b="0" i="0">
                  <a:solidFill>
                    <a:srgbClr val="595959"/>
                  </a:solidFill>
                  <a:latin typeface="Calibri"/>
                </a:rPr>
                <a:t>The target, the next word, is already in the text: nobody labels anything. The calculation is an ordinary supervised loss. Language models are pretrained this way.</a:t>
              </a:r>
            </a:p>
          </p:txBody>
        </p:sp>
      </p:grpSp>
      <p:grpSp>
        <p:nvGrpSpPr>
          <p:cNvPr id="15" name="picture 4"/>
          <p:cNvGrpSpPr/>
          <p:nvPr/>
        </p:nvGrpSpPr>
        <p:grpSpPr>
          <a:xfrm>
            <a:off x="6629400" y="1371600"/>
            <a:ext cx="5486400" cy="4389120"/>
            <a:chOff x="6629400" y="1371600"/>
            <a:chExt cx="5486400" cy="4389120"/>
          </a:xfrm>
        </p:grpSpPr>
        <p:pic>
          <p:nvPicPr>
            <p:cNvPr id="16" name="Picture 15" descr="Reinforcement_learning_diagram.svg.png"/>
            <p:cNvPicPr>
              <a:picLocks noChangeAspect="1"/>
            </p:cNvPicPr>
            <p:nvPr/>
          </p:nvPicPr>
          <p:blipFill>
            <a:blip r:embed="rId5"/>
            <a:stretch>
              <a:fillRect/>
            </a:stretch>
          </p:blipFill>
          <p:spPr>
            <a:xfrm>
              <a:off x="7766732" y="1371600"/>
              <a:ext cx="3211735" cy="3108960"/>
            </a:xfrm>
            <a:prstGeom prst="rect">
              <a:avLst/>
            </a:prstGeom>
          </p:spPr>
        </p:pic>
        <p:sp>
          <p:nvSpPr>
            <p:cNvPr id="17" name="TextBox 16"/>
            <p:cNvSpPr txBox="1"/>
            <p:nvPr/>
          </p:nvSpPr>
          <p:spPr>
            <a:xfrm>
              <a:off x="6629400" y="4526280"/>
              <a:ext cx="5486400" cy="274320"/>
            </a:xfrm>
            <a:prstGeom prst="rect">
              <a:avLst/>
            </a:prstGeom>
            <a:noFill/>
          </p:spPr>
          <p:txBody>
            <a:bodyPr wrap="square" anchor="t" lIns="0" rIns="0" tIns="0" bIns="0">
              <a:spAutoFit/>
            </a:bodyPr>
            <a:lstStyle/>
            <a:p>
              <a:pPr algn="ctr"/>
              <a:r>
                <a:rPr sz="1200" b="0" i="0">
                  <a:solidFill>
                    <a:srgbClr val="595959"/>
                  </a:solidFill>
                  <a:latin typeface="Calibri"/>
                </a:rPr>
                <a:t>the agent–environment loop (Foundations 1)</a:t>
              </a:r>
            </a:p>
          </p:txBody>
        </p:sp>
        <p:sp>
          <p:nvSpPr>
            <p:cNvPr id="18" name="description"/>
            <p:cNvSpPr txBox="1"/>
            <p:nvPr/>
          </p:nvSpPr>
          <p:spPr>
            <a:xfrm>
              <a:off x="6812280" y="4937760"/>
              <a:ext cx="5120640" cy="822960"/>
            </a:xfrm>
            <a:prstGeom prst="rect">
              <a:avLst/>
            </a:prstGeom>
            <a:noFill/>
          </p:spPr>
          <p:txBody>
            <a:bodyPr wrap="square" anchor="t" lIns="0" rIns="0" tIns="0" bIns="0">
              <a:spAutoFit/>
            </a:bodyPr>
            <a:lstStyle/>
            <a:p>
              <a:pPr algn="l"/>
              <a:r>
                <a:rPr sz="1400" b="0" i="0">
                  <a:solidFill>
                    <a:srgbClr val="595959"/>
                  </a:solidFill>
                  <a:latin typeface="Calibri"/>
                </a:rPr>
                <a:t>The agent's actions change what it observes next, so the data depend on the behavior being learned. A reward says how good the action was, not which action was best, and may arrive long after.</a:t>
              </a:r>
            </a:p>
          </p:txBody>
        </p:sp>
      </p:grpSp>
      <p:sp>
        <p:nvSpPr>
          <p:cNvPr id="19" name="takeaway"/>
          <p:cNvSpPr txBox="1"/>
          <p:nvPr/>
        </p:nvSpPr>
        <p:spPr>
          <a:xfrm>
            <a:off x="384048" y="5897880"/>
            <a:ext cx="11430000" cy="457200"/>
          </a:xfrm>
          <a:prstGeom prst="rect">
            <a:avLst/>
          </a:prstGeom>
          <a:noFill/>
        </p:spPr>
        <p:txBody>
          <a:bodyPr wrap="square" lIns="0" rIns="0" tIns="0" bIns="0">
            <a:spAutoFit/>
          </a:bodyPr>
          <a:lstStyle/>
          <a:p>
            <a:pPr algn="l">
              <a:spcAft>
                <a:spcPts val="1000"/>
              </a:spcAft>
            </a:pPr>
            <a:r>
              <a:rPr sz="2000" b="1" i="0">
                <a:solidFill>
                  <a:srgbClr val="000000"/>
                </a:solidFill>
                <a:latin typeface="Calibri"/>
              </a:rPr>
              <a:t>One Transformer: </a:t>
            </a:r>
            <a:r>
              <a:rPr sz="2000" b="1" i="0">
                <a:solidFill>
                  <a:srgbClr val="ED7D31"/>
                </a:solidFill>
                <a:latin typeface="Calibri"/>
              </a:rPr>
              <a:t>self-supervised</a:t>
            </a:r>
            <a:r>
              <a:rPr sz="2000" b="0" i="0">
                <a:solidFill>
                  <a:srgbClr val="000000"/>
                </a:solidFill>
                <a:latin typeface="Calibri"/>
              </a:rPr>
              <a:t> pretraining → </a:t>
            </a:r>
            <a:r>
              <a:rPr sz="2000" b="1" i="0">
                <a:solidFill>
                  <a:srgbClr val="362FEC"/>
                </a:solidFill>
                <a:latin typeface="Calibri"/>
              </a:rPr>
              <a:t>supervised</a:t>
            </a:r>
            <a:r>
              <a:rPr sz="2000" b="0" i="0">
                <a:solidFill>
                  <a:srgbClr val="000000"/>
                </a:solidFill>
                <a:latin typeface="Calibri"/>
              </a:rPr>
              <a:t> fine-tuning → </a:t>
            </a:r>
            <a:r>
              <a:rPr sz="2000" b="1" i="0">
                <a:solidFill>
                  <a:srgbClr val="FF0000"/>
                </a:solidFill>
                <a:latin typeface="Calibri"/>
              </a:rPr>
              <a:t>rewards</a:t>
            </a:r>
            <a:r>
              <a:rPr sz="2000" b="0" i="0">
                <a:solidFill>
                  <a:srgbClr val="000000"/>
                </a:solidFill>
                <a:latin typeface="Calibri"/>
              </a:rPr>
              <a:t>.</a:t>
            </a:r>
          </a:p>
        </p:txBody>
      </p:sp>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4">
                                            <p:txEl>
                                              <p:pRg st="0" end="0"/>
                                            </p:txEl>
                                          </p:spTgt>
                                        </p:tgtEl>
                                        <p:attrNameLst>
                                          <p:attrName>style.visibility</p:attrName>
                                        </p:attrNameLst>
                                      </p:cBhvr>
                                      <p:to>
                                        <p:strVal val="visible"/>
                                      </p:to>
                                    </p:set>
                                  </p:childTnLst>
                                </p:cTn>
                              </p:par>
                              <p:par>
                                <p:cTn id="7" presetID="1" presetClass="entr" presetSubtype="0" fill="hold" grpId="0" nodeType="withEffect">
                                  <p:stCondLst>
                                    <p:cond delay="0"/>
                                  </p:stCondLst>
                                  <p:childTnLst>
                                    <p:set>
                                      <p:cBhvr>
                                        <p:cTn id="8" dur="1" fill="hold">
                                          <p:stCondLst>
                                            <p:cond delay="0"/>
                                          </p:stCondLst>
                                        </p:cTn>
                                        <p:tgtEl>
                                          <p:spTgt spid="5"/>
                                        </p:tgtEl>
                                        <p:attrNameLst>
                                          <p:attrName>style.visibility</p:attrName>
                                        </p:attrNameLst>
                                      </p:cBhvr>
                                      <p:to>
                                        <p:strVal val="visible"/>
                                      </p:to>
                                    </p:set>
                                  </p:childTnLst>
                                </p:cTn>
                              </p:par>
                            </p:childTnLst>
                          </p:cTn>
                        </p:par>
                      </p:childTnLst>
                    </p:cTn>
                  </p:par>
                  <p:par>
                    <p:cTn id="9" fill="hold">
                      <p:stCondLst>
                        <p:cond delay="indefinite"/>
                      </p:stCondLst>
                      <p:childTnLst>
                        <p:par>
                          <p:cTn id="10" fill="hold">
                            <p:stCondLst>
                              <p:cond delay="0"/>
                            </p:stCondLst>
                            <p:childTnLst>
                              <p:par>
                                <p:cTn id="11" presetID="1" presetClass="entr" presetSubtype="0" fill="hold" grpId="0" nodeType="clickEffect">
                                  <p:stCondLst>
                                    <p:cond delay="0"/>
                                  </p:stCondLst>
                                  <p:childTnLst>
                                    <p:set>
                                      <p:cBhvr>
                                        <p:cTn id="12" dur="1" fill="hold">
                                          <p:stCondLst>
                                            <p:cond delay="0"/>
                                          </p:stCondLst>
                                        </p:cTn>
                                        <p:tgtEl>
                                          <p:spTgt spid="4">
                                            <p:txEl>
                                              <p:pRg st="1" end="1"/>
                                            </p:txEl>
                                          </p:spTgt>
                                        </p:tgtEl>
                                        <p:attrNameLst>
                                          <p:attrName>style.visibility</p:attrName>
                                        </p:attrNameLst>
                                      </p:cBhvr>
                                      <p:to>
                                        <p:strVal val="visible"/>
                                      </p:to>
                                    </p:set>
                                  </p:childTnLst>
                                </p:cTn>
                              </p:par>
                              <p:par>
                                <p:cTn id="13" presetID="1" presetClass="entr" presetSubtype="0" fill="hold" grpId="0" nodeType="withEffect">
                                  <p:stCondLst>
                                    <p:cond delay="0"/>
                                  </p:stCondLst>
                                  <p:childTnLst>
                                    <p:set>
                                      <p:cBhvr>
                                        <p:cTn id="14" dur="1" fill="hold">
                                          <p:stCondLst>
                                            <p:cond delay="0"/>
                                          </p:stCondLst>
                                        </p:cTn>
                                        <p:tgtEl>
                                          <p:spTgt spid="8"/>
                                        </p:tgtEl>
                                        <p:attrNameLst>
                                          <p:attrName>style.visibility</p:attrName>
                                        </p:attrNameLst>
                                      </p:cBhvr>
                                      <p:to>
                                        <p:strVal val="visible"/>
                                      </p:to>
                                    </p:set>
                                  </p:childTnLst>
                                </p:cTn>
                              </p:par>
                              <p:par>
                                <p:cTn id="15" presetID="1" presetClass="exit" presetSubtype="0" fill="hold" grpId="1" nodeType="withEffect">
                                  <p:stCondLst>
                                    <p:cond delay="0"/>
                                  </p:stCondLst>
                                  <p:childTnLst>
                                    <p:set>
                                      <p:cBhvr>
                                        <p:cTn id="16" dur="1" fill="hold">
                                          <p:stCondLst>
                                            <p:cond delay="0"/>
                                          </p:stCondLst>
                                        </p:cTn>
                                        <p:tgtEl>
                                          <p:spTgt spid="5"/>
                                        </p:tgtEl>
                                        <p:attrNameLst>
                                          <p:attrName>style.visibility</p:attrName>
                                        </p:attrNameLst>
                                      </p:cBhvr>
                                      <p:to>
                                        <p:strVal val="hidden"/>
                                      </p:to>
                                    </p:set>
                                  </p:childTnLst>
                                </p:cTn>
                              </p:par>
                            </p:childTnLst>
                          </p:cTn>
                        </p:par>
                      </p:childTnLst>
                    </p:cTn>
                  </p:par>
                  <p:par>
                    <p:cTn id="17" fill="hold">
                      <p:stCondLst>
                        <p:cond delay="indefinite"/>
                      </p:stCondLst>
                      <p:childTnLst>
                        <p:par>
                          <p:cTn id="18" fill="hold">
                            <p:stCondLst>
                              <p:cond delay="0"/>
                            </p:stCondLst>
                            <p:childTnLst>
                              <p:par>
                                <p:cTn id="19" presetID="1" presetClass="entr" presetSubtype="0" fill="hold" grpId="0" nodeType="clickEffect">
                                  <p:stCondLst>
                                    <p:cond delay="0"/>
                                  </p:stCondLst>
                                  <p:childTnLst>
                                    <p:set>
                                      <p:cBhvr>
                                        <p:cTn id="20" dur="1" fill="hold">
                                          <p:stCondLst>
                                            <p:cond delay="0"/>
                                          </p:stCondLst>
                                        </p:cTn>
                                        <p:tgtEl>
                                          <p:spTgt spid="4">
                                            <p:txEl>
                                              <p:pRg st="2" end="2"/>
                                            </p:txEl>
                                          </p:spTgt>
                                        </p:tgtEl>
                                        <p:attrNameLst>
                                          <p:attrName>style.visibility</p:attrName>
                                        </p:attrNameLst>
                                      </p:cBhvr>
                                      <p:to>
                                        <p:strVal val="visible"/>
                                      </p:to>
                                    </p:set>
                                  </p:childTnLst>
                                </p:cTn>
                              </p:par>
                              <p:par>
                                <p:cTn id="21" presetID="1" presetClass="entr" presetSubtype="0" fill="hold" grpId="0" nodeType="withEffect">
                                  <p:stCondLst>
                                    <p:cond delay="0"/>
                                  </p:stCondLst>
                                  <p:childTnLst>
                                    <p:set>
                                      <p:cBhvr>
                                        <p:cTn id="22" dur="1" fill="hold">
                                          <p:stCondLst>
                                            <p:cond delay="0"/>
                                          </p:stCondLst>
                                        </p:cTn>
                                        <p:tgtEl>
                                          <p:spTgt spid="11"/>
                                        </p:tgtEl>
                                        <p:attrNameLst>
                                          <p:attrName>style.visibility</p:attrName>
                                        </p:attrNameLst>
                                      </p:cBhvr>
                                      <p:to>
                                        <p:strVal val="visible"/>
                                      </p:to>
                                    </p:set>
                                  </p:childTnLst>
                                </p:cTn>
                              </p:par>
                              <p:par>
                                <p:cTn id="23" presetID="1" presetClass="exit" presetSubtype="0" fill="hold" grpId="1" nodeType="withEffect">
                                  <p:stCondLst>
                                    <p:cond delay="0"/>
                                  </p:stCondLst>
                                  <p:childTnLst>
                                    <p:set>
                                      <p:cBhvr>
                                        <p:cTn id="24" dur="1" fill="hold">
                                          <p:stCondLst>
                                            <p:cond delay="0"/>
                                          </p:stCondLst>
                                        </p:cTn>
                                        <p:tgtEl>
                                          <p:spTgt spid="8"/>
                                        </p:tgtEl>
                                        <p:attrNameLst>
                                          <p:attrName>style.visibility</p:attrName>
                                        </p:attrNameLst>
                                      </p:cBhvr>
                                      <p:to>
                                        <p:strVal val="hidden"/>
                                      </p:to>
                                    </p:set>
                                  </p:childTnLst>
                                </p:cTn>
                              </p:par>
                            </p:childTnLst>
                          </p:cTn>
                        </p:par>
                      </p:childTnLst>
                    </p:cTn>
                  </p:par>
                  <p:par>
                    <p:cTn id="25" fill="hold">
                      <p:stCondLst>
                        <p:cond delay="indefinite"/>
                      </p:stCondLst>
                      <p:childTnLst>
                        <p:par>
                          <p:cTn id="26" fill="hold">
                            <p:stCondLst>
                              <p:cond delay="0"/>
                            </p:stCondLst>
                            <p:childTnLst>
                              <p:par>
                                <p:cTn id="27" presetID="1" presetClass="entr" presetSubtype="0" fill="hold" grpId="0" nodeType="clickEffect">
                                  <p:stCondLst>
                                    <p:cond delay="0"/>
                                  </p:stCondLst>
                                  <p:childTnLst>
                                    <p:set>
                                      <p:cBhvr>
                                        <p:cTn id="28" dur="1" fill="hold">
                                          <p:stCondLst>
                                            <p:cond delay="0"/>
                                          </p:stCondLst>
                                        </p:cTn>
                                        <p:tgtEl>
                                          <p:spTgt spid="4">
                                            <p:txEl>
                                              <p:pRg st="3" end="3"/>
                                            </p:txEl>
                                          </p:spTgt>
                                        </p:tgtEl>
                                        <p:attrNameLst>
                                          <p:attrName>style.visibility</p:attrName>
                                        </p:attrNameLst>
                                      </p:cBhvr>
                                      <p:to>
                                        <p:strVal val="visible"/>
                                      </p:to>
                                    </p:set>
                                  </p:childTnLst>
                                </p:cTn>
                              </p:par>
                              <p:par>
                                <p:cTn id="29" presetID="1" presetClass="entr" presetSubtype="0" fill="hold" grpId="0" nodeType="withEffect">
                                  <p:stCondLst>
                                    <p:cond delay="0"/>
                                  </p:stCondLst>
                                  <p:childTnLst>
                                    <p:set>
                                      <p:cBhvr>
                                        <p:cTn id="30" dur="1" fill="hold">
                                          <p:stCondLst>
                                            <p:cond delay="0"/>
                                          </p:stCondLst>
                                        </p:cTn>
                                        <p:tgtEl>
                                          <p:spTgt spid="15"/>
                                        </p:tgtEl>
                                        <p:attrNameLst>
                                          <p:attrName>style.visibility</p:attrName>
                                        </p:attrNameLst>
                                      </p:cBhvr>
                                      <p:to>
                                        <p:strVal val="visible"/>
                                      </p:to>
                                    </p:set>
                                  </p:childTnLst>
                                </p:cTn>
                              </p:par>
                              <p:par>
                                <p:cTn id="31" presetID="1" presetClass="exit" presetSubtype="0" fill="hold" grpId="1" nodeType="withEffect">
                                  <p:stCondLst>
                                    <p:cond delay="0"/>
                                  </p:stCondLst>
                                  <p:childTnLst>
                                    <p:set>
                                      <p:cBhvr>
                                        <p:cTn id="32" dur="1" fill="hold">
                                          <p:stCondLst>
                                            <p:cond delay="0"/>
                                          </p:stCondLst>
                                        </p:cTn>
                                        <p:tgtEl>
                                          <p:spTgt spid="11"/>
                                        </p:tgtEl>
                                        <p:attrNameLst>
                                          <p:attrName>style.visibility</p:attrName>
                                        </p:attrNameLst>
                                      </p:cBhvr>
                                      <p:to>
                                        <p:strVal val="hidden"/>
                                      </p:to>
                                    </p:set>
                                  </p:childTnLst>
                                </p:cTn>
                              </p:par>
                            </p:childTnLst>
                          </p:cTn>
                        </p:par>
                      </p:childTnLst>
                    </p:cTn>
                  </p:par>
                  <p:par>
                    <p:cTn id="33" fill="hold">
                      <p:stCondLst>
                        <p:cond delay="indefinite"/>
                      </p:stCondLst>
                      <p:childTnLst>
                        <p:par>
                          <p:cTn id="34" fill="hold">
                            <p:stCondLst>
                              <p:cond delay="0"/>
                            </p:stCondLst>
                            <p:childTnLst>
                              <p:par>
                                <p:cTn id="35" presetID="1" presetClass="entr" presetSubtype="0" fill="hold" grpId="0" nodeType="clickEffect">
                                  <p:stCondLst>
                                    <p:cond delay="0"/>
                                  </p:stCondLst>
                                  <p:childTnLst>
                                    <p:set>
                                      <p:cBhvr>
                                        <p:cTn id="36" dur="1" fill="hold">
                                          <p:stCondLst>
                                            <p:cond delay="0"/>
                                          </p:stCondLst>
                                        </p:cTn>
                                        <p:tgtEl>
                                          <p:spTgt spid="19"/>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4" grpId="0" build="p"/>
      <p:bldP spid="19" grpId="0"/>
    </p:bldLst>
  </p:timing>
</p:sld>
</file>

<file path=ppt/slides/slide3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b0_2">
            <a:extLst>
              <a:ext uri="{FF2B5EF4-FFF2-40B4-BE49-F238E27FC236}">
                <a16:creationId xmlns:a16="http://schemas.microsoft.com/office/drawing/2014/main" id="{33DE8782-7F2B-1033-00F6-2A6652EE0E80}"/>
              </a:ext>
            </a:extLst>
          </p:cNvPr>
          <p:cNvSpPr txBox="1"/>
          <p:nvPr/>
        </p:nvSpPr>
        <p:spPr>
          <a:xfrm>
            <a:off x="0" y="148566"/>
            <a:ext cx="11680992" cy="548640"/>
          </a:xfrm>
          <a:prstGeom prst="rect">
            <a:avLst/>
          </a:prstGeom>
          <a:noFill/>
          <a:ln>
            <a:noFill/>
          </a:ln>
        </p:spPr>
        <p:txBody>
          <a:bodyPr wrap="square" rtlCol="0" anchor="ctr"/>
          <a:lstStyle/>
          <a:p>
            <a:r>
              <a:rPr lang="en-US" sz="3200" b="1" dirty="0">
                <a:solidFill>
                  <a:srgbClr val="000000"/>
                </a:solidFill>
                <a:latin typeface="Calibri" pitchFamily="34" charset="0"/>
                <a:ea typeface="Calibri" pitchFamily="34" charset="-122"/>
                <a:cs typeface="Calibri" pitchFamily="34" charset="-120"/>
              </a:rPr>
              <a:t>Basic </a:t>
            </a:r>
            <a:r>
              <a:rPr lang="en-US" sz="3200" b="1" dirty="0">
                <a:solidFill>
                  <a:srgbClr val="FF0000"/>
                </a:solidFill>
                <a:latin typeface="Calibri" pitchFamily="34" charset="0"/>
                <a:ea typeface="Calibri" pitchFamily="34" charset="-122"/>
                <a:cs typeface="Calibri" pitchFamily="34" charset="-120"/>
              </a:rPr>
              <a:t>AI</a:t>
            </a:r>
            <a:r>
              <a:rPr lang="en-US" sz="3200" b="1" dirty="0">
                <a:solidFill>
                  <a:srgbClr val="000000"/>
                </a:solidFill>
                <a:latin typeface="Calibri" pitchFamily="34" charset="0"/>
                <a:ea typeface="Calibri" pitchFamily="34" charset="-122"/>
                <a:cs typeface="Calibri" pitchFamily="34" charset="-120"/>
              </a:rPr>
              <a:t>/</a:t>
            </a:r>
            <a:r>
              <a:rPr lang="en-US" sz="3200" b="1" dirty="0">
                <a:solidFill>
                  <a:srgbClr val="00B050"/>
                </a:solidFill>
                <a:latin typeface="Calibri" pitchFamily="34" charset="0"/>
                <a:ea typeface="Calibri" pitchFamily="34" charset="-122"/>
                <a:cs typeface="Calibri" pitchFamily="34" charset="-120"/>
              </a:rPr>
              <a:t>ML</a:t>
            </a:r>
            <a:r>
              <a:rPr lang="en-US" sz="3200" b="1" dirty="0">
                <a:solidFill>
                  <a:srgbClr val="000000"/>
                </a:solidFill>
                <a:latin typeface="Calibri" pitchFamily="34" charset="0"/>
                <a:ea typeface="Calibri" pitchFamily="34" charset="-122"/>
                <a:cs typeface="Calibri" pitchFamily="34" charset="-120"/>
              </a:rPr>
              <a:t>/</a:t>
            </a:r>
            <a:r>
              <a:rPr lang="en-US" sz="3200" b="1" dirty="0">
                <a:solidFill>
                  <a:srgbClr val="362FEC"/>
                </a:solidFill>
                <a:latin typeface="Calibri" pitchFamily="34" charset="0"/>
                <a:ea typeface="Calibri" pitchFamily="34" charset="-122"/>
                <a:cs typeface="Calibri" pitchFamily="34" charset="-120"/>
              </a:rPr>
              <a:t>DL</a:t>
            </a:r>
            <a:r>
              <a:rPr lang="en-US" sz="3200" b="1" dirty="0">
                <a:solidFill>
                  <a:srgbClr val="000000"/>
                </a:solidFill>
                <a:latin typeface="Calibri" pitchFamily="34" charset="0"/>
                <a:ea typeface="Calibri" pitchFamily="34" charset="-122"/>
                <a:cs typeface="Calibri" pitchFamily="34" charset="-120"/>
              </a:rPr>
              <a:t> Terminology</a:t>
            </a:r>
            <a:endParaRPr lang="en-US" sz="3200" dirty="0">
              <a:solidFill>
                <a:srgbClr val="362FEC"/>
              </a:solidFill>
            </a:endParaRPr>
          </a:p>
        </p:txBody>
      </p:sp>
      <p:sp>
        <p:nvSpPr>
          <p:cNvPr id="3" name="subheading">
            <a:extLst>
              <a:ext uri="{FF2B5EF4-FFF2-40B4-BE49-F238E27FC236}">
                <a16:creationId xmlns:a16="http://schemas.microsoft.com/office/drawing/2014/main" id="{5CB8A4AA-40B1-94AE-8EEE-080599481F78}"/>
              </a:ext>
            </a:extLst>
          </p:cNvPr>
          <p:cNvSpPr txBox="1"/>
          <p:nvPr/>
        </p:nvSpPr>
        <p:spPr>
          <a:xfrm>
            <a:off x="292608" y="868680"/>
            <a:ext cx="11430000" cy="411480"/>
          </a:xfrm>
          <a:prstGeom prst="rect">
            <a:avLst/>
          </a:prstGeom>
          <a:noFill/>
          <a:ln>
            <a:noFill/>
          </a:ln>
        </p:spPr>
        <p:txBody>
          <a:bodyPr wrap="square" lIns="0" tIns="0" rIns="0" bIns="0" rtlCol="0" anchor="ctr"/>
          <a:lstStyle/>
          <a:p>
            <a:pPr marL="0" indent="0">
              <a:buNone/>
            </a:pPr>
            <a:r>
              <a:rPr lang="en-US" sz="2000" b="1" dirty="0">
                <a:solidFill>
                  <a:srgbClr val="362FEC"/>
                </a:solidFill>
                <a:latin typeface="Calibri" panose="020F0502020204030204" pitchFamily="34" charset="0"/>
                <a:cs typeface="Calibri" panose="020F0502020204030204" pitchFamily="34" charset="0"/>
              </a:rPr>
              <a:t>Online and offline learning</a:t>
            </a:r>
          </a:p>
        </p:txBody>
      </p:sp>
      <p:sp>
        <p:nvSpPr>
          <p:cNvPr id="4" name="points"/>
          <p:cNvSpPr txBox="1"/>
          <p:nvPr/>
        </p:nvSpPr>
        <p:spPr>
          <a:xfrm>
            <a:off x="384048" y="1417320"/>
            <a:ext cx="6126480" cy="2194560"/>
          </a:xfrm>
          <a:prstGeom prst="rect">
            <a:avLst/>
          </a:prstGeom>
          <a:noFill/>
        </p:spPr>
        <p:txBody>
          <a:bodyPr wrap="square" lIns="0" rIns="0" tIns="0" bIns="0">
            <a:spAutoFit/>
          </a:bodyPr>
          <a:lstStyle/>
          <a:p>
            <a:pPr algn="l">
              <a:spcAft>
                <a:spcPts val="1800"/>
              </a:spcAft>
            </a:pPr>
            <a:r>
              <a:rPr sz="2000" b="1" i="0">
                <a:solidFill>
                  <a:srgbClr val="00B050"/>
                </a:solidFill>
                <a:latin typeface="Calibri"/>
              </a:rPr>
              <a:t>Offline</a:t>
            </a:r>
            <a:r>
              <a:rPr sz="2000" b="0" i="0">
                <a:solidFill>
                  <a:srgbClr val="000000"/>
                </a:solidFill>
                <a:latin typeface="Calibri"/>
              </a:rPr>
              <a:t>: fit on a dataset collected beforehand; the deployed model stays fixed between training runs.</a:t>
            </a:r>
          </a:p>
          <a:p>
            <a:pPr algn="l">
              <a:spcAft>
                <a:spcPts val="1800"/>
              </a:spcAft>
            </a:pPr>
            <a:r>
              <a:rPr sz="2000" b="1" i="0">
                <a:solidFill>
                  <a:srgbClr val="FF0000"/>
                </a:solidFill>
                <a:latin typeface="Calibri"/>
              </a:rPr>
              <a:t>Online</a:t>
            </a:r>
            <a:r>
              <a:rPr sz="2000" b="0" i="0">
                <a:solidFill>
                  <a:srgbClr val="000000"/>
                </a:solidFill>
                <a:latin typeface="Calibri"/>
              </a:rPr>
              <a:t>: update the model as examples arrive, interleaving prediction and updates.</a:t>
            </a:r>
          </a:p>
        </p:txBody>
      </p:sp>
      <p:grpSp>
        <p:nvGrpSpPr>
          <p:cNvPr id="5" name="offline column"/>
          <p:cNvGrpSpPr/>
          <p:nvPr/>
        </p:nvGrpSpPr>
        <p:grpSpPr>
          <a:xfrm>
            <a:off x="6812280" y="1417320"/>
            <a:ext cx="2514600" cy="2788920"/>
            <a:chOff x="6812280" y="1417320"/>
            <a:chExt cx="2514600" cy="2788920"/>
          </a:xfrm>
        </p:grpSpPr>
        <p:sp>
          <p:nvSpPr>
            <p:cNvPr id="6" name="Rectangle 5"/>
            <p:cNvSpPr/>
            <p:nvPr/>
          </p:nvSpPr>
          <p:spPr>
            <a:xfrm>
              <a:off x="6812280" y="1417320"/>
              <a:ext cx="2514600" cy="457200"/>
            </a:xfrm>
            <a:prstGeom prst="rect">
              <a:avLst/>
            </a:prstGeom>
            <a:solidFill>
              <a:srgbClr val="00B050"/>
            </a:solidFill>
            <a:ln>
              <a:noFill/>
            </a:ln>
          </p:spPr>
          <p:style>
            <a:lnRef idx="1">
              <a:schemeClr val="accent1"/>
            </a:lnRef>
            <a:fillRef idx="3">
              <a:schemeClr val="accent1"/>
            </a:fillRef>
            <a:effectRef idx="2">
              <a:schemeClr val="accent1"/>
            </a:effectRef>
            <a:fontRef idx="minor">
              <a:schemeClr val="lt1"/>
            </a:fontRef>
          </p:style>
          <p:txBody>
            <a:bodyPr rtlCol="0" anchor="ctr" wrap="square" lIns="45720" rIns="45720"/>
            <a:lstStyle/>
            <a:p>
              <a:pPr algn="ctr"/>
              <a:r>
                <a:rPr sz="1600" b="1">
                  <a:solidFill>
                    <a:srgbClr val="FFFFFF"/>
                  </a:solidFill>
                  <a:latin typeface="Calibri"/>
                </a:rPr>
                <a:t>Offline learning</a:t>
              </a:r>
            </a:p>
          </p:txBody>
        </p:sp>
        <p:sp>
          <p:nvSpPr>
            <p:cNvPr id="7" name="Rectangle 6"/>
            <p:cNvSpPr/>
            <p:nvPr/>
          </p:nvSpPr>
          <p:spPr>
            <a:xfrm>
              <a:off x="6812280" y="1920240"/>
              <a:ext cx="2514600" cy="731520"/>
            </a:xfrm>
            <a:prstGeom prst="rect">
              <a:avLst/>
            </a:prstGeom>
            <a:solidFill>
              <a:srgbClr val="D9F2E4"/>
            </a:solidFill>
            <a:ln>
              <a:noFill/>
            </a:ln>
          </p:spPr>
          <p:style>
            <a:lnRef idx="1">
              <a:schemeClr val="accent1"/>
            </a:lnRef>
            <a:fillRef idx="3">
              <a:schemeClr val="accent1"/>
            </a:fillRef>
            <a:effectRef idx="2">
              <a:schemeClr val="accent1"/>
            </a:effectRef>
            <a:fontRef idx="minor">
              <a:schemeClr val="lt1"/>
            </a:fontRef>
          </p:style>
          <p:txBody>
            <a:bodyPr rtlCol="0" anchor="ctr" wrap="square" lIns="45720" rIns="45720"/>
            <a:lstStyle/>
            <a:p>
              <a:pPr algn="ctr"/>
              <a:r>
                <a:rPr sz="1500" b="0">
                  <a:solidFill>
                    <a:srgbClr val="000000"/>
                  </a:solidFill>
                  <a:latin typeface="Calibri"/>
                </a:rPr>
                <a:t>fits a model to a previously collected dataset</a:t>
              </a:r>
            </a:p>
          </p:txBody>
        </p:sp>
        <p:sp>
          <p:nvSpPr>
            <p:cNvPr id="8" name="Rectangle 7"/>
            <p:cNvSpPr/>
            <p:nvPr/>
          </p:nvSpPr>
          <p:spPr>
            <a:xfrm>
              <a:off x="6812280" y="2697480"/>
              <a:ext cx="2514600" cy="731520"/>
            </a:xfrm>
            <a:prstGeom prst="rect">
              <a:avLst/>
            </a:prstGeom>
            <a:solidFill>
              <a:srgbClr val="D9F2E4"/>
            </a:solidFill>
            <a:ln>
              <a:noFill/>
            </a:ln>
          </p:spPr>
          <p:style>
            <a:lnRef idx="1">
              <a:schemeClr val="accent1"/>
            </a:lnRef>
            <a:fillRef idx="3">
              <a:schemeClr val="accent1"/>
            </a:fillRef>
            <a:effectRef idx="2">
              <a:schemeClr val="accent1"/>
            </a:effectRef>
            <a:fontRef idx="minor">
              <a:schemeClr val="lt1"/>
            </a:fontRef>
          </p:style>
          <p:txBody>
            <a:bodyPr rtlCol="0" anchor="ctr" wrap="square" lIns="45720" rIns="45720"/>
            <a:lstStyle/>
            <a:p>
              <a:pPr algn="ctr"/>
              <a:r>
                <a:rPr sz="1500" b="0">
                  <a:solidFill>
                    <a:srgbClr val="000000"/>
                  </a:solidFill>
                  <a:latin typeface="Calibri"/>
                </a:rPr>
                <a:t>keeps the deployed model fixed between training runs</a:t>
              </a:r>
            </a:p>
          </p:txBody>
        </p:sp>
        <p:sp>
          <p:nvSpPr>
            <p:cNvPr id="9" name="Rectangle 8"/>
            <p:cNvSpPr/>
            <p:nvPr/>
          </p:nvSpPr>
          <p:spPr>
            <a:xfrm>
              <a:off x="6812280" y="3474720"/>
              <a:ext cx="2514600" cy="731520"/>
            </a:xfrm>
            <a:prstGeom prst="rect">
              <a:avLst/>
            </a:prstGeom>
            <a:solidFill>
              <a:srgbClr val="D9F2E4"/>
            </a:solidFill>
            <a:ln>
              <a:noFill/>
            </a:ln>
          </p:spPr>
          <p:style>
            <a:lnRef idx="1">
              <a:schemeClr val="accent1"/>
            </a:lnRef>
            <a:fillRef idx="3">
              <a:schemeClr val="accent1"/>
            </a:fillRef>
            <a:effectRef idx="2">
              <a:schemeClr val="accent1"/>
            </a:effectRef>
            <a:fontRef idx="minor">
              <a:schemeClr val="lt1"/>
            </a:fontRef>
          </p:style>
          <p:txBody>
            <a:bodyPr rtlCol="0" anchor="ctr" wrap="square" lIns="45720" rIns="45720"/>
            <a:lstStyle/>
            <a:p>
              <a:pPr algn="ctr"/>
              <a:r>
                <a:rPr sz="1500" b="0">
                  <a:solidFill>
                    <a:srgbClr val="000000"/>
                  </a:solidFill>
                  <a:latin typeface="Calibri"/>
                </a:rPr>
                <a:t>can revisit stored examples over many passes</a:t>
              </a:r>
            </a:p>
          </p:txBody>
        </p:sp>
      </p:grpSp>
      <p:grpSp>
        <p:nvGrpSpPr>
          <p:cNvPr id="10" name="online column"/>
          <p:cNvGrpSpPr/>
          <p:nvPr/>
        </p:nvGrpSpPr>
        <p:grpSpPr>
          <a:xfrm>
            <a:off x="9418320" y="1417320"/>
            <a:ext cx="2514600" cy="2788920"/>
            <a:chOff x="9418320" y="1417320"/>
            <a:chExt cx="2514600" cy="2788920"/>
          </a:xfrm>
        </p:grpSpPr>
        <p:sp>
          <p:nvSpPr>
            <p:cNvPr id="11" name="Rectangle 10"/>
            <p:cNvSpPr/>
            <p:nvPr/>
          </p:nvSpPr>
          <p:spPr>
            <a:xfrm>
              <a:off x="9418320" y="1417320"/>
              <a:ext cx="2514600" cy="457200"/>
            </a:xfrm>
            <a:prstGeom prst="rect">
              <a:avLst/>
            </a:prstGeom>
            <a:solidFill>
              <a:srgbClr val="FF0000"/>
            </a:solidFill>
            <a:ln>
              <a:noFill/>
            </a:ln>
          </p:spPr>
          <p:style>
            <a:lnRef idx="1">
              <a:schemeClr val="accent1"/>
            </a:lnRef>
            <a:fillRef idx="3">
              <a:schemeClr val="accent1"/>
            </a:fillRef>
            <a:effectRef idx="2">
              <a:schemeClr val="accent1"/>
            </a:effectRef>
            <a:fontRef idx="minor">
              <a:schemeClr val="lt1"/>
            </a:fontRef>
          </p:style>
          <p:txBody>
            <a:bodyPr rtlCol="0" anchor="ctr" wrap="square" lIns="45720" rIns="45720"/>
            <a:lstStyle/>
            <a:p>
              <a:pPr algn="ctr"/>
              <a:r>
                <a:rPr sz="1600" b="1">
                  <a:solidFill>
                    <a:srgbClr val="FFFFFF"/>
                  </a:solidFill>
                  <a:latin typeface="Calibri"/>
                </a:rPr>
                <a:t>Online learning</a:t>
              </a:r>
            </a:p>
          </p:txBody>
        </p:sp>
        <p:sp>
          <p:nvSpPr>
            <p:cNvPr id="12" name="Rectangle 11"/>
            <p:cNvSpPr/>
            <p:nvPr/>
          </p:nvSpPr>
          <p:spPr>
            <a:xfrm>
              <a:off x="9418320" y="1920240"/>
              <a:ext cx="2514600" cy="731520"/>
            </a:xfrm>
            <a:prstGeom prst="rect">
              <a:avLst/>
            </a:prstGeom>
            <a:solidFill>
              <a:srgbClr val="FFE0E0"/>
            </a:solidFill>
            <a:ln>
              <a:noFill/>
            </a:ln>
          </p:spPr>
          <p:style>
            <a:lnRef idx="1">
              <a:schemeClr val="accent1"/>
            </a:lnRef>
            <a:fillRef idx="3">
              <a:schemeClr val="accent1"/>
            </a:fillRef>
            <a:effectRef idx="2">
              <a:schemeClr val="accent1"/>
            </a:effectRef>
            <a:fontRef idx="minor">
              <a:schemeClr val="lt1"/>
            </a:fontRef>
          </p:style>
          <p:txBody>
            <a:bodyPr rtlCol="0" anchor="ctr" wrap="square" lIns="45720" rIns="45720"/>
            <a:lstStyle/>
            <a:p>
              <a:pPr algn="ctr"/>
              <a:r>
                <a:rPr sz="1500" b="0">
                  <a:solidFill>
                    <a:srgbClr val="000000"/>
                  </a:solidFill>
                  <a:latin typeface="Calibri"/>
                </a:rPr>
                <a:t>updates a model as further examples arrive</a:t>
              </a:r>
            </a:p>
          </p:txBody>
        </p:sp>
        <p:sp>
          <p:nvSpPr>
            <p:cNvPr id="13" name="Rectangle 12"/>
            <p:cNvSpPr/>
            <p:nvPr/>
          </p:nvSpPr>
          <p:spPr>
            <a:xfrm>
              <a:off x="9418320" y="2697480"/>
              <a:ext cx="2514600" cy="731520"/>
            </a:xfrm>
            <a:prstGeom prst="rect">
              <a:avLst/>
            </a:prstGeom>
            <a:solidFill>
              <a:srgbClr val="FFE0E0"/>
            </a:solidFill>
            <a:ln>
              <a:noFill/>
            </a:ln>
          </p:spPr>
          <p:style>
            <a:lnRef idx="1">
              <a:schemeClr val="accent1"/>
            </a:lnRef>
            <a:fillRef idx="3">
              <a:schemeClr val="accent1"/>
            </a:fillRef>
            <a:effectRef idx="2">
              <a:schemeClr val="accent1"/>
            </a:effectRef>
            <a:fontRef idx="minor">
              <a:schemeClr val="lt1"/>
            </a:fontRef>
          </p:style>
          <p:txBody>
            <a:bodyPr rtlCol="0" anchor="ctr" wrap="square" lIns="45720" rIns="45720"/>
            <a:lstStyle/>
            <a:p>
              <a:pPr algn="ctr"/>
              <a:r>
                <a:rPr sz="1500" b="0">
                  <a:solidFill>
                    <a:srgbClr val="000000"/>
                  </a:solidFill>
                  <a:latin typeface="Calibri"/>
                </a:rPr>
                <a:t>interleaves prediction and model updates</a:t>
              </a:r>
            </a:p>
          </p:txBody>
        </p:sp>
        <p:sp>
          <p:nvSpPr>
            <p:cNvPr id="14" name="Rectangle 13"/>
            <p:cNvSpPr/>
            <p:nvPr/>
          </p:nvSpPr>
          <p:spPr>
            <a:xfrm>
              <a:off x="9418320" y="3474720"/>
              <a:ext cx="2514600" cy="731520"/>
            </a:xfrm>
            <a:prstGeom prst="rect">
              <a:avLst/>
            </a:prstGeom>
            <a:solidFill>
              <a:srgbClr val="FFE0E0"/>
            </a:solidFill>
            <a:ln>
              <a:noFill/>
            </a:ln>
          </p:spPr>
          <p:style>
            <a:lnRef idx="1">
              <a:schemeClr val="accent1"/>
            </a:lnRef>
            <a:fillRef idx="3">
              <a:schemeClr val="accent1"/>
            </a:fillRef>
            <a:effectRef idx="2">
              <a:schemeClr val="accent1"/>
            </a:effectRef>
            <a:fontRef idx="minor">
              <a:schemeClr val="lt1"/>
            </a:fontRef>
          </p:style>
          <p:txBody>
            <a:bodyPr rtlCol="0" anchor="ctr" wrap="square" lIns="45720" rIns="45720"/>
            <a:lstStyle/>
            <a:p>
              <a:pPr algn="ctr"/>
              <a:r>
                <a:rPr sz="1500" b="0">
                  <a:solidFill>
                    <a:srgbClr val="000000"/>
                  </a:solidFill>
                  <a:latin typeface="Calibri"/>
                </a:rPr>
                <a:t>often processes a stream with limited storage</a:t>
              </a:r>
            </a:p>
          </p:txBody>
        </p:sp>
      </p:grpSp>
      <p:sp>
        <p:nvSpPr>
          <p:cNvPr id="15" name="description"/>
          <p:cNvSpPr txBox="1"/>
          <p:nvPr/>
        </p:nvSpPr>
        <p:spPr>
          <a:xfrm>
            <a:off x="6812280" y="4434840"/>
            <a:ext cx="5120640" cy="685800"/>
          </a:xfrm>
          <a:prstGeom prst="rect">
            <a:avLst/>
          </a:prstGeom>
          <a:noFill/>
        </p:spPr>
        <p:txBody>
          <a:bodyPr wrap="square" anchor="t" lIns="0" rIns="0" tIns="0" bIns="0">
            <a:spAutoFit/>
          </a:bodyPr>
          <a:lstStyle/>
          <a:p>
            <a:pPr algn="l"/>
            <a:r>
              <a:rPr sz="1400" b="0" i="0">
                <a:solidFill>
                  <a:srgbClr val="595959"/>
                </a:solidFill>
                <a:latin typeface="Calibri"/>
              </a:rPr>
              <a:t>Not about the internet. Mini-batches do not make training online. Reinforcement learning can be offline too: learning a policy from a fixed log of another policy's actions.</a:t>
            </a:r>
          </a:p>
        </p:txBody>
      </p:sp>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4">
                                            <p:txEl>
                                              <p:pRg st="0" end="0"/>
                                            </p:txEl>
                                          </p:spTgt>
                                        </p:tgtEl>
                                        <p:attrNameLst>
                                          <p:attrName>style.visibility</p:attrName>
                                        </p:attrNameLst>
                                      </p:cBhvr>
                                      <p:to>
                                        <p:strVal val="visible"/>
                                      </p:to>
                                    </p:set>
                                  </p:childTnLst>
                                </p:cTn>
                              </p:par>
                              <p:par>
                                <p:cTn id="7" presetID="1" presetClass="entr" presetSubtype="0" fill="hold" grpId="0" nodeType="withEffect">
                                  <p:stCondLst>
                                    <p:cond delay="0"/>
                                  </p:stCondLst>
                                  <p:childTnLst>
                                    <p:set>
                                      <p:cBhvr>
                                        <p:cTn id="8" dur="1" fill="hold">
                                          <p:stCondLst>
                                            <p:cond delay="0"/>
                                          </p:stCondLst>
                                        </p:cTn>
                                        <p:tgtEl>
                                          <p:spTgt spid="5"/>
                                        </p:tgtEl>
                                        <p:attrNameLst>
                                          <p:attrName>style.visibility</p:attrName>
                                        </p:attrNameLst>
                                      </p:cBhvr>
                                      <p:to>
                                        <p:strVal val="visible"/>
                                      </p:to>
                                    </p:set>
                                  </p:childTnLst>
                                </p:cTn>
                              </p:par>
                            </p:childTnLst>
                          </p:cTn>
                        </p:par>
                      </p:childTnLst>
                    </p:cTn>
                  </p:par>
                  <p:par>
                    <p:cTn id="9" fill="hold">
                      <p:stCondLst>
                        <p:cond delay="indefinite"/>
                      </p:stCondLst>
                      <p:childTnLst>
                        <p:par>
                          <p:cTn id="10" fill="hold">
                            <p:stCondLst>
                              <p:cond delay="0"/>
                            </p:stCondLst>
                            <p:childTnLst>
                              <p:par>
                                <p:cTn id="11" presetID="1" presetClass="entr" presetSubtype="0" fill="hold" grpId="0" nodeType="clickEffect">
                                  <p:stCondLst>
                                    <p:cond delay="0"/>
                                  </p:stCondLst>
                                  <p:childTnLst>
                                    <p:set>
                                      <p:cBhvr>
                                        <p:cTn id="12" dur="1" fill="hold">
                                          <p:stCondLst>
                                            <p:cond delay="0"/>
                                          </p:stCondLst>
                                        </p:cTn>
                                        <p:tgtEl>
                                          <p:spTgt spid="4">
                                            <p:txEl>
                                              <p:pRg st="1" end="1"/>
                                            </p:txEl>
                                          </p:spTgt>
                                        </p:tgtEl>
                                        <p:attrNameLst>
                                          <p:attrName>style.visibility</p:attrName>
                                        </p:attrNameLst>
                                      </p:cBhvr>
                                      <p:to>
                                        <p:strVal val="visible"/>
                                      </p:to>
                                    </p:set>
                                  </p:childTnLst>
                                </p:cTn>
                              </p:par>
                              <p:par>
                                <p:cTn id="13" presetID="1" presetClass="entr" presetSubtype="0" fill="hold" grpId="0" nodeType="withEffect">
                                  <p:stCondLst>
                                    <p:cond delay="0"/>
                                  </p:stCondLst>
                                  <p:childTnLst>
                                    <p:set>
                                      <p:cBhvr>
                                        <p:cTn id="14" dur="1" fill="hold">
                                          <p:stCondLst>
                                            <p:cond delay="0"/>
                                          </p:stCondLst>
                                        </p:cTn>
                                        <p:tgtEl>
                                          <p:spTgt spid="10"/>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grpId="0" nodeType="clickEffect">
                                  <p:stCondLst>
                                    <p:cond delay="0"/>
                                  </p:stCondLst>
                                  <p:childTnLst>
                                    <p:set>
                                      <p:cBhvr>
                                        <p:cTn id="18" dur="1" fill="hold">
                                          <p:stCondLst>
                                            <p:cond delay="0"/>
                                          </p:stCondLst>
                                        </p:cTn>
                                        <p:tgtEl>
                                          <p:spTgt spid="15"/>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4" grpId="0" build="p"/>
      <p:bldP spid="15" grpId="0"/>
    </p:bldLst>
  </p:timing>
</p:sld>
</file>

<file path=ppt/slides/slide3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b0_2">
            <a:extLst>
              <a:ext uri="{FF2B5EF4-FFF2-40B4-BE49-F238E27FC236}">
                <a16:creationId xmlns:a16="http://schemas.microsoft.com/office/drawing/2014/main" id="{33DE8782-7F2B-1033-00F6-2A6652EE0E80}"/>
              </a:ext>
            </a:extLst>
          </p:cNvPr>
          <p:cNvSpPr txBox="1"/>
          <p:nvPr/>
        </p:nvSpPr>
        <p:spPr>
          <a:xfrm>
            <a:off x="0" y="148566"/>
            <a:ext cx="11680992" cy="548640"/>
          </a:xfrm>
          <a:prstGeom prst="rect">
            <a:avLst/>
          </a:prstGeom>
          <a:noFill/>
          <a:ln>
            <a:noFill/>
          </a:ln>
        </p:spPr>
        <p:txBody>
          <a:bodyPr wrap="square" rtlCol="0" anchor="ctr"/>
          <a:lstStyle/>
          <a:p>
            <a:r>
              <a:rPr lang="en-US" sz="3200" b="1" dirty="0">
                <a:solidFill>
                  <a:srgbClr val="000000"/>
                </a:solidFill>
                <a:latin typeface="Calibri" pitchFamily="34" charset="0"/>
                <a:ea typeface="Calibri" pitchFamily="34" charset="-122"/>
                <a:cs typeface="Calibri" pitchFamily="34" charset="-120"/>
              </a:rPr>
              <a:t>Basic </a:t>
            </a:r>
            <a:r>
              <a:rPr lang="en-US" sz="3200" b="1" dirty="0">
                <a:solidFill>
                  <a:srgbClr val="FF0000"/>
                </a:solidFill>
                <a:latin typeface="Calibri" pitchFamily="34" charset="0"/>
                <a:ea typeface="Calibri" pitchFamily="34" charset="-122"/>
                <a:cs typeface="Calibri" pitchFamily="34" charset="-120"/>
              </a:rPr>
              <a:t>AI</a:t>
            </a:r>
            <a:r>
              <a:rPr lang="en-US" sz="3200" b="1" dirty="0">
                <a:solidFill>
                  <a:srgbClr val="000000"/>
                </a:solidFill>
                <a:latin typeface="Calibri" pitchFamily="34" charset="0"/>
                <a:ea typeface="Calibri" pitchFamily="34" charset="-122"/>
                <a:cs typeface="Calibri" pitchFamily="34" charset="-120"/>
              </a:rPr>
              <a:t>/</a:t>
            </a:r>
            <a:r>
              <a:rPr lang="en-US" sz="3200" b="1" dirty="0">
                <a:solidFill>
                  <a:srgbClr val="00B050"/>
                </a:solidFill>
                <a:latin typeface="Calibri" pitchFamily="34" charset="0"/>
                <a:ea typeface="Calibri" pitchFamily="34" charset="-122"/>
                <a:cs typeface="Calibri" pitchFamily="34" charset="-120"/>
              </a:rPr>
              <a:t>ML</a:t>
            </a:r>
            <a:r>
              <a:rPr lang="en-US" sz="3200" b="1" dirty="0">
                <a:solidFill>
                  <a:srgbClr val="000000"/>
                </a:solidFill>
                <a:latin typeface="Calibri" pitchFamily="34" charset="0"/>
                <a:ea typeface="Calibri" pitchFamily="34" charset="-122"/>
                <a:cs typeface="Calibri" pitchFamily="34" charset="-120"/>
              </a:rPr>
              <a:t>/</a:t>
            </a:r>
            <a:r>
              <a:rPr lang="en-US" sz="3200" b="1" dirty="0">
                <a:solidFill>
                  <a:srgbClr val="362FEC"/>
                </a:solidFill>
                <a:latin typeface="Calibri" pitchFamily="34" charset="0"/>
                <a:ea typeface="Calibri" pitchFamily="34" charset="-122"/>
                <a:cs typeface="Calibri" pitchFamily="34" charset="-120"/>
              </a:rPr>
              <a:t>DL</a:t>
            </a:r>
            <a:r>
              <a:rPr lang="en-US" sz="3200" b="1" dirty="0">
                <a:solidFill>
                  <a:srgbClr val="000000"/>
                </a:solidFill>
                <a:latin typeface="Calibri" pitchFamily="34" charset="0"/>
                <a:ea typeface="Calibri" pitchFamily="34" charset="-122"/>
                <a:cs typeface="Calibri" pitchFamily="34" charset="-120"/>
              </a:rPr>
              <a:t> Terminology</a:t>
            </a:r>
            <a:endParaRPr lang="en-US" sz="3200" dirty="0">
              <a:solidFill>
                <a:srgbClr val="362FEC"/>
              </a:solidFill>
            </a:endParaRPr>
          </a:p>
        </p:txBody>
      </p:sp>
      <p:sp>
        <p:nvSpPr>
          <p:cNvPr id="3" name="subheading">
            <a:extLst>
              <a:ext uri="{FF2B5EF4-FFF2-40B4-BE49-F238E27FC236}">
                <a16:creationId xmlns:a16="http://schemas.microsoft.com/office/drawing/2014/main" id="{5CB8A4AA-40B1-94AE-8EEE-080599481F78}"/>
              </a:ext>
            </a:extLst>
          </p:cNvPr>
          <p:cNvSpPr txBox="1"/>
          <p:nvPr/>
        </p:nvSpPr>
        <p:spPr>
          <a:xfrm>
            <a:off x="292608" y="868680"/>
            <a:ext cx="11430000" cy="411480"/>
          </a:xfrm>
          <a:prstGeom prst="rect">
            <a:avLst/>
          </a:prstGeom>
          <a:noFill/>
          <a:ln>
            <a:noFill/>
          </a:ln>
        </p:spPr>
        <p:txBody>
          <a:bodyPr wrap="square" lIns="0" tIns="0" rIns="0" bIns="0" rtlCol="0" anchor="ctr"/>
          <a:lstStyle/>
          <a:p>
            <a:pPr marL="0" indent="0">
              <a:buNone/>
            </a:pPr>
            <a:r>
              <a:rPr lang="en-US" sz="2000" b="1" dirty="0">
                <a:solidFill>
                  <a:srgbClr val="362FEC"/>
                </a:solidFill>
                <a:latin typeface="Calibri" panose="020F0502020204030204" pitchFamily="34" charset="0"/>
                <a:cs typeface="Calibri" panose="020F0502020204030204" pitchFamily="34" charset="0"/>
              </a:rPr>
              <a:t>Tasks: what result is required</a:t>
            </a:r>
          </a:p>
        </p:txBody>
      </p:sp>
      <p:sp>
        <p:nvSpPr>
          <p:cNvPr id="4" name="points"/>
          <p:cNvSpPr txBox="1"/>
          <p:nvPr/>
        </p:nvSpPr>
        <p:spPr>
          <a:xfrm>
            <a:off x="384048" y="1417320"/>
            <a:ext cx="6126480" cy="5166360"/>
          </a:xfrm>
          <a:prstGeom prst="rect">
            <a:avLst/>
          </a:prstGeom>
          <a:noFill/>
        </p:spPr>
        <p:txBody>
          <a:bodyPr wrap="square" lIns="0" rIns="0" tIns="0" bIns="0">
            <a:spAutoFit/>
          </a:bodyPr>
          <a:lstStyle/>
          <a:p>
            <a:pPr algn="l">
              <a:spcAft>
                <a:spcPts val="1400"/>
              </a:spcAft>
            </a:pPr>
            <a:r>
              <a:rPr sz="2000" b="1" i="0">
                <a:solidFill>
                  <a:srgbClr val="362FEC"/>
                </a:solidFill>
                <a:latin typeface="Calibri"/>
              </a:rPr>
              <a:t>Classification</a:t>
            </a:r>
            <a:r>
              <a:rPr sz="2000" b="0" i="0">
                <a:solidFill>
                  <a:srgbClr val="000000"/>
                </a:solidFill>
                <a:latin typeface="Calibri"/>
              </a:rPr>
              <a:t>: assign a category, or class probabilities.</a:t>
            </a:r>
          </a:p>
          <a:p>
            <a:pPr algn="l">
              <a:spcAft>
                <a:spcPts val="1400"/>
              </a:spcAft>
            </a:pPr>
            <a:r>
              <a:rPr sz="2000" b="1" i="0">
                <a:solidFill>
                  <a:srgbClr val="00B050"/>
                </a:solidFill>
                <a:latin typeface="Calibri"/>
              </a:rPr>
              <a:t>Regression</a:t>
            </a:r>
            <a:r>
              <a:rPr sz="2000" b="0" i="0">
                <a:solidFill>
                  <a:srgbClr val="000000"/>
                </a:solidFill>
                <a:latin typeface="Calibri"/>
              </a:rPr>
              <a:t>: predict a number.</a:t>
            </a:r>
          </a:p>
          <a:p>
            <a:pPr algn="l">
              <a:spcAft>
                <a:spcPts val="1400"/>
              </a:spcAft>
            </a:pPr>
            <a:r>
              <a:rPr sz="2000" b="1" i="0">
                <a:solidFill>
                  <a:srgbClr val="FF0000"/>
                </a:solidFill>
                <a:latin typeface="Calibri"/>
              </a:rPr>
              <a:t>Density estimation</a:t>
            </a:r>
            <a:r>
              <a:rPr sz="2000" b="0" i="0">
                <a:solidFill>
                  <a:srgbClr val="000000"/>
                </a:solidFill>
                <a:latin typeface="Calibri"/>
              </a:rPr>
              <a:t>: estimate how the observations are distributed.</a:t>
            </a:r>
          </a:p>
        </p:txBody>
      </p:sp>
      <p:grpSp>
        <p:nvGrpSpPr>
          <p:cNvPr id="5" name="picture 1"/>
          <p:cNvGrpSpPr/>
          <p:nvPr/>
        </p:nvGrpSpPr>
        <p:grpSpPr>
          <a:xfrm>
            <a:off x="6812280" y="1371600"/>
            <a:ext cx="5120640" cy="4498848"/>
            <a:chOff x="6812280" y="1371600"/>
            <a:chExt cx="5120640" cy="4498848"/>
          </a:xfrm>
        </p:grpSpPr>
        <p:pic>
          <p:nvPicPr>
            <p:cNvPr id="6" name="Picture 5" descr="image.png"/>
            <p:cNvPicPr>
              <a:picLocks noChangeAspect="1"/>
            </p:cNvPicPr>
            <p:nvPr/>
          </p:nvPicPr>
          <p:blipFill>
            <a:blip r:embed="rId2"/>
            <a:stretch>
              <a:fillRect/>
            </a:stretch>
          </p:blipFill>
          <p:spPr>
            <a:xfrm>
              <a:off x="6962546" y="1371600"/>
              <a:ext cx="4820106" cy="3566160"/>
            </a:xfrm>
            <a:prstGeom prst="rect">
              <a:avLst/>
            </a:prstGeom>
          </p:spPr>
        </p:pic>
        <p:sp>
          <p:nvSpPr>
            <p:cNvPr id="7" name="description"/>
            <p:cNvSpPr txBox="1"/>
            <p:nvPr/>
          </p:nvSpPr>
          <p:spPr>
            <a:xfrm>
              <a:off x="6812280" y="5047488"/>
              <a:ext cx="5120640" cy="822960"/>
            </a:xfrm>
            <a:prstGeom prst="rect">
              <a:avLst/>
            </a:prstGeom>
            <a:noFill/>
          </p:spPr>
          <p:txBody>
            <a:bodyPr wrap="square" anchor="t" lIns="0" rIns="0" tIns="0" bIns="0">
              <a:spAutoFit/>
            </a:bodyPr>
            <a:lstStyle/>
            <a:p>
              <a:pPr algn="l"/>
              <a:r>
                <a:rPr sz="1400" b="0" i="0">
                  <a:solidFill>
                    <a:srgbClr val="595959"/>
                  </a:solidFill>
                  <a:latin typeface="Calibri"/>
                </a:rPr>
                <a:t>The tree splits the plane into regions, one per species; the decision boundary is where the prediction changes. Coding the species as 0, 1, 2 would not make this regression.</a:t>
              </a:r>
            </a:p>
          </p:txBody>
        </p:sp>
      </p:grpSp>
      <p:grpSp>
        <p:nvGrpSpPr>
          <p:cNvPr id="8" name="picture 2"/>
          <p:cNvGrpSpPr/>
          <p:nvPr/>
        </p:nvGrpSpPr>
        <p:grpSpPr>
          <a:xfrm>
            <a:off x="6812280" y="1371600"/>
            <a:ext cx="5120640" cy="4498848"/>
            <a:chOff x="6812280" y="1371600"/>
            <a:chExt cx="5120640" cy="4498848"/>
          </a:xfrm>
        </p:grpSpPr>
        <p:pic>
          <p:nvPicPr>
            <p:cNvPr id="9" name="Picture 8" descr="image.png"/>
            <p:cNvPicPr>
              <a:picLocks noChangeAspect="1"/>
            </p:cNvPicPr>
            <p:nvPr/>
          </p:nvPicPr>
          <p:blipFill>
            <a:blip r:embed="rId3"/>
            <a:stretch>
              <a:fillRect/>
            </a:stretch>
          </p:blipFill>
          <p:spPr>
            <a:xfrm>
              <a:off x="6897429" y="1371600"/>
              <a:ext cx="4950340" cy="3566160"/>
            </a:xfrm>
            <a:prstGeom prst="rect">
              <a:avLst/>
            </a:prstGeom>
          </p:spPr>
        </p:pic>
        <p:sp>
          <p:nvSpPr>
            <p:cNvPr id="10" name="description"/>
            <p:cNvSpPr txBox="1"/>
            <p:nvPr/>
          </p:nvSpPr>
          <p:spPr>
            <a:xfrm>
              <a:off x="6812280" y="5047488"/>
              <a:ext cx="5120640" cy="822960"/>
            </a:xfrm>
            <a:prstGeom prst="rect">
              <a:avLst/>
            </a:prstGeom>
            <a:noFill/>
          </p:spPr>
          <p:txBody>
            <a:bodyPr wrap="square" anchor="t" lIns="0" rIns="0" tIns="0" bIns="0">
              <a:spAutoFit/>
            </a:bodyPr>
            <a:lstStyle/>
            <a:p>
              <a:pPr algn="l"/>
              <a:r>
                <a:rPr sz="1400" b="0" i="0">
                  <a:solidFill>
                    <a:srgbClr val="595959"/>
                  </a:solidFill>
                  <a:latin typeface="Calibri"/>
                </a:rPr>
                <a:t>Floor area to monthly rent (synthetic data). The fitted line gives a rent for any area in range; the observed rents need not lie on it.</a:t>
              </a:r>
            </a:p>
          </p:txBody>
        </p:sp>
      </p:grpSp>
      <p:grpSp>
        <p:nvGrpSpPr>
          <p:cNvPr id="11" name="picture 3"/>
          <p:cNvGrpSpPr/>
          <p:nvPr/>
        </p:nvGrpSpPr>
        <p:grpSpPr>
          <a:xfrm>
            <a:off x="6812280" y="1371600"/>
            <a:ext cx="5120640" cy="3026593"/>
            <a:chOff x="6812280" y="1371600"/>
            <a:chExt cx="5120640" cy="3026593"/>
          </a:xfrm>
        </p:grpSpPr>
        <p:pic>
          <p:nvPicPr>
            <p:cNvPr id="12" name="Picture 11" descr="image.png"/>
            <p:cNvPicPr>
              <a:picLocks noChangeAspect="1"/>
            </p:cNvPicPr>
            <p:nvPr/>
          </p:nvPicPr>
          <p:blipFill>
            <a:blip r:embed="rId4"/>
            <a:stretch>
              <a:fillRect/>
            </a:stretch>
          </p:blipFill>
          <p:spPr>
            <a:xfrm>
              <a:off x="6812280" y="1371600"/>
              <a:ext cx="5120640" cy="2093905"/>
            </a:xfrm>
            <a:prstGeom prst="rect">
              <a:avLst/>
            </a:prstGeom>
          </p:spPr>
        </p:pic>
        <p:sp>
          <p:nvSpPr>
            <p:cNvPr id="13" name="description"/>
            <p:cNvSpPr txBox="1"/>
            <p:nvPr/>
          </p:nvSpPr>
          <p:spPr>
            <a:xfrm>
              <a:off x="6812280" y="3575233"/>
              <a:ext cx="5120640" cy="822960"/>
            </a:xfrm>
            <a:prstGeom prst="rect">
              <a:avLst/>
            </a:prstGeom>
            <a:noFill/>
          </p:spPr>
          <p:txBody>
            <a:bodyPr wrap="square" anchor="t" lIns="0" rIns="0" tIns="0" bIns="0">
              <a:spAutoFit/>
            </a:bodyPr>
            <a:lstStyle/>
            <a:p>
              <a:pPr algn="l"/>
              <a:r>
                <a:rPr sz="1400" b="0" i="0">
                  <a:solidFill>
                    <a:srgbClr val="595959"/>
                  </a:solidFill>
                  <a:latin typeface="Calibri"/>
                </a:rPr>
                <a:t>Old Faithful: 272 waits between eruptions. The density has two peaks, near 54 and 80 minutes, and the mean, 71, is rarely what happens. Conditioning on the last eruption separates the two.</a:t>
              </a:r>
            </a:p>
          </p:txBody>
        </p:sp>
      </p:grpSp>
      <p:sp>
        <p:nvSpPr>
          <p:cNvPr id="14" name="takeaway"/>
          <p:cNvSpPr txBox="1"/>
          <p:nvPr/>
        </p:nvSpPr>
        <p:spPr>
          <a:xfrm>
            <a:off x="384048" y="3931920"/>
            <a:ext cx="6126480" cy="457200"/>
          </a:xfrm>
          <a:prstGeom prst="rect">
            <a:avLst/>
          </a:prstGeom>
          <a:noFill/>
        </p:spPr>
        <p:txBody>
          <a:bodyPr wrap="square" lIns="0" rIns="0" tIns="0" bIns="0">
            <a:spAutoFit/>
          </a:bodyPr>
          <a:lstStyle/>
          <a:p>
            <a:pPr algn="l">
              <a:spcAft>
                <a:spcPts val="1000"/>
              </a:spcAft>
            </a:pPr>
            <a:r>
              <a:rPr sz="2000" b="1" i="0">
                <a:solidFill>
                  <a:srgbClr val="362FEC"/>
                </a:solidFill>
                <a:latin typeface="Calibri"/>
              </a:rPr>
              <a:t>A language model is a density estimator for text</a:t>
            </a:r>
            <a:r>
              <a:rPr sz="2000" b="0" i="0">
                <a:solidFill>
                  <a:srgbClr val="000000"/>
                </a:solidFill>
                <a:latin typeface="Calibri"/>
              </a:rPr>
              <a:t>; generating text is sampling from it.</a:t>
            </a:r>
          </a:p>
        </p:txBody>
      </p:sp>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4">
                                            <p:txEl>
                                              <p:pRg st="0" end="0"/>
                                            </p:txEl>
                                          </p:spTgt>
                                        </p:tgtEl>
                                        <p:attrNameLst>
                                          <p:attrName>style.visibility</p:attrName>
                                        </p:attrNameLst>
                                      </p:cBhvr>
                                      <p:to>
                                        <p:strVal val="visible"/>
                                      </p:to>
                                    </p:set>
                                  </p:childTnLst>
                                </p:cTn>
                              </p:par>
                              <p:par>
                                <p:cTn id="7" presetID="1" presetClass="entr" presetSubtype="0" fill="hold" grpId="0" nodeType="withEffect">
                                  <p:stCondLst>
                                    <p:cond delay="0"/>
                                  </p:stCondLst>
                                  <p:childTnLst>
                                    <p:set>
                                      <p:cBhvr>
                                        <p:cTn id="8" dur="1" fill="hold">
                                          <p:stCondLst>
                                            <p:cond delay="0"/>
                                          </p:stCondLst>
                                        </p:cTn>
                                        <p:tgtEl>
                                          <p:spTgt spid="5"/>
                                        </p:tgtEl>
                                        <p:attrNameLst>
                                          <p:attrName>style.visibility</p:attrName>
                                        </p:attrNameLst>
                                      </p:cBhvr>
                                      <p:to>
                                        <p:strVal val="visible"/>
                                      </p:to>
                                    </p:set>
                                  </p:childTnLst>
                                </p:cTn>
                              </p:par>
                            </p:childTnLst>
                          </p:cTn>
                        </p:par>
                      </p:childTnLst>
                    </p:cTn>
                  </p:par>
                  <p:par>
                    <p:cTn id="9" fill="hold">
                      <p:stCondLst>
                        <p:cond delay="indefinite"/>
                      </p:stCondLst>
                      <p:childTnLst>
                        <p:par>
                          <p:cTn id="10" fill="hold">
                            <p:stCondLst>
                              <p:cond delay="0"/>
                            </p:stCondLst>
                            <p:childTnLst>
                              <p:par>
                                <p:cTn id="11" presetID="1" presetClass="entr" presetSubtype="0" fill="hold" grpId="0" nodeType="clickEffect">
                                  <p:stCondLst>
                                    <p:cond delay="0"/>
                                  </p:stCondLst>
                                  <p:childTnLst>
                                    <p:set>
                                      <p:cBhvr>
                                        <p:cTn id="12" dur="1" fill="hold">
                                          <p:stCondLst>
                                            <p:cond delay="0"/>
                                          </p:stCondLst>
                                        </p:cTn>
                                        <p:tgtEl>
                                          <p:spTgt spid="4">
                                            <p:txEl>
                                              <p:pRg st="1" end="1"/>
                                            </p:txEl>
                                          </p:spTgt>
                                        </p:tgtEl>
                                        <p:attrNameLst>
                                          <p:attrName>style.visibility</p:attrName>
                                        </p:attrNameLst>
                                      </p:cBhvr>
                                      <p:to>
                                        <p:strVal val="visible"/>
                                      </p:to>
                                    </p:set>
                                  </p:childTnLst>
                                </p:cTn>
                              </p:par>
                              <p:par>
                                <p:cTn id="13" presetID="1" presetClass="entr" presetSubtype="0" fill="hold" grpId="0" nodeType="withEffect">
                                  <p:stCondLst>
                                    <p:cond delay="0"/>
                                  </p:stCondLst>
                                  <p:childTnLst>
                                    <p:set>
                                      <p:cBhvr>
                                        <p:cTn id="14" dur="1" fill="hold">
                                          <p:stCondLst>
                                            <p:cond delay="0"/>
                                          </p:stCondLst>
                                        </p:cTn>
                                        <p:tgtEl>
                                          <p:spTgt spid="8"/>
                                        </p:tgtEl>
                                        <p:attrNameLst>
                                          <p:attrName>style.visibility</p:attrName>
                                        </p:attrNameLst>
                                      </p:cBhvr>
                                      <p:to>
                                        <p:strVal val="visible"/>
                                      </p:to>
                                    </p:set>
                                  </p:childTnLst>
                                </p:cTn>
                              </p:par>
                              <p:par>
                                <p:cTn id="15" presetID="1" presetClass="exit" presetSubtype="0" fill="hold" grpId="1" nodeType="withEffect">
                                  <p:stCondLst>
                                    <p:cond delay="0"/>
                                  </p:stCondLst>
                                  <p:childTnLst>
                                    <p:set>
                                      <p:cBhvr>
                                        <p:cTn id="16" dur="1" fill="hold">
                                          <p:stCondLst>
                                            <p:cond delay="0"/>
                                          </p:stCondLst>
                                        </p:cTn>
                                        <p:tgtEl>
                                          <p:spTgt spid="5"/>
                                        </p:tgtEl>
                                        <p:attrNameLst>
                                          <p:attrName>style.visibility</p:attrName>
                                        </p:attrNameLst>
                                      </p:cBhvr>
                                      <p:to>
                                        <p:strVal val="hidden"/>
                                      </p:to>
                                    </p:set>
                                  </p:childTnLst>
                                </p:cTn>
                              </p:par>
                            </p:childTnLst>
                          </p:cTn>
                        </p:par>
                      </p:childTnLst>
                    </p:cTn>
                  </p:par>
                  <p:par>
                    <p:cTn id="17" fill="hold">
                      <p:stCondLst>
                        <p:cond delay="indefinite"/>
                      </p:stCondLst>
                      <p:childTnLst>
                        <p:par>
                          <p:cTn id="18" fill="hold">
                            <p:stCondLst>
                              <p:cond delay="0"/>
                            </p:stCondLst>
                            <p:childTnLst>
                              <p:par>
                                <p:cTn id="19" presetID="1" presetClass="entr" presetSubtype="0" fill="hold" grpId="0" nodeType="clickEffect">
                                  <p:stCondLst>
                                    <p:cond delay="0"/>
                                  </p:stCondLst>
                                  <p:childTnLst>
                                    <p:set>
                                      <p:cBhvr>
                                        <p:cTn id="20" dur="1" fill="hold">
                                          <p:stCondLst>
                                            <p:cond delay="0"/>
                                          </p:stCondLst>
                                        </p:cTn>
                                        <p:tgtEl>
                                          <p:spTgt spid="4">
                                            <p:txEl>
                                              <p:pRg st="2" end="2"/>
                                            </p:txEl>
                                          </p:spTgt>
                                        </p:tgtEl>
                                        <p:attrNameLst>
                                          <p:attrName>style.visibility</p:attrName>
                                        </p:attrNameLst>
                                      </p:cBhvr>
                                      <p:to>
                                        <p:strVal val="visible"/>
                                      </p:to>
                                    </p:set>
                                  </p:childTnLst>
                                </p:cTn>
                              </p:par>
                              <p:par>
                                <p:cTn id="21" presetID="1" presetClass="entr" presetSubtype="0" fill="hold" grpId="0" nodeType="withEffect">
                                  <p:stCondLst>
                                    <p:cond delay="0"/>
                                  </p:stCondLst>
                                  <p:childTnLst>
                                    <p:set>
                                      <p:cBhvr>
                                        <p:cTn id="22" dur="1" fill="hold">
                                          <p:stCondLst>
                                            <p:cond delay="0"/>
                                          </p:stCondLst>
                                        </p:cTn>
                                        <p:tgtEl>
                                          <p:spTgt spid="11"/>
                                        </p:tgtEl>
                                        <p:attrNameLst>
                                          <p:attrName>style.visibility</p:attrName>
                                        </p:attrNameLst>
                                      </p:cBhvr>
                                      <p:to>
                                        <p:strVal val="visible"/>
                                      </p:to>
                                    </p:set>
                                  </p:childTnLst>
                                </p:cTn>
                              </p:par>
                              <p:par>
                                <p:cTn id="23" presetID="1" presetClass="exit" presetSubtype="0" fill="hold" grpId="1" nodeType="withEffect">
                                  <p:stCondLst>
                                    <p:cond delay="0"/>
                                  </p:stCondLst>
                                  <p:childTnLst>
                                    <p:set>
                                      <p:cBhvr>
                                        <p:cTn id="24" dur="1" fill="hold">
                                          <p:stCondLst>
                                            <p:cond delay="0"/>
                                          </p:stCondLst>
                                        </p:cTn>
                                        <p:tgtEl>
                                          <p:spTgt spid="8"/>
                                        </p:tgtEl>
                                        <p:attrNameLst>
                                          <p:attrName>style.visibility</p:attrName>
                                        </p:attrNameLst>
                                      </p:cBhvr>
                                      <p:to>
                                        <p:strVal val="hidden"/>
                                      </p:to>
                                    </p:set>
                                  </p:childTnLst>
                                </p:cTn>
                              </p:par>
                            </p:childTnLst>
                          </p:cTn>
                        </p:par>
                      </p:childTnLst>
                    </p:cTn>
                  </p:par>
                  <p:par>
                    <p:cTn id="25" fill="hold">
                      <p:stCondLst>
                        <p:cond delay="indefinite"/>
                      </p:stCondLst>
                      <p:childTnLst>
                        <p:par>
                          <p:cTn id="26" fill="hold">
                            <p:stCondLst>
                              <p:cond delay="0"/>
                            </p:stCondLst>
                            <p:childTnLst>
                              <p:par>
                                <p:cTn id="27" presetID="1" presetClass="entr" presetSubtype="0" fill="hold" grpId="0" nodeType="clickEffect">
                                  <p:stCondLst>
                                    <p:cond delay="0"/>
                                  </p:stCondLst>
                                  <p:childTnLst>
                                    <p:set>
                                      <p:cBhvr>
                                        <p:cTn id="28" dur="1" fill="hold">
                                          <p:stCondLst>
                                            <p:cond delay="0"/>
                                          </p:stCondLst>
                                        </p:cTn>
                                        <p:tgtEl>
                                          <p:spTgt spid="14"/>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4" grpId="0" build="p"/>
      <p:bldP spid="14" grpId="0"/>
    </p:bldLst>
  </p:timing>
</p:sld>
</file>

<file path=ppt/slides/slide3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b0_2">
            <a:extLst>
              <a:ext uri="{FF2B5EF4-FFF2-40B4-BE49-F238E27FC236}">
                <a16:creationId xmlns:a16="http://schemas.microsoft.com/office/drawing/2014/main" id="{33DE8782-7F2B-1033-00F6-2A6652EE0E80}"/>
              </a:ext>
            </a:extLst>
          </p:cNvPr>
          <p:cNvSpPr txBox="1"/>
          <p:nvPr/>
        </p:nvSpPr>
        <p:spPr>
          <a:xfrm>
            <a:off x="0" y="148566"/>
            <a:ext cx="11680992" cy="548640"/>
          </a:xfrm>
          <a:prstGeom prst="rect">
            <a:avLst/>
          </a:prstGeom>
          <a:noFill/>
          <a:ln>
            <a:noFill/>
          </a:ln>
        </p:spPr>
        <p:txBody>
          <a:bodyPr wrap="square" rtlCol="0" anchor="ctr"/>
          <a:lstStyle/>
          <a:p>
            <a:r>
              <a:rPr lang="en-US" sz="3200" b="1" dirty="0">
                <a:solidFill>
                  <a:srgbClr val="000000"/>
                </a:solidFill>
                <a:latin typeface="Calibri" pitchFamily="34" charset="0"/>
                <a:ea typeface="Calibri" pitchFamily="34" charset="-122"/>
                <a:cs typeface="Calibri" pitchFamily="34" charset="-120"/>
              </a:rPr>
              <a:t>Basic </a:t>
            </a:r>
            <a:r>
              <a:rPr lang="en-US" sz="3200" b="1" dirty="0">
                <a:solidFill>
                  <a:srgbClr val="FF0000"/>
                </a:solidFill>
                <a:latin typeface="Calibri" pitchFamily="34" charset="0"/>
                <a:ea typeface="Calibri" pitchFamily="34" charset="-122"/>
                <a:cs typeface="Calibri" pitchFamily="34" charset="-120"/>
              </a:rPr>
              <a:t>AI</a:t>
            </a:r>
            <a:r>
              <a:rPr lang="en-US" sz="3200" b="1" dirty="0">
                <a:solidFill>
                  <a:srgbClr val="000000"/>
                </a:solidFill>
                <a:latin typeface="Calibri" pitchFamily="34" charset="0"/>
                <a:ea typeface="Calibri" pitchFamily="34" charset="-122"/>
                <a:cs typeface="Calibri" pitchFamily="34" charset="-120"/>
              </a:rPr>
              <a:t>/</a:t>
            </a:r>
            <a:r>
              <a:rPr lang="en-US" sz="3200" b="1" dirty="0">
                <a:solidFill>
                  <a:srgbClr val="00B050"/>
                </a:solidFill>
                <a:latin typeface="Calibri" pitchFamily="34" charset="0"/>
                <a:ea typeface="Calibri" pitchFamily="34" charset="-122"/>
                <a:cs typeface="Calibri" pitchFamily="34" charset="-120"/>
              </a:rPr>
              <a:t>ML</a:t>
            </a:r>
            <a:r>
              <a:rPr lang="en-US" sz="3200" b="1" dirty="0">
                <a:solidFill>
                  <a:srgbClr val="000000"/>
                </a:solidFill>
                <a:latin typeface="Calibri" pitchFamily="34" charset="0"/>
                <a:ea typeface="Calibri" pitchFamily="34" charset="-122"/>
                <a:cs typeface="Calibri" pitchFamily="34" charset="-120"/>
              </a:rPr>
              <a:t>/</a:t>
            </a:r>
            <a:r>
              <a:rPr lang="en-US" sz="3200" b="1" dirty="0">
                <a:solidFill>
                  <a:srgbClr val="362FEC"/>
                </a:solidFill>
                <a:latin typeface="Calibri" pitchFamily="34" charset="0"/>
                <a:ea typeface="Calibri" pitchFamily="34" charset="-122"/>
                <a:cs typeface="Calibri" pitchFamily="34" charset="-120"/>
              </a:rPr>
              <a:t>DL</a:t>
            </a:r>
            <a:r>
              <a:rPr lang="en-US" sz="3200" b="1" dirty="0">
                <a:solidFill>
                  <a:srgbClr val="000000"/>
                </a:solidFill>
                <a:latin typeface="Calibri" pitchFamily="34" charset="0"/>
                <a:ea typeface="Calibri" pitchFamily="34" charset="-122"/>
                <a:cs typeface="Calibri" pitchFamily="34" charset="-120"/>
              </a:rPr>
              <a:t> Terminology</a:t>
            </a:r>
            <a:endParaRPr lang="en-US" sz="3200" dirty="0">
              <a:solidFill>
                <a:srgbClr val="362FEC"/>
              </a:solidFill>
            </a:endParaRPr>
          </a:p>
        </p:txBody>
      </p:sp>
      <p:sp>
        <p:nvSpPr>
          <p:cNvPr id="3" name="subheading">
            <a:extLst>
              <a:ext uri="{FF2B5EF4-FFF2-40B4-BE49-F238E27FC236}">
                <a16:creationId xmlns:a16="http://schemas.microsoft.com/office/drawing/2014/main" id="{5CB8A4AA-40B1-94AE-8EEE-080599481F78}"/>
              </a:ext>
            </a:extLst>
          </p:cNvPr>
          <p:cNvSpPr txBox="1"/>
          <p:nvPr/>
        </p:nvSpPr>
        <p:spPr>
          <a:xfrm>
            <a:off x="292608" y="868680"/>
            <a:ext cx="11430000" cy="411480"/>
          </a:xfrm>
          <a:prstGeom prst="rect">
            <a:avLst/>
          </a:prstGeom>
          <a:noFill/>
          <a:ln>
            <a:noFill/>
          </a:ln>
        </p:spPr>
        <p:txBody>
          <a:bodyPr wrap="square" lIns="0" tIns="0" rIns="0" bIns="0" rtlCol="0" anchor="ctr"/>
          <a:lstStyle/>
          <a:p>
            <a:pPr marL="0" indent="0">
              <a:buNone/>
            </a:pPr>
            <a:r>
              <a:rPr lang="en-US" sz="2000" b="1" dirty="0">
                <a:solidFill>
                  <a:srgbClr val="362FEC"/>
                </a:solidFill>
                <a:latin typeface="Calibri" panose="020F0502020204030204" pitchFamily="34" charset="0"/>
                <a:cs typeface="Calibri" panose="020F0502020204030204" pitchFamily="34" charset="0"/>
              </a:rPr>
              <a:t>Models, parameters, and architectures</a:t>
            </a:r>
          </a:p>
        </p:txBody>
      </p:sp>
      <p:sp>
        <p:nvSpPr>
          <p:cNvPr id="4" name="points"/>
          <p:cNvSpPr txBox="1"/>
          <p:nvPr/>
        </p:nvSpPr>
        <p:spPr>
          <a:xfrm>
            <a:off x="384048" y="1417320"/>
            <a:ext cx="6126480" cy="5166360"/>
          </a:xfrm>
          <a:prstGeom prst="rect">
            <a:avLst/>
          </a:prstGeom>
          <a:noFill/>
        </p:spPr>
        <p:txBody>
          <a:bodyPr wrap="square" lIns="0" rIns="0" tIns="0" bIns="0">
            <a:spAutoFit/>
          </a:bodyPr>
          <a:lstStyle/>
          <a:p>
            <a:pPr algn="l">
              <a:spcAft>
                <a:spcPts val="1000"/>
              </a:spcAft>
            </a:pPr>
            <a:r>
              <a:rPr sz="1900" b="1" i="0">
                <a:solidFill>
                  <a:srgbClr val="362FEC"/>
                </a:solidFill>
                <a:latin typeface="Calibri"/>
              </a:rPr>
              <a:t>Model</a:t>
            </a:r>
            <a:r>
              <a:rPr sz="1900" b="0" i="0">
                <a:solidFill>
                  <a:srgbClr val="000000"/>
                </a:solidFill>
                <a:latin typeface="Calibri"/>
              </a:rPr>
              <a:t>: represents a relationship or a distribution.</a:t>
            </a:r>
          </a:p>
          <a:p>
            <a:pPr algn="l">
              <a:spcAft>
                <a:spcPts val="1000"/>
              </a:spcAft>
            </a:pPr>
            <a:r>
              <a:rPr sz="1900" b="1" i="0">
                <a:solidFill>
                  <a:srgbClr val="362FEC"/>
                </a:solidFill>
                <a:latin typeface="Calibri"/>
              </a:rPr>
              <a:t>Model class</a:t>
            </a:r>
            <a:r>
              <a:rPr sz="1900" b="0" i="0">
                <a:solidFill>
                  <a:srgbClr val="000000"/>
                </a:solidFill>
                <a:latin typeface="Calibri"/>
              </a:rPr>
              <a:t>: the family considered; training picks one member.</a:t>
            </a:r>
          </a:p>
          <a:p>
            <a:pPr algn="l">
              <a:spcAft>
                <a:spcPts val="1000"/>
              </a:spcAft>
            </a:pPr>
            <a:r>
              <a:rPr sz="1900" b="1" i="0">
                <a:solidFill>
                  <a:srgbClr val="00B050"/>
                </a:solidFill>
                <a:latin typeface="Calibri"/>
              </a:rPr>
              <a:t>Parameters</a:t>
            </a:r>
            <a:r>
              <a:rPr sz="1900" b="0" i="0">
                <a:solidFill>
                  <a:srgbClr val="000000"/>
                </a:solidFill>
                <a:latin typeface="Calibri"/>
              </a:rPr>
              <a:t> are learned (weights); </a:t>
            </a:r>
            <a:r>
              <a:rPr sz="1900" b="1" i="0">
                <a:solidFill>
                  <a:srgbClr val="FF0000"/>
                </a:solidFill>
                <a:latin typeface="Calibri"/>
              </a:rPr>
              <a:t>hyperparameters</a:t>
            </a:r>
            <a:r>
              <a:rPr sz="1900" b="0" i="0">
                <a:solidFill>
                  <a:srgbClr val="000000"/>
                </a:solidFill>
                <a:latin typeface="Calibri"/>
              </a:rPr>
              <a:t> are chosen outside learning (width, learning rate).</a:t>
            </a:r>
          </a:p>
          <a:p>
            <a:pPr algn="l">
              <a:spcAft>
                <a:spcPts val="1000"/>
              </a:spcAft>
            </a:pPr>
            <a:r>
              <a:rPr sz="1900" b="1" i="0">
                <a:solidFill>
                  <a:srgbClr val="FF0000"/>
                </a:solidFill>
                <a:latin typeface="Calibri"/>
              </a:rPr>
              <a:t>Representation</a:t>
            </a:r>
            <a:r>
              <a:rPr sz="1900" b="0" i="0">
                <a:solidFill>
                  <a:srgbClr val="000000"/>
                </a:solidFill>
                <a:latin typeface="Calibri"/>
              </a:rPr>
              <a:t>: the form in which the input reaches the model.</a:t>
            </a:r>
          </a:p>
          <a:p>
            <a:pPr algn="l">
              <a:spcAft>
                <a:spcPts val="1000"/>
              </a:spcAft>
            </a:pPr>
            <a:r>
              <a:rPr sz="1900" b="1" i="0">
                <a:solidFill>
                  <a:srgbClr val="FF0000"/>
                </a:solidFill>
                <a:latin typeface="Calibri"/>
              </a:rPr>
              <a:t>Architecture</a:t>
            </a:r>
            <a:r>
              <a:rPr sz="1900" b="0" i="0">
                <a:solidFill>
                  <a:srgbClr val="000000"/>
                </a:solidFill>
                <a:latin typeface="Calibri"/>
              </a:rPr>
              <a:t>: the form of the computation; it fixes the model class.</a:t>
            </a:r>
          </a:p>
          <a:p>
            <a:pPr algn="l">
              <a:spcAft>
                <a:spcPts val="1000"/>
              </a:spcAft>
            </a:pPr>
            <a:r>
              <a:rPr sz="1900" b="1" i="0">
                <a:solidFill>
                  <a:srgbClr val="362FEC"/>
                </a:solidFill>
                <a:latin typeface="Calibri"/>
              </a:rPr>
              <a:t>Learning algorithm</a:t>
            </a:r>
            <a:r>
              <a:rPr sz="1900" b="0" i="0">
                <a:solidFill>
                  <a:srgbClr val="000000"/>
                </a:solidFill>
                <a:latin typeface="Calibri"/>
              </a:rPr>
              <a:t>: data to parameters. Applying the fitted model is prediction.</a:t>
            </a:r>
          </a:p>
        </p:txBody>
      </p:sp>
      <p:grpSp>
        <p:nvGrpSpPr>
          <p:cNvPr id="5" name="picture 1"/>
          <p:cNvGrpSpPr/>
          <p:nvPr/>
        </p:nvGrpSpPr>
        <p:grpSpPr>
          <a:xfrm>
            <a:off x="6812280" y="1417320"/>
            <a:ext cx="5120640" cy="4910328"/>
            <a:chOff x="6812280" y="1417320"/>
            <a:chExt cx="5120640" cy="4910328"/>
          </a:xfrm>
        </p:grpSpPr>
        <p:pic>
          <p:nvPicPr>
            <p:cNvPr id="6" name="Picture 5" descr="image.png"/>
            <p:cNvPicPr>
              <a:picLocks noChangeAspect="1"/>
            </p:cNvPicPr>
            <p:nvPr/>
          </p:nvPicPr>
          <p:blipFill>
            <a:blip r:embed="rId2"/>
            <a:stretch>
              <a:fillRect/>
            </a:stretch>
          </p:blipFill>
          <p:spPr>
            <a:xfrm>
              <a:off x="7024361" y="2011680"/>
              <a:ext cx="4696477" cy="3383280"/>
            </a:xfrm>
            <a:prstGeom prst="rect">
              <a:avLst/>
            </a:prstGeom>
          </p:spPr>
        </p:pic>
        <p:sp>
          <p:nvSpPr>
            <p:cNvPr id="7" name="description"/>
            <p:cNvSpPr txBox="1"/>
            <p:nvPr/>
          </p:nvSpPr>
          <p:spPr>
            <a:xfrm>
              <a:off x="6812280" y="5504688"/>
              <a:ext cx="5120640" cy="822960"/>
            </a:xfrm>
            <a:prstGeom prst="rect">
              <a:avLst/>
            </a:prstGeom>
            <a:noFill/>
          </p:spPr>
          <p:txBody>
            <a:bodyPr wrap="square" anchor="t" lIns="0" rIns="0" tIns="0" bIns="0">
              <a:spAutoFit/>
            </a:bodyPr>
            <a:lstStyle/>
            <a:p>
              <a:pPr algn="l"/>
              <a:r>
                <a:rPr sz="1400" b="0" i="0">
                  <a:solidFill>
                    <a:srgbClr val="595959"/>
                  </a:solidFill>
                  <a:latin typeface="Calibri"/>
                </a:rPr>
                <a:t>Each intercept and slope gives a candidate line (gray); fitting picks the red one. A neural network with a fixed architecture is the same idea with millions of parameters.</a:t>
              </a:r>
            </a:p>
          </p:txBody>
        </p:sp>
        <p:pic>
          <p:nvPicPr>
            <p:cNvPr id="41" name="Picture 40" descr="image.png"/>
            <p:cNvPicPr>
              <a:picLocks noChangeAspect="1"/>
            </p:cNvPicPr>
            <p:nvPr/>
          </p:nvPicPr>
          <p:blipFill>
            <a:blip r:embed="rId5"/>
            <a:stretch>
              <a:fillRect/>
            </a:stretch>
          </p:blipFill>
          <p:spPr>
            <a:xfrm>
              <a:off x="7315200" y="1417320"/>
              <a:ext cx="4114800" cy="309449"/>
            </a:xfrm>
            <a:prstGeom prst="rect">
              <a:avLst/>
            </a:prstGeom>
          </p:spPr>
        </p:pic>
      </p:grpSp>
      <p:grpSp>
        <p:nvGrpSpPr>
          <p:cNvPr id="8" name="picture 4"/>
          <p:cNvGrpSpPr/>
          <p:nvPr/>
        </p:nvGrpSpPr>
        <p:grpSpPr>
          <a:xfrm>
            <a:off x="6812280" y="1463040"/>
            <a:ext cx="5120640" cy="2560320"/>
            <a:chOff x="6812280" y="1463040"/>
            <a:chExt cx="5120640" cy="2560320"/>
          </a:xfrm>
        </p:grpSpPr>
        <p:sp>
          <p:nvSpPr>
            <p:cNvPr id="9" name="Rounded Rectangle 8"/>
            <p:cNvSpPr/>
            <p:nvPr/>
          </p:nvSpPr>
          <p:spPr>
            <a:xfrm>
              <a:off x="7086600" y="1463040"/>
              <a:ext cx="2103120" cy="548640"/>
            </a:xfrm>
            <a:prstGeom prst="roundRect">
              <a:avLst>
                <a:gd name="adj" fmla="val 12000"/>
              </a:avLst>
            </a:prstGeom>
            <a:solidFill>
              <a:srgbClr val="EDEDED"/>
            </a:solidFill>
            <a:ln>
              <a:noFill/>
            </a:ln>
          </p:spPr>
          <p:style>
            <a:lnRef idx="1">
              <a:schemeClr val="accent1"/>
            </a:lnRef>
            <a:fillRef idx="3">
              <a:schemeClr val="accent1"/>
            </a:fillRef>
            <a:effectRef idx="2">
              <a:schemeClr val="accent1"/>
            </a:effectRef>
            <a:fontRef idx="minor">
              <a:schemeClr val="lt1"/>
            </a:fontRef>
          </p:style>
          <p:txBody>
            <a:bodyPr rtlCol="0" anchor="ctr" wrap="square" lIns="45720" rIns="45720"/>
            <a:lstStyle/>
            <a:p>
              <a:pPr algn="ctr"/>
              <a:r>
                <a:rPr sz="1800" b="0">
                  <a:solidFill>
                    <a:srgbClr val="000000"/>
                  </a:solidFill>
                  <a:latin typeface="Calibri"/>
                </a:rPr>
                <a:t>“dog bites man”</a:t>
              </a:r>
            </a:p>
          </p:txBody>
        </p:sp>
        <p:sp>
          <p:nvSpPr>
            <p:cNvPr id="10" name="Rounded Rectangle 9"/>
            <p:cNvSpPr/>
            <p:nvPr/>
          </p:nvSpPr>
          <p:spPr>
            <a:xfrm>
              <a:off x="9555480" y="1463040"/>
              <a:ext cx="2103120" cy="548640"/>
            </a:xfrm>
            <a:prstGeom prst="roundRect">
              <a:avLst>
                <a:gd name="adj" fmla="val 12000"/>
              </a:avLst>
            </a:prstGeom>
            <a:solidFill>
              <a:srgbClr val="EDEDED"/>
            </a:solidFill>
            <a:ln>
              <a:noFill/>
            </a:ln>
          </p:spPr>
          <p:style>
            <a:lnRef idx="1">
              <a:schemeClr val="accent1"/>
            </a:lnRef>
            <a:fillRef idx="3">
              <a:schemeClr val="accent1"/>
            </a:fillRef>
            <a:effectRef idx="2">
              <a:schemeClr val="accent1"/>
            </a:effectRef>
            <a:fontRef idx="minor">
              <a:schemeClr val="lt1"/>
            </a:fontRef>
          </p:style>
          <p:txBody>
            <a:bodyPr rtlCol="0" anchor="ctr" wrap="square" lIns="45720" rIns="45720"/>
            <a:lstStyle/>
            <a:p>
              <a:pPr algn="ctr"/>
              <a:r>
                <a:rPr sz="1800" b="0">
                  <a:solidFill>
                    <a:srgbClr val="000000"/>
                  </a:solidFill>
                  <a:latin typeface="Calibri"/>
                </a:rPr>
                <a:t>“man bites dog”</a:t>
              </a:r>
            </a:p>
          </p:txBody>
        </p:sp>
        <p:sp>
          <p:nvSpPr>
            <p:cNvPr id="11" name="Rounded Rectangle 10"/>
            <p:cNvSpPr/>
            <p:nvPr/>
          </p:nvSpPr>
          <p:spPr>
            <a:xfrm>
              <a:off x="8001000" y="2514600"/>
              <a:ext cx="2743200" cy="548640"/>
            </a:xfrm>
            <a:prstGeom prst="roundRect">
              <a:avLst>
                <a:gd name="adj" fmla="val 12000"/>
              </a:avLst>
            </a:prstGeom>
            <a:solidFill>
              <a:srgbClr val="FFE0E0"/>
            </a:solidFill>
            <a:ln>
              <a:noFill/>
            </a:ln>
          </p:spPr>
          <p:style>
            <a:lnRef idx="1">
              <a:schemeClr val="accent1"/>
            </a:lnRef>
            <a:fillRef idx="3">
              <a:schemeClr val="accent1"/>
            </a:fillRef>
            <a:effectRef idx="2">
              <a:schemeClr val="accent1"/>
            </a:effectRef>
            <a:fontRef idx="minor">
              <a:schemeClr val="lt1"/>
            </a:fontRef>
          </p:style>
          <p:txBody>
            <a:bodyPr rtlCol="0" anchor="ctr" wrap="square" lIns="45720" rIns="45720"/>
            <a:lstStyle/>
            <a:p>
              <a:pPr algn="ctr"/>
              <a:r>
                <a:rPr sz="1800" b="0">
                  <a:solidFill>
                    <a:srgbClr val="FF0000"/>
                  </a:solidFill>
                  <a:latin typeface="Calibri"/>
                </a:rPr>
                <a:t>{bites: 1, dog: 1, man: 1}</a:t>
              </a:r>
            </a:p>
          </p:txBody>
        </p:sp>
        <p:cxnSp>
          <p:nvCxnSpPr>
            <p:cNvPr id="12" name="Connector 11"/>
            <p:cNvCxnSpPr/>
            <p:nvPr/>
          </p:nvCxnSpPr>
          <p:spPr>
            <a:xfrm>
              <a:off x="8138160" y="2029968"/>
              <a:ext cx="777240" cy="466344"/>
            </a:xfrm>
            <a:prstGeom prst="line">
              <a:avLst/>
            </a:prstGeom>
            <a:ln w="19050">
              <a:solidFill>
                <a:srgbClr val="595959"/>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13" name="Connector 12"/>
            <p:cNvCxnSpPr/>
            <p:nvPr/>
          </p:nvCxnSpPr>
          <p:spPr>
            <a:xfrm flipH="1">
              <a:off x="9829800" y="2029968"/>
              <a:ext cx="777240" cy="466344"/>
            </a:xfrm>
            <a:prstGeom prst="line">
              <a:avLst/>
            </a:prstGeom>
            <a:ln w="19050">
              <a:solidFill>
                <a:srgbClr val="595959"/>
              </a:solidFill>
              <a:tailEnd type="triangle" w="med" len="med"/>
            </a:ln>
          </p:spPr>
          <p:style>
            <a:lnRef idx="2">
              <a:schemeClr val="accent1"/>
            </a:lnRef>
            <a:fillRef idx="0">
              <a:schemeClr val="accent1"/>
            </a:fillRef>
            <a:effectRef idx="1">
              <a:schemeClr val="accent1"/>
            </a:effectRef>
            <a:fontRef idx="minor">
              <a:schemeClr val="tx1"/>
            </a:fontRef>
          </p:style>
        </p:cxnSp>
        <p:sp>
          <p:nvSpPr>
            <p:cNvPr id="14" name="description"/>
            <p:cNvSpPr txBox="1"/>
            <p:nvPr/>
          </p:nvSpPr>
          <p:spPr>
            <a:xfrm>
              <a:off x="6812280" y="3291840"/>
              <a:ext cx="5120640" cy="731520"/>
            </a:xfrm>
            <a:prstGeom prst="rect">
              <a:avLst/>
            </a:prstGeom>
            <a:noFill/>
          </p:spPr>
          <p:txBody>
            <a:bodyPr wrap="square" anchor="t" lIns="0" rIns="0" tIns="0" bIns="0">
              <a:spAutoFit/>
            </a:bodyPr>
            <a:lstStyle/>
            <a:p>
              <a:pPr algn="l"/>
              <a:r>
                <a:rPr sz="1400" b="0" i="0">
                  <a:solidFill>
                    <a:srgbClr val="595959"/>
                  </a:solidFill>
                  <a:latin typeface="Calibri"/>
                </a:rPr>
                <a:t>A bag of words gives both the same representation; a sequence of tokens keeps them apart. Representations can also be learned: each hidden layer computes a new one.</a:t>
              </a:r>
            </a:p>
          </p:txBody>
        </p:sp>
      </p:grpSp>
      <p:grpSp>
        <p:nvGrpSpPr>
          <p:cNvPr id="15" name="picture 5"/>
          <p:cNvGrpSpPr/>
          <p:nvPr/>
        </p:nvGrpSpPr>
        <p:grpSpPr>
          <a:xfrm>
            <a:off x="6812280" y="1371600"/>
            <a:ext cx="5120640" cy="4041648"/>
            <a:chOff x="6812280" y="1371600"/>
            <a:chExt cx="5120640" cy="4041648"/>
          </a:xfrm>
        </p:grpSpPr>
        <p:pic>
          <p:nvPicPr>
            <p:cNvPr id="16" name="Picture 15" descr="mlp_net.png"/>
            <p:cNvPicPr>
              <a:picLocks noChangeAspect="1"/>
            </p:cNvPicPr>
            <p:nvPr/>
          </p:nvPicPr>
          <p:blipFill>
            <a:blip r:embed="rId3"/>
            <a:stretch>
              <a:fillRect/>
            </a:stretch>
          </p:blipFill>
          <p:spPr>
            <a:xfrm>
              <a:off x="7137175" y="1371600"/>
              <a:ext cx="4470849" cy="3108960"/>
            </a:xfrm>
            <a:prstGeom prst="rect">
              <a:avLst/>
            </a:prstGeom>
          </p:spPr>
        </p:pic>
        <p:sp>
          <p:nvSpPr>
            <p:cNvPr id="17" name="description"/>
            <p:cNvSpPr txBox="1"/>
            <p:nvPr/>
          </p:nvSpPr>
          <p:spPr>
            <a:xfrm>
              <a:off x="6812280" y="4590288"/>
              <a:ext cx="5120640" cy="822960"/>
            </a:xfrm>
            <a:prstGeom prst="rect">
              <a:avLst/>
            </a:prstGeom>
            <a:noFill/>
          </p:spPr>
          <p:txBody>
            <a:bodyPr wrap="square" anchor="t" lIns="0" rIns="0" tIns="0" bIns="0">
              <a:spAutoFit/>
            </a:bodyPr>
            <a:lstStyle/>
            <a:p>
              <a:pPr algn="l"/>
              <a:r>
                <a:rPr sz="1400" b="0" i="0">
                  <a:solidFill>
                    <a:srgbClr val="595959"/>
                  </a:solidFill>
                  <a:latin typeface="Calibri"/>
                </a:rPr>
                <a:t>The architecture is chosen; training chooses the weights. Logistic regression is one linear map and a sigmoid; a Transformer uses the same parameters at every position.</a:t>
              </a:r>
            </a:p>
          </p:txBody>
        </p:sp>
      </p:grpSp>
      <p:sp>
        <p:nvSpPr>
          <p:cNvPr id="18" name="takeaway"/>
          <p:cNvSpPr txBox="1"/>
          <p:nvPr/>
        </p:nvSpPr>
        <p:spPr>
          <a:xfrm>
            <a:off x="384048" y="6263640"/>
            <a:ext cx="11430000" cy="457200"/>
          </a:xfrm>
          <a:prstGeom prst="rect">
            <a:avLst/>
          </a:prstGeom>
          <a:noFill/>
        </p:spPr>
        <p:txBody>
          <a:bodyPr wrap="square" lIns="0" rIns="0" tIns="0" bIns="0">
            <a:spAutoFit/>
          </a:bodyPr>
          <a:lstStyle/>
          <a:p>
            <a:pPr algn="l">
              <a:spcAft>
                <a:spcPts val="1000"/>
              </a:spcAft>
            </a:pPr>
            <a:r>
              <a:rPr sz="1900" b="1" i="0">
                <a:solidFill>
                  <a:srgbClr val="362FEC"/>
                </a:solidFill>
                <a:latin typeface="Calibri"/>
              </a:rPr>
              <a:t>blue</a:t>
            </a:r>
            <a:r>
              <a:rPr sz="1900" b="0" i="0">
                <a:solidFill>
                  <a:srgbClr val="595959"/>
                </a:solidFill>
                <a:latin typeface="Calibri"/>
              </a:rPr>
              <a:t>: mathematical objects   </a:t>
            </a:r>
            <a:r>
              <a:rPr sz="1900" b="1" i="0">
                <a:solidFill>
                  <a:srgbClr val="00B050"/>
                </a:solidFill>
                <a:latin typeface="Calibri"/>
              </a:rPr>
              <a:t>green</a:t>
            </a:r>
            <a:r>
              <a:rPr sz="1900" b="0" i="0">
                <a:solidFill>
                  <a:srgbClr val="595959"/>
                </a:solidFill>
                <a:latin typeface="Calibri"/>
              </a:rPr>
              <a:t>: learned from data   </a:t>
            </a:r>
            <a:r>
              <a:rPr sz="1900" b="1" i="0">
                <a:solidFill>
                  <a:srgbClr val="FF0000"/>
                </a:solidFill>
                <a:latin typeface="Calibri"/>
              </a:rPr>
              <a:t>red</a:t>
            </a:r>
            <a:r>
              <a:rPr sz="1900" b="0" i="0">
                <a:solidFill>
                  <a:srgbClr val="595959"/>
                </a:solidFill>
                <a:latin typeface="Calibri"/>
              </a:rPr>
              <a:t>: chosen by us</a:t>
            </a:r>
          </a:p>
        </p:txBody>
      </p:sp>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4">
                                            <p:txEl>
                                              <p:pRg st="0" end="0"/>
                                            </p:txEl>
                                          </p:spTgt>
                                        </p:tgtEl>
                                        <p:attrNameLst>
                                          <p:attrName>style.visibility</p:attrName>
                                        </p:attrNameLst>
                                      </p:cBhvr>
                                      <p:to>
                                        <p:strVal val="visible"/>
                                      </p:to>
                                    </p:set>
                                  </p:childTnLst>
                                </p:cTn>
                              </p:par>
                              <p:par>
                                <p:cTn id="7" presetID="1" presetClass="entr" presetSubtype="0" fill="hold" grpId="0" nodeType="withEffect">
                                  <p:stCondLst>
                                    <p:cond delay="0"/>
                                  </p:stCondLst>
                                  <p:childTnLst>
                                    <p:set>
                                      <p:cBhvr>
                                        <p:cTn id="8" dur="1" fill="hold">
                                          <p:stCondLst>
                                            <p:cond delay="0"/>
                                          </p:stCondLst>
                                        </p:cTn>
                                        <p:tgtEl>
                                          <p:spTgt spid="5"/>
                                        </p:tgtEl>
                                        <p:attrNameLst>
                                          <p:attrName>style.visibility</p:attrName>
                                        </p:attrNameLst>
                                      </p:cBhvr>
                                      <p:to>
                                        <p:strVal val="visible"/>
                                      </p:to>
                                    </p:set>
                                  </p:childTnLst>
                                </p:cTn>
                              </p:par>
                            </p:childTnLst>
                          </p:cTn>
                        </p:par>
                      </p:childTnLst>
                    </p:cTn>
                  </p:par>
                  <p:par>
                    <p:cTn id="9" fill="hold">
                      <p:stCondLst>
                        <p:cond delay="indefinite"/>
                      </p:stCondLst>
                      <p:childTnLst>
                        <p:par>
                          <p:cTn id="10" fill="hold">
                            <p:stCondLst>
                              <p:cond delay="0"/>
                            </p:stCondLst>
                            <p:childTnLst>
                              <p:par>
                                <p:cTn id="11" presetID="1" presetClass="entr" presetSubtype="0" fill="hold" grpId="0" nodeType="clickEffect">
                                  <p:stCondLst>
                                    <p:cond delay="0"/>
                                  </p:stCondLst>
                                  <p:childTnLst>
                                    <p:set>
                                      <p:cBhvr>
                                        <p:cTn id="12" dur="1" fill="hold">
                                          <p:stCondLst>
                                            <p:cond delay="0"/>
                                          </p:stCondLst>
                                        </p:cTn>
                                        <p:tgtEl>
                                          <p:spTgt spid="4">
                                            <p:txEl>
                                              <p:pRg st="1" end="1"/>
                                            </p:txEl>
                                          </p:spTgt>
                                        </p:tgtEl>
                                        <p:attrNameLst>
                                          <p:attrName>style.visibility</p:attrName>
                                        </p:attrNameLst>
                                      </p:cBhvr>
                                      <p:to>
                                        <p:strVal val="visible"/>
                                      </p:to>
                                    </p:set>
                                  </p:childTnLst>
                                </p:cTn>
                              </p:par>
                            </p:childTnLst>
                          </p:cTn>
                        </p:par>
                      </p:childTnLst>
                    </p:cTn>
                  </p:par>
                  <p:par>
                    <p:cTn id="13" fill="hold">
                      <p:stCondLst>
                        <p:cond delay="indefinite"/>
                      </p:stCondLst>
                      <p:childTnLst>
                        <p:par>
                          <p:cTn id="14" fill="hold">
                            <p:stCondLst>
                              <p:cond delay="0"/>
                            </p:stCondLst>
                            <p:childTnLst>
                              <p:par>
                                <p:cTn id="15" presetID="1" presetClass="entr" presetSubtype="0" fill="hold" grpId="0" nodeType="clickEffect">
                                  <p:stCondLst>
                                    <p:cond delay="0"/>
                                  </p:stCondLst>
                                  <p:childTnLst>
                                    <p:set>
                                      <p:cBhvr>
                                        <p:cTn id="16" dur="1" fill="hold">
                                          <p:stCondLst>
                                            <p:cond delay="0"/>
                                          </p:stCondLst>
                                        </p:cTn>
                                        <p:tgtEl>
                                          <p:spTgt spid="4">
                                            <p:txEl>
                                              <p:pRg st="2" end="2"/>
                                            </p:txEl>
                                          </p:spTgt>
                                        </p:tgtEl>
                                        <p:attrNameLst>
                                          <p:attrName>style.visibility</p:attrName>
                                        </p:attrNameLst>
                                      </p:cBhvr>
                                      <p:to>
                                        <p:strVal val="visible"/>
                                      </p:to>
                                    </p:set>
                                  </p:childTnLst>
                                </p:cTn>
                              </p:par>
                            </p:childTnLst>
                          </p:cTn>
                        </p:par>
                      </p:childTnLst>
                    </p:cTn>
                  </p:par>
                  <p:par>
                    <p:cTn id="17" fill="hold">
                      <p:stCondLst>
                        <p:cond delay="indefinite"/>
                      </p:stCondLst>
                      <p:childTnLst>
                        <p:par>
                          <p:cTn id="18" fill="hold">
                            <p:stCondLst>
                              <p:cond delay="0"/>
                            </p:stCondLst>
                            <p:childTnLst>
                              <p:par>
                                <p:cTn id="19" presetID="1" presetClass="entr" presetSubtype="0" fill="hold" grpId="0" nodeType="clickEffect">
                                  <p:stCondLst>
                                    <p:cond delay="0"/>
                                  </p:stCondLst>
                                  <p:childTnLst>
                                    <p:set>
                                      <p:cBhvr>
                                        <p:cTn id="20" dur="1" fill="hold">
                                          <p:stCondLst>
                                            <p:cond delay="0"/>
                                          </p:stCondLst>
                                        </p:cTn>
                                        <p:tgtEl>
                                          <p:spTgt spid="4">
                                            <p:txEl>
                                              <p:pRg st="3" end="3"/>
                                            </p:txEl>
                                          </p:spTgt>
                                        </p:tgtEl>
                                        <p:attrNameLst>
                                          <p:attrName>style.visibility</p:attrName>
                                        </p:attrNameLst>
                                      </p:cBhvr>
                                      <p:to>
                                        <p:strVal val="visible"/>
                                      </p:to>
                                    </p:set>
                                  </p:childTnLst>
                                </p:cTn>
                              </p:par>
                              <p:par>
                                <p:cTn id="21" presetID="1" presetClass="entr" presetSubtype="0" fill="hold" grpId="0" nodeType="withEffect">
                                  <p:stCondLst>
                                    <p:cond delay="0"/>
                                  </p:stCondLst>
                                  <p:childTnLst>
                                    <p:set>
                                      <p:cBhvr>
                                        <p:cTn id="22" dur="1" fill="hold">
                                          <p:stCondLst>
                                            <p:cond delay="0"/>
                                          </p:stCondLst>
                                        </p:cTn>
                                        <p:tgtEl>
                                          <p:spTgt spid="8"/>
                                        </p:tgtEl>
                                        <p:attrNameLst>
                                          <p:attrName>style.visibility</p:attrName>
                                        </p:attrNameLst>
                                      </p:cBhvr>
                                      <p:to>
                                        <p:strVal val="visible"/>
                                      </p:to>
                                    </p:set>
                                  </p:childTnLst>
                                </p:cTn>
                              </p:par>
                              <p:par>
                                <p:cTn id="23" presetID="1" presetClass="exit" presetSubtype="0" fill="hold" grpId="1" nodeType="withEffect">
                                  <p:stCondLst>
                                    <p:cond delay="0"/>
                                  </p:stCondLst>
                                  <p:childTnLst>
                                    <p:set>
                                      <p:cBhvr>
                                        <p:cTn id="24" dur="1" fill="hold">
                                          <p:stCondLst>
                                            <p:cond delay="0"/>
                                          </p:stCondLst>
                                        </p:cTn>
                                        <p:tgtEl>
                                          <p:spTgt spid="5"/>
                                        </p:tgtEl>
                                        <p:attrNameLst>
                                          <p:attrName>style.visibility</p:attrName>
                                        </p:attrNameLst>
                                      </p:cBhvr>
                                      <p:to>
                                        <p:strVal val="hidden"/>
                                      </p:to>
                                    </p:set>
                                  </p:childTnLst>
                                </p:cTn>
                              </p:par>
                            </p:childTnLst>
                          </p:cTn>
                        </p:par>
                      </p:childTnLst>
                    </p:cTn>
                  </p:par>
                  <p:par>
                    <p:cTn id="25" fill="hold">
                      <p:stCondLst>
                        <p:cond delay="indefinite"/>
                      </p:stCondLst>
                      <p:childTnLst>
                        <p:par>
                          <p:cTn id="26" fill="hold">
                            <p:stCondLst>
                              <p:cond delay="0"/>
                            </p:stCondLst>
                            <p:childTnLst>
                              <p:par>
                                <p:cTn id="27" presetID="1" presetClass="entr" presetSubtype="0" fill="hold" grpId="0" nodeType="clickEffect">
                                  <p:stCondLst>
                                    <p:cond delay="0"/>
                                  </p:stCondLst>
                                  <p:childTnLst>
                                    <p:set>
                                      <p:cBhvr>
                                        <p:cTn id="28" dur="1" fill="hold">
                                          <p:stCondLst>
                                            <p:cond delay="0"/>
                                          </p:stCondLst>
                                        </p:cTn>
                                        <p:tgtEl>
                                          <p:spTgt spid="4">
                                            <p:txEl>
                                              <p:pRg st="4" end="4"/>
                                            </p:txEl>
                                          </p:spTgt>
                                        </p:tgtEl>
                                        <p:attrNameLst>
                                          <p:attrName>style.visibility</p:attrName>
                                        </p:attrNameLst>
                                      </p:cBhvr>
                                      <p:to>
                                        <p:strVal val="visible"/>
                                      </p:to>
                                    </p:set>
                                  </p:childTnLst>
                                </p:cTn>
                              </p:par>
                              <p:par>
                                <p:cTn id="29" presetID="1" presetClass="entr" presetSubtype="0" fill="hold" grpId="0" nodeType="withEffect">
                                  <p:stCondLst>
                                    <p:cond delay="0"/>
                                  </p:stCondLst>
                                  <p:childTnLst>
                                    <p:set>
                                      <p:cBhvr>
                                        <p:cTn id="30" dur="1" fill="hold">
                                          <p:stCondLst>
                                            <p:cond delay="0"/>
                                          </p:stCondLst>
                                        </p:cTn>
                                        <p:tgtEl>
                                          <p:spTgt spid="15"/>
                                        </p:tgtEl>
                                        <p:attrNameLst>
                                          <p:attrName>style.visibility</p:attrName>
                                        </p:attrNameLst>
                                      </p:cBhvr>
                                      <p:to>
                                        <p:strVal val="visible"/>
                                      </p:to>
                                    </p:set>
                                  </p:childTnLst>
                                </p:cTn>
                              </p:par>
                              <p:par>
                                <p:cTn id="31" presetID="1" presetClass="exit" presetSubtype="0" fill="hold" grpId="1" nodeType="withEffect">
                                  <p:stCondLst>
                                    <p:cond delay="0"/>
                                  </p:stCondLst>
                                  <p:childTnLst>
                                    <p:set>
                                      <p:cBhvr>
                                        <p:cTn id="32" dur="1" fill="hold">
                                          <p:stCondLst>
                                            <p:cond delay="0"/>
                                          </p:stCondLst>
                                        </p:cTn>
                                        <p:tgtEl>
                                          <p:spTgt spid="8"/>
                                        </p:tgtEl>
                                        <p:attrNameLst>
                                          <p:attrName>style.visibility</p:attrName>
                                        </p:attrNameLst>
                                      </p:cBhvr>
                                      <p:to>
                                        <p:strVal val="hidden"/>
                                      </p:to>
                                    </p:set>
                                  </p:childTnLst>
                                </p:cTn>
                              </p:par>
                            </p:childTnLst>
                          </p:cTn>
                        </p:par>
                      </p:childTnLst>
                    </p:cTn>
                  </p:par>
                  <p:par>
                    <p:cTn id="33" fill="hold">
                      <p:stCondLst>
                        <p:cond delay="indefinite"/>
                      </p:stCondLst>
                      <p:childTnLst>
                        <p:par>
                          <p:cTn id="34" fill="hold">
                            <p:stCondLst>
                              <p:cond delay="0"/>
                            </p:stCondLst>
                            <p:childTnLst>
                              <p:par>
                                <p:cTn id="35" presetID="1" presetClass="entr" presetSubtype="0" fill="hold" grpId="0" nodeType="clickEffect">
                                  <p:stCondLst>
                                    <p:cond delay="0"/>
                                  </p:stCondLst>
                                  <p:childTnLst>
                                    <p:set>
                                      <p:cBhvr>
                                        <p:cTn id="36" dur="1" fill="hold">
                                          <p:stCondLst>
                                            <p:cond delay="0"/>
                                          </p:stCondLst>
                                        </p:cTn>
                                        <p:tgtEl>
                                          <p:spTgt spid="4">
                                            <p:txEl>
                                              <p:pRg st="5" end="5"/>
                                            </p:txEl>
                                          </p:spTgt>
                                        </p:tgtEl>
                                        <p:attrNameLst>
                                          <p:attrName>style.visibility</p:attrName>
                                        </p:attrNameLst>
                                      </p:cBhvr>
                                      <p:to>
                                        <p:strVal val="visible"/>
                                      </p:to>
                                    </p:set>
                                  </p:childTnLst>
                                </p:cTn>
                              </p:par>
                            </p:childTnLst>
                          </p:cTn>
                        </p:par>
                      </p:childTnLst>
                    </p:cTn>
                  </p:par>
                  <p:par>
                    <p:cTn id="37" fill="hold">
                      <p:stCondLst>
                        <p:cond delay="indefinite"/>
                      </p:stCondLst>
                      <p:childTnLst>
                        <p:par>
                          <p:cTn id="38" fill="hold">
                            <p:stCondLst>
                              <p:cond delay="0"/>
                            </p:stCondLst>
                            <p:childTnLst>
                              <p:par>
                                <p:cTn id="39" presetID="1" presetClass="entr" presetSubtype="0" fill="hold" grpId="0" nodeType="clickEffect">
                                  <p:stCondLst>
                                    <p:cond delay="0"/>
                                  </p:stCondLst>
                                  <p:childTnLst>
                                    <p:set>
                                      <p:cBhvr>
                                        <p:cTn id="40" dur="1" fill="hold">
                                          <p:stCondLst>
                                            <p:cond delay="0"/>
                                          </p:stCondLst>
                                        </p:cTn>
                                        <p:tgtEl>
                                          <p:spTgt spid="18"/>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4" grpId="0" build="p"/>
      <p:bldP spid="18" grpId="0"/>
    </p:bldLst>
  </p:timing>
</p:sld>
</file>

<file path=ppt/slides/slide3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b0_2">
            <a:extLst>
              <a:ext uri="{FF2B5EF4-FFF2-40B4-BE49-F238E27FC236}">
                <a16:creationId xmlns:a16="http://schemas.microsoft.com/office/drawing/2014/main" id="{33DE8782-7F2B-1033-00F6-2A6652EE0E80}"/>
              </a:ext>
            </a:extLst>
          </p:cNvPr>
          <p:cNvSpPr txBox="1"/>
          <p:nvPr/>
        </p:nvSpPr>
        <p:spPr>
          <a:xfrm>
            <a:off x="0" y="148566"/>
            <a:ext cx="11680992" cy="548640"/>
          </a:xfrm>
          <a:prstGeom prst="rect">
            <a:avLst/>
          </a:prstGeom>
          <a:noFill/>
          <a:ln>
            <a:noFill/>
          </a:ln>
        </p:spPr>
        <p:txBody>
          <a:bodyPr wrap="square" rtlCol="0" anchor="ctr"/>
          <a:lstStyle/>
          <a:p>
            <a:r>
              <a:rPr lang="en-US" sz="3200" b="1" dirty="0">
                <a:solidFill>
                  <a:srgbClr val="000000"/>
                </a:solidFill>
                <a:latin typeface="Calibri" pitchFamily="34" charset="0"/>
                <a:ea typeface="Calibri" pitchFamily="34" charset="-122"/>
                <a:cs typeface="Calibri" pitchFamily="34" charset="-120"/>
              </a:rPr>
              <a:t>Basic </a:t>
            </a:r>
            <a:r>
              <a:rPr lang="en-US" sz="3200" b="1" dirty="0">
                <a:solidFill>
                  <a:srgbClr val="FF0000"/>
                </a:solidFill>
                <a:latin typeface="Calibri" pitchFamily="34" charset="0"/>
                <a:ea typeface="Calibri" pitchFamily="34" charset="-122"/>
                <a:cs typeface="Calibri" pitchFamily="34" charset="-120"/>
              </a:rPr>
              <a:t>AI</a:t>
            </a:r>
            <a:r>
              <a:rPr lang="en-US" sz="3200" b="1" dirty="0">
                <a:solidFill>
                  <a:srgbClr val="000000"/>
                </a:solidFill>
                <a:latin typeface="Calibri" pitchFamily="34" charset="0"/>
                <a:ea typeface="Calibri" pitchFamily="34" charset="-122"/>
                <a:cs typeface="Calibri" pitchFamily="34" charset="-120"/>
              </a:rPr>
              <a:t>/</a:t>
            </a:r>
            <a:r>
              <a:rPr lang="en-US" sz="3200" b="1" dirty="0">
                <a:solidFill>
                  <a:srgbClr val="00B050"/>
                </a:solidFill>
                <a:latin typeface="Calibri" pitchFamily="34" charset="0"/>
                <a:ea typeface="Calibri" pitchFamily="34" charset="-122"/>
                <a:cs typeface="Calibri" pitchFamily="34" charset="-120"/>
              </a:rPr>
              <a:t>ML</a:t>
            </a:r>
            <a:r>
              <a:rPr lang="en-US" sz="3200" b="1" dirty="0">
                <a:solidFill>
                  <a:srgbClr val="000000"/>
                </a:solidFill>
                <a:latin typeface="Calibri" pitchFamily="34" charset="0"/>
                <a:ea typeface="Calibri" pitchFamily="34" charset="-122"/>
                <a:cs typeface="Calibri" pitchFamily="34" charset="-120"/>
              </a:rPr>
              <a:t>/</a:t>
            </a:r>
            <a:r>
              <a:rPr lang="en-US" sz="3200" b="1" dirty="0">
                <a:solidFill>
                  <a:srgbClr val="362FEC"/>
                </a:solidFill>
                <a:latin typeface="Calibri" pitchFamily="34" charset="0"/>
                <a:ea typeface="Calibri" pitchFamily="34" charset="-122"/>
                <a:cs typeface="Calibri" pitchFamily="34" charset="-120"/>
              </a:rPr>
              <a:t>DL</a:t>
            </a:r>
            <a:r>
              <a:rPr lang="en-US" sz="3200" b="1" dirty="0">
                <a:solidFill>
                  <a:srgbClr val="000000"/>
                </a:solidFill>
                <a:latin typeface="Calibri" pitchFamily="34" charset="0"/>
                <a:ea typeface="Calibri" pitchFamily="34" charset="-122"/>
                <a:cs typeface="Calibri" pitchFamily="34" charset="-120"/>
              </a:rPr>
              <a:t> Terminology</a:t>
            </a:r>
            <a:endParaRPr lang="en-US" sz="3200" dirty="0">
              <a:solidFill>
                <a:srgbClr val="362FEC"/>
              </a:solidFill>
            </a:endParaRPr>
          </a:p>
        </p:txBody>
      </p:sp>
      <p:sp>
        <p:nvSpPr>
          <p:cNvPr id="3" name="subheading">
            <a:extLst>
              <a:ext uri="{FF2B5EF4-FFF2-40B4-BE49-F238E27FC236}">
                <a16:creationId xmlns:a16="http://schemas.microsoft.com/office/drawing/2014/main" id="{5CB8A4AA-40B1-94AE-8EEE-080599481F78}"/>
              </a:ext>
            </a:extLst>
          </p:cNvPr>
          <p:cNvSpPr txBox="1"/>
          <p:nvPr/>
        </p:nvSpPr>
        <p:spPr>
          <a:xfrm>
            <a:off x="292608" y="868680"/>
            <a:ext cx="11430000" cy="411480"/>
          </a:xfrm>
          <a:prstGeom prst="rect">
            <a:avLst/>
          </a:prstGeom>
          <a:noFill/>
          <a:ln>
            <a:noFill/>
          </a:ln>
        </p:spPr>
        <p:txBody>
          <a:bodyPr wrap="square" lIns="0" tIns="0" rIns="0" bIns="0" rtlCol="0" anchor="ctr"/>
          <a:lstStyle/>
          <a:p>
            <a:pPr marL="0" indent="0">
              <a:buNone/>
            </a:pPr>
            <a:r>
              <a:rPr lang="en-US" sz="2000" b="1" dirty="0">
                <a:solidFill>
                  <a:srgbClr val="362FEC"/>
                </a:solidFill>
                <a:latin typeface="Calibri" panose="020F0502020204030204" pitchFamily="34" charset="0"/>
                <a:cs typeface="Calibri" panose="020F0502020204030204" pitchFamily="34" charset="0"/>
              </a:rPr>
              <a:t>Generative and discriminative models</a:t>
            </a:r>
          </a:p>
        </p:txBody>
      </p:sp>
      <p:sp>
        <p:nvSpPr>
          <p:cNvPr id="4" name="points"/>
          <p:cNvSpPr txBox="1"/>
          <p:nvPr/>
        </p:nvSpPr>
        <p:spPr>
          <a:xfrm>
            <a:off x="384048" y="1417320"/>
            <a:ext cx="6126480" cy="5166360"/>
          </a:xfrm>
          <a:prstGeom prst="rect">
            <a:avLst/>
          </a:prstGeom>
          <a:noFill/>
        </p:spPr>
        <p:txBody>
          <a:bodyPr wrap="square" lIns="0" rIns="0" tIns="0" bIns="0">
            <a:spAutoFit/>
          </a:bodyPr>
          <a:lstStyle/>
          <a:p>
            <a:pPr algn="l">
              <a:spcAft>
                <a:spcPts val="1600"/>
              </a:spcAft>
            </a:pPr>
            <a:r>
              <a:rPr sz="2000" b="1" i="0">
                <a:solidFill>
                  <a:srgbClr val="00B050"/>
                </a:solidFill>
                <a:latin typeface="Calibri"/>
              </a:rPr>
              <a:t>Discriminative</a:t>
            </a:r>
            <a:r>
              <a:rPr sz="2000" b="0" i="0">
                <a:solidFill>
                  <a:srgbClr val="000000"/>
                </a:solidFill>
                <a:latin typeface="Calibri"/>
              </a:rPr>
              <a:t>: model the label given the input, and nothing else.</a:t>
            </a:r>
          </a:p>
          <a:p>
            <a:pPr algn="l">
              <a:spcAft>
                <a:spcPts val="1600"/>
              </a:spcAft>
            </a:pPr>
            <a:r>
              <a:rPr sz="2000" b="1" i="0">
                <a:solidFill>
                  <a:srgbClr val="362FEC"/>
                </a:solidFill>
                <a:latin typeface="Calibri"/>
              </a:rPr>
              <a:t>Generative</a:t>
            </a:r>
            <a:r>
              <a:rPr sz="2000" b="0" i="0">
                <a:solidFill>
                  <a:srgbClr val="000000"/>
                </a:solidFill>
                <a:latin typeface="Calibri"/>
              </a:rPr>
              <a:t>: model how the inputs arise in each class, then classify with Bayes' rule.</a:t>
            </a:r>
          </a:p>
          <a:p>
            <a:pPr algn="l">
              <a:spcAft>
                <a:spcPts val="1600"/>
              </a:spcAft>
            </a:pPr>
            <a:r>
              <a:rPr sz="2000" b="1" i="0">
                <a:solidFill>
                  <a:srgbClr val="FF0000"/>
                </a:solidFill>
                <a:latin typeface="Calibri"/>
              </a:rPr>
              <a:t>Generative model</a:t>
            </a:r>
            <a:r>
              <a:rPr sz="2000" b="0" i="0">
                <a:solidFill>
                  <a:srgbClr val="000000"/>
                </a:solidFill>
                <a:latin typeface="Calibri"/>
              </a:rPr>
              <a:t>: a probability distribution over the objects themselves, fitted to data. Generating means sampling; a conditional model samples given a prompt. A language model is a generative model of text.</a:t>
            </a:r>
          </a:p>
        </p:txBody>
      </p:sp>
      <p:grpSp>
        <p:nvGrpSpPr>
          <p:cNvPr id="5" name="picture 1"/>
          <p:cNvGrpSpPr/>
          <p:nvPr/>
        </p:nvGrpSpPr>
        <p:grpSpPr>
          <a:xfrm>
            <a:off x="6812280" y="1371600"/>
            <a:ext cx="5120640" cy="4129786"/>
            <a:chOff x="6812280" y="1371600"/>
            <a:chExt cx="5120640" cy="4129786"/>
          </a:xfrm>
        </p:grpSpPr>
        <p:pic>
          <p:nvPicPr>
            <p:cNvPr id="6" name="Picture 5" descr="image.png"/>
            <p:cNvPicPr>
              <a:picLocks noChangeAspect="1"/>
            </p:cNvPicPr>
            <p:nvPr/>
          </p:nvPicPr>
          <p:blipFill>
            <a:blip r:embed="rId2"/>
            <a:stretch>
              <a:fillRect/>
            </a:stretch>
          </p:blipFill>
          <p:spPr>
            <a:xfrm>
              <a:off x="7818120" y="1371600"/>
              <a:ext cx="3108960" cy="426466"/>
            </a:xfrm>
            <a:prstGeom prst="rect">
              <a:avLst/>
            </a:prstGeom>
          </p:spPr>
        </p:pic>
        <p:pic>
          <p:nvPicPr>
            <p:cNvPr id="7" name="Picture 6" descr="image.png"/>
            <p:cNvPicPr>
              <a:picLocks noChangeAspect="1"/>
            </p:cNvPicPr>
            <p:nvPr/>
          </p:nvPicPr>
          <p:blipFill>
            <a:blip r:embed="rId3"/>
            <a:stretch>
              <a:fillRect/>
            </a:stretch>
          </p:blipFill>
          <p:spPr>
            <a:xfrm>
              <a:off x="7065742" y="1980946"/>
              <a:ext cx="4613715" cy="2651760"/>
            </a:xfrm>
            <a:prstGeom prst="rect">
              <a:avLst/>
            </a:prstGeom>
          </p:spPr>
        </p:pic>
        <p:sp>
          <p:nvSpPr>
            <p:cNvPr id="8" name="description"/>
            <p:cNvSpPr txBox="1"/>
            <p:nvPr/>
          </p:nvSpPr>
          <p:spPr>
            <a:xfrm>
              <a:off x="6812280" y="4769866"/>
              <a:ext cx="5120640" cy="731520"/>
            </a:xfrm>
            <a:prstGeom prst="rect">
              <a:avLst/>
            </a:prstGeom>
            <a:noFill/>
          </p:spPr>
          <p:txBody>
            <a:bodyPr wrap="square" anchor="t" lIns="0" rIns="0" tIns="0" bIns="0">
              <a:spAutoFit/>
            </a:bodyPr>
            <a:lstStyle/>
            <a:p>
              <a:pPr algn="l"/>
              <a:r>
                <a:rPr sz="1400" b="0" i="0">
                  <a:solidFill>
                    <a:srgbClr val="595959"/>
                  </a:solidFill>
                  <a:latin typeface="Calibri"/>
                </a:rPr>
                <a:t>Logistic regression fits this curve directly. It classifies, but it says nothing about how emails are distributed, so it cannot produce one.</a:t>
              </a:r>
            </a:p>
          </p:txBody>
        </p:sp>
      </p:grpSp>
      <p:grpSp>
        <p:nvGrpSpPr>
          <p:cNvPr id="9" name="picture 2"/>
          <p:cNvGrpSpPr/>
          <p:nvPr/>
        </p:nvGrpSpPr>
        <p:grpSpPr>
          <a:xfrm>
            <a:off x="6812280" y="1371600"/>
            <a:ext cx="5120640" cy="4034555"/>
            <a:chOff x="6812280" y="1371600"/>
            <a:chExt cx="5120640" cy="4034555"/>
          </a:xfrm>
        </p:grpSpPr>
        <p:pic>
          <p:nvPicPr>
            <p:cNvPr id="10" name="Picture 9" descr="image.png"/>
            <p:cNvPicPr>
              <a:picLocks noChangeAspect="1"/>
            </p:cNvPicPr>
            <p:nvPr/>
          </p:nvPicPr>
          <p:blipFill>
            <a:blip r:embed="rId4"/>
            <a:stretch>
              <a:fillRect/>
            </a:stretch>
          </p:blipFill>
          <p:spPr>
            <a:xfrm>
              <a:off x="6812280" y="1371600"/>
              <a:ext cx="5120640" cy="605555"/>
            </a:xfrm>
            <a:prstGeom prst="rect">
              <a:avLst/>
            </a:prstGeom>
          </p:spPr>
        </p:pic>
        <p:pic>
          <p:nvPicPr>
            <p:cNvPr id="11" name="Picture 10" descr="image.png"/>
            <p:cNvPicPr>
              <a:picLocks noChangeAspect="1"/>
            </p:cNvPicPr>
            <p:nvPr/>
          </p:nvPicPr>
          <p:blipFill>
            <a:blip r:embed="rId5"/>
            <a:stretch>
              <a:fillRect/>
            </a:stretch>
          </p:blipFill>
          <p:spPr>
            <a:xfrm>
              <a:off x="7456663" y="2160035"/>
              <a:ext cx="3831873" cy="2377440"/>
            </a:xfrm>
            <a:prstGeom prst="rect">
              <a:avLst/>
            </a:prstGeom>
          </p:spPr>
        </p:pic>
        <p:sp>
          <p:nvSpPr>
            <p:cNvPr id="12" name="description"/>
            <p:cNvSpPr txBox="1"/>
            <p:nvPr/>
          </p:nvSpPr>
          <p:spPr>
            <a:xfrm>
              <a:off x="6812280" y="4674635"/>
              <a:ext cx="5120640" cy="731520"/>
            </a:xfrm>
            <a:prstGeom prst="rect">
              <a:avLst/>
            </a:prstGeom>
            <a:noFill/>
          </p:spPr>
          <p:txBody>
            <a:bodyPr wrap="square" anchor="t" lIns="0" rIns="0" tIns="0" bIns="0">
              <a:spAutoFit/>
            </a:bodyPr>
            <a:lstStyle/>
            <a:p>
              <a:pPr algn="l"/>
              <a:r>
                <a:rPr sz="1400" b="0" i="0">
                  <a:solidFill>
                    <a:srgbClr val="595959"/>
                  </a:solidFill>
                  <a:latin typeface="Calibri"/>
                </a:rPr>
                <a:t>Model each class's distribution of x, weighted by how common the class is; Bayes' rule turns them into the same kind of curve. The model can also produce new x.</a:t>
              </a:r>
            </a:p>
          </p:txBody>
        </p:sp>
      </p:grpSp>
      <p:grpSp>
        <p:nvGrpSpPr>
          <p:cNvPr id="13" name="picture 3"/>
          <p:cNvGrpSpPr/>
          <p:nvPr/>
        </p:nvGrpSpPr>
        <p:grpSpPr>
          <a:xfrm>
            <a:off x="6812280" y="1371600"/>
            <a:ext cx="5120640" cy="3161879"/>
            <a:chOff x="6812280" y="1371600"/>
            <a:chExt cx="5120640" cy="3161879"/>
          </a:xfrm>
        </p:grpSpPr>
        <p:pic>
          <p:nvPicPr>
            <p:cNvPr id="14" name="Picture 13" descr="eq_genmodel.png"/>
            <p:cNvPicPr>
              <a:picLocks noChangeAspect="1"/>
            </p:cNvPicPr>
            <p:nvPr/>
          </p:nvPicPr>
          <p:blipFill>
            <a:blip r:embed="rId6"/>
            <a:stretch>
              <a:fillRect/>
            </a:stretch>
          </p:blipFill>
          <p:spPr>
            <a:xfrm>
              <a:off x="6812280" y="1371600"/>
              <a:ext cx="5120640" cy="692999"/>
            </a:xfrm>
            <a:prstGeom prst="rect">
              <a:avLst/>
            </a:prstGeom>
          </p:spPr>
        </p:pic>
        <p:pic>
          <p:nvPicPr>
            <p:cNvPr id="15" name="Picture 14" descr="image.jpg"/>
            <p:cNvPicPr>
              <a:picLocks noChangeAspect="1"/>
            </p:cNvPicPr>
            <p:nvPr/>
          </p:nvPicPr>
          <p:blipFill>
            <a:blip r:embed="rId7"/>
            <a:stretch>
              <a:fillRect/>
            </a:stretch>
          </p:blipFill>
          <p:spPr>
            <a:xfrm>
              <a:off x="7315200" y="2338919"/>
              <a:ext cx="1280160" cy="1280160"/>
            </a:xfrm>
            <a:prstGeom prst="rect">
              <a:avLst/>
            </a:prstGeom>
          </p:spPr>
        </p:pic>
        <p:pic>
          <p:nvPicPr>
            <p:cNvPr id="16" name="Picture 15" descr="image.jpg"/>
            <p:cNvPicPr>
              <a:picLocks noChangeAspect="1"/>
            </p:cNvPicPr>
            <p:nvPr/>
          </p:nvPicPr>
          <p:blipFill>
            <a:blip r:embed="rId8"/>
            <a:stretch>
              <a:fillRect/>
            </a:stretch>
          </p:blipFill>
          <p:spPr>
            <a:xfrm>
              <a:off x="8732520" y="2338919"/>
              <a:ext cx="1280160" cy="1280160"/>
            </a:xfrm>
            <a:prstGeom prst="rect">
              <a:avLst/>
            </a:prstGeom>
          </p:spPr>
        </p:pic>
        <p:pic>
          <p:nvPicPr>
            <p:cNvPr id="17" name="Picture 16" descr="image.jpg"/>
            <p:cNvPicPr>
              <a:picLocks noChangeAspect="1"/>
            </p:cNvPicPr>
            <p:nvPr/>
          </p:nvPicPr>
          <p:blipFill>
            <a:blip r:embed="rId9"/>
            <a:stretch>
              <a:fillRect/>
            </a:stretch>
          </p:blipFill>
          <p:spPr>
            <a:xfrm>
              <a:off x="10149840" y="2338919"/>
              <a:ext cx="1280160" cy="1280160"/>
            </a:xfrm>
            <a:prstGeom prst="rect">
              <a:avLst/>
            </a:prstGeom>
          </p:spPr>
        </p:pic>
        <p:sp>
          <p:nvSpPr>
            <p:cNvPr id="18" name="description"/>
            <p:cNvSpPr txBox="1"/>
            <p:nvPr/>
          </p:nvSpPr>
          <p:spPr>
            <a:xfrm>
              <a:off x="6812280" y="3801959"/>
              <a:ext cx="5120640" cy="731520"/>
            </a:xfrm>
            <a:prstGeom prst="rect">
              <a:avLst/>
            </a:prstGeom>
            <a:noFill/>
          </p:spPr>
          <p:txBody>
            <a:bodyPr wrap="square" anchor="t" lIns="0" rIns="0" tIns="0" bIns="0">
              <a:spAutoFit/>
            </a:bodyPr>
            <a:lstStyle/>
            <a:p>
              <a:pPr algn="l"/>
              <a:r>
                <a:rPr sz="1400" b="0" i="0">
                  <a:solidFill>
                    <a:srgbClr val="595959"/>
                  </a:solidFill>
                  <a:latin typeface="Calibri"/>
                </a:rPr>
                <a:t>Sampling from a model of images gives new faces; sampling from a language model, token by token, gives new text.</a:t>
              </a:r>
            </a:p>
          </p:txBody>
        </p:sp>
      </p:grpSp>
      <p:sp>
        <p:nvSpPr>
          <p:cNvPr id="19" name="takeaway"/>
          <p:cNvSpPr txBox="1"/>
          <p:nvPr/>
        </p:nvSpPr>
        <p:spPr>
          <a:xfrm>
            <a:off x="384048" y="6035040"/>
            <a:ext cx="11430000" cy="457200"/>
          </a:xfrm>
          <a:prstGeom prst="rect">
            <a:avLst/>
          </a:prstGeom>
          <a:noFill/>
        </p:spPr>
        <p:txBody>
          <a:bodyPr wrap="square" lIns="0" rIns="0" tIns="0" bIns="0">
            <a:spAutoFit/>
          </a:bodyPr>
          <a:lstStyle/>
          <a:p>
            <a:pPr algn="l">
              <a:spcAft>
                <a:spcPts val="1000"/>
              </a:spcAft>
            </a:pPr>
            <a:r>
              <a:rPr sz="2000" b="1" i="0">
                <a:solidFill>
                  <a:srgbClr val="000000"/>
                </a:solidFill>
                <a:latin typeface="Calibri"/>
              </a:rPr>
              <a:t>Both classify. </a:t>
            </a:r>
            <a:r>
              <a:rPr sz="2000" b="0" i="0">
                <a:solidFill>
                  <a:srgbClr val="000000"/>
                </a:solidFill>
                <a:latin typeface="Calibri"/>
              </a:rPr>
              <a:t>Only a generative model can produce new inputs.</a:t>
            </a:r>
          </a:p>
        </p:txBody>
      </p:sp>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4">
                                            <p:txEl>
                                              <p:pRg st="0" end="0"/>
                                            </p:txEl>
                                          </p:spTgt>
                                        </p:tgtEl>
                                        <p:attrNameLst>
                                          <p:attrName>style.visibility</p:attrName>
                                        </p:attrNameLst>
                                      </p:cBhvr>
                                      <p:to>
                                        <p:strVal val="visible"/>
                                      </p:to>
                                    </p:set>
                                  </p:childTnLst>
                                </p:cTn>
                              </p:par>
                              <p:par>
                                <p:cTn id="7" presetID="1" presetClass="entr" presetSubtype="0" fill="hold" grpId="0" nodeType="withEffect">
                                  <p:stCondLst>
                                    <p:cond delay="0"/>
                                  </p:stCondLst>
                                  <p:childTnLst>
                                    <p:set>
                                      <p:cBhvr>
                                        <p:cTn id="8" dur="1" fill="hold">
                                          <p:stCondLst>
                                            <p:cond delay="0"/>
                                          </p:stCondLst>
                                        </p:cTn>
                                        <p:tgtEl>
                                          <p:spTgt spid="5"/>
                                        </p:tgtEl>
                                        <p:attrNameLst>
                                          <p:attrName>style.visibility</p:attrName>
                                        </p:attrNameLst>
                                      </p:cBhvr>
                                      <p:to>
                                        <p:strVal val="visible"/>
                                      </p:to>
                                    </p:set>
                                  </p:childTnLst>
                                </p:cTn>
                              </p:par>
                            </p:childTnLst>
                          </p:cTn>
                        </p:par>
                      </p:childTnLst>
                    </p:cTn>
                  </p:par>
                  <p:par>
                    <p:cTn id="9" fill="hold">
                      <p:stCondLst>
                        <p:cond delay="indefinite"/>
                      </p:stCondLst>
                      <p:childTnLst>
                        <p:par>
                          <p:cTn id="10" fill="hold">
                            <p:stCondLst>
                              <p:cond delay="0"/>
                            </p:stCondLst>
                            <p:childTnLst>
                              <p:par>
                                <p:cTn id="11" presetID="1" presetClass="entr" presetSubtype="0" fill="hold" grpId="0" nodeType="clickEffect">
                                  <p:stCondLst>
                                    <p:cond delay="0"/>
                                  </p:stCondLst>
                                  <p:childTnLst>
                                    <p:set>
                                      <p:cBhvr>
                                        <p:cTn id="12" dur="1" fill="hold">
                                          <p:stCondLst>
                                            <p:cond delay="0"/>
                                          </p:stCondLst>
                                        </p:cTn>
                                        <p:tgtEl>
                                          <p:spTgt spid="4">
                                            <p:txEl>
                                              <p:pRg st="1" end="1"/>
                                            </p:txEl>
                                          </p:spTgt>
                                        </p:tgtEl>
                                        <p:attrNameLst>
                                          <p:attrName>style.visibility</p:attrName>
                                        </p:attrNameLst>
                                      </p:cBhvr>
                                      <p:to>
                                        <p:strVal val="visible"/>
                                      </p:to>
                                    </p:set>
                                  </p:childTnLst>
                                </p:cTn>
                              </p:par>
                              <p:par>
                                <p:cTn id="13" presetID="1" presetClass="entr" presetSubtype="0" fill="hold" grpId="0" nodeType="withEffect">
                                  <p:stCondLst>
                                    <p:cond delay="0"/>
                                  </p:stCondLst>
                                  <p:childTnLst>
                                    <p:set>
                                      <p:cBhvr>
                                        <p:cTn id="14" dur="1" fill="hold">
                                          <p:stCondLst>
                                            <p:cond delay="0"/>
                                          </p:stCondLst>
                                        </p:cTn>
                                        <p:tgtEl>
                                          <p:spTgt spid="9"/>
                                        </p:tgtEl>
                                        <p:attrNameLst>
                                          <p:attrName>style.visibility</p:attrName>
                                        </p:attrNameLst>
                                      </p:cBhvr>
                                      <p:to>
                                        <p:strVal val="visible"/>
                                      </p:to>
                                    </p:set>
                                  </p:childTnLst>
                                </p:cTn>
                              </p:par>
                              <p:par>
                                <p:cTn id="15" presetID="1" presetClass="exit" presetSubtype="0" fill="hold" grpId="1" nodeType="withEffect">
                                  <p:stCondLst>
                                    <p:cond delay="0"/>
                                  </p:stCondLst>
                                  <p:childTnLst>
                                    <p:set>
                                      <p:cBhvr>
                                        <p:cTn id="16" dur="1" fill="hold">
                                          <p:stCondLst>
                                            <p:cond delay="0"/>
                                          </p:stCondLst>
                                        </p:cTn>
                                        <p:tgtEl>
                                          <p:spTgt spid="5"/>
                                        </p:tgtEl>
                                        <p:attrNameLst>
                                          <p:attrName>style.visibility</p:attrName>
                                        </p:attrNameLst>
                                      </p:cBhvr>
                                      <p:to>
                                        <p:strVal val="hidden"/>
                                      </p:to>
                                    </p:set>
                                  </p:childTnLst>
                                </p:cTn>
                              </p:par>
                            </p:childTnLst>
                          </p:cTn>
                        </p:par>
                      </p:childTnLst>
                    </p:cTn>
                  </p:par>
                  <p:par>
                    <p:cTn id="17" fill="hold">
                      <p:stCondLst>
                        <p:cond delay="indefinite"/>
                      </p:stCondLst>
                      <p:childTnLst>
                        <p:par>
                          <p:cTn id="18" fill="hold">
                            <p:stCondLst>
                              <p:cond delay="0"/>
                            </p:stCondLst>
                            <p:childTnLst>
                              <p:par>
                                <p:cTn id="19" presetID="1" presetClass="entr" presetSubtype="0" fill="hold" grpId="0" nodeType="clickEffect">
                                  <p:stCondLst>
                                    <p:cond delay="0"/>
                                  </p:stCondLst>
                                  <p:childTnLst>
                                    <p:set>
                                      <p:cBhvr>
                                        <p:cTn id="20" dur="1" fill="hold">
                                          <p:stCondLst>
                                            <p:cond delay="0"/>
                                          </p:stCondLst>
                                        </p:cTn>
                                        <p:tgtEl>
                                          <p:spTgt spid="4">
                                            <p:txEl>
                                              <p:pRg st="2" end="2"/>
                                            </p:txEl>
                                          </p:spTgt>
                                        </p:tgtEl>
                                        <p:attrNameLst>
                                          <p:attrName>style.visibility</p:attrName>
                                        </p:attrNameLst>
                                      </p:cBhvr>
                                      <p:to>
                                        <p:strVal val="visible"/>
                                      </p:to>
                                    </p:set>
                                  </p:childTnLst>
                                </p:cTn>
                              </p:par>
                              <p:par>
                                <p:cTn id="21" presetID="1" presetClass="entr" presetSubtype="0" fill="hold" grpId="0" nodeType="withEffect">
                                  <p:stCondLst>
                                    <p:cond delay="0"/>
                                  </p:stCondLst>
                                  <p:childTnLst>
                                    <p:set>
                                      <p:cBhvr>
                                        <p:cTn id="22" dur="1" fill="hold">
                                          <p:stCondLst>
                                            <p:cond delay="0"/>
                                          </p:stCondLst>
                                        </p:cTn>
                                        <p:tgtEl>
                                          <p:spTgt spid="13"/>
                                        </p:tgtEl>
                                        <p:attrNameLst>
                                          <p:attrName>style.visibility</p:attrName>
                                        </p:attrNameLst>
                                      </p:cBhvr>
                                      <p:to>
                                        <p:strVal val="visible"/>
                                      </p:to>
                                    </p:set>
                                  </p:childTnLst>
                                </p:cTn>
                              </p:par>
                              <p:par>
                                <p:cTn id="23" presetID="1" presetClass="exit" presetSubtype="0" fill="hold" grpId="1" nodeType="withEffect">
                                  <p:stCondLst>
                                    <p:cond delay="0"/>
                                  </p:stCondLst>
                                  <p:childTnLst>
                                    <p:set>
                                      <p:cBhvr>
                                        <p:cTn id="24" dur="1" fill="hold">
                                          <p:stCondLst>
                                            <p:cond delay="0"/>
                                          </p:stCondLst>
                                        </p:cTn>
                                        <p:tgtEl>
                                          <p:spTgt spid="9"/>
                                        </p:tgtEl>
                                        <p:attrNameLst>
                                          <p:attrName>style.visibility</p:attrName>
                                        </p:attrNameLst>
                                      </p:cBhvr>
                                      <p:to>
                                        <p:strVal val="hidden"/>
                                      </p:to>
                                    </p:set>
                                  </p:childTnLst>
                                </p:cTn>
                              </p:par>
                            </p:childTnLst>
                          </p:cTn>
                        </p:par>
                      </p:childTnLst>
                    </p:cTn>
                  </p:par>
                  <p:par>
                    <p:cTn id="25" fill="hold">
                      <p:stCondLst>
                        <p:cond delay="indefinite"/>
                      </p:stCondLst>
                      <p:childTnLst>
                        <p:par>
                          <p:cTn id="26" fill="hold">
                            <p:stCondLst>
                              <p:cond delay="0"/>
                            </p:stCondLst>
                            <p:childTnLst>
                              <p:par>
                                <p:cTn id="27" presetID="1" presetClass="entr" presetSubtype="0" fill="hold" grpId="0" nodeType="clickEffect">
                                  <p:stCondLst>
                                    <p:cond delay="0"/>
                                  </p:stCondLst>
                                  <p:childTnLst>
                                    <p:set>
                                      <p:cBhvr>
                                        <p:cTn id="28" dur="1" fill="hold">
                                          <p:stCondLst>
                                            <p:cond delay="0"/>
                                          </p:stCondLst>
                                        </p:cTn>
                                        <p:tgtEl>
                                          <p:spTgt spid="19"/>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4" grpId="0" build="p"/>
      <p:bldP spid="19" grpId="0"/>
    </p:bldLst>
  </p:timing>
</p:sld>
</file>

<file path=ppt/slides/slide3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b0_2">
            <a:extLst>
              <a:ext uri="{FF2B5EF4-FFF2-40B4-BE49-F238E27FC236}">
                <a16:creationId xmlns:a16="http://schemas.microsoft.com/office/drawing/2014/main" id="{33DE8782-7F2B-1033-00F6-2A6652EE0E80}"/>
              </a:ext>
            </a:extLst>
          </p:cNvPr>
          <p:cNvSpPr txBox="1"/>
          <p:nvPr/>
        </p:nvSpPr>
        <p:spPr>
          <a:xfrm>
            <a:off x="0" y="148566"/>
            <a:ext cx="11680992" cy="548640"/>
          </a:xfrm>
          <a:prstGeom prst="rect">
            <a:avLst/>
          </a:prstGeom>
          <a:noFill/>
          <a:ln>
            <a:noFill/>
          </a:ln>
        </p:spPr>
        <p:txBody>
          <a:bodyPr wrap="square" rtlCol="0" anchor="ctr"/>
          <a:lstStyle/>
          <a:p>
            <a:r>
              <a:rPr lang="en-US" sz="3200" b="1" dirty="0">
                <a:solidFill>
                  <a:srgbClr val="000000"/>
                </a:solidFill>
                <a:latin typeface="Calibri" pitchFamily="34" charset="0"/>
                <a:ea typeface="Calibri" pitchFamily="34" charset="-122"/>
                <a:cs typeface="Calibri" pitchFamily="34" charset="-120"/>
              </a:rPr>
              <a:t>Basic </a:t>
            </a:r>
            <a:r>
              <a:rPr lang="en-US" sz="3200" b="1" dirty="0">
                <a:solidFill>
                  <a:srgbClr val="FF0000"/>
                </a:solidFill>
                <a:latin typeface="Calibri" pitchFamily="34" charset="0"/>
                <a:ea typeface="Calibri" pitchFamily="34" charset="-122"/>
                <a:cs typeface="Calibri" pitchFamily="34" charset="-120"/>
              </a:rPr>
              <a:t>AI</a:t>
            </a:r>
            <a:r>
              <a:rPr lang="en-US" sz="3200" b="1" dirty="0">
                <a:solidFill>
                  <a:srgbClr val="000000"/>
                </a:solidFill>
                <a:latin typeface="Calibri" pitchFamily="34" charset="0"/>
                <a:ea typeface="Calibri" pitchFamily="34" charset="-122"/>
                <a:cs typeface="Calibri" pitchFamily="34" charset="-120"/>
              </a:rPr>
              <a:t>/</a:t>
            </a:r>
            <a:r>
              <a:rPr lang="en-US" sz="3200" b="1" dirty="0">
                <a:solidFill>
                  <a:srgbClr val="00B050"/>
                </a:solidFill>
                <a:latin typeface="Calibri" pitchFamily="34" charset="0"/>
                <a:ea typeface="Calibri" pitchFamily="34" charset="-122"/>
                <a:cs typeface="Calibri" pitchFamily="34" charset="-120"/>
              </a:rPr>
              <a:t>ML</a:t>
            </a:r>
            <a:r>
              <a:rPr lang="en-US" sz="3200" b="1" dirty="0">
                <a:solidFill>
                  <a:srgbClr val="000000"/>
                </a:solidFill>
                <a:latin typeface="Calibri" pitchFamily="34" charset="0"/>
                <a:ea typeface="Calibri" pitchFamily="34" charset="-122"/>
                <a:cs typeface="Calibri" pitchFamily="34" charset="-120"/>
              </a:rPr>
              <a:t>/</a:t>
            </a:r>
            <a:r>
              <a:rPr lang="en-US" sz="3200" b="1" dirty="0">
                <a:solidFill>
                  <a:srgbClr val="362FEC"/>
                </a:solidFill>
                <a:latin typeface="Calibri" pitchFamily="34" charset="0"/>
                <a:ea typeface="Calibri" pitchFamily="34" charset="-122"/>
                <a:cs typeface="Calibri" pitchFamily="34" charset="-120"/>
              </a:rPr>
              <a:t>DL</a:t>
            </a:r>
            <a:r>
              <a:rPr lang="en-US" sz="3200" b="1" dirty="0">
                <a:solidFill>
                  <a:srgbClr val="000000"/>
                </a:solidFill>
                <a:latin typeface="Calibri" pitchFamily="34" charset="0"/>
                <a:ea typeface="Calibri" pitchFamily="34" charset="-122"/>
                <a:cs typeface="Calibri" pitchFamily="34" charset="-120"/>
              </a:rPr>
              <a:t> Terminology</a:t>
            </a:r>
            <a:endParaRPr lang="en-US" sz="3200" dirty="0">
              <a:solidFill>
                <a:srgbClr val="362FEC"/>
              </a:solidFill>
            </a:endParaRPr>
          </a:p>
        </p:txBody>
      </p:sp>
      <p:sp>
        <p:nvSpPr>
          <p:cNvPr id="3" name="subheading">
            <a:extLst>
              <a:ext uri="{FF2B5EF4-FFF2-40B4-BE49-F238E27FC236}">
                <a16:creationId xmlns:a16="http://schemas.microsoft.com/office/drawing/2014/main" id="{5CB8A4AA-40B1-94AE-8EEE-080599481F78}"/>
              </a:ext>
            </a:extLst>
          </p:cNvPr>
          <p:cNvSpPr txBox="1"/>
          <p:nvPr/>
        </p:nvSpPr>
        <p:spPr>
          <a:xfrm>
            <a:off x="292608" y="868680"/>
            <a:ext cx="11430000" cy="411480"/>
          </a:xfrm>
          <a:prstGeom prst="rect">
            <a:avLst/>
          </a:prstGeom>
          <a:noFill/>
          <a:ln>
            <a:noFill/>
          </a:ln>
        </p:spPr>
        <p:txBody>
          <a:bodyPr wrap="square" lIns="0" tIns="0" rIns="0" bIns="0" rtlCol="0" anchor="ctr"/>
          <a:lstStyle/>
          <a:p>
            <a:pPr marL="0" indent="0">
              <a:buNone/>
            </a:pPr>
            <a:r>
              <a:rPr lang="en-US" sz="2000" b="1" dirty="0">
                <a:solidFill>
                  <a:srgbClr val="362FEC"/>
                </a:solidFill>
                <a:latin typeface="Calibri" panose="020F0502020204030204" pitchFamily="34" charset="0"/>
                <a:cs typeface="Calibri" panose="020F0502020204030204" pitchFamily="34" charset="0"/>
              </a:rPr>
              <a:t>Losses, risk, and generalization</a:t>
            </a:r>
          </a:p>
        </p:txBody>
      </p:sp>
      <p:sp>
        <p:nvSpPr>
          <p:cNvPr id="4" name="points"/>
          <p:cNvSpPr txBox="1"/>
          <p:nvPr/>
        </p:nvSpPr>
        <p:spPr>
          <a:xfrm>
            <a:off x="384048" y="1417320"/>
            <a:ext cx="6126480" cy="5166360"/>
          </a:xfrm>
          <a:prstGeom prst="rect">
            <a:avLst/>
          </a:prstGeom>
          <a:noFill/>
        </p:spPr>
        <p:txBody>
          <a:bodyPr wrap="square" lIns="0" rIns="0" tIns="0" bIns="0">
            <a:spAutoFit/>
          </a:bodyPr>
          <a:lstStyle/>
          <a:p>
            <a:pPr algn="l">
              <a:spcAft>
                <a:spcPts val="1400"/>
              </a:spcAft>
            </a:pPr>
            <a:r>
              <a:rPr sz="1900" b="1" i="0">
                <a:solidFill>
                  <a:srgbClr val="362FEC"/>
                </a:solidFill>
                <a:latin typeface="Calibri"/>
              </a:rPr>
              <a:t>Loss</a:t>
            </a:r>
            <a:r>
              <a:rPr sz="1900" b="0" i="0">
                <a:solidFill>
                  <a:srgbClr val="000000"/>
                </a:solidFill>
                <a:latin typeface="Calibri"/>
              </a:rPr>
              <a:t>: the cost of one prediction. Log loss: minus the log probability of what happened.</a:t>
            </a:r>
          </a:p>
          <a:p>
            <a:pPr algn="l">
              <a:spcAft>
                <a:spcPts val="1400"/>
              </a:spcAft>
            </a:pPr>
            <a:r>
              <a:rPr sz="1900" b="1" i="0">
                <a:solidFill>
                  <a:srgbClr val="362FEC"/>
                </a:solidFill>
                <a:latin typeface="Calibri"/>
              </a:rPr>
              <a:t>Risk</a:t>
            </a:r>
            <a:r>
              <a:rPr sz="1900" b="0" i="0">
                <a:solidFill>
                  <a:srgbClr val="000000"/>
                </a:solidFill>
                <a:latin typeface="Calibri"/>
              </a:rPr>
              <a:t>: the average loss on new examples. We can only compute it on the training set: the </a:t>
            </a:r>
            <a:r>
              <a:rPr sz="1900" b="1" i="0">
                <a:solidFill>
                  <a:srgbClr val="00B050"/>
                </a:solidFill>
                <a:latin typeface="Calibri"/>
              </a:rPr>
              <a:t>empirical risk</a:t>
            </a:r>
            <a:r>
              <a:rPr sz="1900" b="0" i="0">
                <a:solidFill>
                  <a:srgbClr val="000000"/>
                </a:solidFill>
                <a:latin typeface="Calibri"/>
              </a:rPr>
              <a:t>.</a:t>
            </a:r>
          </a:p>
          <a:p>
            <a:pPr algn="l">
              <a:spcAft>
                <a:spcPts val="1400"/>
              </a:spcAft>
            </a:pPr>
            <a:r>
              <a:rPr sz="1900" b="1" i="0">
                <a:solidFill>
                  <a:srgbClr val="FF0000"/>
                </a:solidFill>
                <a:latin typeface="Calibri"/>
              </a:rPr>
              <a:t>Overfitting</a:t>
            </a:r>
            <a:r>
              <a:rPr sz="1900" b="0" i="0">
                <a:solidFill>
                  <a:srgbClr val="000000"/>
                </a:solidFill>
                <a:latin typeface="Calibri"/>
              </a:rPr>
              <a:t>: the training loss falls while the loss on new examples rises.</a:t>
            </a:r>
          </a:p>
          <a:p>
            <a:pPr algn="l">
              <a:spcAft>
                <a:spcPts val="1400"/>
              </a:spcAft>
            </a:pPr>
            <a:r>
              <a:rPr sz="1900" b="1" i="0">
                <a:solidFill>
                  <a:srgbClr val="00B050"/>
                </a:solidFill>
                <a:latin typeface="Calibri"/>
              </a:rPr>
              <a:t>Training, validation, and test data</a:t>
            </a:r>
            <a:r>
              <a:rPr sz="1900" b="0" i="0">
                <a:solidFill>
                  <a:srgbClr val="000000"/>
                </a:solidFill>
                <a:latin typeface="Calibri"/>
              </a:rPr>
              <a:t>: fit, choose, and estimate: three separate jobs.</a:t>
            </a:r>
          </a:p>
        </p:txBody>
      </p:sp>
      <p:grpSp>
        <p:nvGrpSpPr>
          <p:cNvPr id="5" name="picture 1"/>
          <p:cNvGrpSpPr/>
          <p:nvPr/>
        </p:nvGrpSpPr>
        <p:grpSpPr>
          <a:xfrm>
            <a:off x="6812280" y="1371600"/>
            <a:ext cx="5120640" cy="4132819"/>
            <a:chOff x="6812280" y="1371600"/>
            <a:chExt cx="5120640" cy="4132819"/>
          </a:xfrm>
        </p:grpSpPr>
        <p:pic>
          <p:nvPicPr>
            <p:cNvPr id="6" name="Picture 5" descr="eq_logloss.png"/>
            <p:cNvPicPr>
              <a:picLocks noChangeAspect="1"/>
            </p:cNvPicPr>
            <p:nvPr/>
          </p:nvPicPr>
          <p:blipFill>
            <a:blip r:embed="rId2"/>
            <a:stretch>
              <a:fillRect/>
            </a:stretch>
          </p:blipFill>
          <p:spPr>
            <a:xfrm>
              <a:off x="7452360" y="1371600"/>
              <a:ext cx="3840480" cy="429499"/>
            </a:xfrm>
            <a:prstGeom prst="rect">
              <a:avLst/>
            </a:prstGeom>
          </p:spPr>
        </p:pic>
        <p:pic>
          <p:nvPicPr>
            <p:cNvPr id="7" name="Picture 6" descr="logloss.png"/>
            <p:cNvPicPr>
              <a:picLocks noChangeAspect="1"/>
            </p:cNvPicPr>
            <p:nvPr/>
          </p:nvPicPr>
          <p:blipFill>
            <a:blip r:embed="rId3"/>
            <a:stretch>
              <a:fillRect/>
            </a:stretch>
          </p:blipFill>
          <p:spPr>
            <a:xfrm>
              <a:off x="7421770" y="1983979"/>
              <a:ext cx="3901658" cy="2651760"/>
            </a:xfrm>
            <a:prstGeom prst="rect">
              <a:avLst/>
            </a:prstGeom>
          </p:spPr>
        </p:pic>
        <p:sp>
          <p:nvSpPr>
            <p:cNvPr id="8" name="description"/>
            <p:cNvSpPr txBox="1"/>
            <p:nvPr/>
          </p:nvSpPr>
          <p:spPr>
            <a:xfrm>
              <a:off x="6812280" y="4772899"/>
              <a:ext cx="5120640" cy="731520"/>
            </a:xfrm>
            <a:prstGeom prst="rect">
              <a:avLst/>
            </a:prstGeom>
            <a:noFill/>
          </p:spPr>
          <p:txBody>
            <a:bodyPr wrap="square" anchor="t" lIns="0" rIns="0" tIns="0" bIns="0">
              <a:spAutoFit/>
            </a:bodyPr>
            <a:lstStyle/>
            <a:p>
              <a:pPr algn="l"/>
              <a:r>
                <a:rPr sz="1400" b="0" i="0">
                  <a:solidFill>
                    <a:srgbClr val="595959"/>
                  </a:solidFill>
                  <a:latin typeface="Calibri"/>
                </a:rPr>
                <a:t>Assigning low probability to what actually happened is costly; a model that says 0.99 and is wrong pays much more than one that says 0.6.</a:t>
              </a:r>
            </a:p>
          </p:txBody>
        </p:sp>
      </p:grpSp>
      <p:grpSp>
        <p:nvGrpSpPr>
          <p:cNvPr id="9" name="picture 2"/>
          <p:cNvGrpSpPr/>
          <p:nvPr/>
        </p:nvGrpSpPr>
        <p:grpSpPr>
          <a:xfrm>
            <a:off x="6812280" y="1371600"/>
            <a:ext cx="5120640" cy="2420136"/>
            <a:chOff x="6812280" y="1371600"/>
            <a:chExt cx="5120640" cy="2420136"/>
          </a:xfrm>
        </p:grpSpPr>
        <p:pic>
          <p:nvPicPr>
            <p:cNvPr id="10" name="Picture 9" descr="eq_loss_def.png"/>
            <p:cNvPicPr>
              <a:picLocks noChangeAspect="1"/>
            </p:cNvPicPr>
            <p:nvPr/>
          </p:nvPicPr>
          <p:blipFill>
            <a:blip r:embed="rId4"/>
            <a:stretch>
              <a:fillRect/>
            </a:stretch>
          </p:blipFill>
          <p:spPr>
            <a:xfrm>
              <a:off x="7635240" y="1371600"/>
              <a:ext cx="3474720" cy="1368576"/>
            </a:xfrm>
            <a:prstGeom prst="rect">
              <a:avLst/>
            </a:prstGeom>
          </p:spPr>
        </p:pic>
        <p:sp>
          <p:nvSpPr>
            <p:cNvPr id="11" name="description"/>
            <p:cNvSpPr txBox="1"/>
            <p:nvPr/>
          </p:nvSpPr>
          <p:spPr>
            <a:xfrm>
              <a:off x="6812280" y="3060216"/>
              <a:ext cx="5120640" cy="731520"/>
            </a:xfrm>
            <a:prstGeom prst="rect">
              <a:avLst/>
            </a:prstGeom>
            <a:noFill/>
          </p:spPr>
          <p:txBody>
            <a:bodyPr wrap="square" anchor="t" lIns="0" rIns="0" tIns="0" bIns="0">
              <a:spAutoFit/>
            </a:bodyPr>
            <a:lstStyle/>
            <a:p>
              <a:pPr algn="l"/>
              <a:r>
                <a:rPr sz="1400" b="0" i="0">
                  <a:solidFill>
                    <a:srgbClr val="595959"/>
                  </a:solidFill>
                  <a:latin typeface="Calibri"/>
                </a:rPr>
                <a:t>Empirical risk minimization picks the model with the smallest training loss, often with regularization. Small training loss does not by itself establish generalization.</a:t>
              </a:r>
            </a:p>
          </p:txBody>
        </p:sp>
      </p:grpSp>
      <p:grpSp>
        <p:nvGrpSpPr>
          <p:cNvPr id="12" name="picture 3"/>
          <p:cNvGrpSpPr/>
          <p:nvPr/>
        </p:nvGrpSpPr>
        <p:grpSpPr>
          <a:xfrm>
            <a:off x="6812280" y="1417320"/>
            <a:ext cx="5120640" cy="2658734"/>
            <a:chOff x="6812280" y="1417320"/>
            <a:chExt cx="5120640" cy="2658734"/>
          </a:xfrm>
        </p:grpSpPr>
        <p:pic>
          <p:nvPicPr>
            <p:cNvPr id="13" name="Picture 12" descr="image.png"/>
            <p:cNvPicPr>
              <a:picLocks noChangeAspect="1"/>
            </p:cNvPicPr>
            <p:nvPr/>
          </p:nvPicPr>
          <p:blipFill>
            <a:blip r:embed="rId5"/>
            <a:stretch>
              <a:fillRect/>
            </a:stretch>
          </p:blipFill>
          <p:spPr>
            <a:xfrm>
              <a:off x="6812280" y="1417320"/>
              <a:ext cx="2514600" cy="1790054"/>
            </a:xfrm>
            <a:prstGeom prst="rect">
              <a:avLst/>
            </a:prstGeom>
          </p:spPr>
        </p:pic>
        <p:pic>
          <p:nvPicPr>
            <p:cNvPr id="14" name="Picture 13" descr="image.png"/>
            <p:cNvPicPr>
              <a:picLocks noChangeAspect="1"/>
            </p:cNvPicPr>
            <p:nvPr/>
          </p:nvPicPr>
          <p:blipFill>
            <a:blip r:embed="rId6"/>
            <a:stretch>
              <a:fillRect/>
            </a:stretch>
          </p:blipFill>
          <p:spPr>
            <a:xfrm>
              <a:off x="9418320" y="1417320"/>
              <a:ext cx="2514600" cy="1790054"/>
            </a:xfrm>
            <a:prstGeom prst="rect">
              <a:avLst/>
            </a:prstGeom>
          </p:spPr>
        </p:pic>
        <p:sp>
          <p:nvSpPr>
            <p:cNvPr id="15" name="description"/>
            <p:cNvSpPr txBox="1"/>
            <p:nvPr/>
          </p:nvSpPr>
          <p:spPr>
            <a:xfrm>
              <a:off x="6812280" y="3344534"/>
              <a:ext cx="5120640" cy="731520"/>
            </a:xfrm>
            <a:prstGeom prst="rect">
              <a:avLst/>
            </a:prstGeom>
            <a:noFill/>
          </p:spPr>
          <p:txBody>
            <a:bodyPr wrap="square" anchor="t" lIns="0" rIns="0" tIns="0" bIns="0">
              <a:spAutoFit/>
            </a:bodyPr>
            <a:lstStyle/>
            <a:p>
              <a:pPr algn="l"/>
              <a:r>
                <a:rPr sz="1400" b="0" i="0">
                  <a:solidFill>
                    <a:srgbClr val="595959"/>
                  </a:solidFill>
                  <a:latin typeface="Calibri"/>
                </a:rPr>
                <a:t>Polynomials of degree 1, 3, and 11 fitted to 15 noisy points. As the degree grows, the training error keeps falling, while the error on fresh points falls and then rises.</a:t>
              </a:r>
            </a:p>
          </p:txBody>
        </p:sp>
      </p:grpSp>
      <p:grpSp>
        <p:nvGrpSpPr>
          <p:cNvPr id="16" name="picture 4"/>
          <p:cNvGrpSpPr/>
          <p:nvPr/>
        </p:nvGrpSpPr>
        <p:grpSpPr>
          <a:xfrm>
            <a:off x="6812280" y="1463040"/>
            <a:ext cx="5120640" cy="3200400"/>
            <a:chOff x="6812280" y="1463040"/>
            <a:chExt cx="5120640" cy="3200400"/>
          </a:xfrm>
        </p:grpSpPr>
        <p:sp>
          <p:nvSpPr>
            <p:cNvPr id="17" name="Rounded Rectangle 16"/>
            <p:cNvSpPr/>
            <p:nvPr/>
          </p:nvSpPr>
          <p:spPr>
            <a:xfrm>
              <a:off x="6812280" y="1463040"/>
              <a:ext cx="5120640" cy="640080"/>
            </a:xfrm>
            <a:prstGeom prst="roundRect">
              <a:avLst>
                <a:gd name="adj" fmla="val 12000"/>
              </a:avLst>
            </a:prstGeom>
            <a:solidFill>
              <a:srgbClr val="E3E2FD"/>
            </a:solidFill>
            <a:ln>
              <a:noFill/>
            </a:ln>
          </p:spPr>
          <p:style>
            <a:lnRef idx="1">
              <a:schemeClr val="accent1"/>
            </a:lnRef>
            <a:fillRef idx="3">
              <a:schemeClr val="accent1"/>
            </a:fillRef>
            <a:effectRef idx="2">
              <a:schemeClr val="accent1"/>
            </a:effectRef>
            <a:fontRef idx="minor">
              <a:schemeClr val="lt1"/>
            </a:fontRef>
          </p:style>
          <p:txBody>
            <a:bodyPr rtlCol="0" anchor="ctr" wrap="square" lIns="45720" rIns="45720"/>
            <a:lstStyle/>
            <a:p>
              <a:pPr algn="ctr"/>
              <a:r>
                <a:rPr sz="1800" b="1">
                  <a:solidFill>
                    <a:srgbClr val="362FEC"/>
                  </a:solidFill>
                  <a:latin typeface="Calibri"/>
                </a:rPr>
                <a:t>training: fit the parameters</a:t>
              </a:r>
            </a:p>
          </p:txBody>
        </p:sp>
        <p:sp>
          <p:nvSpPr>
            <p:cNvPr id="18" name="Rounded Rectangle 17"/>
            <p:cNvSpPr/>
            <p:nvPr/>
          </p:nvSpPr>
          <p:spPr>
            <a:xfrm>
              <a:off x="6812280" y="2240280"/>
              <a:ext cx="5120640" cy="640080"/>
            </a:xfrm>
            <a:prstGeom prst="roundRect">
              <a:avLst>
                <a:gd name="adj" fmla="val 12000"/>
              </a:avLst>
            </a:prstGeom>
            <a:solidFill>
              <a:srgbClr val="D9F2E4"/>
            </a:solidFill>
            <a:ln>
              <a:noFill/>
            </a:ln>
          </p:spPr>
          <p:style>
            <a:lnRef idx="1">
              <a:schemeClr val="accent1"/>
            </a:lnRef>
            <a:fillRef idx="3">
              <a:schemeClr val="accent1"/>
            </a:fillRef>
            <a:effectRef idx="2">
              <a:schemeClr val="accent1"/>
            </a:effectRef>
            <a:fontRef idx="minor">
              <a:schemeClr val="lt1"/>
            </a:fontRef>
          </p:style>
          <p:txBody>
            <a:bodyPr rtlCol="0" anchor="ctr" wrap="square" lIns="45720" rIns="45720"/>
            <a:lstStyle/>
            <a:p>
              <a:pPr algn="ctr"/>
              <a:r>
                <a:rPr sz="1800" b="1">
                  <a:solidFill>
                    <a:srgbClr val="00B050"/>
                  </a:solidFill>
                  <a:latin typeface="Calibri"/>
                </a:rPr>
                <a:t>validation: make the choices</a:t>
              </a:r>
            </a:p>
          </p:txBody>
        </p:sp>
        <p:sp>
          <p:nvSpPr>
            <p:cNvPr id="19" name="Rounded Rectangle 18"/>
            <p:cNvSpPr/>
            <p:nvPr/>
          </p:nvSpPr>
          <p:spPr>
            <a:xfrm>
              <a:off x="6812280" y="3017520"/>
              <a:ext cx="5120640" cy="640080"/>
            </a:xfrm>
            <a:prstGeom prst="roundRect">
              <a:avLst>
                <a:gd name="adj" fmla="val 12000"/>
              </a:avLst>
            </a:prstGeom>
            <a:solidFill>
              <a:srgbClr val="FFE0E0"/>
            </a:solidFill>
            <a:ln>
              <a:noFill/>
            </a:ln>
          </p:spPr>
          <p:style>
            <a:lnRef idx="1">
              <a:schemeClr val="accent1"/>
            </a:lnRef>
            <a:fillRef idx="3">
              <a:schemeClr val="accent1"/>
            </a:fillRef>
            <a:effectRef idx="2">
              <a:schemeClr val="accent1"/>
            </a:effectRef>
            <a:fontRef idx="minor">
              <a:schemeClr val="lt1"/>
            </a:fontRef>
          </p:style>
          <p:txBody>
            <a:bodyPr rtlCol="0" anchor="ctr" wrap="square" lIns="45720" rIns="45720"/>
            <a:lstStyle/>
            <a:p>
              <a:pPr algn="ctr"/>
              <a:r>
                <a:rPr sz="1800" b="1">
                  <a:solidFill>
                    <a:srgbClr val="FF0000"/>
                  </a:solidFill>
                  <a:latin typeface="Calibri"/>
                </a:rPr>
                <a:t>test: estimate performance, once</a:t>
              </a:r>
            </a:p>
          </p:txBody>
        </p:sp>
        <p:sp>
          <p:nvSpPr>
            <p:cNvPr id="20" name="description"/>
            <p:cNvSpPr txBox="1"/>
            <p:nvPr/>
          </p:nvSpPr>
          <p:spPr>
            <a:xfrm>
              <a:off x="6812280" y="3931920"/>
              <a:ext cx="5120640" cy="731520"/>
            </a:xfrm>
            <a:prstGeom prst="rect">
              <a:avLst/>
            </a:prstGeom>
            <a:noFill/>
          </p:spPr>
          <p:txBody>
            <a:bodyPr wrap="square" anchor="t" lIns="0" rIns="0" tIns="0" bIns="0">
              <a:spAutoFit/>
            </a:bodyPr>
            <a:lstStyle/>
            <a:p>
              <a:pPr algn="l"/>
              <a:r>
                <a:rPr sz="1400" b="0" i="0">
                  <a:solidFill>
                    <a:srgbClr val="595959"/>
                  </a:solidFill>
                  <a:latin typeface="Calibri"/>
                </a:rPr>
                <a:t>The separation is about information flow: a test set used to choose a model has become part of development. For text, split by document and remove duplicates.</a:t>
              </a:r>
            </a:p>
          </p:txBody>
        </p:sp>
      </p:grpSp>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4">
                                            <p:txEl>
                                              <p:pRg st="0" end="0"/>
                                            </p:txEl>
                                          </p:spTgt>
                                        </p:tgtEl>
                                        <p:attrNameLst>
                                          <p:attrName>style.visibility</p:attrName>
                                        </p:attrNameLst>
                                      </p:cBhvr>
                                      <p:to>
                                        <p:strVal val="visible"/>
                                      </p:to>
                                    </p:set>
                                  </p:childTnLst>
                                </p:cTn>
                              </p:par>
                              <p:par>
                                <p:cTn id="7" presetID="1" presetClass="entr" presetSubtype="0" fill="hold" grpId="0" nodeType="withEffect">
                                  <p:stCondLst>
                                    <p:cond delay="0"/>
                                  </p:stCondLst>
                                  <p:childTnLst>
                                    <p:set>
                                      <p:cBhvr>
                                        <p:cTn id="8" dur="1" fill="hold">
                                          <p:stCondLst>
                                            <p:cond delay="0"/>
                                          </p:stCondLst>
                                        </p:cTn>
                                        <p:tgtEl>
                                          <p:spTgt spid="5"/>
                                        </p:tgtEl>
                                        <p:attrNameLst>
                                          <p:attrName>style.visibility</p:attrName>
                                        </p:attrNameLst>
                                      </p:cBhvr>
                                      <p:to>
                                        <p:strVal val="visible"/>
                                      </p:to>
                                    </p:set>
                                  </p:childTnLst>
                                </p:cTn>
                              </p:par>
                            </p:childTnLst>
                          </p:cTn>
                        </p:par>
                      </p:childTnLst>
                    </p:cTn>
                  </p:par>
                  <p:par>
                    <p:cTn id="9" fill="hold">
                      <p:stCondLst>
                        <p:cond delay="indefinite"/>
                      </p:stCondLst>
                      <p:childTnLst>
                        <p:par>
                          <p:cTn id="10" fill="hold">
                            <p:stCondLst>
                              <p:cond delay="0"/>
                            </p:stCondLst>
                            <p:childTnLst>
                              <p:par>
                                <p:cTn id="11" presetID="1" presetClass="entr" presetSubtype="0" fill="hold" grpId="0" nodeType="clickEffect">
                                  <p:stCondLst>
                                    <p:cond delay="0"/>
                                  </p:stCondLst>
                                  <p:childTnLst>
                                    <p:set>
                                      <p:cBhvr>
                                        <p:cTn id="12" dur="1" fill="hold">
                                          <p:stCondLst>
                                            <p:cond delay="0"/>
                                          </p:stCondLst>
                                        </p:cTn>
                                        <p:tgtEl>
                                          <p:spTgt spid="4">
                                            <p:txEl>
                                              <p:pRg st="1" end="1"/>
                                            </p:txEl>
                                          </p:spTgt>
                                        </p:tgtEl>
                                        <p:attrNameLst>
                                          <p:attrName>style.visibility</p:attrName>
                                        </p:attrNameLst>
                                      </p:cBhvr>
                                      <p:to>
                                        <p:strVal val="visible"/>
                                      </p:to>
                                    </p:set>
                                  </p:childTnLst>
                                </p:cTn>
                              </p:par>
                              <p:par>
                                <p:cTn id="13" presetID="1" presetClass="entr" presetSubtype="0" fill="hold" grpId="0" nodeType="withEffect">
                                  <p:stCondLst>
                                    <p:cond delay="0"/>
                                  </p:stCondLst>
                                  <p:childTnLst>
                                    <p:set>
                                      <p:cBhvr>
                                        <p:cTn id="14" dur="1" fill="hold">
                                          <p:stCondLst>
                                            <p:cond delay="0"/>
                                          </p:stCondLst>
                                        </p:cTn>
                                        <p:tgtEl>
                                          <p:spTgt spid="9"/>
                                        </p:tgtEl>
                                        <p:attrNameLst>
                                          <p:attrName>style.visibility</p:attrName>
                                        </p:attrNameLst>
                                      </p:cBhvr>
                                      <p:to>
                                        <p:strVal val="visible"/>
                                      </p:to>
                                    </p:set>
                                  </p:childTnLst>
                                </p:cTn>
                              </p:par>
                              <p:par>
                                <p:cTn id="15" presetID="1" presetClass="exit" presetSubtype="0" fill="hold" grpId="1" nodeType="withEffect">
                                  <p:stCondLst>
                                    <p:cond delay="0"/>
                                  </p:stCondLst>
                                  <p:childTnLst>
                                    <p:set>
                                      <p:cBhvr>
                                        <p:cTn id="16" dur="1" fill="hold">
                                          <p:stCondLst>
                                            <p:cond delay="0"/>
                                          </p:stCondLst>
                                        </p:cTn>
                                        <p:tgtEl>
                                          <p:spTgt spid="5"/>
                                        </p:tgtEl>
                                        <p:attrNameLst>
                                          <p:attrName>style.visibility</p:attrName>
                                        </p:attrNameLst>
                                      </p:cBhvr>
                                      <p:to>
                                        <p:strVal val="hidden"/>
                                      </p:to>
                                    </p:set>
                                  </p:childTnLst>
                                </p:cTn>
                              </p:par>
                            </p:childTnLst>
                          </p:cTn>
                        </p:par>
                      </p:childTnLst>
                    </p:cTn>
                  </p:par>
                  <p:par>
                    <p:cTn id="17" fill="hold">
                      <p:stCondLst>
                        <p:cond delay="indefinite"/>
                      </p:stCondLst>
                      <p:childTnLst>
                        <p:par>
                          <p:cTn id="18" fill="hold">
                            <p:stCondLst>
                              <p:cond delay="0"/>
                            </p:stCondLst>
                            <p:childTnLst>
                              <p:par>
                                <p:cTn id="19" presetID="1" presetClass="entr" presetSubtype="0" fill="hold" grpId="0" nodeType="clickEffect">
                                  <p:stCondLst>
                                    <p:cond delay="0"/>
                                  </p:stCondLst>
                                  <p:childTnLst>
                                    <p:set>
                                      <p:cBhvr>
                                        <p:cTn id="20" dur="1" fill="hold">
                                          <p:stCondLst>
                                            <p:cond delay="0"/>
                                          </p:stCondLst>
                                        </p:cTn>
                                        <p:tgtEl>
                                          <p:spTgt spid="4">
                                            <p:txEl>
                                              <p:pRg st="2" end="2"/>
                                            </p:txEl>
                                          </p:spTgt>
                                        </p:tgtEl>
                                        <p:attrNameLst>
                                          <p:attrName>style.visibility</p:attrName>
                                        </p:attrNameLst>
                                      </p:cBhvr>
                                      <p:to>
                                        <p:strVal val="visible"/>
                                      </p:to>
                                    </p:set>
                                  </p:childTnLst>
                                </p:cTn>
                              </p:par>
                              <p:par>
                                <p:cTn id="21" presetID="1" presetClass="entr" presetSubtype="0" fill="hold" grpId="0" nodeType="withEffect">
                                  <p:stCondLst>
                                    <p:cond delay="0"/>
                                  </p:stCondLst>
                                  <p:childTnLst>
                                    <p:set>
                                      <p:cBhvr>
                                        <p:cTn id="22" dur="1" fill="hold">
                                          <p:stCondLst>
                                            <p:cond delay="0"/>
                                          </p:stCondLst>
                                        </p:cTn>
                                        <p:tgtEl>
                                          <p:spTgt spid="12"/>
                                        </p:tgtEl>
                                        <p:attrNameLst>
                                          <p:attrName>style.visibility</p:attrName>
                                        </p:attrNameLst>
                                      </p:cBhvr>
                                      <p:to>
                                        <p:strVal val="visible"/>
                                      </p:to>
                                    </p:set>
                                  </p:childTnLst>
                                </p:cTn>
                              </p:par>
                              <p:par>
                                <p:cTn id="23" presetID="1" presetClass="exit" presetSubtype="0" fill="hold" grpId="1" nodeType="withEffect">
                                  <p:stCondLst>
                                    <p:cond delay="0"/>
                                  </p:stCondLst>
                                  <p:childTnLst>
                                    <p:set>
                                      <p:cBhvr>
                                        <p:cTn id="24" dur="1" fill="hold">
                                          <p:stCondLst>
                                            <p:cond delay="0"/>
                                          </p:stCondLst>
                                        </p:cTn>
                                        <p:tgtEl>
                                          <p:spTgt spid="9"/>
                                        </p:tgtEl>
                                        <p:attrNameLst>
                                          <p:attrName>style.visibility</p:attrName>
                                        </p:attrNameLst>
                                      </p:cBhvr>
                                      <p:to>
                                        <p:strVal val="hidden"/>
                                      </p:to>
                                    </p:set>
                                  </p:childTnLst>
                                </p:cTn>
                              </p:par>
                            </p:childTnLst>
                          </p:cTn>
                        </p:par>
                      </p:childTnLst>
                    </p:cTn>
                  </p:par>
                  <p:par>
                    <p:cTn id="25" fill="hold">
                      <p:stCondLst>
                        <p:cond delay="indefinite"/>
                      </p:stCondLst>
                      <p:childTnLst>
                        <p:par>
                          <p:cTn id="26" fill="hold">
                            <p:stCondLst>
                              <p:cond delay="0"/>
                            </p:stCondLst>
                            <p:childTnLst>
                              <p:par>
                                <p:cTn id="27" presetID="1" presetClass="entr" presetSubtype="0" fill="hold" grpId="0" nodeType="clickEffect">
                                  <p:stCondLst>
                                    <p:cond delay="0"/>
                                  </p:stCondLst>
                                  <p:childTnLst>
                                    <p:set>
                                      <p:cBhvr>
                                        <p:cTn id="28" dur="1" fill="hold">
                                          <p:stCondLst>
                                            <p:cond delay="0"/>
                                          </p:stCondLst>
                                        </p:cTn>
                                        <p:tgtEl>
                                          <p:spTgt spid="4">
                                            <p:txEl>
                                              <p:pRg st="3" end="3"/>
                                            </p:txEl>
                                          </p:spTgt>
                                        </p:tgtEl>
                                        <p:attrNameLst>
                                          <p:attrName>style.visibility</p:attrName>
                                        </p:attrNameLst>
                                      </p:cBhvr>
                                      <p:to>
                                        <p:strVal val="visible"/>
                                      </p:to>
                                    </p:set>
                                  </p:childTnLst>
                                </p:cTn>
                              </p:par>
                              <p:par>
                                <p:cTn id="29" presetID="1" presetClass="entr" presetSubtype="0" fill="hold" grpId="0" nodeType="withEffect">
                                  <p:stCondLst>
                                    <p:cond delay="0"/>
                                  </p:stCondLst>
                                  <p:childTnLst>
                                    <p:set>
                                      <p:cBhvr>
                                        <p:cTn id="30" dur="1" fill="hold">
                                          <p:stCondLst>
                                            <p:cond delay="0"/>
                                          </p:stCondLst>
                                        </p:cTn>
                                        <p:tgtEl>
                                          <p:spTgt spid="16"/>
                                        </p:tgtEl>
                                        <p:attrNameLst>
                                          <p:attrName>style.visibility</p:attrName>
                                        </p:attrNameLst>
                                      </p:cBhvr>
                                      <p:to>
                                        <p:strVal val="visible"/>
                                      </p:to>
                                    </p:set>
                                  </p:childTnLst>
                                </p:cTn>
                              </p:par>
                              <p:par>
                                <p:cTn id="31" presetID="1" presetClass="exit" presetSubtype="0" fill="hold" grpId="1" nodeType="withEffect">
                                  <p:stCondLst>
                                    <p:cond delay="0"/>
                                  </p:stCondLst>
                                  <p:childTnLst>
                                    <p:set>
                                      <p:cBhvr>
                                        <p:cTn id="32" dur="1" fill="hold">
                                          <p:stCondLst>
                                            <p:cond delay="0"/>
                                          </p:stCondLst>
                                        </p:cTn>
                                        <p:tgtEl>
                                          <p:spTgt spid="12"/>
                                        </p:tgtEl>
                                        <p:attrNameLst>
                                          <p:attrName>style.visibility</p:attrName>
                                        </p:attrNameLst>
                                      </p:cBhvr>
                                      <p:to>
                                        <p:strVal val="hidden"/>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4" grpId="0" build="p"/>
    </p:bldLst>
  </p:timing>
</p:sld>
</file>

<file path=ppt/slides/slide3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b0_2">
            <a:extLst>
              <a:ext uri="{FF2B5EF4-FFF2-40B4-BE49-F238E27FC236}">
                <a16:creationId xmlns:a16="http://schemas.microsoft.com/office/drawing/2014/main" id="{33DE8782-7F2B-1033-00F6-2A6652EE0E80}"/>
              </a:ext>
            </a:extLst>
          </p:cNvPr>
          <p:cNvSpPr txBox="1"/>
          <p:nvPr/>
        </p:nvSpPr>
        <p:spPr>
          <a:xfrm>
            <a:off x="0" y="148566"/>
            <a:ext cx="11680992" cy="548640"/>
          </a:xfrm>
          <a:prstGeom prst="rect">
            <a:avLst/>
          </a:prstGeom>
          <a:noFill/>
          <a:ln>
            <a:noFill/>
          </a:ln>
        </p:spPr>
        <p:txBody>
          <a:bodyPr wrap="square" rtlCol="0" anchor="ctr"/>
          <a:lstStyle/>
          <a:p>
            <a:r>
              <a:rPr lang="en-US" sz="3200" b="1" dirty="0">
                <a:solidFill>
                  <a:srgbClr val="000000"/>
                </a:solidFill>
                <a:latin typeface="Calibri" pitchFamily="34" charset="0"/>
                <a:ea typeface="Calibri" pitchFamily="34" charset="-122"/>
                <a:cs typeface="Calibri" pitchFamily="34" charset="-120"/>
              </a:rPr>
              <a:t>Basic </a:t>
            </a:r>
            <a:r>
              <a:rPr lang="en-US" sz="3200" b="1" dirty="0">
                <a:solidFill>
                  <a:srgbClr val="FF0000"/>
                </a:solidFill>
                <a:latin typeface="Calibri" pitchFamily="34" charset="0"/>
                <a:ea typeface="Calibri" pitchFamily="34" charset="-122"/>
                <a:cs typeface="Calibri" pitchFamily="34" charset="-120"/>
              </a:rPr>
              <a:t>AI</a:t>
            </a:r>
            <a:r>
              <a:rPr lang="en-US" sz="3200" b="1" dirty="0">
                <a:solidFill>
                  <a:srgbClr val="000000"/>
                </a:solidFill>
                <a:latin typeface="Calibri" pitchFamily="34" charset="0"/>
                <a:ea typeface="Calibri" pitchFamily="34" charset="-122"/>
                <a:cs typeface="Calibri" pitchFamily="34" charset="-120"/>
              </a:rPr>
              <a:t>/</a:t>
            </a:r>
            <a:r>
              <a:rPr lang="en-US" sz="3200" b="1" dirty="0">
                <a:solidFill>
                  <a:srgbClr val="00B050"/>
                </a:solidFill>
                <a:latin typeface="Calibri" pitchFamily="34" charset="0"/>
                <a:ea typeface="Calibri" pitchFamily="34" charset="-122"/>
                <a:cs typeface="Calibri" pitchFamily="34" charset="-120"/>
              </a:rPr>
              <a:t>ML</a:t>
            </a:r>
            <a:r>
              <a:rPr lang="en-US" sz="3200" b="1" dirty="0">
                <a:solidFill>
                  <a:srgbClr val="000000"/>
                </a:solidFill>
                <a:latin typeface="Calibri" pitchFamily="34" charset="0"/>
                <a:ea typeface="Calibri" pitchFamily="34" charset="-122"/>
                <a:cs typeface="Calibri" pitchFamily="34" charset="-120"/>
              </a:rPr>
              <a:t>/</a:t>
            </a:r>
            <a:r>
              <a:rPr lang="en-US" sz="3200" b="1" dirty="0">
                <a:solidFill>
                  <a:srgbClr val="362FEC"/>
                </a:solidFill>
                <a:latin typeface="Calibri" pitchFamily="34" charset="0"/>
                <a:ea typeface="Calibri" pitchFamily="34" charset="-122"/>
                <a:cs typeface="Calibri" pitchFamily="34" charset="-120"/>
              </a:rPr>
              <a:t>DL</a:t>
            </a:r>
            <a:r>
              <a:rPr lang="en-US" sz="3200" b="1" dirty="0">
                <a:solidFill>
                  <a:srgbClr val="000000"/>
                </a:solidFill>
                <a:latin typeface="Calibri" pitchFamily="34" charset="0"/>
                <a:ea typeface="Calibri" pitchFamily="34" charset="-122"/>
                <a:cs typeface="Calibri" pitchFamily="34" charset="-120"/>
              </a:rPr>
              <a:t> Terminology</a:t>
            </a:r>
            <a:endParaRPr lang="en-US" sz="3200" dirty="0">
              <a:solidFill>
                <a:srgbClr val="362FEC"/>
              </a:solidFill>
            </a:endParaRPr>
          </a:p>
        </p:txBody>
      </p:sp>
      <p:sp>
        <p:nvSpPr>
          <p:cNvPr id="3" name="subheading">
            <a:extLst>
              <a:ext uri="{FF2B5EF4-FFF2-40B4-BE49-F238E27FC236}">
                <a16:creationId xmlns:a16="http://schemas.microsoft.com/office/drawing/2014/main" id="{5CB8A4AA-40B1-94AE-8EEE-080599481F78}"/>
              </a:ext>
            </a:extLst>
          </p:cNvPr>
          <p:cNvSpPr txBox="1"/>
          <p:nvPr/>
        </p:nvSpPr>
        <p:spPr>
          <a:xfrm>
            <a:off x="292608" y="868680"/>
            <a:ext cx="11430000" cy="411480"/>
          </a:xfrm>
          <a:prstGeom prst="rect">
            <a:avLst/>
          </a:prstGeom>
          <a:noFill/>
          <a:ln>
            <a:noFill/>
          </a:ln>
        </p:spPr>
        <p:txBody>
          <a:bodyPr wrap="square" lIns="0" tIns="0" rIns="0" bIns="0" rtlCol="0" anchor="ctr"/>
          <a:lstStyle/>
          <a:p>
            <a:pPr marL="0" indent="0">
              <a:buNone/>
            </a:pPr>
            <a:r>
              <a:rPr lang="en-US" sz="2000" b="1" dirty="0">
                <a:solidFill>
                  <a:srgbClr val="362FEC"/>
                </a:solidFill>
                <a:latin typeface="Calibri" panose="020F0502020204030204" pitchFamily="34" charset="0"/>
                <a:cs typeface="Calibri" panose="020F0502020204030204" pitchFamily="34" charset="0"/>
              </a:rPr>
              <a:t>Learning, prediction, and action</a:t>
            </a:r>
          </a:p>
        </p:txBody>
      </p:sp>
      <p:grpSp>
        <p:nvGrpSpPr>
          <p:cNvPr id="4" name="learning"/>
          <p:cNvGrpSpPr/>
          <p:nvPr/>
        </p:nvGrpSpPr>
        <p:grpSpPr>
          <a:xfrm>
            <a:off x="502920" y="1508760"/>
            <a:ext cx="5394960" cy="1280160"/>
            <a:chOff x="502920" y="1508760"/>
            <a:chExt cx="5394960" cy="1280160"/>
          </a:xfrm>
        </p:grpSpPr>
        <p:sp>
          <p:nvSpPr>
            <p:cNvPr id="5" name="Rounded Rectangle 4"/>
            <p:cNvSpPr/>
            <p:nvPr/>
          </p:nvSpPr>
          <p:spPr>
            <a:xfrm>
              <a:off x="502920" y="2011680"/>
              <a:ext cx="1554480" cy="777240"/>
            </a:xfrm>
            <a:prstGeom prst="roundRect">
              <a:avLst>
                <a:gd name="adj" fmla="val 12000"/>
              </a:avLst>
            </a:prstGeom>
            <a:solidFill>
              <a:srgbClr val="EDEDED"/>
            </a:solidFill>
            <a:ln>
              <a:noFill/>
            </a:ln>
          </p:spPr>
          <p:style>
            <a:lnRef idx="1">
              <a:schemeClr val="accent1"/>
            </a:lnRef>
            <a:fillRef idx="3">
              <a:schemeClr val="accent1"/>
            </a:fillRef>
            <a:effectRef idx="2">
              <a:schemeClr val="accent1"/>
            </a:effectRef>
            <a:fontRef idx="minor">
              <a:schemeClr val="lt1"/>
            </a:fontRef>
          </p:style>
          <p:txBody>
            <a:bodyPr wrap="square" lIns="45720" rIns="45720" rtlCol="0" anchor="ctr"/>
            <a:lstStyle/>
            <a:p>
              <a:pPr algn="ctr"/>
              <a:r>
                <a:rPr sz="1600" b="1">
                  <a:solidFill>
                    <a:srgbClr val="000000"/>
                  </a:solidFill>
                  <a:latin typeface="Calibri"/>
                </a:rPr>
                <a:t>training data</a:t>
              </a:r>
            </a:p>
          </p:txBody>
        </p:sp>
        <p:cxnSp>
          <p:nvCxnSpPr>
            <p:cNvPr id="6" name="Connector 5"/>
            <p:cNvCxnSpPr/>
            <p:nvPr/>
          </p:nvCxnSpPr>
          <p:spPr>
            <a:xfrm>
              <a:off x="2057400" y="2400300"/>
              <a:ext cx="365760" cy="0"/>
            </a:xfrm>
            <a:prstGeom prst="line">
              <a:avLst/>
            </a:prstGeom>
            <a:ln w="19050">
              <a:solidFill>
                <a:srgbClr val="595959"/>
              </a:solidFill>
              <a:tailEnd type="triangle" w="med" len="med"/>
            </a:ln>
          </p:spPr>
          <p:style>
            <a:lnRef idx="2">
              <a:schemeClr val="accent1"/>
            </a:lnRef>
            <a:fillRef idx="0">
              <a:schemeClr val="accent1"/>
            </a:fillRef>
            <a:effectRef idx="1">
              <a:schemeClr val="accent1"/>
            </a:effectRef>
            <a:fontRef idx="minor">
              <a:schemeClr val="tx1"/>
            </a:fontRef>
          </p:style>
        </p:cxnSp>
        <p:sp>
          <p:nvSpPr>
            <p:cNvPr id="7" name="Rounded Rectangle 6"/>
            <p:cNvSpPr/>
            <p:nvPr/>
          </p:nvSpPr>
          <p:spPr>
            <a:xfrm>
              <a:off x="2423160" y="2011680"/>
              <a:ext cx="1554480" cy="777240"/>
            </a:xfrm>
            <a:prstGeom prst="roundRect">
              <a:avLst>
                <a:gd name="adj" fmla="val 12000"/>
              </a:avLst>
            </a:prstGeom>
            <a:solidFill>
              <a:srgbClr val="E3E2FD"/>
            </a:solidFill>
            <a:ln>
              <a:noFill/>
            </a:ln>
          </p:spPr>
          <p:style>
            <a:lnRef idx="1">
              <a:schemeClr val="accent1"/>
            </a:lnRef>
            <a:fillRef idx="3">
              <a:schemeClr val="accent1"/>
            </a:fillRef>
            <a:effectRef idx="2">
              <a:schemeClr val="accent1"/>
            </a:effectRef>
            <a:fontRef idx="minor">
              <a:schemeClr val="lt1"/>
            </a:fontRef>
          </p:style>
          <p:txBody>
            <a:bodyPr wrap="square" lIns="45720" rIns="45720" rtlCol="0" anchor="ctr"/>
            <a:lstStyle/>
            <a:p>
              <a:pPr algn="ctr"/>
              <a:r>
                <a:rPr sz="1600" b="1">
                  <a:solidFill>
                    <a:srgbClr val="362FEC"/>
                  </a:solidFill>
                  <a:latin typeface="Calibri"/>
                </a:rPr>
                <a:t>learning algorithm</a:t>
              </a:r>
            </a:p>
          </p:txBody>
        </p:sp>
        <p:cxnSp>
          <p:nvCxnSpPr>
            <p:cNvPr id="8" name="Connector 7"/>
            <p:cNvCxnSpPr/>
            <p:nvPr/>
          </p:nvCxnSpPr>
          <p:spPr>
            <a:xfrm>
              <a:off x="3977639" y="2400300"/>
              <a:ext cx="365761" cy="0"/>
            </a:xfrm>
            <a:prstGeom prst="line">
              <a:avLst/>
            </a:prstGeom>
            <a:ln w="19050">
              <a:solidFill>
                <a:srgbClr val="595959"/>
              </a:solidFill>
              <a:tailEnd type="triangle" w="med" len="med"/>
            </a:ln>
          </p:spPr>
          <p:style>
            <a:lnRef idx="2">
              <a:schemeClr val="accent1"/>
            </a:lnRef>
            <a:fillRef idx="0">
              <a:schemeClr val="accent1"/>
            </a:fillRef>
            <a:effectRef idx="1">
              <a:schemeClr val="accent1"/>
            </a:effectRef>
            <a:fontRef idx="minor">
              <a:schemeClr val="tx1"/>
            </a:fontRef>
          </p:style>
        </p:cxnSp>
        <p:sp>
          <p:nvSpPr>
            <p:cNvPr id="9" name="Rounded Rectangle 8"/>
            <p:cNvSpPr/>
            <p:nvPr/>
          </p:nvSpPr>
          <p:spPr>
            <a:xfrm>
              <a:off x="4343400" y="2011680"/>
              <a:ext cx="1554480" cy="777240"/>
            </a:xfrm>
            <a:prstGeom prst="roundRect">
              <a:avLst>
                <a:gd name="adj" fmla="val 12000"/>
              </a:avLst>
            </a:prstGeom>
            <a:solidFill>
              <a:srgbClr val="362FEC"/>
            </a:solidFill>
            <a:ln>
              <a:noFill/>
            </a:ln>
          </p:spPr>
          <p:style>
            <a:lnRef idx="1">
              <a:schemeClr val="accent1"/>
            </a:lnRef>
            <a:fillRef idx="3">
              <a:schemeClr val="accent1"/>
            </a:fillRef>
            <a:effectRef idx="2">
              <a:schemeClr val="accent1"/>
            </a:effectRef>
            <a:fontRef idx="minor">
              <a:schemeClr val="lt1"/>
            </a:fontRef>
          </p:style>
          <p:txBody>
            <a:bodyPr wrap="square" lIns="45720" rIns="45720" rtlCol="0" anchor="ctr"/>
            <a:lstStyle/>
            <a:p>
              <a:pPr algn="ctr"/>
              <a:r>
                <a:rPr sz="1600" b="1">
                  <a:solidFill>
                    <a:srgbClr val="FFFFFF"/>
                  </a:solidFill>
                  <a:latin typeface="Calibri"/>
                </a:rPr>
                <a:t>trained model</a:t>
              </a:r>
            </a:p>
          </p:txBody>
        </p:sp>
        <p:sp>
          <p:nvSpPr>
            <p:cNvPr id="10" name="TextBox 9"/>
            <p:cNvSpPr txBox="1"/>
            <p:nvPr/>
          </p:nvSpPr>
          <p:spPr>
            <a:xfrm>
              <a:off x="502920" y="1508760"/>
              <a:ext cx="5394960" cy="320040"/>
            </a:xfrm>
            <a:prstGeom prst="rect">
              <a:avLst/>
            </a:prstGeom>
            <a:noFill/>
          </p:spPr>
          <p:txBody>
            <a:bodyPr wrap="square" lIns="0" tIns="0" rIns="0" bIns="0" anchor="t">
              <a:spAutoFit/>
            </a:bodyPr>
            <a:lstStyle/>
            <a:p>
              <a:pPr algn="ctr"/>
              <a:r>
                <a:rPr sz="1600" b="1" i="0">
                  <a:solidFill>
                    <a:srgbClr val="362FEC"/>
                  </a:solidFill>
                  <a:latin typeface="Calibri"/>
                </a:rPr>
                <a:t>learning (training)</a:t>
              </a:r>
            </a:p>
          </p:txBody>
        </p:sp>
      </p:grpSp>
      <p:grpSp>
        <p:nvGrpSpPr>
          <p:cNvPr id="11" name="prediction"/>
          <p:cNvGrpSpPr/>
          <p:nvPr/>
        </p:nvGrpSpPr>
        <p:grpSpPr>
          <a:xfrm>
            <a:off x="4343400" y="1508760"/>
            <a:ext cx="3749040" cy="2697480"/>
            <a:chOff x="4343400" y="1508760"/>
            <a:chExt cx="3749040" cy="2697480"/>
          </a:xfrm>
        </p:grpSpPr>
        <p:sp>
          <p:nvSpPr>
            <p:cNvPr id="12" name="Rounded Rectangle 11"/>
            <p:cNvSpPr/>
            <p:nvPr/>
          </p:nvSpPr>
          <p:spPr>
            <a:xfrm>
              <a:off x="4343400" y="3429000"/>
              <a:ext cx="1554480" cy="777240"/>
            </a:xfrm>
            <a:prstGeom prst="roundRect">
              <a:avLst>
                <a:gd name="adj" fmla="val 12000"/>
              </a:avLst>
            </a:prstGeom>
            <a:solidFill>
              <a:srgbClr val="EDEDED"/>
            </a:solidFill>
            <a:ln>
              <a:noFill/>
            </a:ln>
          </p:spPr>
          <p:style>
            <a:lnRef idx="1">
              <a:schemeClr val="accent1"/>
            </a:lnRef>
            <a:fillRef idx="3">
              <a:schemeClr val="accent1"/>
            </a:fillRef>
            <a:effectRef idx="2">
              <a:schemeClr val="accent1"/>
            </a:effectRef>
            <a:fontRef idx="minor">
              <a:schemeClr val="lt1"/>
            </a:fontRef>
          </p:style>
          <p:txBody>
            <a:bodyPr wrap="square" lIns="45720" rIns="45720" rtlCol="0" anchor="ctr"/>
            <a:lstStyle/>
            <a:p>
              <a:pPr algn="ctr"/>
              <a:r>
                <a:rPr sz="1600" b="1">
                  <a:solidFill>
                    <a:srgbClr val="000000"/>
                  </a:solidFill>
                  <a:latin typeface="Calibri"/>
                </a:rPr>
                <a:t>new input</a:t>
              </a:r>
            </a:p>
          </p:txBody>
        </p:sp>
        <p:cxnSp>
          <p:nvCxnSpPr>
            <p:cNvPr id="13" name="Connector 12"/>
            <p:cNvCxnSpPr/>
            <p:nvPr/>
          </p:nvCxnSpPr>
          <p:spPr>
            <a:xfrm flipV="1">
              <a:off x="5120640" y="2788920"/>
              <a:ext cx="0" cy="640080"/>
            </a:xfrm>
            <a:prstGeom prst="line">
              <a:avLst/>
            </a:prstGeom>
            <a:ln w="19050">
              <a:solidFill>
                <a:srgbClr val="595959"/>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14" name="Connector 13"/>
            <p:cNvCxnSpPr/>
            <p:nvPr/>
          </p:nvCxnSpPr>
          <p:spPr>
            <a:xfrm>
              <a:off x="5897880" y="2400300"/>
              <a:ext cx="365760" cy="0"/>
            </a:xfrm>
            <a:prstGeom prst="line">
              <a:avLst/>
            </a:prstGeom>
            <a:ln w="19050">
              <a:solidFill>
                <a:srgbClr val="595959"/>
              </a:solidFill>
              <a:tailEnd type="triangle" w="med" len="med"/>
            </a:ln>
          </p:spPr>
          <p:style>
            <a:lnRef idx="2">
              <a:schemeClr val="accent1"/>
            </a:lnRef>
            <a:fillRef idx="0">
              <a:schemeClr val="accent1"/>
            </a:fillRef>
            <a:effectRef idx="1">
              <a:schemeClr val="accent1"/>
            </a:effectRef>
            <a:fontRef idx="minor">
              <a:schemeClr val="tx1"/>
            </a:fontRef>
          </p:style>
        </p:cxnSp>
        <p:sp>
          <p:nvSpPr>
            <p:cNvPr id="15" name="Rounded Rectangle 14"/>
            <p:cNvSpPr/>
            <p:nvPr/>
          </p:nvSpPr>
          <p:spPr>
            <a:xfrm>
              <a:off x="6263640" y="2011680"/>
              <a:ext cx="1554480" cy="777240"/>
            </a:xfrm>
            <a:prstGeom prst="roundRect">
              <a:avLst>
                <a:gd name="adj" fmla="val 12000"/>
              </a:avLst>
            </a:prstGeom>
            <a:solidFill>
              <a:srgbClr val="D9F2E4"/>
            </a:solidFill>
            <a:ln>
              <a:noFill/>
            </a:ln>
          </p:spPr>
          <p:style>
            <a:lnRef idx="1">
              <a:schemeClr val="accent1"/>
            </a:lnRef>
            <a:fillRef idx="3">
              <a:schemeClr val="accent1"/>
            </a:fillRef>
            <a:effectRef idx="2">
              <a:schemeClr val="accent1"/>
            </a:effectRef>
            <a:fontRef idx="minor">
              <a:schemeClr val="lt1"/>
            </a:fontRef>
          </p:style>
          <p:txBody>
            <a:bodyPr wrap="square" lIns="45720" rIns="45720" rtlCol="0" anchor="ctr"/>
            <a:lstStyle/>
            <a:p>
              <a:pPr algn="ctr"/>
              <a:r>
                <a:rPr sz="1600" b="1">
                  <a:solidFill>
                    <a:srgbClr val="00843D"/>
                  </a:solidFill>
                  <a:latin typeface="Calibri"/>
                </a:rPr>
                <a:t>prediction</a:t>
              </a:r>
            </a:p>
          </p:txBody>
        </p:sp>
        <p:sp>
          <p:nvSpPr>
            <p:cNvPr id="16" name="TextBox 15"/>
            <p:cNvSpPr txBox="1"/>
            <p:nvPr/>
          </p:nvSpPr>
          <p:spPr>
            <a:xfrm>
              <a:off x="5989320" y="1508760"/>
              <a:ext cx="2103120" cy="320040"/>
            </a:xfrm>
            <a:prstGeom prst="rect">
              <a:avLst/>
            </a:prstGeom>
            <a:noFill/>
          </p:spPr>
          <p:txBody>
            <a:bodyPr wrap="square" lIns="0" tIns="0" rIns="0" bIns="0" anchor="t">
              <a:spAutoFit/>
            </a:bodyPr>
            <a:lstStyle/>
            <a:p>
              <a:pPr algn="ctr"/>
              <a:r>
                <a:rPr sz="1600" b="1" i="0">
                  <a:solidFill>
                    <a:srgbClr val="00843D"/>
                  </a:solidFill>
                  <a:latin typeface="Calibri"/>
                </a:rPr>
                <a:t>prediction (inference)</a:t>
              </a:r>
            </a:p>
          </p:txBody>
        </p:sp>
      </p:grpSp>
      <p:grpSp>
        <p:nvGrpSpPr>
          <p:cNvPr id="17" name="action"/>
          <p:cNvGrpSpPr/>
          <p:nvPr/>
        </p:nvGrpSpPr>
        <p:grpSpPr>
          <a:xfrm>
            <a:off x="7818119" y="1508760"/>
            <a:ext cx="3840481" cy="2697480"/>
            <a:chOff x="7818119" y="1508760"/>
            <a:chExt cx="3840481" cy="2697480"/>
          </a:xfrm>
        </p:grpSpPr>
        <p:cxnSp>
          <p:nvCxnSpPr>
            <p:cNvPr id="18" name="Connector 17"/>
            <p:cNvCxnSpPr/>
            <p:nvPr/>
          </p:nvCxnSpPr>
          <p:spPr>
            <a:xfrm>
              <a:off x="7818119" y="2400300"/>
              <a:ext cx="365760" cy="0"/>
            </a:xfrm>
            <a:prstGeom prst="line">
              <a:avLst/>
            </a:prstGeom>
            <a:ln w="19050">
              <a:solidFill>
                <a:srgbClr val="595959"/>
              </a:solidFill>
              <a:tailEnd type="triangle" w="med" len="med"/>
            </a:ln>
          </p:spPr>
          <p:style>
            <a:lnRef idx="2">
              <a:schemeClr val="accent1"/>
            </a:lnRef>
            <a:fillRef idx="0">
              <a:schemeClr val="accent1"/>
            </a:fillRef>
            <a:effectRef idx="1">
              <a:schemeClr val="accent1"/>
            </a:effectRef>
            <a:fontRef idx="minor">
              <a:schemeClr val="tx1"/>
            </a:fontRef>
          </p:style>
        </p:cxnSp>
        <p:sp>
          <p:nvSpPr>
            <p:cNvPr id="19" name="Rounded Rectangle 18"/>
            <p:cNvSpPr/>
            <p:nvPr/>
          </p:nvSpPr>
          <p:spPr>
            <a:xfrm>
              <a:off x="8183879" y="2011680"/>
              <a:ext cx="1554480" cy="777240"/>
            </a:xfrm>
            <a:prstGeom prst="roundRect">
              <a:avLst>
                <a:gd name="adj" fmla="val 12000"/>
              </a:avLst>
            </a:prstGeom>
            <a:solidFill>
              <a:srgbClr val="FFE0E0"/>
            </a:solidFill>
            <a:ln>
              <a:noFill/>
            </a:ln>
          </p:spPr>
          <p:style>
            <a:lnRef idx="1">
              <a:schemeClr val="accent1"/>
            </a:lnRef>
            <a:fillRef idx="3">
              <a:schemeClr val="accent1"/>
            </a:fillRef>
            <a:effectRef idx="2">
              <a:schemeClr val="accent1"/>
            </a:effectRef>
            <a:fontRef idx="minor">
              <a:schemeClr val="lt1"/>
            </a:fontRef>
          </p:style>
          <p:txBody>
            <a:bodyPr wrap="square" lIns="45720" rIns="45720" rtlCol="0" anchor="ctr"/>
            <a:lstStyle/>
            <a:p>
              <a:pPr algn="ctr"/>
              <a:r>
                <a:rPr sz="1600" b="1">
                  <a:solidFill>
                    <a:srgbClr val="FF0000"/>
                  </a:solidFill>
                  <a:latin typeface="Calibri"/>
                </a:rPr>
                <a:t>decision rule</a:t>
              </a:r>
            </a:p>
          </p:txBody>
        </p:sp>
        <p:sp>
          <p:nvSpPr>
            <p:cNvPr id="20" name="Rounded Rectangle 19"/>
            <p:cNvSpPr/>
            <p:nvPr/>
          </p:nvSpPr>
          <p:spPr>
            <a:xfrm>
              <a:off x="8183879" y="3429000"/>
              <a:ext cx="1554480" cy="777240"/>
            </a:xfrm>
            <a:prstGeom prst="roundRect">
              <a:avLst>
                <a:gd name="adj" fmla="val 12000"/>
              </a:avLst>
            </a:prstGeom>
            <a:solidFill>
              <a:srgbClr val="EDEDED"/>
            </a:solidFill>
            <a:ln>
              <a:noFill/>
            </a:ln>
          </p:spPr>
          <p:style>
            <a:lnRef idx="1">
              <a:schemeClr val="accent1"/>
            </a:lnRef>
            <a:fillRef idx="3">
              <a:schemeClr val="accent1"/>
            </a:fillRef>
            <a:effectRef idx="2">
              <a:schemeClr val="accent1"/>
            </a:effectRef>
            <a:fontRef idx="minor">
              <a:schemeClr val="lt1"/>
            </a:fontRef>
          </p:style>
          <p:txBody>
            <a:bodyPr wrap="square" lIns="45720" rIns="45720" rtlCol="0" anchor="ctr"/>
            <a:lstStyle/>
            <a:p>
              <a:pPr algn="ctr"/>
              <a:r>
                <a:rPr sz="1600" b="1">
                  <a:solidFill>
                    <a:srgbClr val="000000"/>
                  </a:solidFill>
                  <a:latin typeface="Calibri"/>
                </a:rPr>
                <a:t>costs and constraints</a:t>
              </a:r>
            </a:p>
          </p:txBody>
        </p:sp>
        <p:cxnSp>
          <p:nvCxnSpPr>
            <p:cNvPr id="21" name="Connector 20"/>
            <p:cNvCxnSpPr/>
            <p:nvPr/>
          </p:nvCxnSpPr>
          <p:spPr>
            <a:xfrm flipV="1">
              <a:off x="8961119" y="2788920"/>
              <a:ext cx="0" cy="640080"/>
            </a:xfrm>
            <a:prstGeom prst="line">
              <a:avLst/>
            </a:prstGeom>
            <a:ln w="19050">
              <a:solidFill>
                <a:srgbClr val="595959"/>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22" name="Connector 21"/>
            <p:cNvCxnSpPr/>
            <p:nvPr/>
          </p:nvCxnSpPr>
          <p:spPr>
            <a:xfrm>
              <a:off x="9738359" y="2400300"/>
              <a:ext cx="365761" cy="0"/>
            </a:xfrm>
            <a:prstGeom prst="line">
              <a:avLst/>
            </a:prstGeom>
            <a:ln w="19050">
              <a:solidFill>
                <a:srgbClr val="595959"/>
              </a:solidFill>
              <a:tailEnd type="triangle" w="med" len="med"/>
            </a:ln>
          </p:spPr>
          <p:style>
            <a:lnRef idx="2">
              <a:schemeClr val="accent1"/>
            </a:lnRef>
            <a:fillRef idx="0">
              <a:schemeClr val="accent1"/>
            </a:fillRef>
            <a:effectRef idx="1">
              <a:schemeClr val="accent1"/>
            </a:effectRef>
            <a:fontRef idx="minor">
              <a:schemeClr val="tx1"/>
            </a:fontRef>
          </p:style>
        </p:cxnSp>
        <p:sp>
          <p:nvSpPr>
            <p:cNvPr id="23" name="Rounded Rectangle 22"/>
            <p:cNvSpPr/>
            <p:nvPr/>
          </p:nvSpPr>
          <p:spPr>
            <a:xfrm>
              <a:off x="10104120" y="2011680"/>
              <a:ext cx="1554480" cy="777240"/>
            </a:xfrm>
            <a:prstGeom prst="roundRect">
              <a:avLst>
                <a:gd name="adj" fmla="val 12000"/>
              </a:avLst>
            </a:prstGeom>
            <a:solidFill>
              <a:srgbClr val="FF0000"/>
            </a:solidFill>
            <a:ln>
              <a:noFill/>
            </a:ln>
          </p:spPr>
          <p:style>
            <a:lnRef idx="1">
              <a:schemeClr val="accent1"/>
            </a:lnRef>
            <a:fillRef idx="3">
              <a:schemeClr val="accent1"/>
            </a:fillRef>
            <a:effectRef idx="2">
              <a:schemeClr val="accent1"/>
            </a:effectRef>
            <a:fontRef idx="minor">
              <a:schemeClr val="lt1"/>
            </a:fontRef>
          </p:style>
          <p:txBody>
            <a:bodyPr wrap="square" lIns="45720" rIns="45720" rtlCol="0" anchor="ctr"/>
            <a:lstStyle/>
            <a:p>
              <a:pPr algn="ctr"/>
              <a:r>
                <a:rPr sz="1600" b="1">
                  <a:solidFill>
                    <a:srgbClr val="FFFFFF"/>
                  </a:solidFill>
                  <a:latin typeface="Calibri"/>
                </a:rPr>
                <a:t>action</a:t>
              </a:r>
            </a:p>
          </p:txBody>
        </p:sp>
        <p:sp>
          <p:nvSpPr>
            <p:cNvPr id="24" name="TextBox 23"/>
            <p:cNvSpPr txBox="1"/>
            <p:nvPr/>
          </p:nvSpPr>
          <p:spPr>
            <a:xfrm>
              <a:off x="8183879" y="1508760"/>
              <a:ext cx="3474720" cy="320040"/>
            </a:xfrm>
            <a:prstGeom prst="rect">
              <a:avLst/>
            </a:prstGeom>
            <a:noFill/>
          </p:spPr>
          <p:txBody>
            <a:bodyPr wrap="square" lIns="0" tIns="0" rIns="0" bIns="0" anchor="t">
              <a:spAutoFit/>
            </a:bodyPr>
            <a:lstStyle/>
            <a:p>
              <a:pPr algn="ctr"/>
              <a:r>
                <a:rPr sz="1600" b="1" i="0">
                  <a:solidFill>
                    <a:srgbClr val="FF0000"/>
                  </a:solidFill>
                  <a:latin typeface="Calibri"/>
                </a:rPr>
                <a:t>action</a:t>
              </a:r>
            </a:p>
          </p:txBody>
        </p:sp>
      </p:grpSp>
      <p:graphicFrame>
        <p:nvGraphicFramePr>
          <p:cNvPr id="25" name="inference table"/>
          <p:cNvGraphicFramePr>
            <a:graphicFrameLocks noGrp="1"/>
          </p:cNvGraphicFramePr>
          <p:nvPr/>
        </p:nvGraphicFramePr>
        <p:xfrm>
          <a:off x="502920" y="4434840"/>
          <a:ext cx="11155680" cy="1965960"/>
        </p:xfrm>
        <a:graphic>
          <a:graphicData uri="http://schemas.openxmlformats.org/drawingml/2006/table">
            <a:tbl>
              <a:tblPr firstRow="1" bandRow="1">
                <a:tableStyleId>{5C22544A-7EE6-4342-B048-85BDC9FD1C3A}</a:tableStyleId>
              </a:tblPr>
              <a:tblGrid>
                <a:gridCol w="2651760">
                  <a:extLst>
                    <a:ext uri="{9D8B030D-6E8A-4147-A177-3AD203B41FA5}">
                      <a16:colId xmlns:a16="http://schemas.microsoft.com/office/drawing/2014/main" val="20000"/>
                    </a:ext>
                  </a:extLst>
                </a:gridCol>
                <a:gridCol w="4937760">
                  <a:extLst>
                    <a:ext uri="{9D8B030D-6E8A-4147-A177-3AD203B41FA5}">
                      <a16:colId xmlns:a16="http://schemas.microsoft.com/office/drawing/2014/main" val="20001"/>
                    </a:ext>
                  </a:extLst>
                </a:gridCol>
                <a:gridCol w="3566160">
                  <a:extLst>
                    <a:ext uri="{9D8B030D-6E8A-4147-A177-3AD203B41FA5}">
                      <a16:colId xmlns:a16="http://schemas.microsoft.com/office/drawing/2014/main" val="20002"/>
                    </a:ext>
                  </a:extLst>
                </a:gridCol>
              </a:tblGrid>
              <a:tr h="434340">
                <a:tc>
                  <a:txBody>
                    <a:bodyPr/>
                    <a:lstStyle/>
                    <a:p>
                      <a:r>
                        <a:rPr sz="1500" b="1">
                          <a:solidFill>
                            <a:srgbClr val="FFFFFF"/>
                          </a:solidFill>
                          <a:latin typeface="Calibri"/>
                        </a:rPr>
                        <a:t>Term</a:t>
                      </a:r>
                    </a:p>
                  </a:txBody>
                  <a:tcPr>
                    <a:solidFill>
                      <a:srgbClr val="362FEC"/>
                    </a:solidFill>
                  </a:tcPr>
                </a:tc>
                <a:tc>
                  <a:txBody>
                    <a:bodyPr/>
                    <a:lstStyle/>
                    <a:p>
                      <a:r>
                        <a:rPr sz="1500" b="1">
                          <a:solidFill>
                            <a:srgbClr val="FFFFFF"/>
                          </a:solidFill>
                          <a:latin typeface="Calibri"/>
                        </a:rPr>
                        <a:t>Meaning</a:t>
                      </a:r>
                    </a:p>
                  </a:txBody>
                  <a:tcPr>
                    <a:solidFill>
                      <a:srgbClr val="362FEC"/>
                    </a:solidFill>
                  </a:tcPr>
                </a:tc>
                <a:tc>
                  <a:txBody>
                    <a:bodyPr/>
                    <a:lstStyle/>
                    <a:p>
                      <a:r>
                        <a:rPr sz="1500" b="1">
                          <a:solidFill>
                            <a:srgbClr val="FFFFFF"/>
                          </a:solidFill>
                          <a:latin typeface="Calibri"/>
                        </a:rPr>
                        <a:t>Example</a:t>
                      </a:r>
                    </a:p>
                  </a:txBody>
                  <a:tcPr>
                    <a:solidFill>
                      <a:srgbClr val="362FEC"/>
                    </a:solidFill>
                  </a:tcPr>
                </a:tc>
                <a:extLst>
                  <a:ext uri="{0D108BD9-81ED-4DB2-BD59-A6C34878D82A}">
                    <a16:rowId xmlns:a16="http://schemas.microsoft.com/office/drawing/2014/main" val="10000"/>
                  </a:ext>
                </a:extLst>
              </a:tr>
              <a:tr h="434340">
                <a:tc>
                  <a:txBody>
                    <a:bodyPr/>
                    <a:lstStyle/>
                    <a:p>
                      <a:r>
                        <a:rPr sz="1500" b="1">
                          <a:solidFill>
                            <a:srgbClr val="362FEC"/>
                          </a:solidFill>
                          <a:latin typeface="Calibri"/>
                        </a:rPr>
                        <a:t>statistical inference</a:t>
                      </a:r>
                    </a:p>
                  </a:txBody>
                  <a:tcPr>
                    <a:solidFill>
                      <a:srgbClr val="F4F4F4"/>
                    </a:solidFill>
                  </a:tcPr>
                </a:tc>
                <a:tc>
                  <a:txBody>
                    <a:bodyPr/>
                    <a:lstStyle/>
                    <a:p>
                      <a:r>
                        <a:rPr sz="1500" b="0">
                          <a:solidFill>
                            <a:srgbClr val="000000"/>
                          </a:solidFill>
                          <a:latin typeface="Calibri"/>
                        </a:rPr>
                        <a:t>reasoning from data to unknown quantities, with their uncertainty</a:t>
                      </a:r>
                    </a:p>
                  </a:txBody>
                  <a:tcPr>
                    <a:solidFill>
                      <a:srgbClr val="F4F4F4"/>
                    </a:solidFill>
                  </a:tcPr>
                </a:tc>
                <a:tc>
                  <a:txBody>
                    <a:bodyPr/>
                    <a:lstStyle/>
                    <a:p>
                      <a:r>
                        <a:rPr sz="1500" b="0">
                          <a:solidFill>
                            <a:srgbClr val="000000"/>
                          </a:solidFill>
                          <a:latin typeface="Calibri"/>
                        </a:rPr>
                        <a:t>a confidence interval for a model's accuracy</a:t>
                      </a:r>
                    </a:p>
                  </a:txBody>
                  <a:tcPr>
                    <a:solidFill>
                      <a:srgbClr val="F4F4F4"/>
                    </a:solidFill>
                  </a:tcPr>
                </a:tc>
                <a:extLst>
                  <a:ext uri="{0D108BD9-81ED-4DB2-BD59-A6C34878D82A}">
                    <a16:rowId xmlns:a16="http://schemas.microsoft.com/office/drawing/2014/main" val="10001"/>
                  </a:ext>
                </a:extLst>
              </a:tr>
              <a:tr h="434340">
                <a:tc>
                  <a:txBody>
                    <a:bodyPr/>
                    <a:lstStyle/>
                    <a:p>
                      <a:r>
                        <a:rPr sz="1500" b="1">
                          <a:solidFill>
                            <a:srgbClr val="362FEC"/>
                          </a:solidFill>
                          <a:latin typeface="Calibri"/>
                        </a:rPr>
                        <a:t>probabilistic inference</a:t>
                      </a:r>
                    </a:p>
                  </a:txBody>
                  <a:tcPr>
                    <a:solidFill>
                      <a:srgbClr val="FFFFFF"/>
                    </a:solidFill>
                  </a:tcPr>
                </a:tc>
                <a:tc>
                  <a:txBody>
                    <a:bodyPr/>
                    <a:lstStyle/>
                    <a:p>
                      <a:r>
                        <a:rPr sz="1500" b="0">
                          <a:solidFill>
                            <a:srgbClr val="000000"/>
                          </a:solidFill>
                          <a:latin typeface="Calibri"/>
                        </a:rPr>
                        <a:t>computing a quantity within a specified model</a:t>
                      </a:r>
                    </a:p>
                  </a:txBody>
                  <a:tcPr>
                    <a:solidFill>
                      <a:srgbClr val="FFFFFF"/>
                    </a:solidFill>
                  </a:tcPr>
                </a:tc>
                <a:tc>
                  <a:txBody>
                    <a:bodyPr/>
                    <a:lstStyle/>
                    <a:p>
                      <a:r>
                        <a:rPr sz="1500" b="0">
                          <a:solidFill>
                            <a:srgbClr val="000000"/>
                          </a:solidFill>
                          <a:latin typeface="Calibri"/>
                        </a:rPr>
                        <a:t>the probability of spam given an email's words</a:t>
                      </a:r>
                    </a:p>
                  </a:txBody>
                  <a:tcPr>
                    <a:solidFill>
                      <a:srgbClr val="FFFFFF"/>
                    </a:solidFill>
                  </a:tcPr>
                </a:tc>
                <a:extLst>
                  <a:ext uri="{0D108BD9-81ED-4DB2-BD59-A6C34878D82A}">
                    <a16:rowId xmlns:a16="http://schemas.microsoft.com/office/drawing/2014/main" val="10002"/>
                  </a:ext>
                </a:extLst>
              </a:tr>
              <a:tr h="434340">
                <a:tc>
                  <a:txBody>
                    <a:bodyPr/>
                    <a:lstStyle/>
                    <a:p>
                      <a:r>
                        <a:rPr sz="1500" b="1">
                          <a:solidFill>
                            <a:srgbClr val="362FEC"/>
                          </a:solidFill>
                          <a:latin typeface="Calibri"/>
                        </a:rPr>
                        <a:t>inference (deployment)</a:t>
                      </a:r>
                    </a:p>
                  </a:txBody>
                  <a:tcPr>
                    <a:solidFill>
                      <a:srgbClr val="F4F4F4"/>
                    </a:solidFill>
                  </a:tcPr>
                </a:tc>
                <a:tc>
                  <a:txBody>
                    <a:bodyPr/>
                    <a:lstStyle/>
                    <a:p>
                      <a:r>
                        <a:rPr sz="1500" b="0">
                          <a:solidFill>
                            <a:srgbClr val="000000"/>
                          </a:solidFill>
                          <a:latin typeface="Calibri"/>
                        </a:rPr>
                        <a:t>running a trained model</a:t>
                      </a:r>
                    </a:p>
                  </a:txBody>
                  <a:tcPr>
                    <a:solidFill>
                      <a:srgbClr val="F4F4F4"/>
                    </a:solidFill>
                  </a:tcPr>
                </a:tc>
                <a:tc>
                  <a:txBody>
                    <a:bodyPr/>
                    <a:lstStyle/>
                    <a:p>
                      <a:r>
                        <a:rPr sz="1500" b="0">
                          <a:solidFill>
                            <a:srgbClr val="000000"/>
                          </a:solidFill>
                          <a:latin typeface="Calibri"/>
                        </a:rPr>
                        <a:t>generating a response to a prompt</a:t>
                      </a:r>
                    </a:p>
                  </a:txBody>
                  <a:tcPr>
                    <a:solidFill>
                      <a:srgbClr val="F4F4F4"/>
                    </a:solidFill>
                  </a:tcPr>
                </a:tc>
                <a:extLst>
                  <a:ext uri="{0D108BD9-81ED-4DB2-BD59-A6C34878D82A}">
                    <a16:rowId xmlns:a16="http://schemas.microsoft.com/office/drawing/2014/main" val="10003"/>
                  </a:ext>
                </a:extLst>
              </a:tr>
            </a:tbl>
          </a:graphicData>
        </a:graphic>
      </p:graphicFrame>
      <p:sp>
        <p:nvSpPr>
          <p:cNvPr id="26" name="TextBox 25"/>
          <p:cNvSpPr txBox="1"/>
          <p:nvPr/>
        </p:nvSpPr>
        <p:spPr>
          <a:xfrm>
            <a:off x="502920" y="4069080"/>
            <a:ext cx="5486400" cy="320040"/>
          </a:xfrm>
          <a:prstGeom prst="rect">
            <a:avLst/>
          </a:prstGeom>
          <a:noFill/>
        </p:spPr>
        <p:txBody>
          <a:bodyPr wrap="square" lIns="0" tIns="0" rIns="0" bIns="0" anchor="t">
            <a:spAutoFit/>
          </a:bodyPr>
          <a:lstStyle/>
          <a:p>
            <a:pPr algn="l"/>
            <a:r>
              <a:rPr sz="1600" b="0" i="0">
                <a:solidFill>
                  <a:srgbClr val="595959"/>
                </a:solidFill>
                <a:latin typeface="Calibri"/>
              </a:rPr>
              <a:t>“Inference” is overloaded:</a:t>
            </a:r>
          </a:p>
        </p:txBody>
      </p:sp>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4"/>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nodeType="clickEffect">
                                  <p:stCondLst>
                                    <p:cond delay="0"/>
                                  </p:stCondLst>
                                  <p:childTnLst>
                                    <p:set>
                                      <p:cBhvr>
                                        <p:cTn id="10" dur="1" fill="hold">
                                          <p:stCondLst>
                                            <p:cond delay="0"/>
                                          </p:stCondLst>
                                        </p:cTn>
                                        <p:tgtEl>
                                          <p:spTgt spid="11"/>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nodeType="clickEffect">
                                  <p:stCondLst>
                                    <p:cond delay="0"/>
                                  </p:stCondLst>
                                  <p:childTnLst>
                                    <p:set>
                                      <p:cBhvr>
                                        <p:cTn id="14" dur="1" fill="hold">
                                          <p:stCondLst>
                                            <p:cond delay="0"/>
                                          </p:stCondLst>
                                        </p:cTn>
                                        <p:tgtEl>
                                          <p:spTgt spid="17"/>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grpId="0" nodeType="clickEffect">
                                  <p:stCondLst>
                                    <p:cond delay="0"/>
                                  </p:stCondLst>
                                  <p:childTnLst>
                                    <p:set>
                                      <p:cBhvr>
                                        <p:cTn id="18" dur="1" fill="hold">
                                          <p:stCondLst>
                                            <p:cond delay="0"/>
                                          </p:stCondLst>
                                        </p:cTn>
                                        <p:tgtEl>
                                          <p:spTgt spid="26"/>
                                        </p:tgtEl>
                                        <p:attrNameLst>
                                          <p:attrName>style.visibility</p:attrName>
                                        </p:attrNameLst>
                                      </p:cBhvr>
                                      <p:to>
                                        <p:strVal val="visible"/>
                                      </p:to>
                                    </p:set>
                                  </p:childTnLst>
                                </p:cTn>
                              </p:par>
                              <p:par>
                                <p:cTn id="19" presetID="1" presetClass="entr" presetSubtype="0" fill="hold" nodeType="withEffect">
                                  <p:stCondLst>
                                    <p:cond delay="0"/>
                                  </p:stCondLst>
                                  <p:childTnLst>
                                    <p:set>
                                      <p:cBhvr>
                                        <p:cTn id="20" dur="1" fill="hold">
                                          <p:stCondLst>
                                            <p:cond delay="0"/>
                                          </p:stCondLst>
                                        </p:cTn>
                                        <p:tgtEl>
                                          <p:spTgt spid="25"/>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26" grpId="0"/>
    </p:bldLst>
  </p:timing>
</p:sld>
</file>

<file path=ppt/slides/slide3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b0_2">
            <a:extLst>
              <a:ext uri="{FF2B5EF4-FFF2-40B4-BE49-F238E27FC236}">
                <a16:creationId xmlns:a16="http://schemas.microsoft.com/office/drawing/2014/main" id="{33DE8782-7F2B-1033-00F6-2A6652EE0E80}"/>
              </a:ext>
            </a:extLst>
          </p:cNvPr>
          <p:cNvSpPr txBox="1"/>
          <p:nvPr/>
        </p:nvSpPr>
        <p:spPr>
          <a:xfrm>
            <a:off x="0" y="148566"/>
            <a:ext cx="11680992" cy="548640"/>
          </a:xfrm>
          <a:prstGeom prst="rect">
            <a:avLst/>
          </a:prstGeom>
          <a:noFill/>
          <a:ln>
            <a:noFill/>
          </a:ln>
        </p:spPr>
        <p:txBody>
          <a:bodyPr wrap="square" rtlCol="0" anchor="ctr"/>
          <a:lstStyle/>
          <a:p>
            <a:r>
              <a:rPr lang="en-US" sz="3200" b="1" dirty="0">
                <a:solidFill>
                  <a:srgbClr val="000000"/>
                </a:solidFill>
                <a:latin typeface="Calibri" pitchFamily="34" charset="0"/>
                <a:ea typeface="Calibri" pitchFamily="34" charset="-122"/>
                <a:cs typeface="Calibri" pitchFamily="34" charset="-120"/>
              </a:rPr>
              <a:t>Basic </a:t>
            </a:r>
            <a:r>
              <a:rPr lang="en-US" sz="3200" b="1" dirty="0">
                <a:solidFill>
                  <a:srgbClr val="FF0000"/>
                </a:solidFill>
                <a:latin typeface="Calibri" pitchFamily="34" charset="0"/>
                <a:ea typeface="Calibri" pitchFamily="34" charset="-122"/>
                <a:cs typeface="Calibri" pitchFamily="34" charset="-120"/>
              </a:rPr>
              <a:t>AI</a:t>
            </a:r>
            <a:r>
              <a:rPr lang="en-US" sz="3200" b="1" dirty="0">
                <a:solidFill>
                  <a:srgbClr val="000000"/>
                </a:solidFill>
                <a:latin typeface="Calibri" pitchFamily="34" charset="0"/>
                <a:ea typeface="Calibri" pitchFamily="34" charset="-122"/>
                <a:cs typeface="Calibri" pitchFamily="34" charset="-120"/>
              </a:rPr>
              <a:t>/</a:t>
            </a:r>
            <a:r>
              <a:rPr lang="en-US" sz="3200" b="1" dirty="0">
                <a:solidFill>
                  <a:srgbClr val="00B050"/>
                </a:solidFill>
                <a:latin typeface="Calibri" pitchFamily="34" charset="0"/>
                <a:ea typeface="Calibri" pitchFamily="34" charset="-122"/>
                <a:cs typeface="Calibri" pitchFamily="34" charset="-120"/>
              </a:rPr>
              <a:t>ML</a:t>
            </a:r>
            <a:r>
              <a:rPr lang="en-US" sz="3200" b="1" dirty="0">
                <a:solidFill>
                  <a:srgbClr val="000000"/>
                </a:solidFill>
                <a:latin typeface="Calibri" pitchFamily="34" charset="0"/>
                <a:ea typeface="Calibri" pitchFamily="34" charset="-122"/>
                <a:cs typeface="Calibri" pitchFamily="34" charset="-120"/>
              </a:rPr>
              <a:t>/</a:t>
            </a:r>
            <a:r>
              <a:rPr lang="en-US" sz="3200" b="1" dirty="0">
                <a:solidFill>
                  <a:srgbClr val="362FEC"/>
                </a:solidFill>
                <a:latin typeface="Calibri" pitchFamily="34" charset="0"/>
                <a:ea typeface="Calibri" pitchFamily="34" charset="-122"/>
                <a:cs typeface="Calibri" pitchFamily="34" charset="-120"/>
              </a:rPr>
              <a:t>DL</a:t>
            </a:r>
            <a:r>
              <a:rPr lang="en-US" sz="3200" b="1" dirty="0">
                <a:solidFill>
                  <a:srgbClr val="000000"/>
                </a:solidFill>
                <a:latin typeface="Calibri" pitchFamily="34" charset="0"/>
                <a:ea typeface="Calibri" pitchFamily="34" charset="-122"/>
                <a:cs typeface="Calibri" pitchFamily="34" charset="-120"/>
              </a:rPr>
              <a:t> Terminology</a:t>
            </a:r>
            <a:endParaRPr lang="en-US" sz="3200" dirty="0">
              <a:solidFill>
                <a:srgbClr val="362FEC"/>
              </a:solidFill>
            </a:endParaRPr>
          </a:p>
        </p:txBody>
      </p:sp>
      <p:sp>
        <p:nvSpPr>
          <p:cNvPr id="3" name="subheading">
            <a:extLst>
              <a:ext uri="{FF2B5EF4-FFF2-40B4-BE49-F238E27FC236}">
                <a16:creationId xmlns:a16="http://schemas.microsoft.com/office/drawing/2014/main" id="{5CB8A4AA-40B1-94AE-8EEE-080599481F78}"/>
              </a:ext>
            </a:extLst>
          </p:cNvPr>
          <p:cNvSpPr txBox="1"/>
          <p:nvPr/>
        </p:nvSpPr>
        <p:spPr>
          <a:xfrm>
            <a:off x="292608" y="868680"/>
            <a:ext cx="11430000" cy="411480"/>
          </a:xfrm>
          <a:prstGeom prst="rect">
            <a:avLst/>
          </a:prstGeom>
          <a:noFill/>
          <a:ln>
            <a:noFill/>
          </a:ln>
        </p:spPr>
        <p:txBody>
          <a:bodyPr wrap="square" lIns="0" tIns="0" rIns="0" bIns="0" rtlCol="0" anchor="ctr"/>
          <a:lstStyle/>
          <a:p>
            <a:pPr marL="0" indent="0">
              <a:buNone/>
            </a:pPr>
            <a:r>
              <a:rPr lang="en-US" sz="2000" b="1" dirty="0">
                <a:solidFill>
                  <a:srgbClr val="362FEC"/>
                </a:solidFill>
                <a:latin typeface="Calibri" panose="020F0502020204030204" pitchFamily="34" charset="0"/>
                <a:cs typeface="Calibri" panose="020F0502020204030204" pitchFamily="34" charset="0"/>
              </a:rPr>
              <a:t>Example: a spam filter</a:t>
            </a:r>
          </a:p>
        </p:txBody>
      </p:sp>
      <p:grpSp>
        <p:nvGrpSpPr>
          <p:cNvPr id="4" name="spam rows 1"/>
          <p:cNvGrpSpPr/>
          <p:nvPr/>
        </p:nvGrpSpPr>
        <p:grpSpPr>
          <a:xfrm>
            <a:off x="731520" y="1417320"/>
            <a:ext cx="10881359" cy="1737360"/>
            <a:chOff x="731520" y="1417320"/>
            <a:chExt cx="10881359" cy="1737360"/>
          </a:xfrm>
        </p:grpSpPr>
        <p:sp>
          <p:nvSpPr>
            <p:cNvPr id="5" name="TextBox 4"/>
            <p:cNvSpPr txBox="1"/>
            <p:nvPr/>
          </p:nvSpPr>
          <p:spPr>
            <a:xfrm>
              <a:off x="731520" y="1417320"/>
              <a:ext cx="2926080" cy="365760"/>
            </a:xfrm>
            <a:prstGeom prst="rect">
              <a:avLst/>
            </a:prstGeom>
            <a:noFill/>
          </p:spPr>
          <p:txBody>
            <a:bodyPr wrap="square" anchor="t" lIns="0" rIns="0" tIns="0" bIns="0">
              <a:spAutoFit/>
            </a:bodyPr>
            <a:lstStyle/>
            <a:p>
              <a:pPr algn="l"/>
              <a:r>
                <a:rPr sz="1800" b="1" i="0">
                  <a:solidFill>
                    <a:srgbClr val="595959"/>
                  </a:solidFill>
                  <a:latin typeface="Calibri"/>
                </a:rPr>
                <a:t>practical problem</a:t>
              </a:r>
            </a:p>
          </p:txBody>
        </p:sp>
        <p:sp>
          <p:nvSpPr>
            <p:cNvPr id="6" name="TextBox 5"/>
            <p:cNvSpPr txBox="1"/>
            <p:nvPr/>
          </p:nvSpPr>
          <p:spPr>
            <a:xfrm>
              <a:off x="3749039" y="1417320"/>
              <a:ext cx="7863840" cy="365760"/>
            </a:xfrm>
            <a:prstGeom prst="rect">
              <a:avLst/>
            </a:prstGeom>
            <a:noFill/>
          </p:spPr>
          <p:txBody>
            <a:bodyPr wrap="square" anchor="t" lIns="0" rIns="0" tIns="0" bIns="0">
              <a:spAutoFit/>
            </a:bodyPr>
            <a:lstStyle/>
            <a:p>
              <a:pPr algn="l"/>
              <a:r>
                <a:rPr sz="1800" b="0" i="0">
                  <a:solidFill>
                    <a:srgbClr val="000000"/>
                  </a:solidFill>
                  <a:latin typeface="Calibri"/>
                </a:rPr>
                <a:t>help a user manage unwanted email</a:t>
              </a:r>
            </a:p>
          </p:txBody>
        </p:sp>
        <p:sp>
          <p:nvSpPr>
            <p:cNvPr id="7" name="TextBox 6"/>
            <p:cNvSpPr txBox="1"/>
            <p:nvPr/>
          </p:nvSpPr>
          <p:spPr>
            <a:xfrm>
              <a:off x="731520" y="1874519"/>
              <a:ext cx="2926080" cy="365760"/>
            </a:xfrm>
            <a:prstGeom prst="rect">
              <a:avLst/>
            </a:prstGeom>
            <a:noFill/>
          </p:spPr>
          <p:txBody>
            <a:bodyPr wrap="square" anchor="t" lIns="0" rIns="0" tIns="0" bIns="0">
              <a:spAutoFit/>
            </a:bodyPr>
            <a:lstStyle/>
            <a:p>
              <a:pPr algn="l"/>
              <a:r>
                <a:rPr sz="1800" b="1" i="0">
                  <a:solidFill>
                    <a:srgbClr val="595959"/>
                  </a:solidFill>
                  <a:latin typeface="Calibri"/>
                </a:rPr>
                <a:t>abstract task</a:t>
              </a:r>
            </a:p>
          </p:txBody>
        </p:sp>
        <p:sp>
          <p:nvSpPr>
            <p:cNvPr id="8" name="TextBox 7"/>
            <p:cNvSpPr txBox="1"/>
            <p:nvPr/>
          </p:nvSpPr>
          <p:spPr>
            <a:xfrm>
              <a:off x="3749039" y="1874519"/>
              <a:ext cx="7863840" cy="365760"/>
            </a:xfrm>
            <a:prstGeom prst="rect">
              <a:avLst/>
            </a:prstGeom>
            <a:noFill/>
          </p:spPr>
          <p:txBody>
            <a:bodyPr wrap="square" anchor="t" lIns="0" rIns="0" tIns="0" bIns="0">
              <a:spAutoFit/>
            </a:bodyPr>
            <a:lstStyle/>
            <a:p>
              <a:pPr algn="l"/>
              <a:r>
                <a:rPr sz="1800" b="0" i="0">
                  <a:solidFill>
                    <a:srgbClr val="000000"/>
                  </a:solidFill>
                  <a:latin typeface="Calibri"/>
                </a:rPr>
                <a:t>binary classification</a:t>
              </a:r>
            </a:p>
          </p:txBody>
        </p:sp>
        <p:sp>
          <p:nvSpPr>
            <p:cNvPr id="9" name="TextBox 8"/>
            <p:cNvSpPr txBox="1"/>
            <p:nvPr/>
          </p:nvSpPr>
          <p:spPr>
            <a:xfrm>
              <a:off x="731520" y="2331720"/>
              <a:ext cx="2926080" cy="365760"/>
            </a:xfrm>
            <a:prstGeom prst="rect">
              <a:avLst/>
            </a:prstGeom>
            <a:noFill/>
          </p:spPr>
          <p:txBody>
            <a:bodyPr wrap="square" anchor="t" lIns="0" rIns="0" tIns="0" bIns="0">
              <a:spAutoFit/>
            </a:bodyPr>
            <a:lstStyle/>
            <a:p>
              <a:pPr algn="l"/>
              <a:r>
                <a:rPr sz="1800" b="1" i="0">
                  <a:solidFill>
                    <a:srgbClr val="595959"/>
                  </a:solidFill>
                  <a:latin typeface="Calibri"/>
                </a:rPr>
                <a:t>learning paradigm</a:t>
              </a:r>
            </a:p>
          </p:txBody>
        </p:sp>
        <p:sp>
          <p:nvSpPr>
            <p:cNvPr id="10" name="TextBox 9"/>
            <p:cNvSpPr txBox="1"/>
            <p:nvPr/>
          </p:nvSpPr>
          <p:spPr>
            <a:xfrm>
              <a:off x="3749039" y="2331720"/>
              <a:ext cx="7863840" cy="365760"/>
            </a:xfrm>
            <a:prstGeom prst="rect">
              <a:avLst/>
            </a:prstGeom>
            <a:noFill/>
          </p:spPr>
          <p:txBody>
            <a:bodyPr wrap="square" anchor="t" lIns="0" rIns="0" tIns="0" bIns="0">
              <a:spAutoFit/>
            </a:bodyPr>
            <a:lstStyle/>
            <a:p>
              <a:pPr algn="l"/>
              <a:r>
                <a:rPr sz="1800" b="0" i="0">
                  <a:solidFill>
                    <a:srgbClr val="000000"/>
                  </a:solidFill>
                  <a:latin typeface="Calibri"/>
                </a:rPr>
                <a:t>supervised, from labeled emails</a:t>
              </a:r>
            </a:p>
          </p:txBody>
        </p:sp>
        <p:sp>
          <p:nvSpPr>
            <p:cNvPr id="11" name="TextBox 10"/>
            <p:cNvSpPr txBox="1"/>
            <p:nvPr/>
          </p:nvSpPr>
          <p:spPr>
            <a:xfrm>
              <a:off x="731520" y="2788920"/>
              <a:ext cx="2926080" cy="365760"/>
            </a:xfrm>
            <a:prstGeom prst="rect">
              <a:avLst/>
            </a:prstGeom>
            <a:noFill/>
          </p:spPr>
          <p:txBody>
            <a:bodyPr wrap="square" anchor="t" lIns="0" rIns="0" tIns="0" bIns="0">
              <a:spAutoFit/>
            </a:bodyPr>
            <a:lstStyle/>
            <a:p>
              <a:pPr algn="l"/>
              <a:r>
                <a:rPr sz="1800" b="1" i="0">
                  <a:solidFill>
                    <a:srgbClr val="595959"/>
                  </a:solidFill>
                  <a:latin typeface="Calibri"/>
                </a:rPr>
                <a:t>learning setting</a:t>
              </a:r>
            </a:p>
          </p:txBody>
        </p:sp>
        <p:sp>
          <p:nvSpPr>
            <p:cNvPr id="12" name="TextBox 11"/>
            <p:cNvSpPr txBox="1"/>
            <p:nvPr/>
          </p:nvSpPr>
          <p:spPr>
            <a:xfrm>
              <a:off x="3749039" y="2788920"/>
              <a:ext cx="7863840" cy="365760"/>
            </a:xfrm>
            <a:prstGeom prst="rect">
              <a:avLst/>
            </a:prstGeom>
            <a:noFill/>
          </p:spPr>
          <p:txBody>
            <a:bodyPr wrap="square" anchor="t" lIns="0" rIns="0" tIns="0" bIns="0">
              <a:spAutoFit/>
            </a:bodyPr>
            <a:lstStyle/>
            <a:p>
              <a:pPr algn="l"/>
              <a:r>
                <a:rPr sz="1800" b="0" i="0">
                  <a:solidFill>
                    <a:srgbClr val="000000"/>
                  </a:solidFill>
                  <a:latin typeface="Calibri"/>
                </a:rPr>
                <a:t>offline training on a collected dataset</a:t>
              </a:r>
            </a:p>
          </p:txBody>
        </p:sp>
      </p:grpSp>
      <p:grpSp>
        <p:nvGrpSpPr>
          <p:cNvPr id="13" name="spam rows 2"/>
          <p:cNvGrpSpPr/>
          <p:nvPr/>
        </p:nvGrpSpPr>
        <p:grpSpPr>
          <a:xfrm>
            <a:off x="731520" y="3246120"/>
            <a:ext cx="10881359" cy="2194560"/>
            <a:chOff x="731520" y="3246120"/>
            <a:chExt cx="10881359" cy="2194560"/>
          </a:xfrm>
        </p:grpSpPr>
        <p:sp>
          <p:nvSpPr>
            <p:cNvPr id="14" name="TextBox 13"/>
            <p:cNvSpPr txBox="1"/>
            <p:nvPr/>
          </p:nvSpPr>
          <p:spPr>
            <a:xfrm>
              <a:off x="731520" y="3246120"/>
              <a:ext cx="2926080" cy="365760"/>
            </a:xfrm>
            <a:prstGeom prst="rect">
              <a:avLst/>
            </a:prstGeom>
            <a:noFill/>
          </p:spPr>
          <p:txBody>
            <a:bodyPr wrap="square" anchor="t" lIns="0" rIns="0" tIns="0" bIns="0">
              <a:spAutoFit/>
            </a:bodyPr>
            <a:lstStyle/>
            <a:p>
              <a:pPr algn="l"/>
              <a:r>
                <a:rPr sz="1800" b="1" i="0">
                  <a:solidFill>
                    <a:srgbClr val="362FEC"/>
                  </a:solidFill>
                  <a:latin typeface="Calibri"/>
                </a:rPr>
                <a:t>input and target</a:t>
              </a:r>
            </a:p>
          </p:txBody>
        </p:sp>
        <p:sp>
          <p:nvSpPr>
            <p:cNvPr id="15" name="TextBox 14"/>
            <p:cNvSpPr txBox="1"/>
            <p:nvPr/>
          </p:nvSpPr>
          <p:spPr>
            <a:xfrm>
              <a:off x="3749039" y="3246120"/>
              <a:ext cx="7863840" cy="365760"/>
            </a:xfrm>
            <a:prstGeom prst="rect">
              <a:avLst/>
            </a:prstGeom>
            <a:noFill/>
          </p:spPr>
          <p:txBody>
            <a:bodyPr wrap="square" anchor="t" lIns="0" rIns="0" tIns="0" bIns="0">
              <a:spAutoFit/>
            </a:bodyPr>
            <a:lstStyle/>
            <a:p>
              <a:pPr algn="l"/>
              <a:r>
                <a:rPr sz="1800" b="0" i="0">
                  <a:solidFill>
                    <a:srgbClr val="000000"/>
                  </a:solidFill>
                  <a:latin typeface="Calibri"/>
                </a:rPr>
                <a:t>features of an email; label spam or not</a:t>
              </a:r>
            </a:p>
          </p:txBody>
        </p:sp>
        <p:sp>
          <p:nvSpPr>
            <p:cNvPr id="16" name="TextBox 15"/>
            <p:cNvSpPr txBox="1"/>
            <p:nvPr/>
          </p:nvSpPr>
          <p:spPr>
            <a:xfrm>
              <a:off x="731520" y="3703320"/>
              <a:ext cx="2926080" cy="365760"/>
            </a:xfrm>
            <a:prstGeom prst="rect">
              <a:avLst/>
            </a:prstGeom>
            <a:noFill/>
          </p:spPr>
          <p:txBody>
            <a:bodyPr wrap="square" anchor="t" lIns="0" rIns="0" tIns="0" bIns="0">
              <a:spAutoFit/>
            </a:bodyPr>
            <a:lstStyle/>
            <a:p>
              <a:pPr algn="l"/>
              <a:r>
                <a:rPr sz="1800" b="1" i="0">
                  <a:solidFill>
                    <a:srgbClr val="362FEC"/>
                  </a:solidFill>
                  <a:latin typeface="Calibri"/>
                </a:rPr>
                <a:t>model family</a:t>
              </a:r>
            </a:p>
          </p:txBody>
        </p:sp>
        <p:sp>
          <p:nvSpPr>
            <p:cNvPr id="17" name="TextBox 16"/>
            <p:cNvSpPr txBox="1"/>
            <p:nvPr/>
          </p:nvSpPr>
          <p:spPr>
            <a:xfrm>
              <a:off x="3749039" y="3703320"/>
              <a:ext cx="7863840" cy="365760"/>
            </a:xfrm>
            <a:prstGeom prst="rect">
              <a:avLst/>
            </a:prstGeom>
            <a:noFill/>
          </p:spPr>
          <p:txBody>
            <a:bodyPr wrap="square" anchor="t" lIns="0" rIns="0" tIns="0" bIns="0">
              <a:spAutoFit/>
            </a:bodyPr>
            <a:lstStyle/>
            <a:p>
              <a:pPr algn="l"/>
              <a:r>
                <a:rPr sz="1800" b="0" i="0">
                  <a:solidFill>
                    <a:srgbClr val="000000"/>
                  </a:solidFill>
                  <a:latin typeface="Calibri"/>
                </a:rPr>
                <a:t>logistic regression: a probability of spam</a:t>
              </a:r>
            </a:p>
          </p:txBody>
        </p:sp>
        <p:sp>
          <p:nvSpPr>
            <p:cNvPr id="18" name="TextBox 17"/>
            <p:cNvSpPr txBox="1"/>
            <p:nvPr/>
          </p:nvSpPr>
          <p:spPr>
            <a:xfrm>
              <a:off x="731520" y="4160520"/>
              <a:ext cx="2926080" cy="365760"/>
            </a:xfrm>
            <a:prstGeom prst="rect">
              <a:avLst/>
            </a:prstGeom>
            <a:noFill/>
          </p:spPr>
          <p:txBody>
            <a:bodyPr wrap="square" anchor="t" lIns="0" rIns="0" tIns="0" bIns="0">
              <a:spAutoFit/>
            </a:bodyPr>
            <a:lstStyle/>
            <a:p>
              <a:pPr algn="l"/>
              <a:r>
                <a:rPr sz="1800" b="1" i="0">
                  <a:solidFill>
                    <a:srgbClr val="362FEC"/>
                  </a:solidFill>
                  <a:latin typeface="Calibri"/>
                </a:rPr>
                <a:t>training objective</a:t>
              </a:r>
            </a:p>
          </p:txBody>
        </p:sp>
        <p:sp>
          <p:nvSpPr>
            <p:cNvPr id="19" name="TextBox 18"/>
            <p:cNvSpPr txBox="1"/>
            <p:nvPr/>
          </p:nvSpPr>
          <p:spPr>
            <a:xfrm>
              <a:off x="3749039" y="4160520"/>
              <a:ext cx="7863840" cy="365760"/>
            </a:xfrm>
            <a:prstGeom prst="rect">
              <a:avLst/>
            </a:prstGeom>
            <a:noFill/>
          </p:spPr>
          <p:txBody>
            <a:bodyPr wrap="square" anchor="t" lIns="0" rIns="0" tIns="0" bIns="0">
              <a:spAutoFit/>
            </a:bodyPr>
            <a:lstStyle/>
            <a:p>
              <a:pPr algn="l"/>
              <a:r>
                <a:rPr sz="1800" b="0" i="0">
                  <a:solidFill>
                    <a:srgbClr val="000000"/>
                  </a:solidFill>
                  <a:latin typeface="Calibri"/>
                </a:rPr>
                <a:t>average log loss (binary cross-entropy), maybe regularized</a:t>
              </a:r>
            </a:p>
          </p:txBody>
        </p:sp>
        <p:sp>
          <p:nvSpPr>
            <p:cNvPr id="20" name="TextBox 19"/>
            <p:cNvSpPr txBox="1"/>
            <p:nvPr/>
          </p:nvSpPr>
          <p:spPr>
            <a:xfrm>
              <a:off x="731520" y="4617720"/>
              <a:ext cx="2926080" cy="365760"/>
            </a:xfrm>
            <a:prstGeom prst="rect">
              <a:avLst/>
            </a:prstGeom>
            <a:noFill/>
          </p:spPr>
          <p:txBody>
            <a:bodyPr wrap="square" anchor="t" lIns="0" rIns="0" tIns="0" bIns="0">
              <a:spAutoFit/>
            </a:bodyPr>
            <a:lstStyle/>
            <a:p>
              <a:pPr algn="l"/>
              <a:r>
                <a:rPr sz="1800" b="1" i="0">
                  <a:solidFill>
                    <a:srgbClr val="362FEC"/>
                  </a:solidFill>
                  <a:latin typeface="Calibri"/>
                </a:rPr>
                <a:t>training algorithm</a:t>
              </a:r>
            </a:p>
          </p:txBody>
        </p:sp>
        <p:sp>
          <p:nvSpPr>
            <p:cNvPr id="21" name="TextBox 20"/>
            <p:cNvSpPr txBox="1"/>
            <p:nvPr/>
          </p:nvSpPr>
          <p:spPr>
            <a:xfrm>
              <a:off x="3749039" y="4617720"/>
              <a:ext cx="7863840" cy="365760"/>
            </a:xfrm>
            <a:prstGeom prst="rect">
              <a:avLst/>
            </a:prstGeom>
            <a:noFill/>
          </p:spPr>
          <p:txBody>
            <a:bodyPr wrap="square" anchor="t" lIns="0" rIns="0" tIns="0" bIns="0">
              <a:spAutoFit/>
            </a:bodyPr>
            <a:lstStyle/>
            <a:p>
              <a:pPr algn="l"/>
              <a:r>
                <a:rPr sz="1800" b="0" i="0">
                  <a:solidFill>
                    <a:srgbClr val="000000"/>
                  </a:solidFill>
                  <a:latin typeface="Calibri"/>
                </a:rPr>
                <a:t>gradient descent on that objective</a:t>
              </a:r>
            </a:p>
          </p:txBody>
        </p:sp>
        <p:sp>
          <p:nvSpPr>
            <p:cNvPr id="22" name="TextBox 21"/>
            <p:cNvSpPr txBox="1"/>
            <p:nvPr/>
          </p:nvSpPr>
          <p:spPr>
            <a:xfrm>
              <a:off x="731520" y="5074920"/>
              <a:ext cx="2926080" cy="365760"/>
            </a:xfrm>
            <a:prstGeom prst="rect">
              <a:avLst/>
            </a:prstGeom>
            <a:noFill/>
          </p:spPr>
          <p:txBody>
            <a:bodyPr wrap="square" anchor="t" lIns="0" rIns="0" tIns="0" bIns="0">
              <a:spAutoFit/>
            </a:bodyPr>
            <a:lstStyle/>
            <a:p>
              <a:pPr algn="l"/>
              <a:r>
                <a:rPr sz="1800" b="1" i="0">
                  <a:solidFill>
                    <a:srgbClr val="362FEC"/>
                  </a:solidFill>
                  <a:latin typeface="Calibri"/>
                </a:rPr>
                <a:t>trained model</a:t>
              </a:r>
            </a:p>
          </p:txBody>
        </p:sp>
        <p:sp>
          <p:nvSpPr>
            <p:cNvPr id="23" name="TextBox 22"/>
            <p:cNvSpPr txBox="1"/>
            <p:nvPr/>
          </p:nvSpPr>
          <p:spPr>
            <a:xfrm>
              <a:off x="3749039" y="5074920"/>
              <a:ext cx="7863840" cy="365760"/>
            </a:xfrm>
            <a:prstGeom prst="rect">
              <a:avLst/>
            </a:prstGeom>
            <a:noFill/>
          </p:spPr>
          <p:txBody>
            <a:bodyPr wrap="square" anchor="t" lIns="0" rIns="0" tIns="0" bIns="0">
              <a:spAutoFit/>
            </a:bodyPr>
            <a:lstStyle/>
            <a:p>
              <a:pPr algn="l"/>
              <a:r>
                <a:rPr sz="1800" b="0" i="0">
                  <a:solidFill>
                    <a:srgbClr val="000000"/>
                  </a:solidFill>
                  <a:latin typeface="Calibri"/>
                </a:rPr>
                <a:t>the fitted weights and the rule they define</a:t>
              </a:r>
            </a:p>
          </p:txBody>
        </p:sp>
      </p:grpSp>
      <p:grpSp>
        <p:nvGrpSpPr>
          <p:cNvPr id="24" name="spam rows 3"/>
          <p:cNvGrpSpPr/>
          <p:nvPr/>
        </p:nvGrpSpPr>
        <p:grpSpPr>
          <a:xfrm>
            <a:off x="731520" y="5532120"/>
            <a:ext cx="10881359" cy="365760"/>
            <a:chOff x="731520" y="5532120"/>
            <a:chExt cx="10881359" cy="365760"/>
          </a:xfrm>
        </p:grpSpPr>
        <p:sp>
          <p:nvSpPr>
            <p:cNvPr id="25" name="TextBox 24"/>
            <p:cNvSpPr txBox="1"/>
            <p:nvPr/>
          </p:nvSpPr>
          <p:spPr>
            <a:xfrm>
              <a:off x="731520" y="5532120"/>
              <a:ext cx="2926080" cy="365760"/>
            </a:xfrm>
            <a:prstGeom prst="rect">
              <a:avLst/>
            </a:prstGeom>
            <a:noFill/>
          </p:spPr>
          <p:txBody>
            <a:bodyPr wrap="square" anchor="t" lIns="0" rIns="0" tIns="0" bIns="0">
              <a:spAutoFit/>
            </a:bodyPr>
            <a:lstStyle/>
            <a:p>
              <a:pPr algn="l"/>
              <a:r>
                <a:rPr sz="1800" b="1" i="0">
                  <a:solidFill>
                    <a:srgbClr val="00B050"/>
                  </a:solidFill>
                  <a:latin typeface="Calibri"/>
                </a:rPr>
                <a:t>prediction</a:t>
              </a:r>
            </a:p>
          </p:txBody>
        </p:sp>
        <p:sp>
          <p:nvSpPr>
            <p:cNvPr id="26" name="TextBox 25"/>
            <p:cNvSpPr txBox="1"/>
            <p:nvPr/>
          </p:nvSpPr>
          <p:spPr>
            <a:xfrm>
              <a:off x="3749039" y="5532120"/>
              <a:ext cx="7863840" cy="365760"/>
            </a:xfrm>
            <a:prstGeom prst="rect">
              <a:avLst/>
            </a:prstGeom>
            <a:noFill/>
          </p:spPr>
          <p:txBody>
            <a:bodyPr wrap="square" anchor="t" lIns="0" rIns="0" tIns="0" bIns="0">
              <a:spAutoFit/>
            </a:bodyPr>
            <a:lstStyle/>
            <a:p>
              <a:pPr algn="l"/>
              <a:r>
                <a:rPr sz="1800" b="0" i="0">
                  <a:solidFill>
                    <a:srgbClr val="000000"/>
                  </a:solidFill>
                  <a:latin typeface="Calibri"/>
                </a:rPr>
                <a:t>the probability that a new email is spam</a:t>
              </a:r>
            </a:p>
          </p:txBody>
        </p:sp>
      </p:grpSp>
      <p:grpSp>
        <p:nvGrpSpPr>
          <p:cNvPr id="27" name="spam rows 4"/>
          <p:cNvGrpSpPr/>
          <p:nvPr/>
        </p:nvGrpSpPr>
        <p:grpSpPr>
          <a:xfrm>
            <a:off x="731520" y="5989320"/>
            <a:ext cx="10881359" cy="365760"/>
            <a:chOff x="731520" y="5989320"/>
            <a:chExt cx="10881359" cy="365760"/>
          </a:xfrm>
        </p:grpSpPr>
        <p:sp>
          <p:nvSpPr>
            <p:cNvPr id="28" name="TextBox 27"/>
            <p:cNvSpPr txBox="1"/>
            <p:nvPr/>
          </p:nvSpPr>
          <p:spPr>
            <a:xfrm>
              <a:off x="731520" y="5989320"/>
              <a:ext cx="2926080" cy="365760"/>
            </a:xfrm>
            <a:prstGeom prst="rect">
              <a:avLst/>
            </a:prstGeom>
            <a:noFill/>
          </p:spPr>
          <p:txBody>
            <a:bodyPr wrap="square" anchor="t" lIns="0" rIns="0" tIns="0" bIns="0">
              <a:spAutoFit/>
            </a:bodyPr>
            <a:lstStyle/>
            <a:p>
              <a:pPr algn="l"/>
              <a:r>
                <a:rPr sz="1800" b="1" i="0">
                  <a:solidFill>
                    <a:srgbClr val="FF0000"/>
                  </a:solidFill>
                  <a:latin typeface="Calibri"/>
                </a:rPr>
                <a:t>action</a:t>
              </a:r>
            </a:p>
          </p:txBody>
        </p:sp>
        <p:sp>
          <p:nvSpPr>
            <p:cNvPr id="29" name="TextBox 28"/>
            <p:cNvSpPr txBox="1"/>
            <p:nvPr/>
          </p:nvSpPr>
          <p:spPr>
            <a:xfrm>
              <a:off x="3749039" y="5989320"/>
              <a:ext cx="7863840" cy="365760"/>
            </a:xfrm>
            <a:prstGeom prst="rect">
              <a:avLst/>
            </a:prstGeom>
            <a:noFill/>
          </p:spPr>
          <p:txBody>
            <a:bodyPr wrap="square" anchor="t" lIns="0" rIns="0" tIns="0" bIns="0">
              <a:spAutoFit/>
            </a:bodyPr>
            <a:lstStyle/>
            <a:p>
              <a:pPr algn="l"/>
              <a:r>
                <a:rPr sz="1800" b="0" i="0">
                  <a:solidFill>
                    <a:srgbClr val="000000"/>
                  </a:solidFill>
                  <a:latin typeface="Calibri"/>
                </a:rPr>
                <a:t>a decision rule flags or routes the email</a:t>
              </a:r>
            </a:p>
          </p:txBody>
        </p:sp>
      </p:grpSp>
      <p:pic>
        <p:nvPicPr>
          <p:cNvPr id="30" name="Picture 29" descr="image.png"/>
          <p:cNvPicPr>
            <a:picLocks noChangeAspect="1"/>
          </p:cNvPicPr>
          <p:nvPr/>
        </p:nvPicPr>
        <p:blipFill>
          <a:blip r:embed="rId2"/>
          <a:stretch>
            <a:fillRect/>
          </a:stretch>
        </p:blipFill>
        <p:spPr>
          <a:xfrm>
            <a:off x="8092440" y="3648456"/>
            <a:ext cx="3566160" cy="443043"/>
          </a:xfrm>
          <a:prstGeom prst="rect">
            <a:avLst/>
          </a:prstGeom>
        </p:spPr>
      </p:pic>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4"/>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13"/>
                                        </p:tgtEl>
                                        <p:attrNameLst>
                                          <p:attrName>style.visibility</p:attrName>
                                        </p:attrNameLst>
                                      </p:cBhvr>
                                      <p:to>
                                        <p:strVal val="visible"/>
                                      </p:to>
                                    </p:set>
                                  </p:childTnLst>
                                </p:cTn>
                              </p:par>
                              <p:par>
                                <p:cTn id="11" presetID="1" presetClass="entr" presetSubtype="0" fill="hold" grpId="0" nodeType="withEffect">
                                  <p:stCondLst>
                                    <p:cond delay="0"/>
                                  </p:stCondLst>
                                  <p:childTnLst>
                                    <p:set>
                                      <p:cBhvr>
                                        <p:cTn id="12" dur="1" fill="hold">
                                          <p:stCondLst>
                                            <p:cond delay="0"/>
                                          </p:stCondLst>
                                        </p:cTn>
                                        <p:tgtEl>
                                          <p:spTgt spid="30"/>
                                        </p:tgtEl>
                                        <p:attrNameLst>
                                          <p:attrName>style.visibility</p:attrName>
                                        </p:attrNameLst>
                                      </p:cBhvr>
                                      <p:to>
                                        <p:strVal val="visible"/>
                                      </p:to>
                                    </p:set>
                                  </p:childTnLst>
                                </p:cTn>
                              </p:par>
                            </p:childTnLst>
                          </p:cTn>
                        </p:par>
                      </p:childTnLst>
                    </p:cTn>
                  </p:par>
                  <p:par>
                    <p:cTn id="13" fill="hold">
                      <p:stCondLst>
                        <p:cond delay="indefinite"/>
                      </p:stCondLst>
                      <p:childTnLst>
                        <p:par>
                          <p:cTn id="14" fill="hold">
                            <p:stCondLst>
                              <p:cond delay="0"/>
                            </p:stCondLst>
                            <p:childTnLst>
                              <p:par>
                                <p:cTn id="15" presetID="1" presetClass="entr" presetSubtype="0" fill="hold" grpId="0" nodeType="clickEffect">
                                  <p:stCondLst>
                                    <p:cond delay="0"/>
                                  </p:stCondLst>
                                  <p:childTnLst>
                                    <p:set>
                                      <p:cBhvr>
                                        <p:cTn id="16" dur="1" fill="hold">
                                          <p:stCondLst>
                                            <p:cond delay="0"/>
                                          </p:stCondLst>
                                        </p:cTn>
                                        <p:tgtEl>
                                          <p:spTgt spid="24"/>
                                        </p:tgtEl>
                                        <p:attrNameLst>
                                          <p:attrName>style.visibility</p:attrName>
                                        </p:attrNameLst>
                                      </p:cBhvr>
                                      <p:to>
                                        <p:strVal val="visible"/>
                                      </p:to>
                                    </p:set>
                                  </p:childTnLst>
                                </p:cTn>
                              </p:par>
                            </p:childTnLst>
                          </p:cTn>
                        </p:par>
                      </p:childTnLst>
                    </p:cTn>
                  </p:par>
                  <p:par>
                    <p:cTn id="17" fill="hold">
                      <p:stCondLst>
                        <p:cond delay="indefinite"/>
                      </p:stCondLst>
                      <p:childTnLst>
                        <p:par>
                          <p:cTn id="18" fill="hold">
                            <p:stCondLst>
                              <p:cond delay="0"/>
                            </p:stCondLst>
                            <p:childTnLst>
                              <p:par>
                                <p:cTn id="19" presetID="1" presetClass="entr" presetSubtype="0" fill="hold" grpId="0" nodeType="clickEffect">
                                  <p:stCondLst>
                                    <p:cond delay="0"/>
                                  </p:stCondLst>
                                  <p:childTnLst>
                                    <p:set>
                                      <p:cBhvr>
                                        <p:cTn id="20" dur="1" fill="hold">
                                          <p:stCondLst>
                                            <p:cond delay="0"/>
                                          </p:stCondLst>
                                        </p:cTn>
                                        <p:tgtEl>
                                          <p:spTgt spid="27"/>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4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b0_2">
            <a:extLst>
              <a:ext uri="{FF2B5EF4-FFF2-40B4-BE49-F238E27FC236}">
                <a16:creationId xmlns:a16="http://schemas.microsoft.com/office/drawing/2014/main" id="{63D8B88D-36C4-45E1-74C8-A7D5EAB586FB}"/>
              </a:ext>
            </a:extLst>
          </p:cNvPr>
          <p:cNvSpPr txBox="1"/>
          <p:nvPr/>
        </p:nvSpPr>
        <p:spPr>
          <a:xfrm>
            <a:off x="0" y="148566"/>
            <a:ext cx="11680992" cy="548640"/>
          </a:xfrm>
          <a:prstGeom prst="rect">
            <a:avLst/>
          </a:prstGeom>
          <a:noFill/>
          <a:ln>
            <a:noFill/>
          </a:ln>
        </p:spPr>
        <p:txBody>
          <a:bodyPr wrap="square" rtlCol="0" anchor="ctr"/>
          <a:lstStyle/>
          <a:p>
            <a:pPr marL="0" indent="0">
              <a:buNone/>
            </a:pPr>
            <a:r>
              <a:rPr lang="en-US" sz="3200" b="1" dirty="0">
                <a:solidFill>
                  <a:srgbClr val="362FEC"/>
                </a:solidFill>
                <a:latin typeface="Calibri" pitchFamily="34" charset="0"/>
                <a:ea typeface="Calibri" pitchFamily="34" charset="-122"/>
                <a:cs typeface="Calibri" pitchFamily="34" charset="-120"/>
              </a:rPr>
              <a:t>Lecture 1</a:t>
            </a:r>
            <a:r>
              <a:rPr lang="en-US" sz="3200" b="1" dirty="0">
                <a:latin typeface="Calibri" pitchFamily="34" charset="0"/>
                <a:ea typeface="Calibri" pitchFamily="34" charset="-122"/>
                <a:cs typeface="Calibri" pitchFamily="34" charset="-120"/>
              </a:rPr>
              <a:t>:</a:t>
            </a:r>
            <a:r>
              <a:rPr lang="en-US" sz="3200" b="1" dirty="0">
                <a:solidFill>
                  <a:srgbClr val="00B050"/>
                </a:solidFill>
                <a:latin typeface="Calibri" pitchFamily="34" charset="0"/>
                <a:ea typeface="Calibri" pitchFamily="34" charset="-122"/>
                <a:cs typeface="Calibri" pitchFamily="34" charset="-120"/>
              </a:rPr>
              <a:t> </a:t>
            </a:r>
            <a:r>
              <a:rPr lang="en-US" sz="3200" b="1" dirty="0">
                <a:solidFill>
                  <a:srgbClr val="000000"/>
                </a:solidFill>
                <a:latin typeface="Calibri" pitchFamily="34" charset="0"/>
                <a:ea typeface="Calibri" pitchFamily="34" charset="-122"/>
                <a:cs typeface="Calibri" pitchFamily="34" charset="-120"/>
              </a:rPr>
              <a:t>(Artificial) </a:t>
            </a:r>
            <a:r>
              <a:rPr lang="en-US" sz="3200" b="1" dirty="0">
                <a:solidFill>
                  <a:srgbClr val="FF0000"/>
                </a:solidFill>
                <a:latin typeface="Calibri" pitchFamily="34" charset="0"/>
                <a:ea typeface="Calibri" pitchFamily="34" charset="-122"/>
                <a:cs typeface="Calibri" pitchFamily="34" charset="-120"/>
              </a:rPr>
              <a:t>Intelligence</a:t>
            </a:r>
            <a:r>
              <a:rPr lang="en-US" sz="3200" b="1" dirty="0">
                <a:solidFill>
                  <a:srgbClr val="000000"/>
                </a:solidFill>
                <a:latin typeface="Calibri" pitchFamily="34" charset="0"/>
                <a:ea typeface="Calibri" pitchFamily="34" charset="-122"/>
                <a:cs typeface="Calibri" pitchFamily="34" charset="-120"/>
              </a:rPr>
              <a:t>, </a:t>
            </a:r>
            <a:r>
              <a:rPr lang="en-US" sz="3200" b="1" dirty="0">
                <a:solidFill>
                  <a:srgbClr val="00B050"/>
                </a:solidFill>
                <a:latin typeface="Calibri" pitchFamily="34" charset="0"/>
                <a:ea typeface="Calibri" pitchFamily="34" charset="-122"/>
                <a:cs typeface="Calibri" pitchFamily="34" charset="-120"/>
              </a:rPr>
              <a:t>Learning</a:t>
            </a:r>
            <a:r>
              <a:rPr lang="en-US" sz="3200" b="1" dirty="0">
                <a:solidFill>
                  <a:srgbClr val="000000"/>
                </a:solidFill>
                <a:latin typeface="Calibri" pitchFamily="34" charset="0"/>
                <a:ea typeface="Calibri" pitchFamily="34" charset="-122"/>
                <a:cs typeface="Calibri" pitchFamily="34" charset="-120"/>
              </a:rPr>
              <a:t>, </a:t>
            </a:r>
            <a:r>
              <a:rPr lang="en-US" sz="3200" b="1" dirty="0">
                <a:solidFill>
                  <a:srgbClr val="362FEC"/>
                </a:solidFill>
                <a:latin typeface="Calibri" pitchFamily="34" charset="0"/>
                <a:ea typeface="Calibri" pitchFamily="34" charset="-122"/>
                <a:cs typeface="Calibri" pitchFamily="34" charset="-120"/>
              </a:rPr>
              <a:t>Language</a:t>
            </a:r>
            <a:r>
              <a:rPr lang="en-US" sz="3200" b="1" dirty="0">
                <a:solidFill>
                  <a:srgbClr val="000000"/>
                </a:solidFill>
                <a:latin typeface="Calibri" pitchFamily="34" charset="0"/>
                <a:ea typeface="Calibri" pitchFamily="34" charset="-122"/>
                <a:cs typeface="Calibri" pitchFamily="34" charset="-120"/>
              </a:rPr>
              <a:t>, and </a:t>
            </a:r>
            <a:r>
              <a:rPr lang="en-US" sz="3200" b="1" dirty="0">
                <a:solidFill>
                  <a:schemeClr val="accent2"/>
                </a:solidFill>
                <a:latin typeface="Calibri" pitchFamily="34" charset="0"/>
                <a:ea typeface="Calibri" pitchFamily="34" charset="-122"/>
                <a:cs typeface="Calibri" pitchFamily="34" charset="-120"/>
              </a:rPr>
              <a:t>Meaning</a:t>
            </a:r>
            <a:endParaRPr lang="en-US" sz="3200" dirty="0">
              <a:solidFill>
                <a:schemeClr val="accent2"/>
              </a:solidFill>
            </a:endParaRPr>
          </a:p>
        </p:txBody>
      </p:sp>
      <p:sp>
        <p:nvSpPr>
          <p:cNvPr id="3" name="TextBox 4">
            <a:extLst>
              <a:ext uri="{FF2B5EF4-FFF2-40B4-BE49-F238E27FC236}">
                <a16:creationId xmlns:a16="http://schemas.microsoft.com/office/drawing/2014/main" id="{66572BAD-DD8C-3E32-5E0A-D54192545328}"/>
              </a:ext>
            </a:extLst>
          </p:cNvPr>
          <p:cNvSpPr txBox="1"/>
          <p:nvPr/>
        </p:nvSpPr>
        <p:spPr>
          <a:xfrm>
            <a:off x="599290" y="1382286"/>
            <a:ext cx="6646637" cy="3785652"/>
          </a:xfrm>
          <a:prstGeom prst="rect">
            <a:avLst/>
          </a:prstGeom>
          <a:noFill/>
        </p:spPr>
        <p:txBody>
          <a:bodyPr wrap="square" rtlCol="0">
            <a:spAutoFit/>
          </a:bodyPr>
          <a:lstStyle/>
          <a:p>
            <a:pPr marL="342900" indent="-342900">
              <a:buFont typeface="+mj-lt"/>
              <a:buAutoNum type="arabicPeriod"/>
            </a:pPr>
            <a:r>
              <a:rPr lang="en-US" sz="2000" dirty="0">
                <a:latin typeface="Calibri" panose="020F0502020204030204" pitchFamily="34" charset="0"/>
                <a:cs typeface="Calibri" panose="020F0502020204030204" pitchFamily="34" charset="0"/>
              </a:rPr>
              <a:t>Short timeline highlighting language and its modeling, course description: what we will study and build</a:t>
            </a:r>
          </a:p>
          <a:p>
            <a:pPr marL="342900" indent="-342900">
              <a:buFont typeface="+mj-lt"/>
              <a:buAutoNum type="arabicPeriod"/>
            </a:pPr>
            <a:endParaRPr lang="en-US" sz="2000" dirty="0">
              <a:latin typeface="Calibri" panose="020F0502020204030204" pitchFamily="34" charset="0"/>
              <a:cs typeface="Calibri" panose="020F0502020204030204" pitchFamily="34" charset="0"/>
            </a:endParaRPr>
          </a:p>
          <a:p>
            <a:pPr marL="342900" indent="-342900">
              <a:buFont typeface="+mj-lt"/>
              <a:buAutoNum type="arabicPeriod"/>
            </a:pPr>
            <a:r>
              <a:rPr lang="en-US" sz="2000" dirty="0">
                <a:latin typeface="Calibri" panose="020F0502020204030204" pitchFamily="34" charset="0"/>
                <a:cs typeface="Calibri" panose="020F0502020204030204" pitchFamily="34" charset="0"/>
              </a:rPr>
              <a:t>Basic AI/ML/DL terminology</a:t>
            </a:r>
          </a:p>
          <a:p>
            <a:pPr marL="342900" indent="-342900">
              <a:buFont typeface="+mj-lt"/>
              <a:buAutoNum type="arabicPeriod"/>
            </a:pPr>
            <a:endParaRPr lang="en-US" sz="2000" dirty="0">
              <a:latin typeface="Calibri" panose="020F0502020204030204" pitchFamily="34" charset="0"/>
              <a:cs typeface="Calibri" panose="020F0502020204030204" pitchFamily="34" charset="0"/>
            </a:endParaRPr>
          </a:p>
          <a:p>
            <a:pPr marL="342900" indent="-342900">
              <a:buFont typeface="+mj-lt"/>
              <a:buAutoNum type="arabicPeriod"/>
            </a:pPr>
            <a:r>
              <a:rPr lang="en-US" sz="2000" dirty="0">
                <a:latin typeface="Calibri" panose="020F0502020204030204" pitchFamily="34" charset="0"/>
                <a:cs typeface="Calibri" panose="020F0502020204030204" pitchFamily="34" charset="0"/>
              </a:rPr>
              <a:t>Understanding </a:t>
            </a:r>
          </a:p>
          <a:p>
            <a:pPr marL="800100" lvl="1" indent="-342900">
              <a:buFont typeface="Arial" panose="020B0604020202020204" pitchFamily="34" charset="0"/>
              <a:buChar char="•"/>
            </a:pPr>
            <a:r>
              <a:rPr lang="en-US" sz="2000" dirty="0">
                <a:latin typeface="Calibri" pitchFamily="34" charset="0"/>
                <a:ea typeface="Calibri" pitchFamily="34" charset="-122"/>
                <a:cs typeface="Calibri" pitchFamily="34" charset="-120"/>
              </a:rPr>
              <a:t>Intelligence</a:t>
            </a:r>
          </a:p>
          <a:p>
            <a:pPr marL="800100" lvl="1" indent="-342900">
              <a:buFont typeface="Arial" panose="020B0604020202020204" pitchFamily="34" charset="0"/>
              <a:buChar char="•"/>
            </a:pPr>
            <a:r>
              <a:rPr lang="en-US" sz="2000" dirty="0">
                <a:latin typeface="Calibri" pitchFamily="34" charset="0"/>
                <a:ea typeface="Calibri" pitchFamily="34" charset="-122"/>
                <a:cs typeface="Calibri" pitchFamily="34" charset="-120"/>
              </a:rPr>
              <a:t>Learning</a:t>
            </a:r>
          </a:p>
          <a:p>
            <a:pPr marL="800100" lvl="1" indent="-342900">
              <a:buFont typeface="Arial" panose="020B0604020202020204" pitchFamily="34" charset="0"/>
              <a:buChar char="•"/>
            </a:pPr>
            <a:r>
              <a:rPr lang="en-US" sz="2000" dirty="0">
                <a:latin typeface="Calibri" pitchFamily="34" charset="0"/>
                <a:ea typeface="Calibri" pitchFamily="34" charset="-122"/>
                <a:cs typeface="Calibri" pitchFamily="34" charset="-120"/>
              </a:rPr>
              <a:t>Language</a:t>
            </a:r>
          </a:p>
          <a:p>
            <a:pPr marL="800100" lvl="1" indent="-342900">
              <a:buFont typeface="Arial" panose="020B0604020202020204" pitchFamily="34" charset="0"/>
              <a:buChar char="•"/>
            </a:pPr>
            <a:r>
              <a:rPr lang="en-US" sz="2000" dirty="0">
                <a:latin typeface="Calibri" pitchFamily="34" charset="0"/>
                <a:ea typeface="Calibri" pitchFamily="34" charset="-122"/>
                <a:cs typeface="Calibri" pitchFamily="34" charset="-120"/>
              </a:rPr>
              <a:t>Meaning</a:t>
            </a:r>
            <a:endParaRPr lang="en-US" sz="2000" dirty="0">
              <a:latin typeface="Calibri" panose="020F0502020204030204" pitchFamily="34" charset="0"/>
              <a:cs typeface="Calibri" panose="020F0502020204030204" pitchFamily="34" charset="0"/>
            </a:endParaRPr>
          </a:p>
          <a:p>
            <a:pPr lvl="1"/>
            <a:endParaRPr lang="en-US" sz="2000" dirty="0">
              <a:latin typeface="Calibri" panose="020F0502020204030204" pitchFamily="34" charset="0"/>
              <a:cs typeface="Calibri" panose="020F0502020204030204" pitchFamily="34" charset="0"/>
            </a:endParaRPr>
          </a:p>
          <a:p>
            <a:pPr marL="457200" indent="-457200">
              <a:buFont typeface="+mj-lt"/>
              <a:buAutoNum type="arabicPeriod"/>
            </a:pPr>
            <a:r>
              <a:rPr lang="en-US" sz="2000" dirty="0">
                <a:latin typeface="Calibri" panose="020F0502020204030204" pitchFamily="34" charset="0"/>
                <a:cs typeface="Calibri" panose="020F0502020204030204" pitchFamily="34" charset="0"/>
              </a:rPr>
              <a:t>Hands-on: an autograd engine</a:t>
            </a:r>
          </a:p>
        </p:txBody>
      </p:sp>
      <p:sp>
        <p:nvSpPr>
          <p:cNvPr id="4" name="red box">
            <a:extLst>
              <a:ext uri="{FF2B5EF4-FFF2-40B4-BE49-F238E27FC236}">
                <a16:creationId xmlns:a16="http://schemas.microsoft.com/office/drawing/2014/main" id="{614C2DA7-5561-EFDE-A18D-698F7356000C}"/>
              </a:ext>
            </a:extLst>
          </p:cNvPr>
          <p:cNvSpPr/>
          <p:nvPr/>
        </p:nvSpPr>
        <p:spPr>
          <a:xfrm>
            <a:off x="955964" y="2932206"/>
            <a:ext cx="1661284" cy="377241"/>
          </a:xfrm>
          <a:prstGeom prst="rect">
            <a:avLst/>
          </a:prstGeom>
          <a:noFill/>
          <a:ln w="28575">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Tree>
  </p:cSld>
  <p:clrMapOvr>
    <a:masterClrMapping/>
  </p:clrMapOvr>
</p:sld>
</file>

<file path=ppt/slides/slide4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b0_2">
            <a:extLst>
              <a:ext uri="{FF2B5EF4-FFF2-40B4-BE49-F238E27FC236}">
                <a16:creationId xmlns:a16="http://schemas.microsoft.com/office/drawing/2014/main" id="{33DE8782-7F2B-1033-00F6-2A6652EE0E80}"/>
              </a:ext>
            </a:extLst>
          </p:cNvPr>
          <p:cNvSpPr txBox="1"/>
          <p:nvPr/>
        </p:nvSpPr>
        <p:spPr>
          <a:xfrm>
            <a:off x="0" y="148566"/>
            <a:ext cx="11680992" cy="548640"/>
          </a:xfrm>
          <a:prstGeom prst="rect">
            <a:avLst/>
          </a:prstGeom>
          <a:noFill/>
          <a:ln>
            <a:noFill/>
          </a:ln>
        </p:spPr>
        <p:txBody>
          <a:bodyPr wrap="square" rtlCol="0" anchor="ctr"/>
          <a:lstStyle/>
          <a:p>
            <a:r>
              <a:rPr lang="en-US" sz="3200" b="1" dirty="0">
                <a:solidFill>
                  <a:srgbClr val="000000"/>
                </a:solidFill>
                <a:latin typeface="Calibri" pitchFamily="34" charset="0"/>
                <a:ea typeface="Calibri" pitchFamily="34" charset="-122"/>
                <a:cs typeface="Calibri" pitchFamily="34" charset="-120"/>
              </a:rPr>
              <a:t>Understanding </a:t>
            </a:r>
            <a:r>
              <a:rPr lang="en-US" sz="3200" b="1" dirty="0">
                <a:solidFill>
                  <a:srgbClr val="FF0000"/>
                </a:solidFill>
                <a:latin typeface="Calibri" pitchFamily="34" charset="0"/>
                <a:ea typeface="Calibri" pitchFamily="34" charset="-122"/>
                <a:cs typeface="Calibri" pitchFamily="34" charset="-120"/>
              </a:rPr>
              <a:t>Intelligence</a:t>
            </a:r>
            <a:endParaRPr lang="en-US" sz="3200" dirty="0">
              <a:solidFill>
                <a:srgbClr val="362FEC"/>
              </a:solidFill>
            </a:endParaRPr>
          </a:p>
        </p:txBody>
      </p:sp>
      <p:sp>
        <p:nvSpPr>
          <p:cNvPr id="3" name="subheading">
            <a:extLst>
              <a:ext uri="{FF2B5EF4-FFF2-40B4-BE49-F238E27FC236}">
                <a16:creationId xmlns:a16="http://schemas.microsoft.com/office/drawing/2014/main" id="{5CB8A4AA-40B1-94AE-8EEE-080599481F78}"/>
              </a:ext>
            </a:extLst>
          </p:cNvPr>
          <p:cNvSpPr txBox="1"/>
          <p:nvPr/>
        </p:nvSpPr>
        <p:spPr>
          <a:xfrm>
            <a:off x="292608" y="868680"/>
            <a:ext cx="11430000" cy="411480"/>
          </a:xfrm>
          <a:prstGeom prst="rect">
            <a:avLst/>
          </a:prstGeom>
          <a:noFill/>
          <a:ln>
            <a:noFill/>
          </a:ln>
        </p:spPr>
        <p:txBody>
          <a:bodyPr wrap="square" lIns="0" tIns="0" rIns="0" bIns="0" rtlCol="0" anchor="ctr"/>
          <a:lstStyle/>
          <a:p>
            <a:pPr marL="0" indent="0">
              <a:buNone/>
            </a:pPr>
            <a:r>
              <a:rPr lang="en-US" sz="2000" b="1" dirty="0">
                <a:solidFill>
                  <a:srgbClr val="362FEC"/>
                </a:solidFill>
                <a:latin typeface="Calibri" panose="020F0502020204030204" pitchFamily="34" charset="0"/>
                <a:cs typeface="Calibri" panose="020F0502020204030204" pitchFamily="34" charset="0"/>
              </a:rPr>
              <a:t>Symbols, networks, and the Dartmouth conjecture</a:t>
            </a:r>
          </a:p>
        </p:txBody>
      </p:sp>
      <p:sp>
        <p:nvSpPr>
          <p:cNvPr id="4" name="points"/>
          <p:cNvSpPr txBox="1"/>
          <p:nvPr/>
        </p:nvSpPr>
        <p:spPr>
          <a:xfrm>
            <a:off x="384048" y="1417320"/>
            <a:ext cx="6126480" cy="5166360"/>
          </a:xfrm>
          <a:prstGeom prst="rect">
            <a:avLst/>
          </a:prstGeom>
          <a:noFill/>
        </p:spPr>
        <p:txBody>
          <a:bodyPr wrap="square" lIns="0" rIns="0" tIns="0" bIns="0">
            <a:spAutoFit/>
          </a:bodyPr>
          <a:lstStyle/>
          <a:p>
            <a:pPr algn="l">
              <a:spcAft>
                <a:spcPts val="1000"/>
              </a:spcAft>
            </a:pPr>
            <a:r>
              <a:rPr sz="1800" b="1" i="0">
                <a:solidFill>
                  <a:srgbClr val="362FEC"/>
                </a:solidFill>
                <a:latin typeface="Calibri"/>
              </a:rPr>
              <a:t>1955  </a:t>
            </a:r>
            <a:r>
              <a:rPr sz="1800" b="1" i="0">
                <a:solidFill>
                  <a:srgbClr val="000000"/>
                </a:solidFill>
                <a:latin typeface="Calibri"/>
              </a:rPr>
              <a:t>Dartmouth: </a:t>
            </a:r>
            <a:r>
              <a:rPr sz="1800" b="0" i="0">
                <a:solidFill>
                  <a:srgbClr val="000000"/>
                </a:solidFill>
                <a:latin typeface="Calibri"/>
              </a:rPr>
              <a:t>every feature of intelligence can in principle be described so precisely that a machine can simulate it.</a:t>
            </a:r>
          </a:p>
          <a:p>
            <a:pPr algn="l">
              <a:spcAft>
                <a:spcPts val="1000"/>
              </a:spcAft>
            </a:pPr>
            <a:r>
              <a:rPr sz="1800" b="1" i="0">
                <a:solidFill>
                  <a:srgbClr val="FF0000"/>
                </a:solidFill>
                <a:latin typeface="Calibri"/>
              </a:rPr>
              <a:t>The symbolic program</a:t>
            </a:r>
            <a:r>
              <a:rPr sz="1800" b="0" i="0">
                <a:solidFill>
                  <a:srgbClr val="000000"/>
                </a:solidFill>
                <a:latin typeface="Calibri"/>
              </a:rPr>
              <a:t>: intelligence is manipulating symbols by rules (Newell and Simon): theorem provers, planners, expert systems, grammars.</a:t>
            </a:r>
          </a:p>
          <a:p>
            <a:pPr algn="l">
              <a:spcAft>
                <a:spcPts val="1000"/>
              </a:spcAft>
            </a:pPr>
            <a:r>
              <a:rPr sz="1800" b="1" i="0">
                <a:solidFill>
                  <a:srgbClr val="00B050"/>
                </a:solidFill>
                <a:latin typeface="Calibri"/>
              </a:rPr>
              <a:t>The connectionist program</a:t>
            </a:r>
            <a:r>
              <a:rPr sz="1800" b="0" i="0">
                <a:solidFill>
                  <a:srgbClr val="000000"/>
                </a:solidFill>
                <a:latin typeface="Calibri"/>
              </a:rPr>
              <a:t>: simple units adjusting their connections: McCulloch and Pitts (1943), Rosenblatt's perceptron (1958).</a:t>
            </a:r>
          </a:p>
          <a:p>
            <a:pPr algn="l">
              <a:spcAft>
                <a:spcPts val="1000"/>
              </a:spcAft>
            </a:pPr>
            <a:r>
              <a:rPr sz="1800" b="1" i="0">
                <a:solidFill>
                  <a:srgbClr val="FF0000"/>
                </a:solidFill>
                <a:latin typeface="Calibri"/>
              </a:rPr>
              <a:t>1969  </a:t>
            </a:r>
            <a:r>
              <a:rPr sz="1800" b="1" i="0">
                <a:solidFill>
                  <a:srgbClr val="000000"/>
                </a:solidFill>
                <a:latin typeface="Calibri"/>
              </a:rPr>
              <a:t>Minsky and Papert: </a:t>
            </a:r>
            <a:r>
              <a:rPr sz="1800" b="0" i="0">
                <a:solidFill>
                  <a:srgbClr val="000000"/>
                </a:solidFill>
                <a:latin typeface="Calibri"/>
              </a:rPr>
              <a:t>one layer cannot compute parity or connectedness; the program stalled until backpropagation.</a:t>
            </a:r>
          </a:p>
          <a:p>
            <a:pPr algn="l">
              <a:spcAft>
                <a:spcPts val="1000"/>
              </a:spcAft>
            </a:pPr>
            <a:r>
              <a:rPr sz="1800" b="1" i="0">
                <a:solidFill>
                  <a:srgbClr val="362FEC"/>
                </a:solidFill>
                <a:latin typeface="Calibri"/>
              </a:rPr>
              <a:t>A language model</a:t>
            </a:r>
            <a:r>
              <a:rPr sz="1800" b="0" i="0">
                <a:solidFill>
                  <a:srgbClr val="000000"/>
                </a:solidFill>
                <a:latin typeface="Calibri"/>
              </a:rPr>
              <a:t> is connectionist, yet it reads and writes symbols. Does it manipulate symbols in Newell and Simon's sense? Open.</a:t>
            </a:r>
          </a:p>
        </p:txBody>
      </p:sp>
      <p:grpSp>
        <p:nvGrpSpPr>
          <p:cNvPr id="5" name="picture 1"/>
          <p:cNvGrpSpPr/>
          <p:nvPr/>
        </p:nvGrpSpPr>
        <p:grpSpPr>
          <a:xfrm>
            <a:off x="6629400" y="1371600"/>
            <a:ext cx="5486400" cy="2854756"/>
            <a:chOff x="6629400" y="1371600"/>
            <a:chExt cx="5486400" cy="2854756"/>
          </a:xfrm>
        </p:grpSpPr>
        <p:pic>
          <p:nvPicPr>
            <p:cNvPr id="6" name="Picture 5" descr="dartmouth.jpg"/>
            <p:cNvPicPr>
              <a:picLocks noChangeAspect="1"/>
            </p:cNvPicPr>
            <p:nvPr/>
          </p:nvPicPr>
          <p:blipFill>
            <a:blip r:embed="rId2"/>
            <a:stretch>
              <a:fillRect/>
            </a:stretch>
          </p:blipFill>
          <p:spPr>
            <a:xfrm>
              <a:off x="6812280" y="1371600"/>
              <a:ext cx="5120640" cy="1574596"/>
            </a:xfrm>
            <a:prstGeom prst="rect">
              <a:avLst/>
            </a:prstGeom>
          </p:spPr>
        </p:pic>
        <p:sp>
          <p:nvSpPr>
            <p:cNvPr id="7" name="TextBox 6"/>
            <p:cNvSpPr txBox="1"/>
            <p:nvPr/>
          </p:nvSpPr>
          <p:spPr>
            <a:xfrm>
              <a:off x="6629400" y="2991916"/>
              <a:ext cx="5486400" cy="274320"/>
            </a:xfrm>
            <a:prstGeom prst="rect">
              <a:avLst/>
            </a:prstGeom>
            <a:noFill/>
          </p:spPr>
          <p:txBody>
            <a:bodyPr wrap="square" anchor="t" lIns="0" rIns="0" tIns="0" bIns="0">
              <a:spAutoFit/>
            </a:bodyPr>
            <a:lstStyle/>
            <a:p>
              <a:pPr algn="ctr"/>
              <a:r>
                <a:rPr sz="1200" b="0" i="0">
                  <a:solidFill>
                    <a:srgbClr val="595959"/>
                  </a:solidFill>
                  <a:latin typeface="Calibri"/>
                </a:rPr>
                <a:t>Dartmouth College</a:t>
              </a:r>
            </a:p>
          </p:txBody>
        </p:sp>
        <p:sp>
          <p:nvSpPr>
            <p:cNvPr id="8" name="description"/>
            <p:cNvSpPr txBox="1"/>
            <p:nvPr/>
          </p:nvSpPr>
          <p:spPr>
            <a:xfrm>
              <a:off x="6812280" y="3403396"/>
              <a:ext cx="5120640" cy="822960"/>
            </a:xfrm>
            <a:prstGeom prst="rect">
              <a:avLst/>
            </a:prstGeom>
            <a:noFill/>
          </p:spPr>
          <p:txBody>
            <a:bodyPr wrap="square" anchor="t" lIns="0" rIns="0" tIns="0" bIns="0">
              <a:spAutoFit/>
            </a:bodyPr>
            <a:lstStyle/>
            <a:p>
              <a:pPr algn="l"/>
              <a:r>
                <a:rPr sz="1400" b="0" i="0">
                  <a:solidFill>
                    <a:srgbClr val="595959"/>
                  </a:solidFill>
                  <a:latin typeface="Calibri"/>
                </a:rPr>
                <a:t>The proposal's topics: how a computer can use a language, neuron nets, self-improvement, abstraction, randomness and creativity. Almost all are topics of this course.</a:t>
              </a:r>
            </a:p>
          </p:txBody>
        </p:sp>
      </p:grpSp>
      <p:grpSp>
        <p:nvGrpSpPr>
          <p:cNvPr id="9" name="picture 2"/>
          <p:cNvGrpSpPr/>
          <p:nvPr/>
        </p:nvGrpSpPr>
        <p:grpSpPr>
          <a:xfrm>
            <a:off x="6537960" y="1371600"/>
            <a:ext cx="5425821" cy="3291840"/>
            <a:chOff x="6537960" y="1371600"/>
            <a:chExt cx="5425821" cy="3291840"/>
          </a:xfrm>
        </p:grpSpPr>
        <p:pic>
          <p:nvPicPr>
            <p:cNvPr id="10" name="Picture 9" descr="newell_simon_c.jpg"/>
            <p:cNvPicPr>
              <a:picLocks noChangeAspect="1"/>
            </p:cNvPicPr>
            <p:nvPr/>
          </p:nvPicPr>
          <p:blipFill>
            <a:blip r:embed="rId3"/>
            <a:stretch>
              <a:fillRect/>
            </a:stretch>
          </p:blipFill>
          <p:spPr>
            <a:xfrm>
              <a:off x="6812280" y="1371600"/>
              <a:ext cx="2797117" cy="1748198"/>
            </a:xfrm>
            <a:prstGeom prst="rect">
              <a:avLst/>
            </a:prstGeom>
          </p:spPr>
        </p:pic>
        <p:sp>
          <p:nvSpPr>
            <p:cNvPr id="11" name="TextBox 10"/>
            <p:cNvSpPr txBox="1"/>
            <p:nvPr/>
          </p:nvSpPr>
          <p:spPr>
            <a:xfrm>
              <a:off x="6537960" y="3156374"/>
              <a:ext cx="3345757" cy="274320"/>
            </a:xfrm>
            <a:prstGeom prst="rect">
              <a:avLst/>
            </a:prstGeom>
            <a:noFill/>
          </p:spPr>
          <p:txBody>
            <a:bodyPr wrap="square" anchor="t" lIns="0" rIns="0" tIns="0" bIns="0">
              <a:spAutoFit/>
            </a:bodyPr>
            <a:lstStyle/>
            <a:p>
              <a:pPr algn="ctr"/>
              <a:r>
                <a:rPr sz="1200" b="0" i="0">
                  <a:solidFill>
                    <a:srgbClr val="595959"/>
                  </a:solidFill>
                  <a:latin typeface="Calibri"/>
                </a:rPr>
                <a:t>Herbert Simon and Allen Newell</a:t>
              </a:r>
            </a:p>
          </p:txBody>
        </p:sp>
        <p:pic>
          <p:nvPicPr>
            <p:cNvPr id="12" name="Picture 11" descr="symbols_networks_left.png"/>
            <p:cNvPicPr>
              <a:picLocks noChangeAspect="1"/>
            </p:cNvPicPr>
            <p:nvPr/>
          </p:nvPicPr>
          <p:blipFill>
            <a:blip r:embed="rId4"/>
            <a:stretch>
              <a:fillRect/>
            </a:stretch>
          </p:blipFill>
          <p:spPr>
            <a:xfrm>
              <a:off x="9792277" y="1371600"/>
              <a:ext cx="2171504" cy="1748198"/>
            </a:xfrm>
            <a:prstGeom prst="rect">
              <a:avLst/>
            </a:prstGeom>
          </p:spPr>
        </p:pic>
        <p:sp>
          <p:nvSpPr>
            <p:cNvPr id="13" name="description"/>
            <p:cNvSpPr txBox="1"/>
            <p:nvPr/>
          </p:nvSpPr>
          <p:spPr>
            <a:xfrm>
              <a:off x="6812280" y="3931920"/>
              <a:ext cx="5120640" cy="731520"/>
            </a:xfrm>
            <a:prstGeom prst="rect">
              <a:avLst/>
            </a:prstGeom>
            <a:noFill/>
          </p:spPr>
          <p:txBody>
            <a:bodyPr wrap="square" anchor="t" lIns="0" rIns="0" tIns="0" bIns="0">
              <a:spAutoFit/>
            </a:bodyPr>
            <a:lstStyle/>
            <a:p>
              <a:pPr algn="l"/>
              <a:r>
                <a:rPr sz="1400" b="0" i="0">
                  <a:solidFill>
                    <a:srgbClr val="595959"/>
                  </a:solidFill>
                  <a:latin typeface="Calibri"/>
                </a:rPr>
                <a:t>The physical symbol system hypothesis: a physical symbol system has the necessary and sufficient means for general intelligent action.</a:t>
              </a:r>
            </a:p>
          </p:txBody>
        </p:sp>
      </p:grpSp>
      <p:grpSp>
        <p:nvGrpSpPr>
          <p:cNvPr id="14" name="picture 3"/>
          <p:cNvGrpSpPr/>
          <p:nvPr/>
        </p:nvGrpSpPr>
        <p:grpSpPr>
          <a:xfrm>
            <a:off x="6812280" y="1371600"/>
            <a:ext cx="5120640" cy="3291840"/>
            <a:chOff x="6812280" y="1371600"/>
            <a:chExt cx="5120640" cy="3291840"/>
          </a:xfrm>
        </p:grpSpPr>
        <p:pic>
          <p:nvPicPr>
            <p:cNvPr id="15" name="Picture 14" descr="rosenblatt.jpg"/>
            <p:cNvPicPr>
              <a:picLocks noChangeAspect="1"/>
            </p:cNvPicPr>
            <p:nvPr/>
          </p:nvPicPr>
          <p:blipFill>
            <a:blip r:embed="rId5"/>
            <a:stretch>
              <a:fillRect/>
            </a:stretch>
          </p:blipFill>
          <p:spPr>
            <a:xfrm>
              <a:off x="7164431" y="1371600"/>
              <a:ext cx="1617784" cy="2103120"/>
            </a:xfrm>
            <a:prstGeom prst="rect">
              <a:avLst/>
            </a:prstGeom>
          </p:spPr>
        </p:pic>
        <p:sp>
          <p:nvSpPr>
            <p:cNvPr id="16" name="TextBox 15"/>
            <p:cNvSpPr txBox="1"/>
            <p:nvPr/>
          </p:nvSpPr>
          <p:spPr>
            <a:xfrm>
              <a:off x="6890111" y="3511296"/>
              <a:ext cx="2166424" cy="274320"/>
            </a:xfrm>
            <a:prstGeom prst="rect">
              <a:avLst/>
            </a:prstGeom>
            <a:noFill/>
          </p:spPr>
          <p:txBody>
            <a:bodyPr wrap="square" anchor="t" lIns="0" rIns="0" tIns="0" bIns="0">
              <a:spAutoFit/>
            </a:bodyPr>
            <a:lstStyle/>
            <a:p>
              <a:pPr algn="ctr"/>
              <a:r>
                <a:rPr sz="1200" b="0" i="0">
                  <a:solidFill>
                    <a:srgbClr val="595959"/>
                  </a:solidFill>
                  <a:latin typeface="Calibri"/>
                </a:rPr>
                <a:t>Frank Rosenblatt</a:t>
              </a:r>
            </a:p>
          </p:txBody>
        </p:sp>
        <p:pic>
          <p:nvPicPr>
            <p:cNvPr id="17" name="Picture 16" descr="symbols_networks_right.png"/>
            <p:cNvPicPr>
              <a:picLocks noChangeAspect="1"/>
            </p:cNvPicPr>
            <p:nvPr/>
          </p:nvPicPr>
          <p:blipFill>
            <a:blip r:embed="rId6"/>
            <a:stretch>
              <a:fillRect/>
            </a:stretch>
          </p:blipFill>
          <p:spPr>
            <a:xfrm>
              <a:off x="8965095" y="1371600"/>
              <a:ext cx="2615672" cy="2103120"/>
            </a:xfrm>
            <a:prstGeom prst="rect">
              <a:avLst/>
            </a:prstGeom>
          </p:spPr>
        </p:pic>
        <p:sp>
          <p:nvSpPr>
            <p:cNvPr id="18" name="description"/>
            <p:cNvSpPr txBox="1"/>
            <p:nvPr/>
          </p:nvSpPr>
          <p:spPr>
            <a:xfrm>
              <a:off x="6812280" y="3931920"/>
              <a:ext cx="5120640" cy="731520"/>
            </a:xfrm>
            <a:prstGeom prst="rect">
              <a:avLst/>
            </a:prstGeom>
            <a:noFill/>
          </p:spPr>
          <p:txBody>
            <a:bodyPr wrap="square" anchor="t" lIns="0" rIns="0" tIns="0" bIns="0">
              <a:spAutoFit/>
            </a:bodyPr>
            <a:lstStyle/>
            <a:p>
              <a:pPr algn="l"/>
              <a:r>
                <a:rPr sz="1400" b="0" i="0">
                  <a:solidFill>
                    <a:srgbClr val="595959"/>
                  </a:solidFill>
                  <a:latin typeface="Calibri"/>
                </a:rPr>
                <a:t>Networks of threshold units can compute any Boolean function; the perceptron learns its weights from labeled examples.</a:t>
              </a:r>
            </a:p>
          </p:txBody>
        </p:sp>
      </p:grpSp>
      <p:grpSp>
        <p:nvGrpSpPr>
          <p:cNvPr id="19" name="picture 4"/>
          <p:cNvGrpSpPr/>
          <p:nvPr/>
        </p:nvGrpSpPr>
        <p:grpSpPr>
          <a:xfrm>
            <a:off x="6629400" y="1371600"/>
            <a:ext cx="5486400" cy="4389120"/>
            <a:chOff x="6629400" y="1371600"/>
            <a:chExt cx="5486400" cy="4389120"/>
          </a:xfrm>
        </p:grpSpPr>
        <p:pic>
          <p:nvPicPr>
            <p:cNvPr id="20" name="Picture 19" descr="xor.png"/>
            <p:cNvPicPr>
              <a:picLocks noChangeAspect="1"/>
            </p:cNvPicPr>
            <p:nvPr/>
          </p:nvPicPr>
          <p:blipFill>
            <a:blip r:embed="rId7"/>
            <a:stretch>
              <a:fillRect/>
            </a:stretch>
          </p:blipFill>
          <p:spPr>
            <a:xfrm>
              <a:off x="7974957" y="1371600"/>
              <a:ext cx="2795284" cy="3108960"/>
            </a:xfrm>
            <a:prstGeom prst="rect">
              <a:avLst/>
            </a:prstGeom>
          </p:spPr>
        </p:pic>
        <p:sp>
          <p:nvSpPr>
            <p:cNvPr id="21" name="TextBox 20"/>
            <p:cNvSpPr txBox="1"/>
            <p:nvPr/>
          </p:nvSpPr>
          <p:spPr>
            <a:xfrm>
              <a:off x="6629400" y="4526280"/>
              <a:ext cx="5486400" cy="274320"/>
            </a:xfrm>
            <a:prstGeom prst="rect">
              <a:avLst/>
            </a:prstGeom>
            <a:noFill/>
          </p:spPr>
          <p:txBody>
            <a:bodyPr wrap="square" anchor="t" lIns="0" rIns="0" tIns="0" bIns="0">
              <a:spAutoFit/>
            </a:bodyPr>
            <a:lstStyle/>
            <a:p>
              <a:pPr algn="ctr"/>
              <a:r>
                <a:rPr sz="1200" b="0" i="0">
                  <a:solidFill>
                    <a:srgbClr val="595959"/>
                  </a:solidFill>
                  <a:latin typeface="Calibri"/>
                </a:rPr>
                <a:t>exclusive or: no single line separates the classes</a:t>
              </a:r>
            </a:p>
          </p:txBody>
        </p:sp>
        <p:sp>
          <p:nvSpPr>
            <p:cNvPr id="22" name="description"/>
            <p:cNvSpPr txBox="1"/>
            <p:nvPr/>
          </p:nvSpPr>
          <p:spPr>
            <a:xfrm>
              <a:off x="6812280" y="4937760"/>
              <a:ext cx="5120640" cy="822960"/>
            </a:xfrm>
            <a:prstGeom prst="rect">
              <a:avLst/>
            </a:prstGeom>
            <a:noFill/>
          </p:spPr>
          <p:txBody>
            <a:bodyPr wrap="square" anchor="t" lIns="0" rIns="0" tIns="0" bIns="0">
              <a:spAutoFit/>
            </a:bodyPr>
            <a:lstStyle/>
            <a:p>
              <a:pPr algn="l"/>
              <a:r>
                <a:rPr sz="1400" b="0" i="0">
                  <a:solidFill>
                    <a:srgbClr val="595959"/>
                  </a:solidFill>
                  <a:latin typeface="Calibri"/>
                </a:rPr>
                <a:t>Minsky and Papert's Perceptrons (1969). Multilayer networks could compute it, but there was no effective way to train them.</a:t>
              </a:r>
            </a:p>
          </p:txBody>
        </p:sp>
      </p:grpSp>
      <p:grpSp>
        <p:nvGrpSpPr>
          <p:cNvPr id="23" name="picture 5"/>
          <p:cNvGrpSpPr/>
          <p:nvPr/>
        </p:nvGrpSpPr>
        <p:grpSpPr>
          <a:xfrm>
            <a:off x="6812280" y="1371600"/>
            <a:ext cx="5120640" cy="2992603"/>
            <a:chOff x="6812280" y="1371600"/>
            <a:chExt cx="5120640" cy="2992603"/>
          </a:xfrm>
        </p:grpSpPr>
        <p:pic>
          <p:nvPicPr>
            <p:cNvPr id="24" name="Picture 23" descr="symbols_networks.png"/>
            <p:cNvPicPr>
              <a:picLocks noChangeAspect="1"/>
            </p:cNvPicPr>
            <p:nvPr/>
          </p:nvPicPr>
          <p:blipFill>
            <a:blip r:embed="rId8"/>
            <a:stretch>
              <a:fillRect/>
            </a:stretch>
          </p:blipFill>
          <p:spPr>
            <a:xfrm>
              <a:off x="6812280" y="1371600"/>
              <a:ext cx="5120640" cy="2059915"/>
            </a:xfrm>
            <a:prstGeom prst="rect">
              <a:avLst/>
            </a:prstGeom>
          </p:spPr>
        </p:pic>
        <p:sp>
          <p:nvSpPr>
            <p:cNvPr id="25" name="description"/>
            <p:cNvSpPr txBox="1"/>
            <p:nvPr/>
          </p:nvSpPr>
          <p:spPr>
            <a:xfrm>
              <a:off x="6812280" y="3541243"/>
              <a:ext cx="5120640" cy="822960"/>
            </a:xfrm>
            <a:prstGeom prst="rect">
              <a:avLst/>
            </a:prstGeom>
            <a:noFill/>
          </p:spPr>
          <p:txBody>
            <a:bodyPr wrap="square" anchor="t" lIns="0" rIns="0" tIns="0" bIns="0">
              <a:spAutoFit/>
            </a:bodyPr>
            <a:lstStyle/>
            <a:p>
              <a:pPr algn="l"/>
              <a:r>
                <a:rPr sz="1400" b="0" i="0">
                  <a:solidFill>
                    <a:srgbClr val="595959"/>
                  </a:solidFill>
                  <a:latin typeface="Calibri"/>
                </a:rPr>
                <a:t>A network of simple units whose connections are learned, operating on discrete symbols, and prompted to carry out symbolic procedures, sometimes reliably and sometimes not.</a:t>
              </a:r>
            </a:p>
          </p:txBody>
        </p:sp>
      </p:grpSp>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4">
                                            <p:txEl>
                                              <p:pRg st="0" end="0"/>
                                            </p:txEl>
                                          </p:spTgt>
                                        </p:tgtEl>
                                        <p:attrNameLst>
                                          <p:attrName>style.visibility</p:attrName>
                                        </p:attrNameLst>
                                      </p:cBhvr>
                                      <p:to>
                                        <p:strVal val="visible"/>
                                      </p:to>
                                    </p:set>
                                  </p:childTnLst>
                                </p:cTn>
                              </p:par>
                              <p:par>
                                <p:cTn id="7" presetID="1" presetClass="entr" presetSubtype="0" fill="hold" grpId="0" nodeType="withEffect">
                                  <p:stCondLst>
                                    <p:cond delay="0"/>
                                  </p:stCondLst>
                                  <p:childTnLst>
                                    <p:set>
                                      <p:cBhvr>
                                        <p:cTn id="8" dur="1" fill="hold">
                                          <p:stCondLst>
                                            <p:cond delay="0"/>
                                          </p:stCondLst>
                                        </p:cTn>
                                        <p:tgtEl>
                                          <p:spTgt spid="5"/>
                                        </p:tgtEl>
                                        <p:attrNameLst>
                                          <p:attrName>style.visibility</p:attrName>
                                        </p:attrNameLst>
                                      </p:cBhvr>
                                      <p:to>
                                        <p:strVal val="visible"/>
                                      </p:to>
                                    </p:set>
                                  </p:childTnLst>
                                </p:cTn>
                              </p:par>
                            </p:childTnLst>
                          </p:cTn>
                        </p:par>
                      </p:childTnLst>
                    </p:cTn>
                  </p:par>
                  <p:par>
                    <p:cTn id="9" fill="hold">
                      <p:stCondLst>
                        <p:cond delay="indefinite"/>
                      </p:stCondLst>
                      <p:childTnLst>
                        <p:par>
                          <p:cTn id="10" fill="hold">
                            <p:stCondLst>
                              <p:cond delay="0"/>
                            </p:stCondLst>
                            <p:childTnLst>
                              <p:par>
                                <p:cTn id="11" presetID="1" presetClass="entr" presetSubtype="0" fill="hold" grpId="0" nodeType="clickEffect">
                                  <p:stCondLst>
                                    <p:cond delay="0"/>
                                  </p:stCondLst>
                                  <p:childTnLst>
                                    <p:set>
                                      <p:cBhvr>
                                        <p:cTn id="12" dur="1" fill="hold">
                                          <p:stCondLst>
                                            <p:cond delay="0"/>
                                          </p:stCondLst>
                                        </p:cTn>
                                        <p:tgtEl>
                                          <p:spTgt spid="4">
                                            <p:txEl>
                                              <p:pRg st="1" end="1"/>
                                            </p:txEl>
                                          </p:spTgt>
                                        </p:tgtEl>
                                        <p:attrNameLst>
                                          <p:attrName>style.visibility</p:attrName>
                                        </p:attrNameLst>
                                      </p:cBhvr>
                                      <p:to>
                                        <p:strVal val="visible"/>
                                      </p:to>
                                    </p:set>
                                  </p:childTnLst>
                                </p:cTn>
                              </p:par>
                              <p:par>
                                <p:cTn id="13" presetID="1" presetClass="entr" presetSubtype="0" fill="hold" grpId="0" nodeType="withEffect">
                                  <p:stCondLst>
                                    <p:cond delay="0"/>
                                  </p:stCondLst>
                                  <p:childTnLst>
                                    <p:set>
                                      <p:cBhvr>
                                        <p:cTn id="14" dur="1" fill="hold">
                                          <p:stCondLst>
                                            <p:cond delay="0"/>
                                          </p:stCondLst>
                                        </p:cTn>
                                        <p:tgtEl>
                                          <p:spTgt spid="9"/>
                                        </p:tgtEl>
                                        <p:attrNameLst>
                                          <p:attrName>style.visibility</p:attrName>
                                        </p:attrNameLst>
                                      </p:cBhvr>
                                      <p:to>
                                        <p:strVal val="visible"/>
                                      </p:to>
                                    </p:set>
                                  </p:childTnLst>
                                </p:cTn>
                              </p:par>
                              <p:par>
                                <p:cTn id="15" presetID="1" presetClass="exit" presetSubtype="0" fill="hold" grpId="1" nodeType="withEffect">
                                  <p:stCondLst>
                                    <p:cond delay="0"/>
                                  </p:stCondLst>
                                  <p:childTnLst>
                                    <p:set>
                                      <p:cBhvr>
                                        <p:cTn id="16" dur="1" fill="hold">
                                          <p:stCondLst>
                                            <p:cond delay="0"/>
                                          </p:stCondLst>
                                        </p:cTn>
                                        <p:tgtEl>
                                          <p:spTgt spid="5"/>
                                        </p:tgtEl>
                                        <p:attrNameLst>
                                          <p:attrName>style.visibility</p:attrName>
                                        </p:attrNameLst>
                                      </p:cBhvr>
                                      <p:to>
                                        <p:strVal val="hidden"/>
                                      </p:to>
                                    </p:set>
                                  </p:childTnLst>
                                </p:cTn>
                              </p:par>
                            </p:childTnLst>
                          </p:cTn>
                        </p:par>
                      </p:childTnLst>
                    </p:cTn>
                  </p:par>
                  <p:par>
                    <p:cTn id="17" fill="hold">
                      <p:stCondLst>
                        <p:cond delay="indefinite"/>
                      </p:stCondLst>
                      <p:childTnLst>
                        <p:par>
                          <p:cTn id="18" fill="hold">
                            <p:stCondLst>
                              <p:cond delay="0"/>
                            </p:stCondLst>
                            <p:childTnLst>
                              <p:par>
                                <p:cTn id="19" presetID="1" presetClass="entr" presetSubtype="0" fill="hold" grpId="0" nodeType="clickEffect">
                                  <p:stCondLst>
                                    <p:cond delay="0"/>
                                  </p:stCondLst>
                                  <p:childTnLst>
                                    <p:set>
                                      <p:cBhvr>
                                        <p:cTn id="20" dur="1" fill="hold">
                                          <p:stCondLst>
                                            <p:cond delay="0"/>
                                          </p:stCondLst>
                                        </p:cTn>
                                        <p:tgtEl>
                                          <p:spTgt spid="4">
                                            <p:txEl>
                                              <p:pRg st="2" end="2"/>
                                            </p:txEl>
                                          </p:spTgt>
                                        </p:tgtEl>
                                        <p:attrNameLst>
                                          <p:attrName>style.visibility</p:attrName>
                                        </p:attrNameLst>
                                      </p:cBhvr>
                                      <p:to>
                                        <p:strVal val="visible"/>
                                      </p:to>
                                    </p:set>
                                  </p:childTnLst>
                                </p:cTn>
                              </p:par>
                              <p:par>
                                <p:cTn id="21" presetID="1" presetClass="entr" presetSubtype="0" fill="hold" grpId="0" nodeType="withEffect">
                                  <p:stCondLst>
                                    <p:cond delay="0"/>
                                  </p:stCondLst>
                                  <p:childTnLst>
                                    <p:set>
                                      <p:cBhvr>
                                        <p:cTn id="22" dur="1" fill="hold">
                                          <p:stCondLst>
                                            <p:cond delay="0"/>
                                          </p:stCondLst>
                                        </p:cTn>
                                        <p:tgtEl>
                                          <p:spTgt spid="14"/>
                                        </p:tgtEl>
                                        <p:attrNameLst>
                                          <p:attrName>style.visibility</p:attrName>
                                        </p:attrNameLst>
                                      </p:cBhvr>
                                      <p:to>
                                        <p:strVal val="visible"/>
                                      </p:to>
                                    </p:set>
                                  </p:childTnLst>
                                </p:cTn>
                              </p:par>
                              <p:par>
                                <p:cTn id="23" presetID="1" presetClass="exit" presetSubtype="0" fill="hold" grpId="1" nodeType="withEffect">
                                  <p:stCondLst>
                                    <p:cond delay="0"/>
                                  </p:stCondLst>
                                  <p:childTnLst>
                                    <p:set>
                                      <p:cBhvr>
                                        <p:cTn id="24" dur="1" fill="hold">
                                          <p:stCondLst>
                                            <p:cond delay="0"/>
                                          </p:stCondLst>
                                        </p:cTn>
                                        <p:tgtEl>
                                          <p:spTgt spid="9"/>
                                        </p:tgtEl>
                                        <p:attrNameLst>
                                          <p:attrName>style.visibility</p:attrName>
                                        </p:attrNameLst>
                                      </p:cBhvr>
                                      <p:to>
                                        <p:strVal val="hidden"/>
                                      </p:to>
                                    </p:set>
                                  </p:childTnLst>
                                </p:cTn>
                              </p:par>
                            </p:childTnLst>
                          </p:cTn>
                        </p:par>
                      </p:childTnLst>
                    </p:cTn>
                  </p:par>
                  <p:par>
                    <p:cTn id="25" fill="hold">
                      <p:stCondLst>
                        <p:cond delay="indefinite"/>
                      </p:stCondLst>
                      <p:childTnLst>
                        <p:par>
                          <p:cTn id="26" fill="hold">
                            <p:stCondLst>
                              <p:cond delay="0"/>
                            </p:stCondLst>
                            <p:childTnLst>
                              <p:par>
                                <p:cTn id="27" presetID="1" presetClass="entr" presetSubtype="0" fill="hold" grpId="0" nodeType="clickEffect">
                                  <p:stCondLst>
                                    <p:cond delay="0"/>
                                  </p:stCondLst>
                                  <p:childTnLst>
                                    <p:set>
                                      <p:cBhvr>
                                        <p:cTn id="28" dur="1" fill="hold">
                                          <p:stCondLst>
                                            <p:cond delay="0"/>
                                          </p:stCondLst>
                                        </p:cTn>
                                        <p:tgtEl>
                                          <p:spTgt spid="4">
                                            <p:txEl>
                                              <p:pRg st="3" end="3"/>
                                            </p:txEl>
                                          </p:spTgt>
                                        </p:tgtEl>
                                        <p:attrNameLst>
                                          <p:attrName>style.visibility</p:attrName>
                                        </p:attrNameLst>
                                      </p:cBhvr>
                                      <p:to>
                                        <p:strVal val="visible"/>
                                      </p:to>
                                    </p:set>
                                  </p:childTnLst>
                                </p:cTn>
                              </p:par>
                              <p:par>
                                <p:cTn id="29" presetID="1" presetClass="entr" presetSubtype="0" fill="hold" grpId="0" nodeType="withEffect">
                                  <p:stCondLst>
                                    <p:cond delay="0"/>
                                  </p:stCondLst>
                                  <p:childTnLst>
                                    <p:set>
                                      <p:cBhvr>
                                        <p:cTn id="30" dur="1" fill="hold">
                                          <p:stCondLst>
                                            <p:cond delay="0"/>
                                          </p:stCondLst>
                                        </p:cTn>
                                        <p:tgtEl>
                                          <p:spTgt spid="19"/>
                                        </p:tgtEl>
                                        <p:attrNameLst>
                                          <p:attrName>style.visibility</p:attrName>
                                        </p:attrNameLst>
                                      </p:cBhvr>
                                      <p:to>
                                        <p:strVal val="visible"/>
                                      </p:to>
                                    </p:set>
                                  </p:childTnLst>
                                </p:cTn>
                              </p:par>
                              <p:par>
                                <p:cTn id="31" presetID="1" presetClass="exit" presetSubtype="0" fill="hold" grpId="1" nodeType="withEffect">
                                  <p:stCondLst>
                                    <p:cond delay="0"/>
                                  </p:stCondLst>
                                  <p:childTnLst>
                                    <p:set>
                                      <p:cBhvr>
                                        <p:cTn id="32" dur="1" fill="hold">
                                          <p:stCondLst>
                                            <p:cond delay="0"/>
                                          </p:stCondLst>
                                        </p:cTn>
                                        <p:tgtEl>
                                          <p:spTgt spid="14"/>
                                        </p:tgtEl>
                                        <p:attrNameLst>
                                          <p:attrName>style.visibility</p:attrName>
                                        </p:attrNameLst>
                                      </p:cBhvr>
                                      <p:to>
                                        <p:strVal val="hidden"/>
                                      </p:to>
                                    </p:set>
                                  </p:childTnLst>
                                </p:cTn>
                              </p:par>
                            </p:childTnLst>
                          </p:cTn>
                        </p:par>
                      </p:childTnLst>
                    </p:cTn>
                  </p:par>
                  <p:par>
                    <p:cTn id="33" fill="hold">
                      <p:stCondLst>
                        <p:cond delay="indefinite"/>
                      </p:stCondLst>
                      <p:childTnLst>
                        <p:par>
                          <p:cTn id="34" fill="hold">
                            <p:stCondLst>
                              <p:cond delay="0"/>
                            </p:stCondLst>
                            <p:childTnLst>
                              <p:par>
                                <p:cTn id="35" presetID="1" presetClass="entr" presetSubtype="0" fill="hold" grpId="0" nodeType="clickEffect">
                                  <p:stCondLst>
                                    <p:cond delay="0"/>
                                  </p:stCondLst>
                                  <p:childTnLst>
                                    <p:set>
                                      <p:cBhvr>
                                        <p:cTn id="36" dur="1" fill="hold">
                                          <p:stCondLst>
                                            <p:cond delay="0"/>
                                          </p:stCondLst>
                                        </p:cTn>
                                        <p:tgtEl>
                                          <p:spTgt spid="4">
                                            <p:txEl>
                                              <p:pRg st="4" end="4"/>
                                            </p:txEl>
                                          </p:spTgt>
                                        </p:tgtEl>
                                        <p:attrNameLst>
                                          <p:attrName>style.visibility</p:attrName>
                                        </p:attrNameLst>
                                      </p:cBhvr>
                                      <p:to>
                                        <p:strVal val="visible"/>
                                      </p:to>
                                    </p:set>
                                  </p:childTnLst>
                                </p:cTn>
                              </p:par>
                              <p:par>
                                <p:cTn id="37" presetID="1" presetClass="entr" presetSubtype="0" fill="hold" grpId="0" nodeType="withEffect">
                                  <p:stCondLst>
                                    <p:cond delay="0"/>
                                  </p:stCondLst>
                                  <p:childTnLst>
                                    <p:set>
                                      <p:cBhvr>
                                        <p:cTn id="38" dur="1" fill="hold">
                                          <p:stCondLst>
                                            <p:cond delay="0"/>
                                          </p:stCondLst>
                                        </p:cTn>
                                        <p:tgtEl>
                                          <p:spTgt spid="23"/>
                                        </p:tgtEl>
                                        <p:attrNameLst>
                                          <p:attrName>style.visibility</p:attrName>
                                        </p:attrNameLst>
                                      </p:cBhvr>
                                      <p:to>
                                        <p:strVal val="visible"/>
                                      </p:to>
                                    </p:set>
                                  </p:childTnLst>
                                </p:cTn>
                              </p:par>
                              <p:par>
                                <p:cTn id="39" presetID="1" presetClass="exit" presetSubtype="0" fill="hold" grpId="1" nodeType="withEffect">
                                  <p:stCondLst>
                                    <p:cond delay="0"/>
                                  </p:stCondLst>
                                  <p:childTnLst>
                                    <p:set>
                                      <p:cBhvr>
                                        <p:cTn id="40" dur="1" fill="hold">
                                          <p:stCondLst>
                                            <p:cond delay="0"/>
                                          </p:stCondLst>
                                        </p:cTn>
                                        <p:tgtEl>
                                          <p:spTgt spid="19"/>
                                        </p:tgtEl>
                                        <p:attrNameLst>
                                          <p:attrName>style.visibility</p:attrName>
                                        </p:attrNameLst>
                                      </p:cBhvr>
                                      <p:to>
                                        <p:strVal val="hidden"/>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4" grpId="0" build="p"/>
    </p:bldLst>
  </p:timing>
</p:sld>
</file>

<file path=ppt/slides/slide4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b0_2">
            <a:extLst>
              <a:ext uri="{FF2B5EF4-FFF2-40B4-BE49-F238E27FC236}">
                <a16:creationId xmlns:a16="http://schemas.microsoft.com/office/drawing/2014/main" id="{33DE8782-7F2B-1033-00F6-2A6652EE0E80}"/>
              </a:ext>
            </a:extLst>
          </p:cNvPr>
          <p:cNvSpPr txBox="1"/>
          <p:nvPr/>
        </p:nvSpPr>
        <p:spPr>
          <a:xfrm>
            <a:off x="0" y="148566"/>
            <a:ext cx="11680992" cy="548640"/>
          </a:xfrm>
          <a:prstGeom prst="rect">
            <a:avLst/>
          </a:prstGeom>
          <a:noFill/>
          <a:ln>
            <a:noFill/>
          </a:ln>
        </p:spPr>
        <p:txBody>
          <a:bodyPr wrap="square" rtlCol="0" anchor="ctr"/>
          <a:lstStyle/>
          <a:p>
            <a:r>
              <a:rPr lang="en-US" sz="3200" b="1" dirty="0">
                <a:solidFill>
                  <a:srgbClr val="000000"/>
                </a:solidFill>
                <a:latin typeface="Calibri" pitchFamily="34" charset="0"/>
                <a:ea typeface="Calibri" pitchFamily="34" charset="-122"/>
                <a:cs typeface="Calibri" pitchFamily="34" charset="-120"/>
              </a:rPr>
              <a:t>Understanding </a:t>
            </a:r>
            <a:r>
              <a:rPr lang="en-US" sz="3200" b="1" dirty="0">
                <a:solidFill>
                  <a:srgbClr val="FF0000"/>
                </a:solidFill>
                <a:latin typeface="Calibri" pitchFamily="34" charset="0"/>
                <a:ea typeface="Calibri" pitchFamily="34" charset="-122"/>
                <a:cs typeface="Calibri" pitchFamily="34" charset="-120"/>
              </a:rPr>
              <a:t>Intelligence</a:t>
            </a:r>
            <a:endParaRPr lang="en-US" sz="3200" dirty="0">
              <a:solidFill>
                <a:srgbClr val="362FEC"/>
              </a:solidFill>
            </a:endParaRPr>
          </a:p>
        </p:txBody>
      </p:sp>
      <p:sp>
        <p:nvSpPr>
          <p:cNvPr id="3" name="subheading">
            <a:extLst>
              <a:ext uri="{FF2B5EF4-FFF2-40B4-BE49-F238E27FC236}">
                <a16:creationId xmlns:a16="http://schemas.microsoft.com/office/drawing/2014/main" id="{5CB8A4AA-40B1-94AE-8EEE-080599481F78}"/>
              </a:ext>
            </a:extLst>
          </p:cNvPr>
          <p:cNvSpPr txBox="1"/>
          <p:nvPr/>
        </p:nvSpPr>
        <p:spPr>
          <a:xfrm>
            <a:off x="292608" y="868680"/>
            <a:ext cx="11430000" cy="411480"/>
          </a:xfrm>
          <a:prstGeom prst="rect">
            <a:avLst/>
          </a:prstGeom>
          <a:noFill/>
          <a:ln>
            <a:noFill/>
          </a:ln>
        </p:spPr>
        <p:txBody>
          <a:bodyPr wrap="square" lIns="0" tIns="0" rIns="0" bIns="0" rtlCol="0" anchor="ctr"/>
          <a:lstStyle/>
          <a:p>
            <a:pPr marL="0" indent="0">
              <a:buNone/>
            </a:pPr>
            <a:r>
              <a:rPr lang="en-US" sz="2000" b="1" dirty="0">
                <a:solidFill>
                  <a:srgbClr val="362FEC"/>
                </a:solidFill>
                <a:latin typeface="Calibri" panose="020F0502020204030204" pitchFamily="34" charset="0"/>
                <a:cs typeface="Calibri" panose="020F0502020204030204" pitchFamily="34" charset="0"/>
              </a:rPr>
              <a:t>Definitions and measures</a:t>
            </a:r>
          </a:p>
        </p:txBody>
      </p:sp>
      <p:sp>
        <p:nvSpPr>
          <p:cNvPr id="4" name="points"/>
          <p:cNvSpPr txBox="1"/>
          <p:nvPr/>
        </p:nvSpPr>
        <p:spPr>
          <a:xfrm>
            <a:off x="384048" y="1417320"/>
            <a:ext cx="6126480" cy="5166360"/>
          </a:xfrm>
          <a:prstGeom prst="rect">
            <a:avLst/>
          </a:prstGeom>
          <a:noFill/>
        </p:spPr>
        <p:txBody>
          <a:bodyPr wrap="square" lIns="0" rIns="0" tIns="0" bIns="0">
            <a:spAutoFit/>
          </a:bodyPr>
          <a:lstStyle/>
          <a:p>
            <a:pPr algn="l">
              <a:spcAft>
                <a:spcPts val="1200"/>
              </a:spcAft>
            </a:pPr>
            <a:r>
              <a:rPr sz="1800" b="1" i="0">
                <a:solidFill>
                  <a:srgbClr val="362FEC"/>
                </a:solidFill>
                <a:latin typeface="Calibri"/>
              </a:rPr>
              <a:t>Russell and Norvig</a:t>
            </a:r>
            <a:r>
              <a:rPr sz="1800" b="0" i="0">
                <a:solidFill>
                  <a:srgbClr val="000000"/>
                </a:solidFill>
                <a:latin typeface="Calibri"/>
              </a:rPr>
              <a:t>: thinking or acting, measured against humans or against an ideal of rationality.</a:t>
            </a:r>
          </a:p>
          <a:p>
            <a:pPr algn="l">
              <a:spcAft>
                <a:spcPts val="1200"/>
              </a:spcAft>
            </a:pPr>
            <a:r>
              <a:rPr sz="1800" b="1" i="0">
                <a:solidFill>
                  <a:srgbClr val="FF0000"/>
                </a:solidFill>
                <a:latin typeface="Calibri"/>
              </a:rPr>
              <a:t>Legg and Hutter</a:t>
            </a:r>
            <a:r>
              <a:rPr sz="1800" b="0" i="0">
                <a:solidFill>
                  <a:srgbClr val="000000"/>
                </a:solidFill>
                <a:latin typeface="Calibri"/>
              </a:rPr>
              <a:t>: universal intelligence: expected performance across all computable environments, the simple ones weighted most.</a:t>
            </a:r>
          </a:p>
          <a:p>
            <a:pPr algn="l">
              <a:spcAft>
                <a:spcPts val="1200"/>
              </a:spcAft>
            </a:pPr>
            <a:r>
              <a:rPr sz="1800" b="1" i="0">
                <a:solidFill>
                  <a:srgbClr val="00B050"/>
                </a:solidFill>
                <a:latin typeface="Calibri"/>
              </a:rPr>
              <a:t>Chollet</a:t>
            </a:r>
            <a:r>
              <a:rPr sz="1800" b="0" i="0">
                <a:solidFill>
                  <a:srgbClr val="000000"/>
                </a:solidFill>
                <a:latin typeface="Calibri"/>
              </a:rPr>
              <a:t>: skill is not intelligence, since enough data buys skill. Measure skill-acquisition efficiency.</a:t>
            </a:r>
          </a:p>
        </p:txBody>
      </p:sp>
      <p:grpSp>
        <p:nvGrpSpPr>
          <p:cNvPr id="5" name="picture 1"/>
          <p:cNvGrpSpPr/>
          <p:nvPr/>
        </p:nvGrpSpPr>
        <p:grpSpPr>
          <a:xfrm>
            <a:off x="6812280" y="1371600"/>
            <a:ext cx="5120640" cy="3200399"/>
            <a:chOff x="6812280" y="1371600"/>
            <a:chExt cx="5120640" cy="3200399"/>
          </a:xfrm>
        </p:grpSpPr>
        <p:sp>
          <p:nvSpPr>
            <p:cNvPr id="6" name="Rounded Rectangle 5"/>
            <p:cNvSpPr/>
            <p:nvPr/>
          </p:nvSpPr>
          <p:spPr>
            <a:xfrm>
              <a:off x="7726679" y="1691640"/>
              <a:ext cx="2057400" cy="868680"/>
            </a:xfrm>
            <a:prstGeom prst="roundRect">
              <a:avLst>
                <a:gd name="adj" fmla="val 12000"/>
              </a:avLst>
            </a:prstGeom>
            <a:solidFill>
              <a:srgbClr val="EDEDED"/>
            </a:solidFill>
            <a:ln>
              <a:noFill/>
            </a:ln>
          </p:spPr>
          <p:style>
            <a:lnRef idx="1">
              <a:schemeClr val="accent1"/>
            </a:lnRef>
            <a:fillRef idx="3">
              <a:schemeClr val="accent1"/>
            </a:fillRef>
            <a:effectRef idx="2">
              <a:schemeClr val="accent1"/>
            </a:effectRef>
            <a:fontRef idx="minor">
              <a:schemeClr val="lt1"/>
            </a:fontRef>
          </p:style>
          <p:txBody>
            <a:bodyPr rtlCol="0" anchor="ctr" wrap="square" lIns="45720" rIns="45720"/>
            <a:lstStyle/>
            <a:p>
              <a:pPr algn="ctr"/>
              <a:r>
                <a:rPr sz="1400" b="1">
                  <a:solidFill>
                    <a:srgbClr val="000000"/>
                  </a:solidFill>
                  <a:latin typeface="Calibri"/>
                </a:rPr>
                <a:t>thinking humanly</a:t>
              </a:r>
            </a:p>
            <a:p>
              <a:pPr algn="ctr"/>
              <a:r>
                <a:rPr sz="1300">
                  <a:solidFill>
                    <a:srgbClr val="595959"/>
                  </a:solidFill>
                  <a:latin typeface="Calibri"/>
                </a:rPr>
                <a:t>cognitive modeling</a:t>
              </a:r>
            </a:p>
          </p:txBody>
        </p:sp>
        <p:sp>
          <p:nvSpPr>
            <p:cNvPr id="7" name="Rounded Rectangle 6"/>
            <p:cNvSpPr/>
            <p:nvPr/>
          </p:nvSpPr>
          <p:spPr>
            <a:xfrm>
              <a:off x="9875519" y="1691640"/>
              <a:ext cx="2057400" cy="868680"/>
            </a:xfrm>
            <a:prstGeom prst="roundRect">
              <a:avLst>
                <a:gd name="adj" fmla="val 12000"/>
              </a:avLst>
            </a:prstGeom>
            <a:solidFill>
              <a:srgbClr val="EDEDED"/>
            </a:solidFill>
            <a:ln>
              <a:noFill/>
            </a:ln>
          </p:spPr>
          <p:style>
            <a:lnRef idx="1">
              <a:schemeClr val="accent1"/>
            </a:lnRef>
            <a:fillRef idx="3">
              <a:schemeClr val="accent1"/>
            </a:fillRef>
            <a:effectRef idx="2">
              <a:schemeClr val="accent1"/>
            </a:effectRef>
            <a:fontRef idx="minor">
              <a:schemeClr val="lt1"/>
            </a:fontRef>
          </p:style>
          <p:txBody>
            <a:bodyPr rtlCol="0" anchor="ctr" wrap="square" lIns="45720" rIns="45720"/>
            <a:lstStyle/>
            <a:p>
              <a:pPr algn="ctr"/>
              <a:r>
                <a:rPr sz="1400" b="1">
                  <a:solidFill>
                    <a:srgbClr val="000000"/>
                  </a:solidFill>
                  <a:latin typeface="Calibri"/>
                </a:rPr>
                <a:t>thinking rationally</a:t>
              </a:r>
            </a:p>
            <a:p>
              <a:pPr algn="ctr"/>
              <a:r>
                <a:rPr sz="1300">
                  <a:solidFill>
                    <a:srgbClr val="595959"/>
                  </a:solidFill>
                  <a:latin typeface="Calibri"/>
                </a:rPr>
                <a:t>laws of thought</a:t>
              </a:r>
            </a:p>
          </p:txBody>
        </p:sp>
        <p:sp>
          <p:nvSpPr>
            <p:cNvPr id="8" name="Rounded Rectangle 7"/>
            <p:cNvSpPr/>
            <p:nvPr/>
          </p:nvSpPr>
          <p:spPr>
            <a:xfrm>
              <a:off x="7726679" y="2651760"/>
              <a:ext cx="2057400" cy="868680"/>
            </a:xfrm>
            <a:prstGeom prst="roundRect">
              <a:avLst>
                <a:gd name="adj" fmla="val 12000"/>
              </a:avLst>
            </a:prstGeom>
            <a:solidFill>
              <a:srgbClr val="EDEDED"/>
            </a:solidFill>
            <a:ln>
              <a:noFill/>
            </a:ln>
          </p:spPr>
          <p:style>
            <a:lnRef idx="1">
              <a:schemeClr val="accent1"/>
            </a:lnRef>
            <a:fillRef idx="3">
              <a:schemeClr val="accent1"/>
            </a:fillRef>
            <a:effectRef idx="2">
              <a:schemeClr val="accent1"/>
            </a:effectRef>
            <a:fontRef idx="minor">
              <a:schemeClr val="lt1"/>
            </a:fontRef>
          </p:style>
          <p:txBody>
            <a:bodyPr rtlCol="0" anchor="ctr" wrap="square" lIns="45720" rIns="45720"/>
            <a:lstStyle/>
            <a:p>
              <a:pPr algn="ctr"/>
              <a:r>
                <a:rPr sz="1400" b="1">
                  <a:solidFill>
                    <a:srgbClr val="000000"/>
                  </a:solidFill>
                  <a:latin typeface="Calibri"/>
                </a:rPr>
                <a:t>acting humanly</a:t>
              </a:r>
            </a:p>
            <a:p>
              <a:pPr algn="ctr"/>
              <a:r>
                <a:rPr sz="1300">
                  <a:solidFill>
                    <a:srgbClr val="595959"/>
                  </a:solidFill>
                  <a:latin typeface="Calibri"/>
                </a:rPr>
                <a:t>the Turing test</a:t>
              </a:r>
            </a:p>
          </p:txBody>
        </p:sp>
        <p:sp>
          <p:nvSpPr>
            <p:cNvPr id="9" name="Rounded Rectangle 8"/>
            <p:cNvSpPr/>
            <p:nvPr/>
          </p:nvSpPr>
          <p:spPr>
            <a:xfrm>
              <a:off x="9875519" y="2651760"/>
              <a:ext cx="2057400" cy="868680"/>
            </a:xfrm>
            <a:prstGeom prst="roundRect">
              <a:avLst>
                <a:gd name="adj" fmla="val 12000"/>
              </a:avLst>
            </a:prstGeom>
            <a:solidFill>
              <a:srgbClr val="E3E2FD"/>
            </a:solidFill>
            <a:ln>
              <a:noFill/>
            </a:ln>
          </p:spPr>
          <p:style>
            <a:lnRef idx="1">
              <a:schemeClr val="accent1"/>
            </a:lnRef>
            <a:fillRef idx="3">
              <a:schemeClr val="accent1"/>
            </a:fillRef>
            <a:effectRef idx="2">
              <a:schemeClr val="accent1"/>
            </a:effectRef>
            <a:fontRef idx="minor">
              <a:schemeClr val="lt1"/>
            </a:fontRef>
          </p:style>
          <p:txBody>
            <a:bodyPr rtlCol="0" anchor="ctr" wrap="square" lIns="45720" rIns="45720"/>
            <a:lstStyle/>
            <a:p>
              <a:pPr algn="ctr"/>
              <a:r>
                <a:rPr sz="1400" b="1">
                  <a:solidFill>
                    <a:srgbClr val="362FEC"/>
                  </a:solidFill>
                  <a:latin typeface="Calibri"/>
                </a:rPr>
                <a:t>acting rationally</a:t>
              </a:r>
            </a:p>
            <a:p>
              <a:pPr algn="ctr"/>
              <a:r>
                <a:rPr sz="1300">
                  <a:solidFill>
                    <a:srgbClr val="595959"/>
                  </a:solidFill>
                  <a:latin typeface="Calibri"/>
                </a:rPr>
                <a:t>the rational agent</a:t>
              </a:r>
            </a:p>
          </p:txBody>
        </p:sp>
        <p:sp>
          <p:nvSpPr>
            <p:cNvPr id="10" name="TextBox 9"/>
            <p:cNvSpPr txBox="1"/>
            <p:nvPr/>
          </p:nvSpPr>
          <p:spPr>
            <a:xfrm>
              <a:off x="6812280" y="1965960"/>
              <a:ext cx="868680" cy="274320"/>
            </a:xfrm>
            <a:prstGeom prst="rect">
              <a:avLst/>
            </a:prstGeom>
            <a:noFill/>
          </p:spPr>
          <p:txBody>
            <a:bodyPr wrap="square" anchor="t" lIns="0" rIns="0" tIns="0" bIns="0">
              <a:spAutoFit/>
            </a:bodyPr>
            <a:lstStyle/>
            <a:p>
              <a:pPr algn="ctr"/>
              <a:r>
                <a:rPr sz="1400" b="0" i="0">
                  <a:solidFill>
                    <a:srgbClr val="595959"/>
                  </a:solidFill>
                  <a:latin typeface="Calibri"/>
                </a:rPr>
                <a:t>human</a:t>
              </a:r>
            </a:p>
          </p:txBody>
        </p:sp>
        <p:sp>
          <p:nvSpPr>
            <p:cNvPr id="11" name="TextBox 10"/>
            <p:cNvSpPr txBox="1"/>
            <p:nvPr/>
          </p:nvSpPr>
          <p:spPr>
            <a:xfrm>
              <a:off x="6812280" y="2926080"/>
              <a:ext cx="868680" cy="274320"/>
            </a:xfrm>
            <a:prstGeom prst="rect">
              <a:avLst/>
            </a:prstGeom>
            <a:noFill/>
          </p:spPr>
          <p:txBody>
            <a:bodyPr wrap="square" anchor="t" lIns="0" rIns="0" tIns="0" bIns="0">
              <a:spAutoFit/>
            </a:bodyPr>
            <a:lstStyle/>
            <a:p>
              <a:pPr algn="ctr"/>
              <a:r>
                <a:rPr sz="1400" b="0" i="0">
                  <a:solidFill>
                    <a:srgbClr val="595959"/>
                  </a:solidFill>
                  <a:latin typeface="Calibri"/>
                </a:rPr>
                <a:t>ideal</a:t>
              </a:r>
            </a:p>
          </p:txBody>
        </p:sp>
        <p:sp>
          <p:nvSpPr>
            <p:cNvPr id="12" name="TextBox 11"/>
            <p:cNvSpPr txBox="1"/>
            <p:nvPr/>
          </p:nvSpPr>
          <p:spPr>
            <a:xfrm>
              <a:off x="7726679" y="1371600"/>
              <a:ext cx="2057400" cy="274320"/>
            </a:xfrm>
            <a:prstGeom prst="rect">
              <a:avLst/>
            </a:prstGeom>
            <a:noFill/>
          </p:spPr>
          <p:txBody>
            <a:bodyPr wrap="square" anchor="t" lIns="0" rIns="0" tIns="0" bIns="0">
              <a:spAutoFit/>
            </a:bodyPr>
            <a:lstStyle/>
            <a:p>
              <a:pPr algn="ctr"/>
              <a:r>
                <a:rPr sz="1400" b="0" i="0">
                  <a:solidFill>
                    <a:srgbClr val="595959"/>
                  </a:solidFill>
                  <a:latin typeface="Calibri"/>
                </a:rPr>
                <a:t>thinking</a:t>
              </a:r>
            </a:p>
          </p:txBody>
        </p:sp>
        <p:sp>
          <p:nvSpPr>
            <p:cNvPr id="13" name="TextBox 12"/>
            <p:cNvSpPr txBox="1"/>
            <p:nvPr/>
          </p:nvSpPr>
          <p:spPr>
            <a:xfrm>
              <a:off x="9875520" y="1371600"/>
              <a:ext cx="2057400" cy="274320"/>
            </a:xfrm>
            <a:prstGeom prst="rect">
              <a:avLst/>
            </a:prstGeom>
            <a:noFill/>
          </p:spPr>
          <p:txBody>
            <a:bodyPr wrap="square" anchor="t" lIns="0" rIns="0" tIns="0" bIns="0">
              <a:spAutoFit/>
            </a:bodyPr>
            <a:lstStyle/>
            <a:p>
              <a:pPr algn="ctr"/>
              <a:r>
                <a:rPr sz="1400" b="0" i="0">
                  <a:solidFill>
                    <a:srgbClr val="595959"/>
                  </a:solidFill>
                  <a:latin typeface="Calibri"/>
                </a:rPr>
                <a:t>acting</a:t>
              </a:r>
            </a:p>
          </p:txBody>
        </p:sp>
        <p:sp>
          <p:nvSpPr>
            <p:cNvPr id="14" name="description"/>
            <p:cNvSpPr txBox="1"/>
            <p:nvPr/>
          </p:nvSpPr>
          <p:spPr>
            <a:xfrm>
              <a:off x="6812280" y="3749039"/>
              <a:ext cx="5120640" cy="822960"/>
            </a:xfrm>
            <a:prstGeom prst="rect">
              <a:avLst/>
            </a:prstGeom>
            <a:noFill/>
          </p:spPr>
          <p:txBody>
            <a:bodyPr wrap="square" anchor="t" lIns="0" rIns="0" tIns="0" bIns="0">
              <a:spAutoFit/>
            </a:bodyPr>
            <a:lstStyle/>
            <a:p>
              <a:pPr algn="l"/>
              <a:r>
                <a:rPr sz="1400" b="0" i="0">
                  <a:solidFill>
                    <a:srgbClr val="595959"/>
                  </a:solidFill>
                  <a:latin typeface="Calibri"/>
                </a:rPr>
                <a:t>Russell and Norvig adopt the rational agent: it perceives its environment and acts to maximize the expected value of a performance measure. Intelligence becomes optimization, the view behind reinforcement learning in Week 6.</a:t>
              </a:r>
            </a:p>
          </p:txBody>
        </p:sp>
      </p:grpSp>
      <p:grpSp>
        <p:nvGrpSpPr>
          <p:cNvPr id="15" name="picture 2"/>
          <p:cNvGrpSpPr/>
          <p:nvPr/>
        </p:nvGrpSpPr>
        <p:grpSpPr>
          <a:xfrm>
            <a:off x="6812280" y="1554480"/>
            <a:ext cx="5120640" cy="1965960"/>
            <a:chOff x="6812280" y="1554480"/>
            <a:chExt cx="5120640" cy="1965960"/>
          </a:xfrm>
        </p:grpSpPr>
        <p:pic>
          <p:nvPicPr>
            <p:cNvPr id="16" name="Picture 15" descr="eq_legg.png"/>
            <p:cNvPicPr>
              <a:picLocks noChangeAspect="1"/>
            </p:cNvPicPr>
            <p:nvPr/>
          </p:nvPicPr>
          <p:blipFill>
            <a:blip r:embed="rId2"/>
            <a:stretch>
              <a:fillRect/>
            </a:stretch>
          </p:blipFill>
          <p:spPr>
            <a:xfrm>
              <a:off x="7726680" y="1554480"/>
              <a:ext cx="3291840" cy="929336"/>
            </a:xfrm>
            <a:prstGeom prst="rect">
              <a:avLst/>
            </a:prstGeom>
          </p:spPr>
        </p:pic>
        <p:sp>
          <p:nvSpPr>
            <p:cNvPr id="17" name="description"/>
            <p:cNvSpPr txBox="1"/>
            <p:nvPr/>
          </p:nvSpPr>
          <p:spPr>
            <a:xfrm>
              <a:off x="6812280" y="2606040"/>
              <a:ext cx="5120640" cy="914400"/>
            </a:xfrm>
            <a:prstGeom prst="rect">
              <a:avLst/>
            </a:prstGeom>
            <a:noFill/>
          </p:spPr>
          <p:txBody>
            <a:bodyPr wrap="square" anchor="t" lIns="0" rIns="0" tIns="0" bIns="0">
              <a:spAutoFit/>
            </a:bodyPr>
            <a:lstStyle/>
            <a:p>
              <a:pPr algn="l"/>
              <a:r>
                <a:rPr sz="1400" b="0" i="0">
                  <a:solidFill>
                    <a:srgbClr val="595959"/>
                  </a:solidFill>
                  <a:latin typeface="Calibri"/>
                </a:rPr>
                <a:t>V: the agent's expected performance in environment μ. K(μ): the length of the shortest program for μ, so simple environments count most. It captures an intuition, but it is incomputable, so it cannot be a benchmark (§A.1).</a:t>
              </a:r>
            </a:p>
          </p:txBody>
        </p:sp>
      </p:grpSp>
      <p:grpSp>
        <p:nvGrpSpPr>
          <p:cNvPr id="18" name="picture 3"/>
          <p:cNvGrpSpPr/>
          <p:nvPr/>
        </p:nvGrpSpPr>
        <p:grpSpPr>
          <a:xfrm>
            <a:off x="6629400" y="1371600"/>
            <a:ext cx="5486400" cy="2891349"/>
            <a:chOff x="6629400" y="1371600"/>
            <a:chExt cx="5486400" cy="2891349"/>
          </a:xfrm>
        </p:grpSpPr>
        <p:pic>
          <p:nvPicPr>
            <p:cNvPr id="19" name="Picture 18" descr="arc_puzzle.png"/>
            <p:cNvPicPr>
              <a:picLocks noChangeAspect="1"/>
            </p:cNvPicPr>
            <p:nvPr/>
          </p:nvPicPr>
          <p:blipFill>
            <a:blip r:embed="rId3"/>
            <a:stretch>
              <a:fillRect/>
            </a:stretch>
          </p:blipFill>
          <p:spPr>
            <a:xfrm>
              <a:off x="6812280" y="1371600"/>
              <a:ext cx="5120640" cy="1611189"/>
            </a:xfrm>
            <a:prstGeom prst="rect">
              <a:avLst/>
            </a:prstGeom>
          </p:spPr>
        </p:pic>
        <p:sp>
          <p:nvSpPr>
            <p:cNvPr id="20" name="TextBox 19"/>
            <p:cNvSpPr txBox="1"/>
            <p:nvPr/>
          </p:nvSpPr>
          <p:spPr>
            <a:xfrm>
              <a:off x="6629400" y="3028509"/>
              <a:ext cx="5486400" cy="274320"/>
            </a:xfrm>
            <a:prstGeom prst="rect">
              <a:avLst/>
            </a:prstGeom>
            <a:noFill/>
          </p:spPr>
          <p:txBody>
            <a:bodyPr wrap="square" anchor="t" lIns="0" rIns="0" tIns="0" bIns="0">
              <a:spAutoFit/>
            </a:bodyPr>
            <a:lstStyle/>
            <a:p>
              <a:pPr algn="ctr"/>
              <a:r>
                <a:rPr sz="1200" b="0" i="0">
                  <a:solidFill>
                    <a:srgbClr val="595959"/>
                  </a:solidFill>
                  <a:latin typeface="Calibri"/>
                </a:rPr>
                <a:t>an ARC-style puzzle: two examples, then a new input</a:t>
              </a:r>
            </a:p>
          </p:txBody>
        </p:sp>
        <p:sp>
          <p:nvSpPr>
            <p:cNvPr id="21" name="description"/>
            <p:cNvSpPr txBox="1"/>
            <p:nvPr/>
          </p:nvSpPr>
          <p:spPr>
            <a:xfrm>
              <a:off x="6812280" y="3439989"/>
              <a:ext cx="5120640" cy="822960"/>
            </a:xfrm>
            <a:prstGeom prst="rect">
              <a:avLst/>
            </a:prstGeom>
            <a:noFill/>
          </p:spPr>
          <p:txBody>
            <a:bodyPr wrap="square" anchor="t" lIns="0" rIns="0" tIns="0" bIns="0">
              <a:spAutoFit/>
            </a:bodyPr>
            <a:lstStyle/>
            <a:p>
              <a:pPr algn="l"/>
              <a:r>
                <a:rPr sz="1400" b="0" i="0">
                  <a:solidFill>
                    <a:srgbClr val="595959"/>
                  </a:solidFill>
                  <a:latin typeface="Calibri"/>
                </a:rPr>
                <a:t>A language model trained on much of the written record may show great skill on a benchmark; that says little about how efficiently it learns.</a:t>
              </a:r>
            </a:p>
          </p:txBody>
        </p:sp>
      </p:grpSp>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4">
                                            <p:txEl>
                                              <p:pRg st="0" end="0"/>
                                            </p:txEl>
                                          </p:spTgt>
                                        </p:tgtEl>
                                        <p:attrNameLst>
                                          <p:attrName>style.visibility</p:attrName>
                                        </p:attrNameLst>
                                      </p:cBhvr>
                                      <p:to>
                                        <p:strVal val="visible"/>
                                      </p:to>
                                    </p:set>
                                  </p:childTnLst>
                                </p:cTn>
                              </p:par>
                              <p:par>
                                <p:cTn id="7" presetID="1" presetClass="entr" presetSubtype="0" fill="hold" grpId="0" nodeType="withEffect">
                                  <p:stCondLst>
                                    <p:cond delay="0"/>
                                  </p:stCondLst>
                                  <p:childTnLst>
                                    <p:set>
                                      <p:cBhvr>
                                        <p:cTn id="8" dur="1" fill="hold">
                                          <p:stCondLst>
                                            <p:cond delay="0"/>
                                          </p:stCondLst>
                                        </p:cTn>
                                        <p:tgtEl>
                                          <p:spTgt spid="5"/>
                                        </p:tgtEl>
                                        <p:attrNameLst>
                                          <p:attrName>style.visibility</p:attrName>
                                        </p:attrNameLst>
                                      </p:cBhvr>
                                      <p:to>
                                        <p:strVal val="visible"/>
                                      </p:to>
                                    </p:set>
                                  </p:childTnLst>
                                </p:cTn>
                              </p:par>
                            </p:childTnLst>
                          </p:cTn>
                        </p:par>
                      </p:childTnLst>
                    </p:cTn>
                  </p:par>
                  <p:par>
                    <p:cTn id="9" fill="hold">
                      <p:stCondLst>
                        <p:cond delay="indefinite"/>
                      </p:stCondLst>
                      <p:childTnLst>
                        <p:par>
                          <p:cTn id="10" fill="hold">
                            <p:stCondLst>
                              <p:cond delay="0"/>
                            </p:stCondLst>
                            <p:childTnLst>
                              <p:par>
                                <p:cTn id="11" presetID="1" presetClass="entr" presetSubtype="0" fill="hold" grpId="0" nodeType="clickEffect">
                                  <p:stCondLst>
                                    <p:cond delay="0"/>
                                  </p:stCondLst>
                                  <p:childTnLst>
                                    <p:set>
                                      <p:cBhvr>
                                        <p:cTn id="12" dur="1" fill="hold">
                                          <p:stCondLst>
                                            <p:cond delay="0"/>
                                          </p:stCondLst>
                                        </p:cTn>
                                        <p:tgtEl>
                                          <p:spTgt spid="4">
                                            <p:txEl>
                                              <p:pRg st="1" end="1"/>
                                            </p:txEl>
                                          </p:spTgt>
                                        </p:tgtEl>
                                        <p:attrNameLst>
                                          <p:attrName>style.visibility</p:attrName>
                                        </p:attrNameLst>
                                      </p:cBhvr>
                                      <p:to>
                                        <p:strVal val="visible"/>
                                      </p:to>
                                    </p:set>
                                  </p:childTnLst>
                                </p:cTn>
                              </p:par>
                              <p:par>
                                <p:cTn id="13" presetID="1" presetClass="entr" presetSubtype="0" fill="hold" grpId="0" nodeType="withEffect">
                                  <p:stCondLst>
                                    <p:cond delay="0"/>
                                  </p:stCondLst>
                                  <p:childTnLst>
                                    <p:set>
                                      <p:cBhvr>
                                        <p:cTn id="14" dur="1" fill="hold">
                                          <p:stCondLst>
                                            <p:cond delay="0"/>
                                          </p:stCondLst>
                                        </p:cTn>
                                        <p:tgtEl>
                                          <p:spTgt spid="15"/>
                                        </p:tgtEl>
                                        <p:attrNameLst>
                                          <p:attrName>style.visibility</p:attrName>
                                        </p:attrNameLst>
                                      </p:cBhvr>
                                      <p:to>
                                        <p:strVal val="visible"/>
                                      </p:to>
                                    </p:set>
                                  </p:childTnLst>
                                </p:cTn>
                              </p:par>
                              <p:par>
                                <p:cTn id="15" presetID="1" presetClass="exit" presetSubtype="0" fill="hold" grpId="1" nodeType="withEffect">
                                  <p:stCondLst>
                                    <p:cond delay="0"/>
                                  </p:stCondLst>
                                  <p:childTnLst>
                                    <p:set>
                                      <p:cBhvr>
                                        <p:cTn id="16" dur="1" fill="hold">
                                          <p:stCondLst>
                                            <p:cond delay="0"/>
                                          </p:stCondLst>
                                        </p:cTn>
                                        <p:tgtEl>
                                          <p:spTgt spid="5"/>
                                        </p:tgtEl>
                                        <p:attrNameLst>
                                          <p:attrName>style.visibility</p:attrName>
                                        </p:attrNameLst>
                                      </p:cBhvr>
                                      <p:to>
                                        <p:strVal val="hidden"/>
                                      </p:to>
                                    </p:set>
                                  </p:childTnLst>
                                </p:cTn>
                              </p:par>
                            </p:childTnLst>
                          </p:cTn>
                        </p:par>
                      </p:childTnLst>
                    </p:cTn>
                  </p:par>
                  <p:par>
                    <p:cTn id="17" fill="hold">
                      <p:stCondLst>
                        <p:cond delay="indefinite"/>
                      </p:stCondLst>
                      <p:childTnLst>
                        <p:par>
                          <p:cTn id="18" fill="hold">
                            <p:stCondLst>
                              <p:cond delay="0"/>
                            </p:stCondLst>
                            <p:childTnLst>
                              <p:par>
                                <p:cTn id="19" presetID="1" presetClass="entr" presetSubtype="0" fill="hold" grpId="0" nodeType="clickEffect">
                                  <p:stCondLst>
                                    <p:cond delay="0"/>
                                  </p:stCondLst>
                                  <p:childTnLst>
                                    <p:set>
                                      <p:cBhvr>
                                        <p:cTn id="20" dur="1" fill="hold">
                                          <p:stCondLst>
                                            <p:cond delay="0"/>
                                          </p:stCondLst>
                                        </p:cTn>
                                        <p:tgtEl>
                                          <p:spTgt spid="4">
                                            <p:txEl>
                                              <p:pRg st="2" end="2"/>
                                            </p:txEl>
                                          </p:spTgt>
                                        </p:tgtEl>
                                        <p:attrNameLst>
                                          <p:attrName>style.visibility</p:attrName>
                                        </p:attrNameLst>
                                      </p:cBhvr>
                                      <p:to>
                                        <p:strVal val="visible"/>
                                      </p:to>
                                    </p:set>
                                  </p:childTnLst>
                                </p:cTn>
                              </p:par>
                              <p:par>
                                <p:cTn id="21" presetID="1" presetClass="entr" presetSubtype="0" fill="hold" grpId="0" nodeType="withEffect">
                                  <p:stCondLst>
                                    <p:cond delay="0"/>
                                  </p:stCondLst>
                                  <p:childTnLst>
                                    <p:set>
                                      <p:cBhvr>
                                        <p:cTn id="22" dur="1" fill="hold">
                                          <p:stCondLst>
                                            <p:cond delay="0"/>
                                          </p:stCondLst>
                                        </p:cTn>
                                        <p:tgtEl>
                                          <p:spTgt spid="18"/>
                                        </p:tgtEl>
                                        <p:attrNameLst>
                                          <p:attrName>style.visibility</p:attrName>
                                        </p:attrNameLst>
                                      </p:cBhvr>
                                      <p:to>
                                        <p:strVal val="visible"/>
                                      </p:to>
                                    </p:set>
                                  </p:childTnLst>
                                </p:cTn>
                              </p:par>
                              <p:par>
                                <p:cTn id="23" presetID="1" presetClass="exit" presetSubtype="0" fill="hold" grpId="1" nodeType="withEffect">
                                  <p:stCondLst>
                                    <p:cond delay="0"/>
                                  </p:stCondLst>
                                  <p:childTnLst>
                                    <p:set>
                                      <p:cBhvr>
                                        <p:cTn id="24" dur="1" fill="hold">
                                          <p:stCondLst>
                                            <p:cond delay="0"/>
                                          </p:stCondLst>
                                        </p:cTn>
                                        <p:tgtEl>
                                          <p:spTgt spid="15"/>
                                        </p:tgtEl>
                                        <p:attrNameLst>
                                          <p:attrName>style.visibility</p:attrName>
                                        </p:attrNameLst>
                                      </p:cBhvr>
                                      <p:to>
                                        <p:strVal val="hidden"/>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4" grpId="0" build="p"/>
    </p:bldLst>
  </p:timing>
</p:sld>
</file>

<file path=ppt/slides/slide4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b0_2">
            <a:extLst>
              <a:ext uri="{FF2B5EF4-FFF2-40B4-BE49-F238E27FC236}">
                <a16:creationId xmlns:a16="http://schemas.microsoft.com/office/drawing/2014/main" id="{33DE8782-7F2B-1033-00F6-2A6652EE0E80}"/>
              </a:ext>
            </a:extLst>
          </p:cNvPr>
          <p:cNvSpPr txBox="1"/>
          <p:nvPr/>
        </p:nvSpPr>
        <p:spPr>
          <a:xfrm>
            <a:off x="0" y="148566"/>
            <a:ext cx="11680992" cy="548640"/>
          </a:xfrm>
          <a:prstGeom prst="rect">
            <a:avLst/>
          </a:prstGeom>
          <a:noFill/>
          <a:ln>
            <a:noFill/>
          </a:ln>
        </p:spPr>
        <p:txBody>
          <a:bodyPr wrap="square" rtlCol="0" anchor="ctr"/>
          <a:lstStyle/>
          <a:p>
            <a:r>
              <a:rPr lang="en-US" sz="3200" b="1" dirty="0">
                <a:solidFill>
                  <a:srgbClr val="000000"/>
                </a:solidFill>
                <a:latin typeface="Calibri" pitchFamily="34" charset="0"/>
                <a:ea typeface="Calibri" pitchFamily="34" charset="-122"/>
                <a:cs typeface="Calibri" pitchFamily="34" charset="-120"/>
              </a:rPr>
              <a:t>Understanding </a:t>
            </a:r>
            <a:r>
              <a:rPr lang="en-US" sz="3200" b="1" dirty="0">
                <a:solidFill>
                  <a:srgbClr val="FF0000"/>
                </a:solidFill>
                <a:latin typeface="Calibri" pitchFamily="34" charset="0"/>
                <a:ea typeface="Calibri" pitchFamily="34" charset="-122"/>
                <a:cs typeface="Calibri" pitchFamily="34" charset="-120"/>
              </a:rPr>
              <a:t>Intelligence</a:t>
            </a:r>
            <a:endParaRPr lang="en-US" sz="3200" dirty="0">
              <a:solidFill>
                <a:srgbClr val="362FEC"/>
              </a:solidFill>
            </a:endParaRPr>
          </a:p>
        </p:txBody>
      </p:sp>
      <p:sp>
        <p:nvSpPr>
          <p:cNvPr id="3" name="subheading">
            <a:extLst>
              <a:ext uri="{FF2B5EF4-FFF2-40B4-BE49-F238E27FC236}">
                <a16:creationId xmlns:a16="http://schemas.microsoft.com/office/drawing/2014/main" id="{5CB8A4AA-40B1-94AE-8EEE-080599481F78}"/>
              </a:ext>
            </a:extLst>
          </p:cNvPr>
          <p:cNvSpPr txBox="1"/>
          <p:nvPr/>
        </p:nvSpPr>
        <p:spPr>
          <a:xfrm>
            <a:off x="292608" y="868680"/>
            <a:ext cx="11430000" cy="411480"/>
          </a:xfrm>
          <a:prstGeom prst="rect">
            <a:avLst/>
          </a:prstGeom>
          <a:noFill/>
          <a:ln>
            <a:noFill/>
          </a:ln>
        </p:spPr>
        <p:txBody>
          <a:bodyPr wrap="square" lIns="0" tIns="0" rIns="0" bIns="0" rtlCol="0" anchor="ctr"/>
          <a:lstStyle/>
          <a:p>
            <a:pPr marL="0" indent="0">
              <a:buNone/>
            </a:pPr>
            <a:r>
              <a:rPr lang="en-US" sz="2000" b="1" dirty="0">
                <a:solidFill>
                  <a:srgbClr val="362FEC"/>
                </a:solidFill>
                <a:latin typeface="Calibri" panose="020F0502020204030204" pitchFamily="34" charset="0"/>
                <a:cs typeface="Calibri" panose="020F0502020204030204" pitchFamily="34" charset="0"/>
              </a:rPr>
              <a:t>The bitter lesson</a:t>
            </a:r>
          </a:p>
        </p:txBody>
      </p:sp>
      <p:sp>
        <p:nvSpPr>
          <p:cNvPr id="4" name="points"/>
          <p:cNvSpPr txBox="1"/>
          <p:nvPr/>
        </p:nvSpPr>
        <p:spPr>
          <a:xfrm>
            <a:off x="384048" y="1417320"/>
            <a:ext cx="6126480" cy="5166360"/>
          </a:xfrm>
          <a:prstGeom prst="rect">
            <a:avLst/>
          </a:prstGeom>
          <a:noFill/>
        </p:spPr>
        <p:txBody>
          <a:bodyPr wrap="square" lIns="0" rIns="0" tIns="0" bIns="0">
            <a:spAutoFit/>
          </a:bodyPr>
          <a:lstStyle/>
          <a:p>
            <a:pPr algn="l">
              <a:spcAft>
                <a:spcPts val="1800"/>
              </a:spcAft>
            </a:pPr>
            <a:r>
              <a:rPr sz="2000" b="1" i="0">
                <a:solidFill>
                  <a:srgbClr val="00B050"/>
                </a:solidFill>
                <a:latin typeface="Calibri"/>
              </a:rPr>
              <a:t>2019  </a:t>
            </a:r>
            <a:r>
              <a:rPr sz="2000" b="1" i="0">
                <a:solidFill>
                  <a:srgbClr val="000000"/>
                </a:solidFill>
                <a:latin typeface="Calibri"/>
              </a:rPr>
              <a:t>Sutton: </a:t>
            </a:r>
            <a:r>
              <a:rPr sz="2000" b="0" i="0">
                <a:solidFill>
                  <a:srgbClr val="000000"/>
                </a:solidFill>
                <a:latin typeface="Calibri"/>
              </a:rPr>
              <a:t>across seventy years of AI, general methods that exploit computation, search and learning, eventually beat methods that build in human knowledge. Empirical, not a theorem; structure still matters.</a:t>
            </a:r>
          </a:p>
          <a:p>
            <a:pPr algn="l">
              <a:spcAft>
                <a:spcPts val="1800"/>
              </a:spcAft>
            </a:pPr>
            <a:r>
              <a:rPr sz="2000" b="1" i="0">
                <a:solidFill>
                  <a:srgbClr val="FF0000"/>
                </a:solidFill>
                <a:latin typeface="Calibri"/>
              </a:rPr>
              <a:t>2025  </a:t>
            </a:r>
            <a:r>
              <a:rPr sz="2000" b="1" i="0">
                <a:solidFill>
                  <a:srgbClr val="000000"/>
                </a:solidFill>
                <a:latin typeface="Calibri"/>
              </a:rPr>
              <a:t>Sutton: </a:t>
            </a:r>
            <a:r>
              <a:rPr sz="2000" b="0" i="0">
                <a:solidFill>
                  <a:srgbClr val="000000"/>
                </a:solidFill>
                <a:latin typeface="Calibri"/>
              </a:rPr>
              <a:t>language models learn from text that humans wrote, not from their own experience; systems that learn from experience will overtake them.</a:t>
            </a:r>
          </a:p>
        </p:txBody>
      </p:sp>
      <p:grpSp>
        <p:nvGrpSpPr>
          <p:cNvPr id="5" name="picture 1"/>
          <p:cNvGrpSpPr/>
          <p:nvPr/>
        </p:nvGrpSpPr>
        <p:grpSpPr>
          <a:xfrm>
            <a:off x="6812280" y="1371600"/>
            <a:ext cx="5120640" cy="4041648"/>
            <a:chOff x="6812280" y="1371600"/>
            <a:chExt cx="5120640" cy="4041648"/>
          </a:xfrm>
        </p:grpSpPr>
        <p:pic>
          <p:nvPicPr>
            <p:cNvPr id="6" name="Picture 5" descr="image.png"/>
            <p:cNvPicPr>
              <a:picLocks noChangeAspect="1"/>
            </p:cNvPicPr>
            <p:nvPr/>
          </p:nvPicPr>
          <p:blipFill>
            <a:blip r:embed="rId2"/>
            <a:stretch>
              <a:fillRect/>
            </a:stretch>
          </p:blipFill>
          <p:spPr>
            <a:xfrm>
              <a:off x="7114601" y="1371600"/>
              <a:ext cx="4515996" cy="3108960"/>
            </a:xfrm>
            <a:prstGeom prst="rect">
              <a:avLst/>
            </a:prstGeom>
          </p:spPr>
        </p:pic>
        <p:sp>
          <p:nvSpPr>
            <p:cNvPr id="7" name="description"/>
            <p:cNvSpPr txBox="1"/>
            <p:nvPr/>
          </p:nvSpPr>
          <p:spPr>
            <a:xfrm>
              <a:off x="6812280" y="4590288"/>
              <a:ext cx="5120640" cy="822960"/>
            </a:xfrm>
            <a:prstGeom prst="rect">
              <a:avLst/>
            </a:prstGeom>
            <a:noFill/>
          </p:spPr>
          <p:txBody>
            <a:bodyPr wrap="square" anchor="t" lIns="0" rIns="0" tIns="0" bIns="0">
              <a:spAutoFit/>
            </a:bodyPr>
            <a:lstStyle/>
            <a:p>
              <a:pPr algn="l"/>
              <a:r>
                <a:rPr sz="1400" b="0" i="0">
                  <a:solidFill>
                    <a:srgbClr val="595959"/>
                  </a:solidFill>
                  <a:latin typeface="Calibri"/>
                </a:rPr>
                <a:t>From hand-written grammars to n-grams to neural models trained on trillions of tokens. The Transformer is itself a carefully designed structure; Weeks 3 and 4 ask which choices matter at scale.</a:t>
              </a:r>
            </a:p>
          </p:txBody>
        </p:sp>
      </p:grpSp>
      <p:grpSp>
        <p:nvGrpSpPr>
          <p:cNvPr id="8" name="picture 2"/>
          <p:cNvGrpSpPr/>
          <p:nvPr/>
        </p:nvGrpSpPr>
        <p:grpSpPr>
          <a:xfrm>
            <a:off x="6629400" y="1371600"/>
            <a:ext cx="5486400" cy="4023360"/>
            <a:chOff x="6629400" y="1371600"/>
            <a:chExt cx="5486400" cy="4023360"/>
          </a:xfrm>
        </p:grpSpPr>
        <p:pic>
          <p:nvPicPr>
            <p:cNvPr id="9" name="Picture 8" descr="image.jpg"/>
            <p:cNvPicPr>
              <a:picLocks noChangeAspect="1"/>
            </p:cNvPicPr>
            <p:nvPr/>
          </p:nvPicPr>
          <p:blipFill>
            <a:blip r:embed="rId3"/>
            <a:stretch>
              <a:fillRect/>
            </a:stretch>
          </p:blipFill>
          <p:spPr>
            <a:xfrm>
              <a:off x="6934200" y="1371600"/>
              <a:ext cx="4876800" cy="2743200"/>
            </a:xfrm>
            <a:prstGeom prst="rect">
              <a:avLst/>
            </a:prstGeom>
          </p:spPr>
        </p:pic>
        <p:sp>
          <p:nvSpPr>
            <p:cNvPr id="10" name="TextBox 9"/>
            <p:cNvSpPr txBox="1"/>
            <p:nvPr/>
          </p:nvSpPr>
          <p:spPr>
            <a:xfrm>
              <a:off x="6629400" y="4160520"/>
              <a:ext cx="5486400" cy="274320"/>
            </a:xfrm>
            <a:prstGeom prst="rect">
              <a:avLst/>
            </a:prstGeom>
            <a:noFill/>
          </p:spPr>
          <p:txBody>
            <a:bodyPr wrap="square" anchor="t" lIns="0" rIns="0" tIns="0" bIns="0">
              <a:spAutoFit/>
            </a:bodyPr>
            <a:lstStyle/>
            <a:p>
              <a:pPr algn="ctr"/>
              <a:r>
                <a:rPr sz="1200" b="0" i="0">
                  <a:solidFill>
                    <a:srgbClr val="595959"/>
                  </a:solidFill>
                  <a:latin typeface="Calibri"/>
                </a:rPr>
                <a:t>Richard Sutton on the Dwarkesh Podcast (2025)</a:t>
              </a:r>
            </a:p>
          </p:txBody>
        </p:sp>
        <p:sp>
          <p:nvSpPr>
            <p:cNvPr id="11" name="description"/>
            <p:cNvSpPr txBox="1"/>
            <p:nvPr/>
          </p:nvSpPr>
          <p:spPr>
            <a:xfrm>
              <a:off x="6812280" y="4572000"/>
              <a:ext cx="5120640" cy="822960"/>
            </a:xfrm>
            <a:prstGeom prst="rect">
              <a:avLst/>
            </a:prstGeom>
            <a:noFill/>
          </p:spPr>
          <p:txBody>
            <a:bodyPr wrap="square" anchor="t" lIns="0" rIns="0" tIns="0" bIns="0">
              <a:spAutoFit/>
            </a:bodyPr>
            <a:lstStyle/>
            <a:p>
              <a:pPr algn="l"/>
              <a:r>
                <a:rPr sz="1400" b="0" i="0">
                  <a:solidFill>
                    <a:srgbClr val="595959"/>
                  </a:solidFill>
                  <a:latin typeface="Calibri"/>
                </a:rPr>
                <a:t>Keep this in mind in Weeks 6 and 7, where language models do learn from rewards for their own outputs.</a:t>
              </a:r>
            </a:p>
          </p:txBody>
        </p:sp>
      </p:grpSp>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4">
                                            <p:txEl>
                                              <p:pRg st="0" end="0"/>
                                            </p:txEl>
                                          </p:spTgt>
                                        </p:tgtEl>
                                        <p:attrNameLst>
                                          <p:attrName>style.visibility</p:attrName>
                                        </p:attrNameLst>
                                      </p:cBhvr>
                                      <p:to>
                                        <p:strVal val="visible"/>
                                      </p:to>
                                    </p:set>
                                  </p:childTnLst>
                                </p:cTn>
                              </p:par>
                              <p:par>
                                <p:cTn id="7" presetID="1" presetClass="entr" presetSubtype="0" fill="hold" grpId="0" nodeType="withEffect">
                                  <p:stCondLst>
                                    <p:cond delay="0"/>
                                  </p:stCondLst>
                                  <p:childTnLst>
                                    <p:set>
                                      <p:cBhvr>
                                        <p:cTn id="8" dur="1" fill="hold">
                                          <p:stCondLst>
                                            <p:cond delay="0"/>
                                          </p:stCondLst>
                                        </p:cTn>
                                        <p:tgtEl>
                                          <p:spTgt spid="5"/>
                                        </p:tgtEl>
                                        <p:attrNameLst>
                                          <p:attrName>style.visibility</p:attrName>
                                        </p:attrNameLst>
                                      </p:cBhvr>
                                      <p:to>
                                        <p:strVal val="visible"/>
                                      </p:to>
                                    </p:set>
                                  </p:childTnLst>
                                </p:cTn>
                              </p:par>
                            </p:childTnLst>
                          </p:cTn>
                        </p:par>
                      </p:childTnLst>
                    </p:cTn>
                  </p:par>
                  <p:par>
                    <p:cTn id="9" fill="hold">
                      <p:stCondLst>
                        <p:cond delay="indefinite"/>
                      </p:stCondLst>
                      <p:childTnLst>
                        <p:par>
                          <p:cTn id="10" fill="hold">
                            <p:stCondLst>
                              <p:cond delay="0"/>
                            </p:stCondLst>
                            <p:childTnLst>
                              <p:par>
                                <p:cTn id="11" presetID="1" presetClass="entr" presetSubtype="0" fill="hold" grpId="0" nodeType="clickEffect">
                                  <p:stCondLst>
                                    <p:cond delay="0"/>
                                  </p:stCondLst>
                                  <p:childTnLst>
                                    <p:set>
                                      <p:cBhvr>
                                        <p:cTn id="12" dur="1" fill="hold">
                                          <p:stCondLst>
                                            <p:cond delay="0"/>
                                          </p:stCondLst>
                                        </p:cTn>
                                        <p:tgtEl>
                                          <p:spTgt spid="4">
                                            <p:txEl>
                                              <p:pRg st="1" end="1"/>
                                            </p:txEl>
                                          </p:spTgt>
                                        </p:tgtEl>
                                        <p:attrNameLst>
                                          <p:attrName>style.visibility</p:attrName>
                                        </p:attrNameLst>
                                      </p:cBhvr>
                                      <p:to>
                                        <p:strVal val="visible"/>
                                      </p:to>
                                    </p:set>
                                  </p:childTnLst>
                                </p:cTn>
                              </p:par>
                              <p:par>
                                <p:cTn id="13" presetID="1" presetClass="entr" presetSubtype="0" fill="hold" grpId="0" nodeType="withEffect">
                                  <p:stCondLst>
                                    <p:cond delay="0"/>
                                  </p:stCondLst>
                                  <p:childTnLst>
                                    <p:set>
                                      <p:cBhvr>
                                        <p:cTn id="14" dur="1" fill="hold">
                                          <p:stCondLst>
                                            <p:cond delay="0"/>
                                          </p:stCondLst>
                                        </p:cTn>
                                        <p:tgtEl>
                                          <p:spTgt spid="8"/>
                                        </p:tgtEl>
                                        <p:attrNameLst>
                                          <p:attrName>style.visibility</p:attrName>
                                        </p:attrNameLst>
                                      </p:cBhvr>
                                      <p:to>
                                        <p:strVal val="visible"/>
                                      </p:to>
                                    </p:set>
                                  </p:childTnLst>
                                </p:cTn>
                              </p:par>
                              <p:par>
                                <p:cTn id="15" presetID="1" presetClass="exit" presetSubtype="0" fill="hold" grpId="1" nodeType="withEffect">
                                  <p:stCondLst>
                                    <p:cond delay="0"/>
                                  </p:stCondLst>
                                  <p:childTnLst>
                                    <p:set>
                                      <p:cBhvr>
                                        <p:cTn id="16" dur="1" fill="hold">
                                          <p:stCondLst>
                                            <p:cond delay="0"/>
                                          </p:stCondLst>
                                        </p:cTn>
                                        <p:tgtEl>
                                          <p:spTgt spid="5"/>
                                        </p:tgtEl>
                                        <p:attrNameLst>
                                          <p:attrName>style.visibility</p:attrName>
                                        </p:attrNameLst>
                                      </p:cBhvr>
                                      <p:to>
                                        <p:strVal val="hidden"/>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4" grpId="0" build="p"/>
    </p:bldLst>
  </p:timing>
</p:sld>
</file>

<file path=ppt/slides/slide4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b0_2">
            <a:extLst>
              <a:ext uri="{FF2B5EF4-FFF2-40B4-BE49-F238E27FC236}">
                <a16:creationId xmlns:a16="http://schemas.microsoft.com/office/drawing/2014/main" id="{33DE8782-7F2B-1033-00F6-2A6652EE0E80}"/>
              </a:ext>
            </a:extLst>
          </p:cNvPr>
          <p:cNvSpPr txBox="1"/>
          <p:nvPr/>
        </p:nvSpPr>
        <p:spPr>
          <a:xfrm>
            <a:off x="0" y="148566"/>
            <a:ext cx="11680992" cy="548640"/>
          </a:xfrm>
          <a:prstGeom prst="rect">
            <a:avLst/>
          </a:prstGeom>
          <a:noFill/>
          <a:ln>
            <a:noFill/>
          </a:ln>
        </p:spPr>
        <p:txBody>
          <a:bodyPr wrap="square" rtlCol="0" anchor="ctr"/>
          <a:lstStyle/>
          <a:p>
            <a:r>
              <a:rPr lang="en-US" sz="3200" b="1" dirty="0">
                <a:solidFill>
                  <a:srgbClr val="000000"/>
                </a:solidFill>
                <a:latin typeface="Calibri" pitchFamily="34" charset="0"/>
                <a:ea typeface="Calibri" pitchFamily="34" charset="-122"/>
                <a:cs typeface="Calibri" pitchFamily="34" charset="-120"/>
              </a:rPr>
              <a:t>Understanding </a:t>
            </a:r>
            <a:r>
              <a:rPr lang="en-US" sz="3200" b="1" dirty="0">
                <a:solidFill>
                  <a:srgbClr val="00B050"/>
                </a:solidFill>
                <a:latin typeface="Calibri" pitchFamily="34" charset="0"/>
                <a:ea typeface="Calibri" pitchFamily="34" charset="-122"/>
                <a:cs typeface="Calibri" pitchFamily="34" charset="-120"/>
              </a:rPr>
              <a:t>Learning</a:t>
            </a:r>
            <a:endParaRPr lang="en-US" sz="3200" dirty="0">
              <a:solidFill>
                <a:srgbClr val="362FEC"/>
              </a:solidFill>
            </a:endParaRPr>
          </a:p>
        </p:txBody>
      </p:sp>
      <p:sp>
        <p:nvSpPr>
          <p:cNvPr id="3" name="subheading">
            <a:extLst>
              <a:ext uri="{FF2B5EF4-FFF2-40B4-BE49-F238E27FC236}">
                <a16:creationId xmlns:a16="http://schemas.microsoft.com/office/drawing/2014/main" id="{5CB8A4AA-40B1-94AE-8EEE-080599481F78}"/>
              </a:ext>
            </a:extLst>
          </p:cNvPr>
          <p:cNvSpPr txBox="1"/>
          <p:nvPr/>
        </p:nvSpPr>
        <p:spPr>
          <a:xfrm>
            <a:off x="292608" y="868680"/>
            <a:ext cx="11430000" cy="411480"/>
          </a:xfrm>
          <a:prstGeom prst="rect">
            <a:avLst/>
          </a:prstGeom>
          <a:noFill/>
          <a:ln>
            <a:noFill/>
          </a:ln>
        </p:spPr>
        <p:txBody>
          <a:bodyPr wrap="square" lIns="0" tIns="0" rIns="0" bIns="0" rtlCol="0" anchor="ctr"/>
          <a:lstStyle/>
          <a:p>
            <a:pPr marL="0" indent="0">
              <a:buNone/>
            </a:pPr>
            <a:r>
              <a:rPr lang="en-US" sz="2000" b="1" dirty="0">
                <a:solidFill>
                  <a:srgbClr val="362FEC"/>
                </a:solidFill>
                <a:latin typeface="Calibri" panose="020F0502020204030204" pitchFamily="34" charset="0"/>
                <a:cs typeface="Calibri" panose="020F0502020204030204" pitchFamily="34" charset="0"/>
              </a:rPr>
              <a:t>The problem of induction</a:t>
            </a:r>
          </a:p>
        </p:txBody>
      </p:sp>
      <p:sp>
        <p:nvSpPr>
          <p:cNvPr id="4" name="points"/>
          <p:cNvSpPr txBox="1"/>
          <p:nvPr/>
        </p:nvSpPr>
        <p:spPr>
          <a:xfrm>
            <a:off x="384048" y="1417320"/>
            <a:ext cx="6126480" cy="5166360"/>
          </a:xfrm>
          <a:prstGeom prst="rect">
            <a:avLst/>
          </a:prstGeom>
          <a:noFill/>
        </p:spPr>
        <p:txBody>
          <a:bodyPr wrap="square" lIns="0" rIns="0" tIns="0" bIns="0">
            <a:spAutoFit/>
          </a:bodyPr>
          <a:lstStyle/>
          <a:p>
            <a:pPr algn="l">
              <a:spcAft>
                <a:spcPts val="1200"/>
              </a:spcAft>
            </a:pPr>
            <a:r>
              <a:rPr sz="1800" b="1" i="0">
                <a:solidFill>
                  <a:srgbClr val="FF0000"/>
                </a:solidFill>
                <a:latin typeface="Calibri"/>
              </a:rPr>
              <a:t>1748  </a:t>
            </a:r>
            <a:r>
              <a:rPr sz="1800" b="1" i="0">
                <a:solidFill>
                  <a:srgbClr val="000000"/>
                </a:solidFill>
                <a:latin typeface="Calibri"/>
              </a:rPr>
              <a:t>Hume: </a:t>
            </a:r>
            <a:r>
              <a:rPr sz="1800" b="0" i="0">
                <a:solidFill>
                  <a:srgbClr val="000000"/>
                </a:solidFill>
                <a:latin typeface="Calibri"/>
              </a:rPr>
              <a:t>no argument from experience shows that the unseen will resemble the seen, without assuming the regularity it sets out to prove.</a:t>
            </a:r>
          </a:p>
          <a:p>
            <a:pPr algn="l">
              <a:spcAft>
                <a:spcPts val="1200"/>
              </a:spcAft>
            </a:pPr>
            <a:r>
              <a:rPr sz="1800" b="1" i="0">
                <a:solidFill>
                  <a:srgbClr val="362FEC"/>
                </a:solidFill>
                <a:latin typeface="Calibri"/>
              </a:rPr>
              <a:t>No free lunch</a:t>
            </a:r>
            <a:r>
              <a:rPr sz="1800" b="0" i="0">
                <a:solidFill>
                  <a:srgbClr val="000000"/>
                </a:solidFill>
                <a:latin typeface="Calibri"/>
              </a:rPr>
              <a:t>: if every labeling is equally likely, every learner has expected error 1/2 on the unseen points.</a:t>
            </a:r>
          </a:p>
          <a:p>
            <a:pPr algn="l">
              <a:spcAft>
                <a:spcPts val="1200"/>
              </a:spcAft>
            </a:pPr>
            <a:r>
              <a:rPr sz="1800" b="1" i="0">
                <a:solidFill>
                  <a:srgbClr val="00B050"/>
                </a:solidFill>
                <a:latin typeface="Calibri"/>
              </a:rPr>
              <a:t>Inductive bias</a:t>
            </a:r>
            <a:r>
              <a:rPr sz="1800" b="0" i="0">
                <a:solidFill>
                  <a:srgbClr val="000000"/>
                </a:solidFill>
                <a:latin typeface="Calibri"/>
              </a:rPr>
              <a:t>: learning works because real functions are simple: smooth, compositional. A learner succeeds by preferring them.</a:t>
            </a:r>
          </a:p>
        </p:txBody>
      </p:sp>
      <p:grpSp>
        <p:nvGrpSpPr>
          <p:cNvPr id="5" name="picture 1"/>
          <p:cNvGrpSpPr/>
          <p:nvPr/>
        </p:nvGrpSpPr>
        <p:grpSpPr>
          <a:xfrm>
            <a:off x="6629400" y="1371600"/>
            <a:ext cx="5486400" cy="4572000"/>
            <a:chOff x="6629400" y="1371600"/>
            <a:chExt cx="5486400" cy="4572000"/>
          </a:xfrm>
        </p:grpSpPr>
        <p:pic>
          <p:nvPicPr>
            <p:cNvPr id="6" name="Picture 5" descr="hume.jpg"/>
            <p:cNvPicPr>
              <a:picLocks noChangeAspect="1"/>
            </p:cNvPicPr>
            <p:nvPr/>
          </p:nvPicPr>
          <p:blipFill>
            <a:blip r:embed="rId2"/>
            <a:stretch>
              <a:fillRect/>
            </a:stretch>
          </p:blipFill>
          <p:spPr>
            <a:xfrm>
              <a:off x="8029803" y="1371600"/>
              <a:ext cx="2685592" cy="3291840"/>
            </a:xfrm>
            <a:prstGeom prst="rect">
              <a:avLst/>
            </a:prstGeom>
          </p:spPr>
        </p:pic>
        <p:sp>
          <p:nvSpPr>
            <p:cNvPr id="7" name="TextBox 6"/>
            <p:cNvSpPr txBox="1"/>
            <p:nvPr/>
          </p:nvSpPr>
          <p:spPr>
            <a:xfrm>
              <a:off x="6629400" y="4709159"/>
              <a:ext cx="5486400" cy="274320"/>
            </a:xfrm>
            <a:prstGeom prst="rect">
              <a:avLst/>
            </a:prstGeom>
            <a:noFill/>
          </p:spPr>
          <p:txBody>
            <a:bodyPr wrap="square" anchor="t" lIns="0" rIns="0" tIns="0" bIns="0">
              <a:spAutoFit/>
            </a:bodyPr>
            <a:lstStyle/>
            <a:p>
              <a:pPr algn="ctr"/>
              <a:r>
                <a:rPr sz="1200" b="0" i="0">
                  <a:solidFill>
                    <a:srgbClr val="595959"/>
                  </a:solidFill>
                  <a:latin typeface="Calibri"/>
                </a:rPr>
                <a:t>David Hume, by Allan Ramsay (1766)</a:t>
              </a:r>
            </a:p>
          </p:txBody>
        </p:sp>
        <p:sp>
          <p:nvSpPr>
            <p:cNvPr id="8" name="description"/>
            <p:cNvSpPr txBox="1"/>
            <p:nvPr/>
          </p:nvSpPr>
          <p:spPr>
            <a:xfrm>
              <a:off x="6812280" y="5120640"/>
              <a:ext cx="5120640" cy="822960"/>
            </a:xfrm>
            <a:prstGeom prst="rect">
              <a:avLst/>
            </a:prstGeom>
            <a:noFill/>
          </p:spPr>
          <p:txBody>
            <a:bodyPr wrap="square" anchor="t" lIns="0" rIns="0" tIns="0" bIns="0">
              <a:spAutoFit/>
            </a:bodyPr>
            <a:lstStyle/>
            <a:p>
              <a:pPr algn="l"/>
              <a:r>
                <a:rPr sz="1400" b="0" i="0">
                  <a:solidFill>
                    <a:srgbClr val="595959"/>
                  </a:solidFill>
                  <a:latin typeface="Calibri"/>
                </a:rPr>
                <a:t>An Enquiry Concerning Human Understanding (1748).</a:t>
              </a:r>
            </a:p>
          </p:txBody>
        </p:sp>
      </p:grpSp>
      <p:grpSp>
        <p:nvGrpSpPr>
          <p:cNvPr id="9" name="picture 2"/>
          <p:cNvGrpSpPr/>
          <p:nvPr/>
        </p:nvGrpSpPr>
        <p:grpSpPr>
          <a:xfrm>
            <a:off x="6812280" y="1371600"/>
            <a:ext cx="5120640" cy="2029968"/>
            <a:chOff x="6812280" y="1371600"/>
            <a:chExt cx="5120640" cy="2029968"/>
          </a:xfrm>
        </p:grpSpPr>
        <p:pic>
          <p:nvPicPr>
            <p:cNvPr id="10" name="Picture 9" descr="nfl.png"/>
            <p:cNvPicPr>
              <a:picLocks noChangeAspect="1"/>
            </p:cNvPicPr>
            <p:nvPr/>
          </p:nvPicPr>
          <p:blipFill>
            <a:blip r:embed="rId3"/>
            <a:stretch>
              <a:fillRect/>
            </a:stretch>
          </p:blipFill>
          <p:spPr>
            <a:xfrm>
              <a:off x="7231894" y="1371600"/>
              <a:ext cx="4281411" cy="1097280"/>
            </a:xfrm>
            <a:prstGeom prst="rect">
              <a:avLst/>
            </a:prstGeom>
          </p:spPr>
        </p:pic>
        <p:sp>
          <p:nvSpPr>
            <p:cNvPr id="11" name="description"/>
            <p:cNvSpPr txBox="1"/>
            <p:nvPr/>
          </p:nvSpPr>
          <p:spPr>
            <a:xfrm>
              <a:off x="6812280" y="2578608"/>
              <a:ext cx="5120640" cy="822960"/>
            </a:xfrm>
            <a:prstGeom prst="rect">
              <a:avLst/>
            </a:prstGeom>
            <a:noFill/>
          </p:spPr>
          <p:txBody>
            <a:bodyPr wrap="square" anchor="t" lIns="0" rIns="0" tIns="0" bIns="0">
              <a:spAutoFit/>
            </a:bodyPr>
            <a:lstStyle/>
            <a:p>
              <a:pPr algn="l"/>
              <a:r>
                <a:rPr sz="1400" b="0" i="0">
                  <a:solidFill>
                    <a:srgbClr val="595959"/>
                  </a:solidFill>
                  <a:latin typeface="Calibri"/>
                </a:rPr>
                <a:t>After seeing the labels of any subset, each unseen label is still a fair coin, independent of everything seen.</a:t>
              </a:r>
            </a:p>
          </p:txBody>
        </p:sp>
      </p:grpSp>
      <p:grpSp>
        <p:nvGrpSpPr>
          <p:cNvPr id="12" name="picture 3"/>
          <p:cNvGrpSpPr/>
          <p:nvPr/>
        </p:nvGrpSpPr>
        <p:grpSpPr>
          <a:xfrm>
            <a:off x="6812280" y="1371600"/>
            <a:ext cx="5120640" cy="4133088"/>
            <a:chOff x="6812280" y="1371600"/>
            <a:chExt cx="5120640" cy="4133088"/>
          </a:xfrm>
        </p:grpSpPr>
        <p:pic>
          <p:nvPicPr>
            <p:cNvPr id="13" name="Picture 12" descr="image.png"/>
            <p:cNvPicPr>
              <a:picLocks noChangeAspect="1"/>
            </p:cNvPicPr>
            <p:nvPr/>
          </p:nvPicPr>
          <p:blipFill>
            <a:blip r:embed="rId4"/>
            <a:stretch>
              <a:fillRect/>
            </a:stretch>
          </p:blipFill>
          <p:spPr>
            <a:xfrm>
              <a:off x="7151293" y="1371600"/>
              <a:ext cx="4442613" cy="3200400"/>
            </a:xfrm>
            <a:prstGeom prst="rect">
              <a:avLst/>
            </a:prstGeom>
          </p:spPr>
        </p:pic>
        <p:sp>
          <p:nvSpPr>
            <p:cNvPr id="14" name="description"/>
            <p:cNvSpPr txBox="1"/>
            <p:nvPr/>
          </p:nvSpPr>
          <p:spPr>
            <a:xfrm>
              <a:off x="6812280" y="4681728"/>
              <a:ext cx="5120640" cy="822960"/>
            </a:xfrm>
            <a:prstGeom prst="rect">
              <a:avLst/>
            </a:prstGeom>
            <a:noFill/>
          </p:spPr>
          <p:txBody>
            <a:bodyPr wrap="square" anchor="t" lIns="0" rIns="0" tIns="0" bIns="0">
              <a:spAutoFit/>
            </a:bodyPr>
            <a:lstStyle/>
            <a:p>
              <a:pPr algn="l"/>
              <a:r>
                <a:rPr sz="1400" b="0" i="0">
                  <a:solidFill>
                    <a:srgbClr val="595959"/>
                  </a:solidFill>
                  <a:latin typeface="Calibri"/>
                </a:rPr>
                <a:t>In a language model the inductive bias lives in the tokenizer, the architecture, the optimizer, the order of the data, and the objective.</a:t>
              </a:r>
            </a:p>
          </p:txBody>
        </p:sp>
      </p:grpSp>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4">
                                            <p:txEl>
                                              <p:pRg st="0" end="0"/>
                                            </p:txEl>
                                          </p:spTgt>
                                        </p:tgtEl>
                                        <p:attrNameLst>
                                          <p:attrName>style.visibility</p:attrName>
                                        </p:attrNameLst>
                                      </p:cBhvr>
                                      <p:to>
                                        <p:strVal val="visible"/>
                                      </p:to>
                                    </p:set>
                                  </p:childTnLst>
                                </p:cTn>
                              </p:par>
                              <p:par>
                                <p:cTn id="7" presetID="1" presetClass="entr" presetSubtype="0" fill="hold" grpId="0" nodeType="withEffect">
                                  <p:stCondLst>
                                    <p:cond delay="0"/>
                                  </p:stCondLst>
                                  <p:childTnLst>
                                    <p:set>
                                      <p:cBhvr>
                                        <p:cTn id="8" dur="1" fill="hold">
                                          <p:stCondLst>
                                            <p:cond delay="0"/>
                                          </p:stCondLst>
                                        </p:cTn>
                                        <p:tgtEl>
                                          <p:spTgt spid="5"/>
                                        </p:tgtEl>
                                        <p:attrNameLst>
                                          <p:attrName>style.visibility</p:attrName>
                                        </p:attrNameLst>
                                      </p:cBhvr>
                                      <p:to>
                                        <p:strVal val="visible"/>
                                      </p:to>
                                    </p:set>
                                  </p:childTnLst>
                                </p:cTn>
                              </p:par>
                            </p:childTnLst>
                          </p:cTn>
                        </p:par>
                      </p:childTnLst>
                    </p:cTn>
                  </p:par>
                  <p:par>
                    <p:cTn id="9" fill="hold">
                      <p:stCondLst>
                        <p:cond delay="indefinite"/>
                      </p:stCondLst>
                      <p:childTnLst>
                        <p:par>
                          <p:cTn id="10" fill="hold">
                            <p:stCondLst>
                              <p:cond delay="0"/>
                            </p:stCondLst>
                            <p:childTnLst>
                              <p:par>
                                <p:cTn id="11" presetID="1" presetClass="entr" presetSubtype="0" fill="hold" grpId="0" nodeType="clickEffect">
                                  <p:stCondLst>
                                    <p:cond delay="0"/>
                                  </p:stCondLst>
                                  <p:childTnLst>
                                    <p:set>
                                      <p:cBhvr>
                                        <p:cTn id="12" dur="1" fill="hold">
                                          <p:stCondLst>
                                            <p:cond delay="0"/>
                                          </p:stCondLst>
                                        </p:cTn>
                                        <p:tgtEl>
                                          <p:spTgt spid="4">
                                            <p:txEl>
                                              <p:pRg st="1" end="1"/>
                                            </p:txEl>
                                          </p:spTgt>
                                        </p:tgtEl>
                                        <p:attrNameLst>
                                          <p:attrName>style.visibility</p:attrName>
                                        </p:attrNameLst>
                                      </p:cBhvr>
                                      <p:to>
                                        <p:strVal val="visible"/>
                                      </p:to>
                                    </p:set>
                                  </p:childTnLst>
                                </p:cTn>
                              </p:par>
                              <p:par>
                                <p:cTn id="13" presetID="1" presetClass="entr" presetSubtype="0" fill="hold" grpId="0" nodeType="withEffect">
                                  <p:stCondLst>
                                    <p:cond delay="0"/>
                                  </p:stCondLst>
                                  <p:childTnLst>
                                    <p:set>
                                      <p:cBhvr>
                                        <p:cTn id="14" dur="1" fill="hold">
                                          <p:stCondLst>
                                            <p:cond delay="0"/>
                                          </p:stCondLst>
                                        </p:cTn>
                                        <p:tgtEl>
                                          <p:spTgt spid="9"/>
                                        </p:tgtEl>
                                        <p:attrNameLst>
                                          <p:attrName>style.visibility</p:attrName>
                                        </p:attrNameLst>
                                      </p:cBhvr>
                                      <p:to>
                                        <p:strVal val="visible"/>
                                      </p:to>
                                    </p:set>
                                  </p:childTnLst>
                                </p:cTn>
                              </p:par>
                              <p:par>
                                <p:cTn id="15" presetID="1" presetClass="exit" presetSubtype="0" fill="hold" grpId="1" nodeType="withEffect">
                                  <p:stCondLst>
                                    <p:cond delay="0"/>
                                  </p:stCondLst>
                                  <p:childTnLst>
                                    <p:set>
                                      <p:cBhvr>
                                        <p:cTn id="16" dur="1" fill="hold">
                                          <p:stCondLst>
                                            <p:cond delay="0"/>
                                          </p:stCondLst>
                                        </p:cTn>
                                        <p:tgtEl>
                                          <p:spTgt spid="5"/>
                                        </p:tgtEl>
                                        <p:attrNameLst>
                                          <p:attrName>style.visibility</p:attrName>
                                        </p:attrNameLst>
                                      </p:cBhvr>
                                      <p:to>
                                        <p:strVal val="hidden"/>
                                      </p:to>
                                    </p:set>
                                  </p:childTnLst>
                                </p:cTn>
                              </p:par>
                            </p:childTnLst>
                          </p:cTn>
                        </p:par>
                      </p:childTnLst>
                    </p:cTn>
                  </p:par>
                  <p:par>
                    <p:cTn id="17" fill="hold">
                      <p:stCondLst>
                        <p:cond delay="indefinite"/>
                      </p:stCondLst>
                      <p:childTnLst>
                        <p:par>
                          <p:cTn id="18" fill="hold">
                            <p:stCondLst>
                              <p:cond delay="0"/>
                            </p:stCondLst>
                            <p:childTnLst>
                              <p:par>
                                <p:cTn id="19" presetID="1" presetClass="entr" presetSubtype="0" fill="hold" grpId="0" nodeType="clickEffect">
                                  <p:stCondLst>
                                    <p:cond delay="0"/>
                                  </p:stCondLst>
                                  <p:childTnLst>
                                    <p:set>
                                      <p:cBhvr>
                                        <p:cTn id="20" dur="1" fill="hold">
                                          <p:stCondLst>
                                            <p:cond delay="0"/>
                                          </p:stCondLst>
                                        </p:cTn>
                                        <p:tgtEl>
                                          <p:spTgt spid="4">
                                            <p:txEl>
                                              <p:pRg st="2" end="2"/>
                                            </p:txEl>
                                          </p:spTgt>
                                        </p:tgtEl>
                                        <p:attrNameLst>
                                          <p:attrName>style.visibility</p:attrName>
                                        </p:attrNameLst>
                                      </p:cBhvr>
                                      <p:to>
                                        <p:strVal val="visible"/>
                                      </p:to>
                                    </p:set>
                                  </p:childTnLst>
                                </p:cTn>
                              </p:par>
                              <p:par>
                                <p:cTn id="21" presetID="1" presetClass="entr" presetSubtype="0" fill="hold" grpId="0" nodeType="withEffect">
                                  <p:stCondLst>
                                    <p:cond delay="0"/>
                                  </p:stCondLst>
                                  <p:childTnLst>
                                    <p:set>
                                      <p:cBhvr>
                                        <p:cTn id="22" dur="1" fill="hold">
                                          <p:stCondLst>
                                            <p:cond delay="0"/>
                                          </p:stCondLst>
                                        </p:cTn>
                                        <p:tgtEl>
                                          <p:spTgt spid="12"/>
                                        </p:tgtEl>
                                        <p:attrNameLst>
                                          <p:attrName>style.visibility</p:attrName>
                                        </p:attrNameLst>
                                      </p:cBhvr>
                                      <p:to>
                                        <p:strVal val="visible"/>
                                      </p:to>
                                    </p:set>
                                  </p:childTnLst>
                                </p:cTn>
                              </p:par>
                              <p:par>
                                <p:cTn id="23" presetID="1" presetClass="exit" presetSubtype="0" fill="hold" grpId="1" nodeType="withEffect">
                                  <p:stCondLst>
                                    <p:cond delay="0"/>
                                  </p:stCondLst>
                                  <p:childTnLst>
                                    <p:set>
                                      <p:cBhvr>
                                        <p:cTn id="24" dur="1" fill="hold">
                                          <p:stCondLst>
                                            <p:cond delay="0"/>
                                          </p:stCondLst>
                                        </p:cTn>
                                        <p:tgtEl>
                                          <p:spTgt spid="9"/>
                                        </p:tgtEl>
                                        <p:attrNameLst>
                                          <p:attrName>style.visibility</p:attrName>
                                        </p:attrNameLst>
                                      </p:cBhvr>
                                      <p:to>
                                        <p:strVal val="hidden"/>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4" grpId="0" build="p"/>
    </p:bldLst>
  </p:timing>
</p:sld>
</file>

<file path=ppt/slides/slide4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b0_2">
            <a:extLst>
              <a:ext uri="{FF2B5EF4-FFF2-40B4-BE49-F238E27FC236}">
                <a16:creationId xmlns:a16="http://schemas.microsoft.com/office/drawing/2014/main" id="{33DE8782-7F2B-1033-00F6-2A6652EE0E80}"/>
              </a:ext>
            </a:extLst>
          </p:cNvPr>
          <p:cNvSpPr txBox="1"/>
          <p:nvPr/>
        </p:nvSpPr>
        <p:spPr>
          <a:xfrm>
            <a:off x="0" y="148566"/>
            <a:ext cx="11680992" cy="548640"/>
          </a:xfrm>
          <a:prstGeom prst="rect">
            <a:avLst/>
          </a:prstGeom>
          <a:noFill/>
          <a:ln>
            <a:noFill/>
          </a:ln>
        </p:spPr>
        <p:txBody>
          <a:bodyPr wrap="square" rtlCol="0" anchor="ctr"/>
          <a:lstStyle/>
          <a:p>
            <a:r>
              <a:rPr lang="en-US" sz="3200" b="1" dirty="0">
                <a:solidFill>
                  <a:srgbClr val="000000"/>
                </a:solidFill>
                <a:latin typeface="Calibri" pitchFamily="34" charset="0"/>
                <a:ea typeface="Calibri" pitchFamily="34" charset="-122"/>
                <a:cs typeface="Calibri" pitchFamily="34" charset="-120"/>
              </a:rPr>
              <a:t>Understanding </a:t>
            </a:r>
            <a:r>
              <a:rPr lang="en-US" sz="3200" b="1" dirty="0">
                <a:solidFill>
                  <a:srgbClr val="00B050"/>
                </a:solidFill>
                <a:latin typeface="Calibri" pitchFamily="34" charset="0"/>
                <a:ea typeface="Calibri" pitchFamily="34" charset="-122"/>
                <a:cs typeface="Calibri" pitchFamily="34" charset="-120"/>
              </a:rPr>
              <a:t>Learning</a:t>
            </a:r>
            <a:endParaRPr lang="en-US" sz="3200" dirty="0">
              <a:solidFill>
                <a:srgbClr val="362FEC"/>
              </a:solidFill>
            </a:endParaRPr>
          </a:p>
        </p:txBody>
      </p:sp>
      <p:sp>
        <p:nvSpPr>
          <p:cNvPr id="3" name="subheading">
            <a:extLst>
              <a:ext uri="{FF2B5EF4-FFF2-40B4-BE49-F238E27FC236}">
                <a16:creationId xmlns:a16="http://schemas.microsoft.com/office/drawing/2014/main" id="{5CB8A4AA-40B1-94AE-8EEE-080599481F78}"/>
              </a:ext>
            </a:extLst>
          </p:cNvPr>
          <p:cNvSpPr txBox="1"/>
          <p:nvPr/>
        </p:nvSpPr>
        <p:spPr>
          <a:xfrm>
            <a:off x="292608" y="868680"/>
            <a:ext cx="11430000" cy="411480"/>
          </a:xfrm>
          <a:prstGeom prst="rect">
            <a:avLst/>
          </a:prstGeom>
          <a:noFill/>
          <a:ln>
            <a:noFill/>
          </a:ln>
        </p:spPr>
        <p:txBody>
          <a:bodyPr wrap="square" lIns="0" tIns="0" rIns="0" bIns="0" rtlCol="0" anchor="ctr"/>
          <a:lstStyle/>
          <a:p>
            <a:pPr marL="0" indent="0">
              <a:buNone/>
            </a:pPr>
            <a:r>
              <a:rPr lang="en-US" sz="2000" b="1" dirty="0">
                <a:solidFill>
                  <a:srgbClr val="362FEC"/>
                </a:solidFill>
                <a:latin typeface="Calibri" panose="020F0502020204030204" pitchFamily="34" charset="0"/>
                <a:cs typeface="Calibri" panose="020F0502020204030204" pitchFamily="34" charset="0"/>
              </a:rPr>
              <a:t>From the perceptron to deep learning</a:t>
            </a:r>
          </a:p>
        </p:txBody>
      </p:sp>
      <p:sp>
        <p:nvSpPr>
          <p:cNvPr id="4" name="points"/>
          <p:cNvSpPr txBox="1"/>
          <p:nvPr/>
        </p:nvSpPr>
        <p:spPr>
          <a:xfrm>
            <a:off x="384048" y="1417320"/>
            <a:ext cx="6126480" cy="5166360"/>
          </a:xfrm>
          <a:prstGeom prst="rect">
            <a:avLst/>
          </a:prstGeom>
          <a:noFill/>
        </p:spPr>
        <p:txBody>
          <a:bodyPr wrap="square" lIns="0" rIns="0" tIns="0" bIns="0">
            <a:spAutoFit/>
          </a:bodyPr>
          <a:lstStyle/>
          <a:p>
            <a:pPr algn="l">
              <a:spcAft>
                <a:spcPts val="1000"/>
              </a:spcAft>
            </a:pPr>
            <a:r>
              <a:rPr sz="1800" b="1" i="0">
                <a:solidFill>
                  <a:srgbClr val="362FEC"/>
                </a:solidFill>
                <a:latin typeface="Calibri"/>
              </a:rPr>
              <a:t>The perceptron</a:t>
            </a:r>
            <a:r>
              <a:rPr sz="1800" b="0" i="0">
                <a:solidFill>
                  <a:srgbClr val="000000"/>
                </a:solidFill>
                <a:latin typeface="Calibri"/>
              </a:rPr>
              <a:t>: classify by the sign of a weighted sum; on each mistake, add the example to the weights.</a:t>
            </a:r>
          </a:p>
          <a:p>
            <a:pPr algn="l">
              <a:spcAft>
                <a:spcPts val="1000"/>
              </a:spcAft>
            </a:pPr>
            <a:r>
              <a:rPr sz="1800" b="1" i="0">
                <a:solidFill>
                  <a:srgbClr val="00B050"/>
                </a:solidFill>
                <a:latin typeface="Calibri"/>
              </a:rPr>
              <a:t>Novikoff (1962)</a:t>
            </a:r>
            <a:r>
              <a:rPr sz="1800" b="0" i="0">
                <a:solidFill>
                  <a:srgbClr val="000000"/>
                </a:solidFill>
                <a:latin typeface="Calibri"/>
              </a:rPr>
              <a:t>: if a margin γ separates the data and inputs have norm at most R, it makes at most (R/γ)² mistakes, whatever the dimension.</a:t>
            </a:r>
          </a:p>
          <a:p>
            <a:pPr algn="l">
              <a:spcAft>
                <a:spcPts val="1000"/>
              </a:spcAft>
            </a:pPr>
            <a:r>
              <a:rPr sz="1800" b="1" i="0">
                <a:solidFill>
                  <a:srgbClr val="FF0000"/>
                </a:solidFill>
                <a:latin typeface="Calibri"/>
              </a:rPr>
              <a:t>One unit draws one line</a:t>
            </a:r>
            <a:r>
              <a:rPr sz="1800" b="0" i="0">
                <a:solidFill>
                  <a:srgbClr val="000000"/>
                </a:solidFill>
                <a:latin typeface="Calibri"/>
              </a:rPr>
              <a:t>: exclusive or is out of reach.</a:t>
            </a:r>
          </a:p>
          <a:p>
            <a:pPr algn="l">
              <a:spcAft>
                <a:spcPts val="1000"/>
              </a:spcAft>
            </a:pPr>
            <a:r>
              <a:rPr sz="1800" b="1" i="0">
                <a:solidFill>
                  <a:srgbClr val="00B050"/>
                </a:solidFill>
                <a:latin typeface="Calibri"/>
              </a:rPr>
              <a:t>Stack units</a:t>
            </a:r>
            <a:r>
              <a:rPr sz="1800" b="0" i="0">
                <a:solidFill>
                  <a:srgbClr val="000000"/>
                </a:solidFill>
                <a:latin typeface="Calibri"/>
              </a:rPr>
              <a:t>: two hidden units each draw a line; the output unit weighs their votes.</a:t>
            </a:r>
          </a:p>
          <a:p>
            <a:pPr algn="l">
              <a:spcAft>
                <a:spcPts val="1000"/>
              </a:spcAft>
            </a:pPr>
            <a:r>
              <a:rPr sz="1800" b="1" i="0">
                <a:solidFill>
                  <a:srgbClr val="362FEC"/>
                </a:solidFill>
                <a:latin typeface="Calibri"/>
              </a:rPr>
              <a:t>Backpropagation</a:t>
            </a:r>
            <a:r>
              <a:rPr sz="1800" b="0" i="0">
                <a:solidFill>
                  <a:srgbClr val="000000"/>
                </a:solidFill>
                <a:latin typeface="Calibri"/>
              </a:rPr>
              <a:t>: hidden units have no targets. Make every unit differentiable and follow the gradient: the chain rule assigns the blame.</a:t>
            </a:r>
          </a:p>
        </p:txBody>
      </p:sp>
      <p:grpSp>
        <p:nvGrpSpPr>
          <p:cNvPr id="5" name="picture 1"/>
          <p:cNvGrpSpPr/>
          <p:nvPr/>
        </p:nvGrpSpPr>
        <p:grpSpPr>
          <a:xfrm>
            <a:off x="6995160" y="1371600"/>
            <a:ext cx="4754880" cy="3749040"/>
            <a:chOff x="6995160" y="1371600"/>
            <a:chExt cx="4754880" cy="3749040"/>
          </a:xfrm>
        </p:grpSpPr>
        <p:pic>
          <p:nvPicPr>
            <p:cNvPr id="6" name="Picture 5" descr="eq_perceptron.png"/>
            <p:cNvPicPr>
              <a:picLocks noChangeAspect="1"/>
            </p:cNvPicPr>
            <p:nvPr/>
          </p:nvPicPr>
          <p:blipFill>
            <a:blip r:embed="rId2"/>
            <a:stretch>
              <a:fillRect/>
            </a:stretch>
          </p:blipFill>
          <p:spPr>
            <a:xfrm>
              <a:off x="6995160" y="1371600"/>
              <a:ext cx="4754880" cy="326315"/>
            </a:xfrm>
            <a:prstGeom prst="rect">
              <a:avLst/>
            </a:prstGeom>
          </p:spPr>
        </p:pic>
        <p:pic>
          <p:nvPicPr>
            <p:cNvPr id="7" name="Picture 6" descr="perceptron_margin.png"/>
            <p:cNvPicPr>
              <a:picLocks noChangeAspect="1"/>
            </p:cNvPicPr>
            <p:nvPr/>
          </p:nvPicPr>
          <p:blipFill>
            <a:blip r:embed="rId3"/>
            <a:stretch>
              <a:fillRect/>
            </a:stretch>
          </p:blipFill>
          <p:spPr>
            <a:xfrm>
              <a:off x="7818120" y="2011680"/>
              <a:ext cx="3108959" cy="3108960"/>
            </a:xfrm>
            <a:prstGeom prst="rect">
              <a:avLst/>
            </a:prstGeom>
          </p:spPr>
        </p:pic>
      </p:grpSp>
      <p:grpSp>
        <p:nvGrpSpPr>
          <p:cNvPr id="8" name="picture 2"/>
          <p:cNvGrpSpPr/>
          <p:nvPr/>
        </p:nvGrpSpPr>
        <p:grpSpPr>
          <a:xfrm>
            <a:off x="6812280" y="1371600"/>
            <a:ext cx="5120640" cy="4343400"/>
            <a:chOff x="6812280" y="1371600"/>
            <a:chExt cx="5120640" cy="4343400"/>
          </a:xfrm>
        </p:grpSpPr>
        <p:pic>
          <p:nvPicPr>
            <p:cNvPr id="9" name="Picture 8" descr="eq_novikoff.png"/>
            <p:cNvPicPr>
              <a:picLocks noChangeAspect="1"/>
            </p:cNvPicPr>
            <p:nvPr/>
          </p:nvPicPr>
          <p:blipFill>
            <a:blip r:embed="rId4"/>
            <a:stretch>
              <a:fillRect/>
            </a:stretch>
          </p:blipFill>
          <p:spPr>
            <a:xfrm>
              <a:off x="6995160" y="1371600"/>
              <a:ext cx="4754880" cy="590659"/>
            </a:xfrm>
            <a:prstGeom prst="rect">
              <a:avLst/>
            </a:prstGeom>
          </p:spPr>
        </p:pic>
        <p:pic>
          <p:nvPicPr>
            <p:cNvPr id="10" name="Picture 9" descr="perceptron_margin.png"/>
            <p:cNvPicPr>
              <a:picLocks noChangeAspect="1"/>
            </p:cNvPicPr>
            <p:nvPr/>
          </p:nvPicPr>
          <p:blipFill>
            <a:blip r:embed="rId3"/>
            <a:stretch>
              <a:fillRect/>
            </a:stretch>
          </p:blipFill>
          <p:spPr>
            <a:xfrm>
              <a:off x="7863840" y="2103120"/>
              <a:ext cx="3017520" cy="3017520"/>
            </a:xfrm>
            <a:prstGeom prst="rect">
              <a:avLst/>
            </a:prstGeom>
          </p:spPr>
        </p:pic>
        <p:sp>
          <p:nvSpPr>
            <p:cNvPr id="11" name="description"/>
            <p:cNvSpPr txBox="1"/>
            <p:nvPr/>
          </p:nvSpPr>
          <p:spPr>
            <a:xfrm>
              <a:off x="6812280" y="5257800"/>
              <a:ext cx="5120640" cy="457200"/>
            </a:xfrm>
            <a:prstGeom prst="rect">
              <a:avLst/>
            </a:prstGeom>
            <a:noFill/>
          </p:spPr>
          <p:txBody>
            <a:bodyPr wrap="square" anchor="t" lIns="0" rIns="0" tIns="0" bIns="0">
              <a:spAutoFit/>
            </a:bodyPr>
            <a:lstStyle/>
            <a:p>
              <a:pPr algn="l"/>
              <a:r>
                <a:rPr sz="1400" b="0" i="0">
                  <a:solidFill>
                    <a:srgbClr val="595959"/>
                  </a:solidFill>
                  <a:latin typeface="Calibri"/>
                </a:rPr>
                <a:t>The bound depends on the geometry of the data, not on the dimension or the number of examples.</a:t>
              </a:r>
            </a:p>
          </p:txBody>
        </p:sp>
      </p:grpSp>
      <p:grpSp>
        <p:nvGrpSpPr>
          <p:cNvPr id="12" name="picture 3"/>
          <p:cNvGrpSpPr/>
          <p:nvPr/>
        </p:nvGrpSpPr>
        <p:grpSpPr>
          <a:xfrm>
            <a:off x="6812280" y="1371600"/>
            <a:ext cx="5120640" cy="4133088"/>
            <a:chOff x="6812280" y="1371600"/>
            <a:chExt cx="5120640" cy="4133088"/>
          </a:xfrm>
        </p:grpSpPr>
        <p:pic>
          <p:nvPicPr>
            <p:cNvPr id="13" name="Picture 12" descr="xor.png"/>
            <p:cNvPicPr>
              <a:picLocks noChangeAspect="1"/>
            </p:cNvPicPr>
            <p:nvPr/>
          </p:nvPicPr>
          <p:blipFill>
            <a:blip r:embed="rId5"/>
            <a:stretch>
              <a:fillRect/>
            </a:stretch>
          </p:blipFill>
          <p:spPr>
            <a:xfrm>
              <a:off x="7933850" y="1371600"/>
              <a:ext cx="2877498" cy="3200400"/>
            </a:xfrm>
            <a:prstGeom prst="rect">
              <a:avLst/>
            </a:prstGeom>
          </p:spPr>
        </p:pic>
        <p:sp>
          <p:nvSpPr>
            <p:cNvPr id="14" name="description"/>
            <p:cNvSpPr txBox="1"/>
            <p:nvPr/>
          </p:nvSpPr>
          <p:spPr>
            <a:xfrm>
              <a:off x="6812280" y="4681728"/>
              <a:ext cx="5120640" cy="822960"/>
            </a:xfrm>
            <a:prstGeom prst="rect">
              <a:avLst/>
            </a:prstGeom>
            <a:noFill/>
          </p:spPr>
          <p:txBody>
            <a:bodyPr wrap="square" anchor="t" lIns="0" rIns="0" tIns="0" bIns="0">
              <a:spAutoFit/>
            </a:bodyPr>
            <a:lstStyle/>
            <a:p>
              <a:pPr algn="l"/>
              <a:r>
                <a:rPr sz="1400" b="0" i="0">
                  <a:solidFill>
                    <a:srgbClr val="595959"/>
                  </a:solidFill>
                  <a:latin typeface="Calibri"/>
                </a:rPr>
                <a:t>(0, 1) and (1, 0) are positive, (0, 0) and (1, 1) negative: no line separates them.</a:t>
              </a:r>
            </a:p>
          </p:txBody>
        </p:sp>
      </p:grpSp>
      <p:grpSp>
        <p:nvGrpSpPr>
          <p:cNvPr id="15" name="picture 4"/>
          <p:cNvGrpSpPr/>
          <p:nvPr/>
        </p:nvGrpSpPr>
        <p:grpSpPr>
          <a:xfrm>
            <a:off x="6812280" y="1371600"/>
            <a:ext cx="5120640" cy="2564006"/>
            <a:chOff x="6812280" y="1371600"/>
            <a:chExt cx="5120640" cy="2564006"/>
          </a:xfrm>
        </p:grpSpPr>
        <p:pic>
          <p:nvPicPr>
            <p:cNvPr id="16" name="Picture 15" descr="xor-votes.png"/>
            <p:cNvPicPr>
              <a:picLocks noChangeAspect="1"/>
            </p:cNvPicPr>
            <p:nvPr/>
          </p:nvPicPr>
          <p:blipFill>
            <a:blip r:embed="rId6"/>
            <a:stretch>
              <a:fillRect/>
            </a:stretch>
          </p:blipFill>
          <p:spPr>
            <a:xfrm>
              <a:off x="6812280" y="1371600"/>
              <a:ext cx="5120640" cy="1631318"/>
            </a:xfrm>
            <a:prstGeom prst="rect">
              <a:avLst/>
            </a:prstGeom>
          </p:spPr>
        </p:pic>
        <p:sp>
          <p:nvSpPr>
            <p:cNvPr id="17" name="description"/>
            <p:cNvSpPr txBox="1"/>
            <p:nvPr/>
          </p:nvSpPr>
          <p:spPr>
            <a:xfrm>
              <a:off x="6812280" y="3112646"/>
              <a:ext cx="5120640" cy="822960"/>
            </a:xfrm>
            <a:prstGeom prst="rect">
              <a:avLst/>
            </a:prstGeom>
            <a:noFill/>
          </p:spPr>
          <p:txBody>
            <a:bodyPr wrap="square" anchor="t" lIns="0" rIns="0" tIns="0" bIns="0">
              <a:spAutoFit/>
            </a:bodyPr>
            <a:lstStyle/>
            <a:p>
              <a:pPr algn="l"/>
              <a:r>
                <a:rPr sz="1400" b="0" i="0">
                  <a:solidFill>
                    <a:srgbClr val="595959"/>
                  </a:solidFill>
                  <a:latin typeface="Calibri"/>
                </a:rPr>
                <a:t>The output unit labels a point positive when it lies on the positive side of both lines: a weighted vote over the units below.</a:t>
              </a:r>
            </a:p>
          </p:txBody>
        </p:sp>
      </p:grpSp>
      <p:grpSp>
        <p:nvGrpSpPr>
          <p:cNvPr id="18" name="picture 5"/>
          <p:cNvGrpSpPr/>
          <p:nvPr/>
        </p:nvGrpSpPr>
        <p:grpSpPr>
          <a:xfrm>
            <a:off x="6629400" y="1371600"/>
            <a:ext cx="5486400" cy="4297680"/>
            <a:chOff x="6629400" y="1371600"/>
            <a:chExt cx="5486400" cy="4297680"/>
          </a:xfrm>
        </p:grpSpPr>
        <p:pic>
          <p:nvPicPr>
            <p:cNvPr id="19" name="Picture 18" descr="mlp_backward.png"/>
            <p:cNvPicPr>
              <a:picLocks noChangeAspect="1"/>
            </p:cNvPicPr>
            <p:nvPr/>
          </p:nvPicPr>
          <p:blipFill>
            <a:blip r:embed="rId7"/>
            <a:stretch>
              <a:fillRect/>
            </a:stretch>
          </p:blipFill>
          <p:spPr>
            <a:xfrm>
              <a:off x="7225094" y="1371600"/>
              <a:ext cx="4295010" cy="3017520"/>
            </a:xfrm>
            <a:prstGeom prst="rect">
              <a:avLst/>
            </a:prstGeom>
          </p:spPr>
        </p:pic>
        <p:sp>
          <p:nvSpPr>
            <p:cNvPr id="20" name="TextBox 19"/>
            <p:cNvSpPr txBox="1"/>
            <p:nvPr/>
          </p:nvSpPr>
          <p:spPr>
            <a:xfrm>
              <a:off x="6629400" y="4434840"/>
              <a:ext cx="5486400" cy="274320"/>
            </a:xfrm>
            <a:prstGeom prst="rect">
              <a:avLst/>
            </a:prstGeom>
            <a:noFill/>
          </p:spPr>
          <p:txBody>
            <a:bodyPr wrap="square" anchor="t" lIns="0" rIns="0" tIns="0" bIns="0">
              <a:spAutoFit/>
            </a:bodyPr>
            <a:lstStyle/>
            <a:p>
              <a:pPr algn="ctr"/>
              <a:r>
                <a:rPr sz="1200" b="0" i="0">
                  <a:solidFill>
                    <a:srgbClr val="595959"/>
                  </a:solidFill>
                  <a:latin typeface="Calibri"/>
                </a:rPr>
                <a:t>Rumelhart, Hinton, and Williams (1986)</a:t>
              </a:r>
            </a:p>
          </p:txBody>
        </p:sp>
        <p:sp>
          <p:nvSpPr>
            <p:cNvPr id="21" name="description"/>
            <p:cNvSpPr txBox="1"/>
            <p:nvPr/>
          </p:nvSpPr>
          <p:spPr>
            <a:xfrm>
              <a:off x="6812280" y="4846320"/>
              <a:ext cx="5120640" cy="822960"/>
            </a:xfrm>
            <a:prstGeom prst="rect">
              <a:avLst/>
            </a:prstGeom>
            <a:noFill/>
          </p:spPr>
          <p:txBody>
            <a:bodyPr wrap="square" anchor="t" lIns="0" rIns="0" tIns="0" bIns="0">
              <a:spAutoFit/>
            </a:bodyPr>
            <a:lstStyle/>
            <a:p>
              <a:pPr algn="l"/>
              <a:r>
                <a:rPr sz="1400" b="0" i="0">
                  <a:solidFill>
                    <a:srgbClr val="595959"/>
                  </a:solidFill>
                  <a:latin typeface="Calibri"/>
                </a:rPr>
                <a:t>Replace the hard threshold by a smooth function such as the sigmoid; the gradient of the loss tells each hidden unit which way to move.</a:t>
              </a:r>
            </a:p>
          </p:txBody>
        </p:sp>
      </p:grpSp>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4">
                                            <p:txEl>
                                              <p:pRg st="0" end="0"/>
                                            </p:txEl>
                                          </p:spTgt>
                                        </p:tgtEl>
                                        <p:attrNameLst>
                                          <p:attrName>style.visibility</p:attrName>
                                        </p:attrNameLst>
                                      </p:cBhvr>
                                      <p:to>
                                        <p:strVal val="visible"/>
                                      </p:to>
                                    </p:set>
                                  </p:childTnLst>
                                </p:cTn>
                              </p:par>
                              <p:par>
                                <p:cTn id="7" presetID="1" presetClass="entr" presetSubtype="0" fill="hold" grpId="0" nodeType="withEffect">
                                  <p:stCondLst>
                                    <p:cond delay="0"/>
                                  </p:stCondLst>
                                  <p:childTnLst>
                                    <p:set>
                                      <p:cBhvr>
                                        <p:cTn id="8" dur="1" fill="hold">
                                          <p:stCondLst>
                                            <p:cond delay="0"/>
                                          </p:stCondLst>
                                        </p:cTn>
                                        <p:tgtEl>
                                          <p:spTgt spid="5"/>
                                        </p:tgtEl>
                                        <p:attrNameLst>
                                          <p:attrName>style.visibility</p:attrName>
                                        </p:attrNameLst>
                                      </p:cBhvr>
                                      <p:to>
                                        <p:strVal val="visible"/>
                                      </p:to>
                                    </p:set>
                                  </p:childTnLst>
                                </p:cTn>
                              </p:par>
                            </p:childTnLst>
                          </p:cTn>
                        </p:par>
                      </p:childTnLst>
                    </p:cTn>
                  </p:par>
                  <p:par>
                    <p:cTn id="9" fill="hold">
                      <p:stCondLst>
                        <p:cond delay="indefinite"/>
                      </p:stCondLst>
                      <p:childTnLst>
                        <p:par>
                          <p:cTn id="10" fill="hold">
                            <p:stCondLst>
                              <p:cond delay="0"/>
                            </p:stCondLst>
                            <p:childTnLst>
                              <p:par>
                                <p:cTn id="11" presetID="1" presetClass="entr" presetSubtype="0" fill="hold" grpId="0" nodeType="clickEffect">
                                  <p:stCondLst>
                                    <p:cond delay="0"/>
                                  </p:stCondLst>
                                  <p:childTnLst>
                                    <p:set>
                                      <p:cBhvr>
                                        <p:cTn id="12" dur="1" fill="hold">
                                          <p:stCondLst>
                                            <p:cond delay="0"/>
                                          </p:stCondLst>
                                        </p:cTn>
                                        <p:tgtEl>
                                          <p:spTgt spid="4">
                                            <p:txEl>
                                              <p:pRg st="1" end="1"/>
                                            </p:txEl>
                                          </p:spTgt>
                                        </p:tgtEl>
                                        <p:attrNameLst>
                                          <p:attrName>style.visibility</p:attrName>
                                        </p:attrNameLst>
                                      </p:cBhvr>
                                      <p:to>
                                        <p:strVal val="visible"/>
                                      </p:to>
                                    </p:set>
                                  </p:childTnLst>
                                </p:cTn>
                              </p:par>
                              <p:par>
                                <p:cTn id="13" presetID="1" presetClass="entr" presetSubtype="0" fill="hold" grpId="0" nodeType="withEffect">
                                  <p:stCondLst>
                                    <p:cond delay="0"/>
                                  </p:stCondLst>
                                  <p:childTnLst>
                                    <p:set>
                                      <p:cBhvr>
                                        <p:cTn id="14" dur="1" fill="hold">
                                          <p:stCondLst>
                                            <p:cond delay="0"/>
                                          </p:stCondLst>
                                        </p:cTn>
                                        <p:tgtEl>
                                          <p:spTgt spid="8"/>
                                        </p:tgtEl>
                                        <p:attrNameLst>
                                          <p:attrName>style.visibility</p:attrName>
                                        </p:attrNameLst>
                                      </p:cBhvr>
                                      <p:to>
                                        <p:strVal val="visible"/>
                                      </p:to>
                                    </p:set>
                                  </p:childTnLst>
                                </p:cTn>
                              </p:par>
                              <p:par>
                                <p:cTn id="15" presetID="1" presetClass="exit" presetSubtype="0" fill="hold" grpId="1" nodeType="withEffect">
                                  <p:stCondLst>
                                    <p:cond delay="0"/>
                                  </p:stCondLst>
                                  <p:childTnLst>
                                    <p:set>
                                      <p:cBhvr>
                                        <p:cTn id="16" dur="1" fill="hold">
                                          <p:stCondLst>
                                            <p:cond delay="0"/>
                                          </p:stCondLst>
                                        </p:cTn>
                                        <p:tgtEl>
                                          <p:spTgt spid="5"/>
                                        </p:tgtEl>
                                        <p:attrNameLst>
                                          <p:attrName>style.visibility</p:attrName>
                                        </p:attrNameLst>
                                      </p:cBhvr>
                                      <p:to>
                                        <p:strVal val="hidden"/>
                                      </p:to>
                                    </p:set>
                                  </p:childTnLst>
                                </p:cTn>
                              </p:par>
                            </p:childTnLst>
                          </p:cTn>
                        </p:par>
                      </p:childTnLst>
                    </p:cTn>
                  </p:par>
                  <p:par>
                    <p:cTn id="17" fill="hold">
                      <p:stCondLst>
                        <p:cond delay="indefinite"/>
                      </p:stCondLst>
                      <p:childTnLst>
                        <p:par>
                          <p:cTn id="18" fill="hold">
                            <p:stCondLst>
                              <p:cond delay="0"/>
                            </p:stCondLst>
                            <p:childTnLst>
                              <p:par>
                                <p:cTn id="19" presetID="1" presetClass="entr" presetSubtype="0" fill="hold" grpId="0" nodeType="clickEffect">
                                  <p:stCondLst>
                                    <p:cond delay="0"/>
                                  </p:stCondLst>
                                  <p:childTnLst>
                                    <p:set>
                                      <p:cBhvr>
                                        <p:cTn id="20" dur="1" fill="hold">
                                          <p:stCondLst>
                                            <p:cond delay="0"/>
                                          </p:stCondLst>
                                        </p:cTn>
                                        <p:tgtEl>
                                          <p:spTgt spid="4">
                                            <p:txEl>
                                              <p:pRg st="2" end="2"/>
                                            </p:txEl>
                                          </p:spTgt>
                                        </p:tgtEl>
                                        <p:attrNameLst>
                                          <p:attrName>style.visibility</p:attrName>
                                        </p:attrNameLst>
                                      </p:cBhvr>
                                      <p:to>
                                        <p:strVal val="visible"/>
                                      </p:to>
                                    </p:set>
                                  </p:childTnLst>
                                </p:cTn>
                              </p:par>
                              <p:par>
                                <p:cTn id="21" presetID="1" presetClass="entr" presetSubtype="0" fill="hold" grpId="0" nodeType="withEffect">
                                  <p:stCondLst>
                                    <p:cond delay="0"/>
                                  </p:stCondLst>
                                  <p:childTnLst>
                                    <p:set>
                                      <p:cBhvr>
                                        <p:cTn id="22" dur="1" fill="hold">
                                          <p:stCondLst>
                                            <p:cond delay="0"/>
                                          </p:stCondLst>
                                        </p:cTn>
                                        <p:tgtEl>
                                          <p:spTgt spid="12"/>
                                        </p:tgtEl>
                                        <p:attrNameLst>
                                          <p:attrName>style.visibility</p:attrName>
                                        </p:attrNameLst>
                                      </p:cBhvr>
                                      <p:to>
                                        <p:strVal val="visible"/>
                                      </p:to>
                                    </p:set>
                                  </p:childTnLst>
                                </p:cTn>
                              </p:par>
                              <p:par>
                                <p:cTn id="23" presetID="1" presetClass="exit" presetSubtype="0" fill="hold" grpId="1" nodeType="withEffect">
                                  <p:stCondLst>
                                    <p:cond delay="0"/>
                                  </p:stCondLst>
                                  <p:childTnLst>
                                    <p:set>
                                      <p:cBhvr>
                                        <p:cTn id="24" dur="1" fill="hold">
                                          <p:stCondLst>
                                            <p:cond delay="0"/>
                                          </p:stCondLst>
                                        </p:cTn>
                                        <p:tgtEl>
                                          <p:spTgt spid="8"/>
                                        </p:tgtEl>
                                        <p:attrNameLst>
                                          <p:attrName>style.visibility</p:attrName>
                                        </p:attrNameLst>
                                      </p:cBhvr>
                                      <p:to>
                                        <p:strVal val="hidden"/>
                                      </p:to>
                                    </p:set>
                                  </p:childTnLst>
                                </p:cTn>
                              </p:par>
                            </p:childTnLst>
                          </p:cTn>
                        </p:par>
                      </p:childTnLst>
                    </p:cTn>
                  </p:par>
                  <p:par>
                    <p:cTn id="25" fill="hold">
                      <p:stCondLst>
                        <p:cond delay="indefinite"/>
                      </p:stCondLst>
                      <p:childTnLst>
                        <p:par>
                          <p:cTn id="26" fill="hold">
                            <p:stCondLst>
                              <p:cond delay="0"/>
                            </p:stCondLst>
                            <p:childTnLst>
                              <p:par>
                                <p:cTn id="27" presetID="1" presetClass="entr" presetSubtype="0" fill="hold" grpId="0" nodeType="clickEffect">
                                  <p:stCondLst>
                                    <p:cond delay="0"/>
                                  </p:stCondLst>
                                  <p:childTnLst>
                                    <p:set>
                                      <p:cBhvr>
                                        <p:cTn id="28" dur="1" fill="hold">
                                          <p:stCondLst>
                                            <p:cond delay="0"/>
                                          </p:stCondLst>
                                        </p:cTn>
                                        <p:tgtEl>
                                          <p:spTgt spid="4">
                                            <p:txEl>
                                              <p:pRg st="3" end="3"/>
                                            </p:txEl>
                                          </p:spTgt>
                                        </p:tgtEl>
                                        <p:attrNameLst>
                                          <p:attrName>style.visibility</p:attrName>
                                        </p:attrNameLst>
                                      </p:cBhvr>
                                      <p:to>
                                        <p:strVal val="visible"/>
                                      </p:to>
                                    </p:set>
                                  </p:childTnLst>
                                </p:cTn>
                              </p:par>
                              <p:par>
                                <p:cTn id="29" presetID="1" presetClass="entr" presetSubtype="0" fill="hold" grpId="0" nodeType="withEffect">
                                  <p:stCondLst>
                                    <p:cond delay="0"/>
                                  </p:stCondLst>
                                  <p:childTnLst>
                                    <p:set>
                                      <p:cBhvr>
                                        <p:cTn id="30" dur="1" fill="hold">
                                          <p:stCondLst>
                                            <p:cond delay="0"/>
                                          </p:stCondLst>
                                        </p:cTn>
                                        <p:tgtEl>
                                          <p:spTgt spid="15"/>
                                        </p:tgtEl>
                                        <p:attrNameLst>
                                          <p:attrName>style.visibility</p:attrName>
                                        </p:attrNameLst>
                                      </p:cBhvr>
                                      <p:to>
                                        <p:strVal val="visible"/>
                                      </p:to>
                                    </p:set>
                                  </p:childTnLst>
                                </p:cTn>
                              </p:par>
                              <p:par>
                                <p:cTn id="31" presetID="1" presetClass="exit" presetSubtype="0" fill="hold" grpId="1" nodeType="withEffect">
                                  <p:stCondLst>
                                    <p:cond delay="0"/>
                                  </p:stCondLst>
                                  <p:childTnLst>
                                    <p:set>
                                      <p:cBhvr>
                                        <p:cTn id="32" dur="1" fill="hold">
                                          <p:stCondLst>
                                            <p:cond delay="0"/>
                                          </p:stCondLst>
                                        </p:cTn>
                                        <p:tgtEl>
                                          <p:spTgt spid="12"/>
                                        </p:tgtEl>
                                        <p:attrNameLst>
                                          <p:attrName>style.visibility</p:attrName>
                                        </p:attrNameLst>
                                      </p:cBhvr>
                                      <p:to>
                                        <p:strVal val="hidden"/>
                                      </p:to>
                                    </p:set>
                                  </p:childTnLst>
                                </p:cTn>
                              </p:par>
                            </p:childTnLst>
                          </p:cTn>
                        </p:par>
                      </p:childTnLst>
                    </p:cTn>
                  </p:par>
                  <p:par>
                    <p:cTn id="33" fill="hold">
                      <p:stCondLst>
                        <p:cond delay="indefinite"/>
                      </p:stCondLst>
                      <p:childTnLst>
                        <p:par>
                          <p:cTn id="34" fill="hold">
                            <p:stCondLst>
                              <p:cond delay="0"/>
                            </p:stCondLst>
                            <p:childTnLst>
                              <p:par>
                                <p:cTn id="35" presetID="1" presetClass="entr" presetSubtype="0" fill="hold" grpId="0" nodeType="clickEffect">
                                  <p:stCondLst>
                                    <p:cond delay="0"/>
                                  </p:stCondLst>
                                  <p:childTnLst>
                                    <p:set>
                                      <p:cBhvr>
                                        <p:cTn id="36" dur="1" fill="hold">
                                          <p:stCondLst>
                                            <p:cond delay="0"/>
                                          </p:stCondLst>
                                        </p:cTn>
                                        <p:tgtEl>
                                          <p:spTgt spid="4">
                                            <p:txEl>
                                              <p:pRg st="4" end="4"/>
                                            </p:txEl>
                                          </p:spTgt>
                                        </p:tgtEl>
                                        <p:attrNameLst>
                                          <p:attrName>style.visibility</p:attrName>
                                        </p:attrNameLst>
                                      </p:cBhvr>
                                      <p:to>
                                        <p:strVal val="visible"/>
                                      </p:to>
                                    </p:set>
                                  </p:childTnLst>
                                </p:cTn>
                              </p:par>
                              <p:par>
                                <p:cTn id="37" presetID="1" presetClass="entr" presetSubtype="0" fill="hold" grpId="0" nodeType="withEffect">
                                  <p:stCondLst>
                                    <p:cond delay="0"/>
                                  </p:stCondLst>
                                  <p:childTnLst>
                                    <p:set>
                                      <p:cBhvr>
                                        <p:cTn id="38" dur="1" fill="hold">
                                          <p:stCondLst>
                                            <p:cond delay="0"/>
                                          </p:stCondLst>
                                        </p:cTn>
                                        <p:tgtEl>
                                          <p:spTgt spid="18"/>
                                        </p:tgtEl>
                                        <p:attrNameLst>
                                          <p:attrName>style.visibility</p:attrName>
                                        </p:attrNameLst>
                                      </p:cBhvr>
                                      <p:to>
                                        <p:strVal val="visible"/>
                                      </p:to>
                                    </p:set>
                                  </p:childTnLst>
                                </p:cTn>
                              </p:par>
                              <p:par>
                                <p:cTn id="39" presetID="1" presetClass="exit" presetSubtype="0" fill="hold" grpId="1" nodeType="withEffect">
                                  <p:stCondLst>
                                    <p:cond delay="0"/>
                                  </p:stCondLst>
                                  <p:childTnLst>
                                    <p:set>
                                      <p:cBhvr>
                                        <p:cTn id="40" dur="1" fill="hold">
                                          <p:stCondLst>
                                            <p:cond delay="0"/>
                                          </p:stCondLst>
                                        </p:cTn>
                                        <p:tgtEl>
                                          <p:spTgt spid="15"/>
                                        </p:tgtEl>
                                        <p:attrNameLst>
                                          <p:attrName>style.visibility</p:attrName>
                                        </p:attrNameLst>
                                      </p:cBhvr>
                                      <p:to>
                                        <p:strVal val="hidden"/>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4" grpId="0" build="p"/>
    </p:bldLst>
  </p:timing>
</p:sld>
</file>

<file path=ppt/slides/slide4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b0_2">
            <a:extLst>
              <a:ext uri="{FF2B5EF4-FFF2-40B4-BE49-F238E27FC236}">
                <a16:creationId xmlns:a16="http://schemas.microsoft.com/office/drawing/2014/main" id="{33DE8782-7F2B-1033-00F6-2A6652EE0E80}"/>
              </a:ext>
            </a:extLst>
          </p:cNvPr>
          <p:cNvSpPr txBox="1"/>
          <p:nvPr/>
        </p:nvSpPr>
        <p:spPr>
          <a:xfrm>
            <a:off x="0" y="148566"/>
            <a:ext cx="11680992" cy="548640"/>
          </a:xfrm>
          <a:prstGeom prst="rect">
            <a:avLst/>
          </a:prstGeom>
          <a:noFill/>
          <a:ln>
            <a:noFill/>
          </a:ln>
        </p:spPr>
        <p:txBody>
          <a:bodyPr wrap="square" rtlCol="0" anchor="ctr"/>
          <a:lstStyle/>
          <a:p>
            <a:r>
              <a:rPr lang="en-US" sz="3200" b="1" dirty="0">
                <a:solidFill>
                  <a:srgbClr val="000000"/>
                </a:solidFill>
                <a:latin typeface="Calibri" pitchFamily="34" charset="0"/>
                <a:ea typeface="Calibri" pitchFamily="34" charset="-122"/>
                <a:cs typeface="Calibri" pitchFamily="34" charset="-120"/>
              </a:rPr>
              <a:t>Understanding </a:t>
            </a:r>
            <a:r>
              <a:rPr lang="en-US" sz="3200" b="1" dirty="0">
                <a:solidFill>
                  <a:srgbClr val="00B050"/>
                </a:solidFill>
                <a:latin typeface="Calibri" pitchFamily="34" charset="0"/>
                <a:ea typeface="Calibri" pitchFamily="34" charset="-122"/>
                <a:cs typeface="Calibri" pitchFamily="34" charset="-120"/>
              </a:rPr>
              <a:t>Learning</a:t>
            </a:r>
            <a:endParaRPr lang="en-US" sz="3200" dirty="0">
              <a:solidFill>
                <a:srgbClr val="362FEC"/>
              </a:solidFill>
            </a:endParaRPr>
          </a:p>
        </p:txBody>
      </p:sp>
      <p:sp>
        <p:nvSpPr>
          <p:cNvPr id="3" name="subheading">
            <a:extLst>
              <a:ext uri="{FF2B5EF4-FFF2-40B4-BE49-F238E27FC236}">
                <a16:creationId xmlns:a16="http://schemas.microsoft.com/office/drawing/2014/main" id="{5CB8A4AA-40B1-94AE-8EEE-080599481F78}"/>
              </a:ext>
            </a:extLst>
          </p:cNvPr>
          <p:cNvSpPr txBox="1"/>
          <p:nvPr/>
        </p:nvSpPr>
        <p:spPr>
          <a:xfrm>
            <a:off x="292608" y="868680"/>
            <a:ext cx="11430000" cy="411480"/>
          </a:xfrm>
          <a:prstGeom prst="rect">
            <a:avLst/>
          </a:prstGeom>
          <a:noFill/>
          <a:ln>
            <a:noFill/>
          </a:ln>
        </p:spPr>
        <p:txBody>
          <a:bodyPr wrap="square" lIns="0" tIns="0" rIns="0" bIns="0" rtlCol="0" anchor="ctr"/>
          <a:lstStyle/>
          <a:p>
            <a:pPr marL="0" indent="0">
              <a:buNone/>
            </a:pPr>
            <a:r>
              <a:rPr lang="en-US" sz="2000" b="1" dirty="0">
                <a:solidFill>
                  <a:srgbClr val="362FEC"/>
                </a:solidFill>
                <a:latin typeface="Calibri" panose="020F0502020204030204" pitchFamily="34" charset="0"/>
                <a:cs typeface="Calibri" panose="020F0502020204030204" pitchFamily="34" charset="0"/>
              </a:rPr>
              <a:t>Neural networks and gradient descent</a:t>
            </a:r>
          </a:p>
        </p:txBody>
      </p:sp>
      <p:sp>
        <p:nvSpPr>
          <p:cNvPr id="4" name="points"/>
          <p:cNvSpPr txBox="1"/>
          <p:nvPr/>
        </p:nvSpPr>
        <p:spPr>
          <a:xfrm>
            <a:off x="384048" y="1417320"/>
            <a:ext cx="6126480" cy="5166360"/>
          </a:xfrm>
          <a:prstGeom prst="rect">
            <a:avLst/>
          </a:prstGeom>
          <a:noFill/>
        </p:spPr>
        <p:txBody>
          <a:bodyPr wrap="square" lIns="0" rIns="0" tIns="0" bIns="0">
            <a:spAutoFit/>
          </a:bodyPr>
          <a:lstStyle/>
          <a:p>
            <a:pPr algn="l">
              <a:spcAft>
                <a:spcPts val="1000"/>
              </a:spcAft>
            </a:pPr>
            <a:r>
              <a:rPr sz="1800" b="1" i="0">
                <a:solidFill>
                  <a:srgbClr val="362FEC"/>
                </a:solidFill>
                <a:latin typeface="Calibri"/>
              </a:rPr>
              <a:t>A layer</a:t>
            </a:r>
            <a:r>
              <a:rPr sz="1800" b="0" i="0">
                <a:solidFill>
                  <a:srgbClr val="000000"/>
                </a:solidFill>
                <a:latin typeface="Calibri"/>
              </a:rPr>
              <a:t>: an affine map, then a fixed nonlinearity. One wide hidden layer approximates any continuous function (Cybenko, Hornik).</a:t>
            </a:r>
          </a:p>
          <a:p>
            <a:pPr algn="l">
              <a:spcAft>
                <a:spcPts val="1000"/>
              </a:spcAft>
            </a:pPr>
            <a:r>
              <a:rPr sz="1800" b="1" i="0">
                <a:solidFill>
                  <a:srgbClr val="FF0000"/>
                </a:solidFill>
                <a:latin typeface="Calibri"/>
              </a:rPr>
              <a:t>Expressivity is not learnability</a:t>
            </a:r>
            <a:r>
              <a:rPr sz="1800" b="0" i="0">
                <a:solidFill>
                  <a:srgbClr val="000000"/>
                </a:solidFill>
                <a:latin typeface="Calibri"/>
              </a:rPr>
              <a:t>: the theorem says nothing about size, data, or whether gradient descent finds it.</a:t>
            </a:r>
          </a:p>
          <a:p>
            <a:pPr algn="l">
              <a:spcAft>
                <a:spcPts val="1000"/>
              </a:spcAft>
            </a:pPr>
            <a:r>
              <a:rPr sz="1800" b="1" i="0">
                <a:solidFill>
                  <a:srgbClr val="00B050"/>
                </a:solidFill>
                <a:latin typeface="Calibri"/>
              </a:rPr>
              <a:t>Parameter sharing</a:t>
            </a:r>
            <a:r>
              <a:rPr sz="1800" b="0" i="0">
                <a:solidFill>
                  <a:srgbClr val="000000"/>
                </a:solidFill>
                <a:latin typeface="Calibri"/>
              </a:rPr>
              <a:t>: same filter everywhere (convolutions), same update each step (recurrence), same parameters at every position (attention).</a:t>
            </a:r>
          </a:p>
          <a:p>
            <a:pPr algn="l">
              <a:spcAft>
                <a:spcPts val="1000"/>
              </a:spcAft>
            </a:pPr>
            <a:r>
              <a:rPr sz="1800" b="1" i="0">
                <a:solidFill>
                  <a:srgbClr val="362FEC"/>
                </a:solidFill>
                <a:latin typeface="Calibri"/>
              </a:rPr>
              <a:t>Gradient descent</a:t>
            </a:r>
            <a:r>
              <a:rPr sz="1800" b="0" i="0">
                <a:solidFill>
                  <a:srgbClr val="000000"/>
                </a:solidFill>
                <a:latin typeface="Calibri"/>
              </a:rPr>
              <a:t>: step against the gradient; stochastic gradient descent uses a random minibatch.</a:t>
            </a:r>
          </a:p>
          <a:p>
            <a:pPr algn="l">
              <a:spcAft>
                <a:spcPts val="1000"/>
              </a:spcAft>
            </a:pPr>
            <a:r>
              <a:rPr sz="1800" b="1" i="0">
                <a:solidFill>
                  <a:srgbClr val="FF0000"/>
                </a:solidFill>
                <a:latin typeface="Calibri"/>
              </a:rPr>
              <a:t>One step</a:t>
            </a:r>
            <a:r>
              <a:rPr sz="1800" b="0" i="0">
                <a:solidFill>
                  <a:srgbClr val="000000"/>
                </a:solidFill>
                <a:latin typeface="Calibri"/>
              </a:rPr>
              <a:t>: improves the prediction on the example it was computed from. Other examples: only held-out data can tell.</a:t>
            </a:r>
          </a:p>
        </p:txBody>
      </p:sp>
      <p:grpSp>
        <p:nvGrpSpPr>
          <p:cNvPr id="5" name="picture 1"/>
          <p:cNvGrpSpPr/>
          <p:nvPr/>
        </p:nvGrpSpPr>
        <p:grpSpPr>
          <a:xfrm>
            <a:off x="6812280" y="1371600"/>
            <a:ext cx="5120640" cy="3977640"/>
            <a:chOff x="6812280" y="1371600"/>
            <a:chExt cx="5120640" cy="3977640"/>
          </a:xfrm>
        </p:grpSpPr>
        <p:pic>
          <p:nvPicPr>
            <p:cNvPr id="6" name="Picture 5" descr="eq_layer.png"/>
            <p:cNvPicPr>
              <a:picLocks noChangeAspect="1"/>
            </p:cNvPicPr>
            <p:nvPr/>
          </p:nvPicPr>
          <p:blipFill>
            <a:blip r:embed="rId2"/>
            <a:stretch>
              <a:fillRect/>
            </a:stretch>
          </p:blipFill>
          <p:spPr>
            <a:xfrm>
              <a:off x="7360920" y="1371600"/>
              <a:ext cx="4023360" cy="290505"/>
            </a:xfrm>
            <a:prstGeom prst="rect">
              <a:avLst/>
            </a:prstGeom>
          </p:spPr>
        </p:pic>
        <p:pic>
          <p:nvPicPr>
            <p:cNvPr id="7" name="Picture 6" descr="mlp_net.png"/>
            <p:cNvPicPr>
              <a:picLocks noChangeAspect="1"/>
            </p:cNvPicPr>
            <p:nvPr/>
          </p:nvPicPr>
          <p:blipFill>
            <a:blip r:embed="rId3"/>
            <a:stretch>
              <a:fillRect/>
            </a:stretch>
          </p:blipFill>
          <p:spPr>
            <a:xfrm>
              <a:off x="7465914" y="2103120"/>
              <a:ext cx="3813371" cy="2651760"/>
            </a:xfrm>
            <a:prstGeom prst="rect">
              <a:avLst/>
            </a:prstGeom>
          </p:spPr>
        </p:pic>
        <p:sp>
          <p:nvSpPr>
            <p:cNvPr id="8" name="description"/>
            <p:cNvSpPr txBox="1"/>
            <p:nvPr/>
          </p:nvSpPr>
          <p:spPr>
            <a:xfrm>
              <a:off x="6812280" y="4892040"/>
              <a:ext cx="5120640" cy="457200"/>
            </a:xfrm>
            <a:prstGeom prst="rect">
              <a:avLst/>
            </a:prstGeom>
            <a:noFill/>
          </p:spPr>
          <p:txBody>
            <a:bodyPr wrap="square" anchor="t" lIns="0" rIns="0" tIns="0" bIns="0">
              <a:spAutoFit/>
            </a:bodyPr>
            <a:lstStyle/>
            <a:p>
              <a:pPr algn="l"/>
              <a:r>
                <a:rPr sz="1400" b="0" i="0">
                  <a:solidFill>
                    <a:srgbClr val="595959"/>
                  </a:solidFill>
                  <a:latin typeface="Calibri"/>
                </a:rPr>
                <a:t>Without the nonlinearity the stack collapses to a single affine map.</a:t>
              </a:r>
            </a:p>
          </p:txBody>
        </p:sp>
      </p:grpSp>
      <p:grpSp>
        <p:nvGrpSpPr>
          <p:cNvPr id="9" name="picture 2"/>
          <p:cNvGrpSpPr/>
          <p:nvPr/>
        </p:nvGrpSpPr>
        <p:grpSpPr>
          <a:xfrm>
            <a:off x="6812280" y="1417320"/>
            <a:ext cx="5120640" cy="2880360"/>
            <a:chOff x="6812280" y="1417320"/>
            <a:chExt cx="5120640" cy="2880360"/>
          </a:xfrm>
        </p:grpSpPr>
        <p:sp>
          <p:nvSpPr>
            <p:cNvPr id="10" name="TextBox 9"/>
            <p:cNvSpPr txBox="1"/>
            <p:nvPr/>
          </p:nvSpPr>
          <p:spPr>
            <a:xfrm>
              <a:off x="6812280" y="1417320"/>
              <a:ext cx="1645920" cy="274320"/>
            </a:xfrm>
            <a:prstGeom prst="rect">
              <a:avLst/>
            </a:prstGeom>
            <a:noFill/>
          </p:spPr>
          <p:txBody>
            <a:bodyPr wrap="square" anchor="t" lIns="0" rIns="0" tIns="0" bIns="0">
              <a:spAutoFit/>
            </a:bodyPr>
            <a:lstStyle/>
            <a:p>
              <a:pPr algn="ctr"/>
              <a:r>
                <a:rPr sz="1500" b="1" i="0">
                  <a:solidFill>
                    <a:srgbClr val="362FEC"/>
                  </a:solidFill>
                  <a:latin typeface="Calibri"/>
                </a:rPr>
                <a:t>expressivity</a:t>
              </a:r>
            </a:p>
          </p:txBody>
        </p:sp>
        <p:sp>
          <p:nvSpPr>
            <p:cNvPr id="11" name="TextBox 10"/>
            <p:cNvSpPr txBox="1"/>
            <p:nvPr/>
          </p:nvSpPr>
          <p:spPr>
            <a:xfrm>
              <a:off x="6812280" y="1691640"/>
              <a:ext cx="1645920" cy="457200"/>
            </a:xfrm>
            <a:prstGeom prst="rect">
              <a:avLst/>
            </a:prstGeom>
            <a:noFill/>
          </p:spPr>
          <p:txBody>
            <a:bodyPr wrap="square" anchor="t" lIns="0" rIns="0" tIns="0" bIns="0">
              <a:spAutoFit/>
            </a:bodyPr>
            <a:lstStyle/>
            <a:p>
              <a:pPr algn="ctr"/>
              <a:r>
                <a:rPr sz="1200" b="0" i="0">
                  <a:solidFill>
                    <a:srgbClr val="595959"/>
                  </a:solidFill>
                  <a:latin typeface="Calibri"/>
                </a:rPr>
                <a:t>can the class represent it?</a:t>
              </a:r>
            </a:p>
          </p:txBody>
        </p:sp>
        <p:pic>
          <p:nvPicPr>
            <p:cNvPr id="12" name="Picture 11" descr="mlp_small_0.png"/>
            <p:cNvPicPr>
              <a:picLocks noChangeAspect="1"/>
            </p:cNvPicPr>
            <p:nvPr/>
          </p:nvPicPr>
          <p:blipFill>
            <a:blip r:embed="rId4"/>
            <a:stretch>
              <a:fillRect/>
            </a:stretch>
          </p:blipFill>
          <p:spPr>
            <a:xfrm>
              <a:off x="6812280" y="2240280"/>
              <a:ext cx="1645920" cy="1082842"/>
            </a:xfrm>
            <a:prstGeom prst="rect">
              <a:avLst/>
            </a:prstGeom>
          </p:spPr>
        </p:pic>
        <p:sp>
          <p:nvSpPr>
            <p:cNvPr id="13" name="TextBox 12"/>
            <p:cNvSpPr txBox="1"/>
            <p:nvPr/>
          </p:nvSpPr>
          <p:spPr>
            <a:xfrm>
              <a:off x="8549640" y="1417320"/>
              <a:ext cx="1645920" cy="274320"/>
            </a:xfrm>
            <a:prstGeom prst="rect">
              <a:avLst/>
            </a:prstGeom>
            <a:noFill/>
          </p:spPr>
          <p:txBody>
            <a:bodyPr wrap="square" anchor="t" lIns="0" rIns="0" tIns="0" bIns="0">
              <a:spAutoFit/>
            </a:bodyPr>
            <a:lstStyle/>
            <a:p>
              <a:pPr algn="ctr"/>
              <a:r>
                <a:rPr sz="1500" b="1" i="0">
                  <a:solidFill>
                    <a:srgbClr val="00B050"/>
                  </a:solidFill>
                  <a:latin typeface="Calibri"/>
                </a:rPr>
                <a:t>optimization</a:t>
              </a:r>
            </a:p>
          </p:txBody>
        </p:sp>
        <p:sp>
          <p:nvSpPr>
            <p:cNvPr id="14" name="TextBox 13"/>
            <p:cNvSpPr txBox="1"/>
            <p:nvPr/>
          </p:nvSpPr>
          <p:spPr>
            <a:xfrm>
              <a:off x="8549640" y="1691640"/>
              <a:ext cx="1645920" cy="457200"/>
            </a:xfrm>
            <a:prstGeom prst="rect">
              <a:avLst/>
            </a:prstGeom>
            <a:noFill/>
          </p:spPr>
          <p:txBody>
            <a:bodyPr wrap="square" anchor="t" lIns="0" rIns="0" tIns="0" bIns="0">
              <a:spAutoFit/>
            </a:bodyPr>
            <a:lstStyle/>
            <a:p>
              <a:pPr algn="ctr"/>
              <a:r>
                <a:rPr sz="1200" b="0" i="0">
                  <a:solidFill>
                    <a:srgbClr val="595959"/>
                  </a:solidFill>
                  <a:latin typeface="Calibri"/>
                </a:rPr>
                <a:t>will the procedure find it?</a:t>
              </a:r>
            </a:p>
          </p:txBody>
        </p:sp>
        <p:pic>
          <p:nvPicPr>
            <p:cNvPr id="15" name="Picture 14" descr="gd_small_0.png"/>
            <p:cNvPicPr>
              <a:picLocks noChangeAspect="1"/>
            </p:cNvPicPr>
            <p:nvPr/>
          </p:nvPicPr>
          <p:blipFill>
            <a:blip r:embed="rId5"/>
            <a:stretch>
              <a:fillRect/>
            </a:stretch>
          </p:blipFill>
          <p:spPr>
            <a:xfrm>
              <a:off x="8549640" y="2240280"/>
              <a:ext cx="1645920" cy="1082842"/>
            </a:xfrm>
            <a:prstGeom prst="rect">
              <a:avLst/>
            </a:prstGeom>
          </p:spPr>
        </p:pic>
        <p:sp>
          <p:nvSpPr>
            <p:cNvPr id="16" name="TextBox 15"/>
            <p:cNvSpPr txBox="1"/>
            <p:nvPr/>
          </p:nvSpPr>
          <p:spPr>
            <a:xfrm>
              <a:off x="10287000" y="1417320"/>
              <a:ext cx="1645920" cy="274320"/>
            </a:xfrm>
            <a:prstGeom prst="rect">
              <a:avLst/>
            </a:prstGeom>
            <a:noFill/>
          </p:spPr>
          <p:txBody>
            <a:bodyPr wrap="square" anchor="t" lIns="0" rIns="0" tIns="0" bIns="0">
              <a:spAutoFit/>
            </a:bodyPr>
            <a:lstStyle/>
            <a:p>
              <a:pPr algn="ctr"/>
              <a:r>
                <a:rPr sz="1500" b="1" i="0">
                  <a:solidFill>
                    <a:srgbClr val="FF0000"/>
                  </a:solidFill>
                  <a:latin typeface="Calibri"/>
                </a:rPr>
                <a:t>generalization</a:t>
              </a:r>
            </a:p>
          </p:txBody>
        </p:sp>
        <p:sp>
          <p:nvSpPr>
            <p:cNvPr id="17" name="TextBox 16"/>
            <p:cNvSpPr txBox="1"/>
            <p:nvPr/>
          </p:nvSpPr>
          <p:spPr>
            <a:xfrm>
              <a:off x="10287000" y="1691640"/>
              <a:ext cx="1645920" cy="457200"/>
            </a:xfrm>
            <a:prstGeom prst="rect">
              <a:avLst/>
            </a:prstGeom>
            <a:noFill/>
          </p:spPr>
          <p:txBody>
            <a:bodyPr wrap="square" anchor="t" lIns="0" rIns="0" tIns="0" bIns="0">
              <a:spAutoFit/>
            </a:bodyPr>
            <a:lstStyle/>
            <a:p>
              <a:pPr algn="ctr"/>
              <a:r>
                <a:rPr sz="1200" b="0" i="0">
                  <a:solidFill>
                    <a:srgbClr val="595959"/>
                  </a:solidFill>
                  <a:latin typeface="Calibri"/>
                </a:rPr>
                <a:t>does it work on new inputs?</a:t>
              </a:r>
            </a:p>
          </p:txBody>
        </p:sp>
        <p:pic>
          <p:nvPicPr>
            <p:cNvPr id="18" name="Picture 17" descr="overfit_small_0.png"/>
            <p:cNvPicPr>
              <a:picLocks noChangeAspect="1"/>
            </p:cNvPicPr>
            <p:nvPr/>
          </p:nvPicPr>
          <p:blipFill>
            <a:blip r:embed="rId6"/>
            <a:stretch>
              <a:fillRect/>
            </a:stretch>
          </p:blipFill>
          <p:spPr>
            <a:xfrm>
              <a:off x="10287000" y="2240280"/>
              <a:ext cx="1645920" cy="1082842"/>
            </a:xfrm>
            <a:prstGeom prst="rect">
              <a:avLst/>
            </a:prstGeom>
          </p:spPr>
        </p:pic>
        <p:sp>
          <p:nvSpPr>
            <p:cNvPr id="19" name="description"/>
            <p:cNvSpPr txBox="1"/>
            <p:nvPr/>
          </p:nvSpPr>
          <p:spPr>
            <a:xfrm>
              <a:off x="6812280" y="3566160"/>
              <a:ext cx="5120640" cy="731520"/>
            </a:xfrm>
            <a:prstGeom prst="rect">
              <a:avLst/>
            </a:prstGeom>
            <a:noFill/>
          </p:spPr>
          <p:txBody>
            <a:bodyPr wrap="square" anchor="t" lIns="0" rIns="0" tIns="0" bIns="0">
              <a:spAutoFit/>
            </a:bodyPr>
            <a:lstStyle/>
            <a:p>
              <a:pPr algn="l"/>
              <a:r>
                <a:rPr sz="1400" b="0" i="0">
                  <a:solidFill>
                    <a:srgbClr val="595959"/>
                  </a:solidFill>
                  <a:latin typeface="Calibri"/>
                </a:rPr>
                <a:t>Universal approximation answers only the first. Parity of a few hidden bits is easy to express and notoriously hard for gradient methods.</a:t>
              </a:r>
            </a:p>
          </p:txBody>
        </p:sp>
      </p:grpSp>
      <p:grpSp>
        <p:nvGrpSpPr>
          <p:cNvPr id="20" name="picture 3"/>
          <p:cNvGrpSpPr/>
          <p:nvPr/>
        </p:nvGrpSpPr>
        <p:grpSpPr>
          <a:xfrm>
            <a:off x="6812280" y="1371600"/>
            <a:ext cx="5120640" cy="4224528"/>
            <a:chOff x="6812280" y="1371600"/>
            <a:chExt cx="5120640" cy="4224528"/>
          </a:xfrm>
        </p:grpSpPr>
        <p:pic>
          <p:nvPicPr>
            <p:cNvPr id="21" name="Picture 20" descr="image.png"/>
            <p:cNvPicPr>
              <a:picLocks noChangeAspect="1"/>
            </p:cNvPicPr>
            <p:nvPr/>
          </p:nvPicPr>
          <p:blipFill>
            <a:blip r:embed="rId7"/>
            <a:stretch>
              <a:fillRect/>
            </a:stretch>
          </p:blipFill>
          <p:spPr>
            <a:xfrm>
              <a:off x="7807604" y="1371600"/>
              <a:ext cx="3129991" cy="3291840"/>
            </a:xfrm>
            <a:prstGeom prst="rect">
              <a:avLst/>
            </a:prstGeom>
          </p:spPr>
        </p:pic>
        <p:sp>
          <p:nvSpPr>
            <p:cNvPr id="22" name="description"/>
            <p:cNvSpPr txBox="1"/>
            <p:nvPr/>
          </p:nvSpPr>
          <p:spPr>
            <a:xfrm>
              <a:off x="6812280" y="4773168"/>
              <a:ext cx="5120640" cy="822960"/>
            </a:xfrm>
            <a:prstGeom prst="rect">
              <a:avLst/>
            </a:prstGeom>
            <a:noFill/>
          </p:spPr>
          <p:txBody>
            <a:bodyPr wrap="square" anchor="t" lIns="0" rIns="0" tIns="0" bIns="0">
              <a:spAutoFit/>
            </a:bodyPr>
            <a:lstStyle/>
            <a:p>
              <a:pPr algn="l"/>
              <a:r>
                <a:rPr sz="1400" b="0" i="0">
                  <a:solidFill>
                    <a:srgbClr val="595959"/>
                  </a:solidFill>
                  <a:latin typeface="Calibri"/>
                </a:rPr>
                <a:t>Each architecture's sharing encodes an assumption about the data. Weeks 2 and 3 develop recurrence and attention.</a:t>
              </a:r>
            </a:p>
          </p:txBody>
        </p:sp>
      </p:grpSp>
      <p:grpSp>
        <p:nvGrpSpPr>
          <p:cNvPr id="23" name="picture 4"/>
          <p:cNvGrpSpPr/>
          <p:nvPr/>
        </p:nvGrpSpPr>
        <p:grpSpPr>
          <a:xfrm>
            <a:off x="6812280" y="1371600"/>
            <a:ext cx="5120640" cy="4069080"/>
            <a:chOff x="6812280" y="1371600"/>
            <a:chExt cx="5120640" cy="4069080"/>
          </a:xfrm>
        </p:grpSpPr>
        <p:pic>
          <p:nvPicPr>
            <p:cNvPr id="24" name="Picture 23" descr="eq_gd.png"/>
            <p:cNvPicPr>
              <a:picLocks noChangeAspect="1"/>
            </p:cNvPicPr>
            <p:nvPr/>
          </p:nvPicPr>
          <p:blipFill>
            <a:blip r:embed="rId8"/>
            <a:stretch>
              <a:fillRect/>
            </a:stretch>
          </p:blipFill>
          <p:spPr>
            <a:xfrm>
              <a:off x="7818120" y="1371600"/>
              <a:ext cx="3108960" cy="547844"/>
            </a:xfrm>
            <a:prstGeom prst="rect">
              <a:avLst/>
            </a:prstGeom>
          </p:spPr>
        </p:pic>
        <p:pic>
          <p:nvPicPr>
            <p:cNvPr id="25" name="Picture 24" descr="gd_contour.png"/>
            <p:cNvPicPr>
              <a:picLocks noChangeAspect="1"/>
            </p:cNvPicPr>
            <p:nvPr/>
          </p:nvPicPr>
          <p:blipFill>
            <a:blip r:embed="rId9"/>
            <a:stretch>
              <a:fillRect/>
            </a:stretch>
          </p:blipFill>
          <p:spPr>
            <a:xfrm>
              <a:off x="7806844" y="2057400"/>
              <a:ext cx="3131511" cy="2834640"/>
            </a:xfrm>
            <a:prstGeom prst="rect">
              <a:avLst/>
            </a:prstGeom>
          </p:spPr>
        </p:pic>
        <p:sp>
          <p:nvSpPr>
            <p:cNvPr id="26" name="description"/>
            <p:cNvSpPr txBox="1"/>
            <p:nvPr/>
          </p:nvSpPr>
          <p:spPr>
            <a:xfrm>
              <a:off x="6812280" y="4983480"/>
              <a:ext cx="5120640" cy="457200"/>
            </a:xfrm>
            <a:prstGeom prst="rect">
              <a:avLst/>
            </a:prstGeom>
            <a:noFill/>
          </p:spPr>
          <p:txBody>
            <a:bodyPr wrap="square" anchor="t" lIns="0" rIns="0" tIns="0" bIns="0">
              <a:spAutoFit/>
            </a:bodyPr>
            <a:lstStyle/>
            <a:p>
              <a:pPr algn="l"/>
              <a:r>
                <a:rPr sz="1400" b="0" i="0">
                  <a:solidFill>
                    <a:srgbClr val="595959"/>
                  </a:solidFill>
                  <a:latin typeface="Calibri"/>
                </a:rPr>
                <a:t>Momentum, Adam, and AdamW adapt the step using the history of gradients (Week 4).</a:t>
              </a:r>
            </a:p>
          </p:txBody>
        </p:sp>
      </p:grpSp>
      <p:grpSp>
        <p:nvGrpSpPr>
          <p:cNvPr id="27" name="picture 5"/>
          <p:cNvGrpSpPr/>
          <p:nvPr/>
        </p:nvGrpSpPr>
        <p:grpSpPr>
          <a:xfrm>
            <a:off x="6812280" y="1463040"/>
            <a:ext cx="5120640" cy="2743200"/>
            <a:chOff x="6812280" y="1463040"/>
            <a:chExt cx="5120640" cy="2743200"/>
          </a:xfrm>
        </p:grpSpPr>
        <p:pic>
          <p:nvPicPr>
            <p:cNvPr id="28" name="Picture 27" descr="eq_step.png"/>
            <p:cNvPicPr>
              <a:picLocks noChangeAspect="1"/>
            </p:cNvPicPr>
            <p:nvPr/>
          </p:nvPicPr>
          <p:blipFill>
            <a:blip r:embed="rId10"/>
            <a:stretch>
              <a:fillRect/>
            </a:stretch>
          </p:blipFill>
          <p:spPr>
            <a:xfrm>
              <a:off x="7269480" y="1463040"/>
              <a:ext cx="4206240" cy="2042669"/>
            </a:xfrm>
            <a:prstGeom prst="rect">
              <a:avLst/>
            </a:prstGeom>
          </p:spPr>
        </p:pic>
        <p:sp>
          <p:nvSpPr>
            <p:cNvPr id="29" name="description"/>
            <p:cNvSpPr txBox="1"/>
            <p:nvPr/>
          </p:nvSpPr>
          <p:spPr>
            <a:xfrm>
              <a:off x="6812280" y="3657600"/>
              <a:ext cx="5120640" cy="548640"/>
            </a:xfrm>
            <a:prstGeom prst="rect">
              <a:avLst/>
            </a:prstGeom>
            <a:noFill/>
          </p:spPr>
          <p:txBody>
            <a:bodyPr wrap="square" anchor="t" lIns="0" rIns="0" tIns="0" bIns="0">
              <a:spAutoFit/>
            </a:bodyPr>
            <a:lstStyle/>
            <a:p>
              <a:pPr algn="l"/>
              <a:r>
                <a:rPr sz="1400" b="0" i="0">
                  <a:solidFill>
                    <a:srgbClr val="595959"/>
                  </a:solidFill>
                  <a:latin typeface="Calibri"/>
                </a:rPr>
                <a:t>Logistic regression with log loss: the gradient on one example is the prediction error times the input.</a:t>
              </a:r>
            </a:p>
          </p:txBody>
        </p:sp>
      </p:grpSp>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4">
                                            <p:txEl>
                                              <p:pRg st="0" end="0"/>
                                            </p:txEl>
                                          </p:spTgt>
                                        </p:tgtEl>
                                        <p:attrNameLst>
                                          <p:attrName>style.visibility</p:attrName>
                                        </p:attrNameLst>
                                      </p:cBhvr>
                                      <p:to>
                                        <p:strVal val="visible"/>
                                      </p:to>
                                    </p:set>
                                  </p:childTnLst>
                                </p:cTn>
                              </p:par>
                              <p:par>
                                <p:cTn id="7" presetID="1" presetClass="entr" presetSubtype="0" fill="hold" grpId="0" nodeType="withEffect">
                                  <p:stCondLst>
                                    <p:cond delay="0"/>
                                  </p:stCondLst>
                                  <p:childTnLst>
                                    <p:set>
                                      <p:cBhvr>
                                        <p:cTn id="8" dur="1" fill="hold">
                                          <p:stCondLst>
                                            <p:cond delay="0"/>
                                          </p:stCondLst>
                                        </p:cTn>
                                        <p:tgtEl>
                                          <p:spTgt spid="5"/>
                                        </p:tgtEl>
                                        <p:attrNameLst>
                                          <p:attrName>style.visibility</p:attrName>
                                        </p:attrNameLst>
                                      </p:cBhvr>
                                      <p:to>
                                        <p:strVal val="visible"/>
                                      </p:to>
                                    </p:set>
                                  </p:childTnLst>
                                </p:cTn>
                              </p:par>
                            </p:childTnLst>
                          </p:cTn>
                        </p:par>
                      </p:childTnLst>
                    </p:cTn>
                  </p:par>
                  <p:par>
                    <p:cTn id="9" fill="hold">
                      <p:stCondLst>
                        <p:cond delay="indefinite"/>
                      </p:stCondLst>
                      <p:childTnLst>
                        <p:par>
                          <p:cTn id="10" fill="hold">
                            <p:stCondLst>
                              <p:cond delay="0"/>
                            </p:stCondLst>
                            <p:childTnLst>
                              <p:par>
                                <p:cTn id="11" presetID="1" presetClass="entr" presetSubtype="0" fill="hold" grpId="0" nodeType="clickEffect">
                                  <p:stCondLst>
                                    <p:cond delay="0"/>
                                  </p:stCondLst>
                                  <p:childTnLst>
                                    <p:set>
                                      <p:cBhvr>
                                        <p:cTn id="12" dur="1" fill="hold">
                                          <p:stCondLst>
                                            <p:cond delay="0"/>
                                          </p:stCondLst>
                                        </p:cTn>
                                        <p:tgtEl>
                                          <p:spTgt spid="4">
                                            <p:txEl>
                                              <p:pRg st="1" end="1"/>
                                            </p:txEl>
                                          </p:spTgt>
                                        </p:tgtEl>
                                        <p:attrNameLst>
                                          <p:attrName>style.visibility</p:attrName>
                                        </p:attrNameLst>
                                      </p:cBhvr>
                                      <p:to>
                                        <p:strVal val="visible"/>
                                      </p:to>
                                    </p:set>
                                  </p:childTnLst>
                                </p:cTn>
                              </p:par>
                              <p:par>
                                <p:cTn id="13" presetID="1" presetClass="entr" presetSubtype="0" fill="hold" grpId="0" nodeType="withEffect">
                                  <p:stCondLst>
                                    <p:cond delay="0"/>
                                  </p:stCondLst>
                                  <p:childTnLst>
                                    <p:set>
                                      <p:cBhvr>
                                        <p:cTn id="14" dur="1" fill="hold">
                                          <p:stCondLst>
                                            <p:cond delay="0"/>
                                          </p:stCondLst>
                                        </p:cTn>
                                        <p:tgtEl>
                                          <p:spTgt spid="9"/>
                                        </p:tgtEl>
                                        <p:attrNameLst>
                                          <p:attrName>style.visibility</p:attrName>
                                        </p:attrNameLst>
                                      </p:cBhvr>
                                      <p:to>
                                        <p:strVal val="visible"/>
                                      </p:to>
                                    </p:set>
                                  </p:childTnLst>
                                </p:cTn>
                              </p:par>
                              <p:par>
                                <p:cTn id="15" presetID="1" presetClass="exit" presetSubtype="0" fill="hold" grpId="1" nodeType="withEffect">
                                  <p:stCondLst>
                                    <p:cond delay="0"/>
                                  </p:stCondLst>
                                  <p:childTnLst>
                                    <p:set>
                                      <p:cBhvr>
                                        <p:cTn id="16" dur="1" fill="hold">
                                          <p:stCondLst>
                                            <p:cond delay="0"/>
                                          </p:stCondLst>
                                        </p:cTn>
                                        <p:tgtEl>
                                          <p:spTgt spid="5"/>
                                        </p:tgtEl>
                                        <p:attrNameLst>
                                          <p:attrName>style.visibility</p:attrName>
                                        </p:attrNameLst>
                                      </p:cBhvr>
                                      <p:to>
                                        <p:strVal val="hidden"/>
                                      </p:to>
                                    </p:set>
                                  </p:childTnLst>
                                </p:cTn>
                              </p:par>
                            </p:childTnLst>
                          </p:cTn>
                        </p:par>
                      </p:childTnLst>
                    </p:cTn>
                  </p:par>
                  <p:par>
                    <p:cTn id="17" fill="hold">
                      <p:stCondLst>
                        <p:cond delay="indefinite"/>
                      </p:stCondLst>
                      <p:childTnLst>
                        <p:par>
                          <p:cTn id="18" fill="hold">
                            <p:stCondLst>
                              <p:cond delay="0"/>
                            </p:stCondLst>
                            <p:childTnLst>
                              <p:par>
                                <p:cTn id="19" presetID="1" presetClass="entr" presetSubtype="0" fill="hold" grpId="0" nodeType="clickEffect">
                                  <p:stCondLst>
                                    <p:cond delay="0"/>
                                  </p:stCondLst>
                                  <p:childTnLst>
                                    <p:set>
                                      <p:cBhvr>
                                        <p:cTn id="20" dur="1" fill="hold">
                                          <p:stCondLst>
                                            <p:cond delay="0"/>
                                          </p:stCondLst>
                                        </p:cTn>
                                        <p:tgtEl>
                                          <p:spTgt spid="4">
                                            <p:txEl>
                                              <p:pRg st="2" end="2"/>
                                            </p:txEl>
                                          </p:spTgt>
                                        </p:tgtEl>
                                        <p:attrNameLst>
                                          <p:attrName>style.visibility</p:attrName>
                                        </p:attrNameLst>
                                      </p:cBhvr>
                                      <p:to>
                                        <p:strVal val="visible"/>
                                      </p:to>
                                    </p:set>
                                  </p:childTnLst>
                                </p:cTn>
                              </p:par>
                              <p:par>
                                <p:cTn id="21" presetID="1" presetClass="entr" presetSubtype="0" fill="hold" grpId="0" nodeType="withEffect">
                                  <p:stCondLst>
                                    <p:cond delay="0"/>
                                  </p:stCondLst>
                                  <p:childTnLst>
                                    <p:set>
                                      <p:cBhvr>
                                        <p:cTn id="22" dur="1" fill="hold">
                                          <p:stCondLst>
                                            <p:cond delay="0"/>
                                          </p:stCondLst>
                                        </p:cTn>
                                        <p:tgtEl>
                                          <p:spTgt spid="20"/>
                                        </p:tgtEl>
                                        <p:attrNameLst>
                                          <p:attrName>style.visibility</p:attrName>
                                        </p:attrNameLst>
                                      </p:cBhvr>
                                      <p:to>
                                        <p:strVal val="visible"/>
                                      </p:to>
                                    </p:set>
                                  </p:childTnLst>
                                </p:cTn>
                              </p:par>
                              <p:par>
                                <p:cTn id="23" presetID="1" presetClass="exit" presetSubtype="0" fill="hold" grpId="1" nodeType="withEffect">
                                  <p:stCondLst>
                                    <p:cond delay="0"/>
                                  </p:stCondLst>
                                  <p:childTnLst>
                                    <p:set>
                                      <p:cBhvr>
                                        <p:cTn id="24" dur="1" fill="hold">
                                          <p:stCondLst>
                                            <p:cond delay="0"/>
                                          </p:stCondLst>
                                        </p:cTn>
                                        <p:tgtEl>
                                          <p:spTgt spid="9"/>
                                        </p:tgtEl>
                                        <p:attrNameLst>
                                          <p:attrName>style.visibility</p:attrName>
                                        </p:attrNameLst>
                                      </p:cBhvr>
                                      <p:to>
                                        <p:strVal val="hidden"/>
                                      </p:to>
                                    </p:set>
                                  </p:childTnLst>
                                </p:cTn>
                              </p:par>
                            </p:childTnLst>
                          </p:cTn>
                        </p:par>
                      </p:childTnLst>
                    </p:cTn>
                  </p:par>
                  <p:par>
                    <p:cTn id="25" fill="hold">
                      <p:stCondLst>
                        <p:cond delay="indefinite"/>
                      </p:stCondLst>
                      <p:childTnLst>
                        <p:par>
                          <p:cTn id="26" fill="hold">
                            <p:stCondLst>
                              <p:cond delay="0"/>
                            </p:stCondLst>
                            <p:childTnLst>
                              <p:par>
                                <p:cTn id="27" presetID="1" presetClass="entr" presetSubtype="0" fill="hold" grpId="0" nodeType="clickEffect">
                                  <p:stCondLst>
                                    <p:cond delay="0"/>
                                  </p:stCondLst>
                                  <p:childTnLst>
                                    <p:set>
                                      <p:cBhvr>
                                        <p:cTn id="28" dur="1" fill="hold">
                                          <p:stCondLst>
                                            <p:cond delay="0"/>
                                          </p:stCondLst>
                                        </p:cTn>
                                        <p:tgtEl>
                                          <p:spTgt spid="4">
                                            <p:txEl>
                                              <p:pRg st="3" end="3"/>
                                            </p:txEl>
                                          </p:spTgt>
                                        </p:tgtEl>
                                        <p:attrNameLst>
                                          <p:attrName>style.visibility</p:attrName>
                                        </p:attrNameLst>
                                      </p:cBhvr>
                                      <p:to>
                                        <p:strVal val="visible"/>
                                      </p:to>
                                    </p:set>
                                  </p:childTnLst>
                                </p:cTn>
                              </p:par>
                              <p:par>
                                <p:cTn id="29" presetID="1" presetClass="entr" presetSubtype="0" fill="hold" grpId="0" nodeType="withEffect">
                                  <p:stCondLst>
                                    <p:cond delay="0"/>
                                  </p:stCondLst>
                                  <p:childTnLst>
                                    <p:set>
                                      <p:cBhvr>
                                        <p:cTn id="30" dur="1" fill="hold">
                                          <p:stCondLst>
                                            <p:cond delay="0"/>
                                          </p:stCondLst>
                                        </p:cTn>
                                        <p:tgtEl>
                                          <p:spTgt spid="23"/>
                                        </p:tgtEl>
                                        <p:attrNameLst>
                                          <p:attrName>style.visibility</p:attrName>
                                        </p:attrNameLst>
                                      </p:cBhvr>
                                      <p:to>
                                        <p:strVal val="visible"/>
                                      </p:to>
                                    </p:set>
                                  </p:childTnLst>
                                </p:cTn>
                              </p:par>
                              <p:par>
                                <p:cTn id="31" presetID="1" presetClass="exit" presetSubtype="0" fill="hold" grpId="1" nodeType="withEffect">
                                  <p:stCondLst>
                                    <p:cond delay="0"/>
                                  </p:stCondLst>
                                  <p:childTnLst>
                                    <p:set>
                                      <p:cBhvr>
                                        <p:cTn id="32" dur="1" fill="hold">
                                          <p:stCondLst>
                                            <p:cond delay="0"/>
                                          </p:stCondLst>
                                        </p:cTn>
                                        <p:tgtEl>
                                          <p:spTgt spid="20"/>
                                        </p:tgtEl>
                                        <p:attrNameLst>
                                          <p:attrName>style.visibility</p:attrName>
                                        </p:attrNameLst>
                                      </p:cBhvr>
                                      <p:to>
                                        <p:strVal val="hidden"/>
                                      </p:to>
                                    </p:set>
                                  </p:childTnLst>
                                </p:cTn>
                              </p:par>
                            </p:childTnLst>
                          </p:cTn>
                        </p:par>
                      </p:childTnLst>
                    </p:cTn>
                  </p:par>
                  <p:par>
                    <p:cTn id="33" fill="hold">
                      <p:stCondLst>
                        <p:cond delay="indefinite"/>
                      </p:stCondLst>
                      <p:childTnLst>
                        <p:par>
                          <p:cTn id="34" fill="hold">
                            <p:stCondLst>
                              <p:cond delay="0"/>
                            </p:stCondLst>
                            <p:childTnLst>
                              <p:par>
                                <p:cTn id="35" presetID="1" presetClass="entr" presetSubtype="0" fill="hold" grpId="0" nodeType="clickEffect">
                                  <p:stCondLst>
                                    <p:cond delay="0"/>
                                  </p:stCondLst>
                                  <p:childTnLst>
                                    <p:set>
                                      <p:cBhvr>
                                        <p:cTn id="36" dur="1" fill="hold">
                                          <p:stCondLst>
                                            <p:cond delay="0"/>
                                          </p:stCondLst>
                                        </p:cTn>
                                        <p:tgtEl>
                                          <p:spTgt spid="4">
                                            <p:txEl>
                                              <p:pRg st="4" end="4"/>
                                            </p:txEl>
                                          </p:spTgt>
                                        </p:tgtEl>
                                        <p:attrNameLst>
                                          <p:attrName>style.visibility</p:attrName>
                                        </p:attrNameLst>
                                      </p:cBhvr>
                                      <p:to>
                                        <p:strVal val="visible"/>
                                      </p:to>
                                    </p:set>
                                  </p:childTnLst>
                                </p:cTn>
                              </p:par>
                              <p:par>
                                <p:cTn id="37" presetID="1" presetClass="entr" presetSubtype="0" fill="hold" grpId="0" nodeType="withEffect">
                                  <p:stCondLst>
                                    <p:cond delay="0"/>
                                  </p:stCondLst>
                                  <p:childTnLst>
                                    <p:set>
                                      <p:cBhvr>
                                        <p:cTn id="38" dur="1" fill="hold">
                                          <p:stCondLst>
                                            <p:cond delay="0"/>
                                          </p:stCondLst>
                                        </p:cTn>
                                        <p:tgtEl>
                                          <p:spTgt spid="27"/>
                                        </p:tgtEl>
                                        <p:attrNameLst>
                                          <p:attrName>style.visibility</p:attrName>
                                        </p:attrNameLst>
                                      </p:cBhvr>
                                      <p:to>
                                        <p:strVal val="visible"/>
                                      </p:to>
                                    </p:set>
                                  </p:childTnLst>
                                </p:cTn>
                              </p:par>
                              <p:par>
                                <p:cTn id="39" presetID="1" presetClass="exit" presetSubtype="0" fill="hold" grpId="1" nodeType="withEffect">
                                  <p:stCondLst>
                                    <p:cond delay="0"/>
                                  </p:stCondLst>
                                  <p:childTnLst>
                                    <p:set>
                                      <p:cBhvr>
                                        <p:cTn id="40" dur="1" fill="hold">
                                          <p:stCondLst>
                                            <p:cond delay="0"/>
                                          </p:stCondLst>
                                        </p:cTn>
                                        <p:tgtEl>
                                          <p:spTgt spid="23"/>
                                        </p:tgtEl>
                                        <p:attrNameLst>
                                          <p:attrName>style.visibility</p:attrName>
                                        </p:attrNameLst>
                                      </p:cBhvr>
                                      <p:to>
                                        <p:strVal val="hidden"/>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4" grpId="0" build="p"/>
    </p:bldLst>
  </p:timing>
</p:sld>
</file>

<file path=ppt/slides/slide4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b0_2">
            <a:extLst>
              <a:ext uri="{FF2B5EF4-FFF2-40B4-BE49-F238E27FC236}">
                <a16:creationId xmlns:a16="http://schemas.microsoft.com/office/drawing/2014/main" id="{33DE8782-7F2B-1033-00F6-2A6652EE0E80}"/>
              </a:ext>
            </a:extLst>
          </p:cNvPr>
          <p:cNvSpPr txBox="1"/>
          <p:nvPr/>
        </p:nvSpPr>
        <p:spPr>
          <a:xfrm>
            <a:off x="0" y="148566"/>
            <a:ext cx="11680992" cy="548640"/>
          </a:xfrm>
          <a:prstGeom prst="rect">
            <a:avLst/>
          </a:prstGeom>
          <a:noFill/>
          <a:ln>
            <a:noFill/>
          </a:ln>
        </p:spPr>
        <p:txBody>
          <a:bodyPr wrap="square" rtlCol="0" anchor="ctr"/>
          <a:lstStyle/>
          <a:p>
            <a:r>
              <a:rPr lang="en-US" sz="3200" b="1" dirty="0">
                <a:solidFill>
                  <a:srgbClr val="000000"/>
                </a:solidFill>
                <a:latin typeface="Calibri" pitchFamily="34" charset="0"/>
                <a:ea typeface="Calibri" pitchFamily="34" charset="-122"/>
                <a:cs typeface="Calibri" pitchFamily="34" charset="-120"/>
              </a:rPr>
              <a:t>Understanding </a:t>
            </a:r>
            <a:r>
              <a:rPr lang="en-US" sz="3200" b="1" dirty="0">
                <a:solidFill>
                  <a:srgbClr val="00B050"/>
                </a:solidFill>
                <a:latin typeface="Calibri" pitchFamily="34" charset="0"/>
                <a:ea typeface="Calibri" pitchFamily="34" charset="-122"/>
                <a:cs typeface="Calibri" pitchFamily="34" charset="-120"/>
              </a:rPr>
              <a:t>Learning</a:t>
            </a:r>
            <a:endParaRPr lang="en-US" sz="3200" dirty="0">
              <a:solidFill>
                <a:srgbClr val="362FEC"/>
              </a:solidFill>
            </a:endParaRPr>
          </a:p>
        </p:txBody>
      </p:sp>
      <p:sp>
        <p:nvSpPr>
          <p:cNvPr id="3" name="subheading">
            <a:extLst>
              <a:ext uri="{FF2B5EF4-FFF2-40B4-BE49-F238E27FC236}">
                <a16:creationId xmlns:a16="http://schemas.microsoft.com/office/drawing/2014/main" id="{5CB8A4AA-40B1-94AE-8EEE-080599481F78}"/>
              </a:ext>
            </a:extLst>
          </p:cNvPr>
          <p:cNvSpPr txBox="1"/>
          <p:nvPr/>
        </p:nvSpPr>
        <p:spPr>
          <a:xfrm>
            <a:off x="292608" y="868680"/>
            <a:ext cx="11430000" cy="411480"/>
          </a:xfrm>
          <a:prstGeom prst="rect">
            <a:avLst/>
          </a:prstGeom>
          <a:noFill/>
          <a:ln>
            <a:noFill/>
          </a:ln>
        </p:spPr>
        <p:txBody>
          <a:bodyPr wrap="square" lIns="0" tIns="0" rIns="0" bIns="0" rtlCol="0" anchor="ctr"/>
          <a:lstStyle/>
          <a:p>
            <a:pPr marL="0" indent="0">
              <a:buNone/>
            </a:pPr>
            <a:r>
              <a:rPr lang="en-US" sz="2000" b="1" dirty="0">
                <a:solidFill>
                  <a:srgbClr val="362FEC"/>
                </a:solidFill>
                <a:latin typeface="Calibri" panose="020F0502020204030204" pitchFamily="34" charset="0"/>
                <a:cs typeface="Calibri" panose="020F0502020204030204" pitchFamily="34" charset="0"/>
              </a:rPr>
              <a:t>Learning as a computational problem</a:t>
            </a:r>
          </a:p>
        </p:txBody>
      </p:sp>
      <p:sp>
        <p:nvSpPr>
          <p:cNvPr id="4" name="points"/>
          <p:cNvSpPr txBox="1"/>
          <p:nvPr/>
        </p:nvSpPr>
        <p:spPr>
          <a:xfrm>
            <a:off x="384048" y="1417320"/>
            <a:ext cx="6126480" cy="5166360"/>
          </a:xfrm>
          <a:prstGeom prst="rect">
            <a:avLst/>
          </a:prstGeom>
          <a:noFill/>
        </p:spPr>
        <p:txBody>
          <a:bodyPr wrap="square" lIns="0" rIns="0" tIns="0" bIns="0">
            <a:spAutoFit/>
          </a:bodyPr>
          <a:lstStyle/>
          <a:p>
            <a:pPr algn="l">
              <a:spcAft>
                <a:spcPts val="1200"/>
              </a:spcAft>
            </a:pPr>
            <a:r>
              <a:rPr sz="1800" b="1" i="0">
                <a:solidFill>
                  <a:srgbClr val="362FEC"/>
                </a:solidFill>
                <a:latin typeface="Calibri"/>
              </a:rPr>
              <a:t>1984  </a:t>
            </a:r>
            <a:r>
              <a:rPr sz="1800" b="1" i="0">
                <a:solidFill>
                  <a:srgbClr val="000000"/>
                </a:solidFill>
                <a:latin typeface="Calibri"/>
              </a:rPr>
              <a:t>Valiant: </a:t>
            </a:r>
            <a:r>
              <a:rPr sz="1800" b="0" i="0">
                <a:solidFill>
                  <a:srgbClr val="000000"/>
                </a:solidFill>
                <a:latin typeface="Calibri"/>
              </a:rPr>
              <a:t>PAC learning. From m examples of an unknown target in a known class, output a hypothesis with small error, with high probability, in polynomial time.</a:t>
            </a:r>
          </a:p>
          <a:p>
            <a:pPr algn="l">
              <a:spcAft>
                <a:spcPts val="1200"/>
              </a:spcAft>
            </a:pPr>
            <a:r>
              <a:rPr sz="1800" b="1" i="0">
                <a:solidFill>
                  <a:srgbClr val="00B050"/>
                </a:solidFill>
                <a:latin typeface="Calibri"/>
              </a:rPr>
              <a:t>The distribution</a:t>
            </a:r>
            <a:r>
              <a:rPr sz="1800" b="0" i="0">
                <a:solidFill>
                  <a:srgbClr val="000000"/>
                </a:solidFill>
                <a:latin typeface="Calibri"/>
              </a:rPr>
              <a:t> is the assumption that the future resembles the past; </a:t>
            </a:r>
            <a:r>
              <a:rPr sz="1800" b="1" i="0">
                <a:solidFill>
                  <a:srgbClr val="FF0000"/>
                </a:solidFill>
                <a:latin typeface="Calibri"/>
              </a:rPr>
              <a:t>the class</a:t>
            </a:r>
            <a:r>
              <a:rPr sz="1800" b="0" i="0">
                <a:solidFill>
                  <a:srgbClr val="000000"/>
                </a:solidFill>
                <a:latin typeface="Calibri"/>
              </a:rPr>
              <a:t> is the inductive bias.</a:t>
            </a:r>
          </a:p>
          <a:p>
            <a:pPr algn="l">
              <a:spcAft>
                <a:spcPts val="1200"/>
              </a:spcAft>
            </a:pPr>
            <a:r>
              <a:rPr sz="1800" b="1" i="0">
                <a:solidFill>
                  <a:srgbClr val="FF0000"/>
                </a:solidFill>
                <a:latin typeface="Calibri"/>
              </a:rPr>
              <a:t>The Occam bound</a:t>
            </a:r>
            <a:r>
              <a:rPr sz="1800" b="0" i="0">
                <a:solidFill>
                  <a:srgbClr val="000000"/>
                </a:solidFill>
                <a:latin typeface="Calibri"/>
              </a:rPr>
              <a:t>: a learner that fits every example needs only about the number of bits that name a hypothesis.</a:t>
            </a:r>
          </a:p>
          <a:p>
            <a:pPr algn="l">
              <a:spcAft>
                <a:spcPts val="1200"/>
              </a:spcAft>
            </a:pPr>
            <a:r>
              <a:rPr sz="1800" b="1" i="0">
                <a:solidFill>
                  <a:srgbClr val="362FEC"/>
                </a:solidFill>
                <a:latin typeface="Calibri"/>
              </a:rPr>
              <a:t>Time can bind</a:t>
            </a:r>
            <a:r>
              <a:rPr sz="1800" b="0" i="0">
                <a:solidFill>
                  <a:srgbClr val="000000"/>
                </a:solidFill>
                <a:latin typeface="Calibri"/>
              </a:rPr>
              <a:t>: automata are hard to learn from random examples and easy with queries (Angluin's L*). What you can learn depends on how you ask.</a:t>
            </a:r>
          </a:p>
        </p:txBody>
      </p:sp>
      <p:grpSp>
        <p:nvGrpSpPr>
          <p:cNvPr id="5" name="picture 1"/>
          <p:cNvGrpSpPr/>
          <p:nvPr/>
        </p:nvGrpSpPr>
        <p:grpSpPr>
          <a:xfrm>
            <a:off x="6812280" y="1371600"/>
            <a:ext cx="5120640" cy="3776825"/>
            <a:chOff x="6812280" y="1371600"/>
            <a:chExt cx="5120640" cy="3776825"/>
          </a:xfrm>
        </p:grpSpPr>
        <p:pic>
          <p:nvPicPr>
            <p:cNvPr id="6" name="Picture 5" descr="valiant.jpg"/>
            <p:cNvPicPr>
              <a:picLocks noChangeAspect="1"/>
            </p:cNvPicPr>
            <p:nvPr/>
          </p:nvPicPr>
          <p:blipFill>
            <a:blip r:embed="rId2"/>
            <a:stretch>
              <a:fillRect/>
            </a:stretch>
          </p:blipFill>
          <p:spPr>
            <a:xfrm>
              <a:off x="8397240" y="1371600"/>
              <a:ext cx="1950720" cy="1463040"/>
            </a:xfrm>
            <a:prstGeom prst="rect">
              <a:avLst/>
            </a:prstGeom>
          </p:spPr>
        </p:pic>
        <p:sp>
          <p:nvSpPr>
            <p:cNvPr id="7" name="TextBox 6"/>
            <p:cNvSpPr txBox="1"/>
            <p:nvPr/>
          </p:nvSpPr>
          <p:spPr>
            <a:xfrm>
              <a:off x="8122920" y="2871216"/>
              <a:ext cx="2499360" cy="274320"/>
            </a:xfrm>
            <a:prstGeom prst="rect">
              <a:avLst/>
            </a:prstGeom>
            <a:noFill/>
          </p:spPr>
          <p:txBody>
            <a:bodyPr wrap="square" anchor="t" lIns="0" rIns="0" tIns="0" bIns="0">
              <a:spAutoFit/>
            </a:bodyPr>
            <a:lstStyle/>
            <a:p>
              <a:pPr algn="ctr"/>
              <a:r>
                <a:rPr sz="1200" b="0" i="0">
                  <a:solidFill>
                    <a:srgbClr val="595959"/>
                  </a:solidFill>
                  <a:latin typeface="Calibri"/>
                </a:rPr>
                <a:t>Leslie Valiant</a:t>
              </a:r>
            </a:p>
          </p:txBody>
        </p:sp>
        <p:pic>
          <p:nvPicPr>
            <p:cNvPr id="8" name="Picture 7" descr="pac.png"/>
            <p:cNvPicPr>
              <a:picLocks noChangeAspect="1"/>
            </p:cNvPicPr>
            <p:nvPr/>
          </p:nvPicPr>
          <p:blipFill>
            <a:blip r:embed="rId3"/>
            <a:stretch>
              <a:fillRect/>
            </a:stretch>
          </p:blipFill>
          <p:spPr>
            <a:xfrm>
              <a:off x="6812280" y="3246120"/>
              <a:ext cx="5120640" cy="1405994"/>
            </a:xfrm>
            <a:prstGeom prst="rect">
              <a:avLst/>
            </a:prstGeom>
          </p:spPr>
        </p:pic>
        <p:pic>
          <p:nvPicPr>
            <p:cNvPr id="9" name="Picture 8" descr="eq_pac.png"/>
            <p:cNvPicPr>
              <a:picLocks noChangeAspect="1"/>
            </p:cNvPicPr>
            <p:nvPr/>
          </p:nvPicPr>
          <p:blipFill>
            <a:blip r:embed="rId4"/>
            <a:stretch>
              <a:fillRect/>
            </a:stretch>
          </p:blipFill>
          <p:spPr>
            <a:xfrm>
              <a:off x="6903720" y="4800600"/>
              <a:ext cx="4937760" cy="347825"/>
            </a:xfrm>
            <a:prstGeom prst="rect">
              <a:avLst/>
            </a:prstGeom>
          </p:spPr>
        </p:pic>
      </p:grpSp>
      <p:grpSp>
        <p:nvGrpSpPr>
          <p:cNvPr id="10" name="picture 3"/>
          <p:cNvGrpSpPr/>
          <p:nvPr/>
        </p:nvGrpSpPr>
        <p:grpSpPr>
          <a:xfrm>
            <a:off x="6812280" y="1463040"/>
            <a:ext cx="5120640" cy="1600200"/>
            <a:chOff x="6812280" y="1463040"/>
            <a:chExt cx="5120640" cy="1600200"/>
          </a:xfrm>
        </p:grpSpPr>
        <p:pic>
          <p:nvPicPr>
            <p:cNvPr id="11" name="Picture 10" descr="eq_occam.png"/>
            <p:cNvPicPr>
              <a:picLocks noChangeAspect="1"/>
            </p:cNvPicPr>
            <p:nvPr/>
          </p:nvPicPr>
          <p:blipFill>
            <a:blip r:embed="rId5"/>
            <a:stretch>
              <a:fillRect/>
            </a:stretch>
          </p:blipFill>
          <p:spPr>
            <a:xfrm>
              <a:off x="7726680" y="1463040"/>
              <a:ext cx="3291840" cy="744395"/>
            </a:xfrm>
            <a:prstGeom prst="rect">
              <a:avLst/>
            </a:prstGeom>
          </p:spPr>
        </p:pic>
        <p:sp>
          <p:nvSpPr>
            <p:cNvPr id="12" name="description"/>
            <p:cNvSpPr txBox="1"/>
            <p:nvPr/>
          </p:nvSpPr>
          <p:spPr>
            <a:xfrm>
              <a:off x="6812280" y="2514600"/>
              <a:ext cx="5120640" cy="548640"/>
            </a:xfrm>
            <a:prstGeom prst="rect">
              <a:avLst/>
            </a:prstGeom>
            <a:noFill/>
          </p:spPr>
          <p:txBody>
            <a:bodyPr wrap="square" anchor="t" lIns="0" rIns="0" tIns="0" bIns="0">
              <a:spAutoFit/>
            </a:bodyPr>
            <a:lstStyle/>
            <a:p>
              <a:pPr algn="l"/>
              <a:r>
                <a:rPr sz="1400" b="0" i="0">
                  <a:solidFill>
                    <a:srgbClr val="595959"/>
                  </a:solidFill>
                  <a:latin typeface="Calibri"/>
                </a:rPr>
                <a:t>For all Boolean functions on n bits, ln|H| is exponential in n: no free lunch again, now as a sample size (§A.2).</a:t>
              </a:r>
            </a:p>
          </p:txBody>
        </p:sp>
      </p:grpSp>
      <p:grpSp>
        <p:nvGrpSpPr>
          <p:cNvPr id="13" name="picture 4"/>
          <p:cNvGrpSpPr/>
          <p:nvPr/>
        </p:nvGrpSpPr>
        <p:grpSpPr>
          <a:xfrm>
            <a:off x="6812280" y="1371600"/>
            <a:ext cx="5120640" cy="2304288"/>
            <a:chOff x="6812280" y="1371600"/>
            <a:chExt cx="5120640" cy="2304288"/>
          </a:xfrm>
        </p:grpSpPr>
        <p:pic>
          <p:nvPicPr>
            <p:cNvPr id="14" name="Picture 13" descr="channels.png"/>
            <p:cNvPicPr>
              <a:picLocks noChangeAspect="1"/>
            </p:cNvPicPr>
            <p:nvPr/>
          </p:nvPicPr>
          <p:blipFill>
            <a:blip r:embed="rId6"/>
            <a:stretch>
              <a:fillRect/>
            </a:stretch>
          </p:blipFill>
          <p:spPr>
            <a:xfrm>
              <a:off x="7154593" y="1371600"/>
              <a:ext cx="4436012" cy="1371600"/>
            </a:xfrm>
            <a:prstGeom prst="rect">
              <a:avLst/>
            </a:prstGeom>
          </p:spPr>
        </p:pic>
        <p:sp>
          <p:nvSpPr>
            <p:cNvPr id="15" name="description"/>
            <p:cNvSpPr txBox="1"/>
            <p:nvPr/>
          </p:nvSpPr>
          <p:spPr>
            <a:xfrm>
              <a:off x="6812280" y="2852928"/>
              <a:ext cx="5120640" cy="822960"/>
            </a:xfrm>
            <a:prstGeom prst="rect">
              <a:avLst/>
            </a:prstGeom>
            <a:noFill/>
          </p:spPr>
          <p:txBody>
            <a:bodyPr wrap="square" anchor="t" lIns="0" rIns="0" tIns="0" bIns="0">
              <a:spAutoFit/>
            </a:bodyPr>
            <a:lstStyle/>
            <a:p>
              <a:pPr algn="l"/>
              <a:r>
                <a:rPr sz="1400" b="0" i="0">
                  <a:solidFill>
                    <a:srgbClr val="595959"/>
                  </a:solidFill>
                  <a:latin typeface="Calibri"/>
                </a:rPr>
                <a:t>Pretraining supplies random examples; fine-tuning, chosen demonstrations; preference learning, comparisons; verifiable rewards, something like answers to queries.</a:t>
              </a:r>
            </a:p>
          </p:txBody>
        </p:sp>
      </p:grpSp>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4">
                                            <p:txEl>
                                              <p:pRg st="0" end="0"/>
                                            </p:txEl>
                                          </p:spTgt>
                                        </p:tgtEl>
                                        <p:attrNameLst>
                                          <p:attrName>style.visibility</p:attrName>
                                        </p:attrNameLst>
                                      </p:cBhvr>
                                      <p:to>
                                        <p:strVal val="visible"/>
                                      </p:to>
                                    </p:set>
                                  </p:childTnLst>
                                </p:cTn>
                              </p:par>
                              <p:par>
                                <p:cTn id="7" presetID="1" presetClass="entr" presetSubtype="0" fill="hold" grpId="0" nodeType="withEffect">
                                  <p:stCondLst>
                                    <p:cond delay="0"/>
                                  </p:stCondLst>
                                  <p:childTnLst>
                                    <p:set>
                                      <p:cBhvr>
                                        <p:cTn id="8" dur="1" fill="hold">
                                          <p:stCondLst>
                                            <p:cond delay="0"/>
                                          </p:stCondLst>
                                        </p:cTn>
                                        <p:tgtEl>
                                          <p:spTgt spid="5"/>
                                        </p:tgtEl>
                                        <p:attrNameLst>
                                          <p:attrName>style.visibility</p:attrName>
                                        </p:attrNameLst>
                                      </p:cBhvr>
                                      <p:to>
                                        <p:strVal val="visible"/>
                                      </p:to>
                                    </p:set>
                                  </p:childTnLst>
                                </p:cTn>
                              </p:par>
                            </p:childTnLst>
                          </p:cTn>
                        </p:par>
                      </p:childTnLst>
                    </p:cTn>
                  </p:par>
                  <p:par>
                    <p:cTn id="9" fill="hold">
                      <p:stCondLst>
                        <p:cond delay="indefinite"/>
                      </p:stCondLst>
                      <p:childTnLst>
                        <p:par>
                          <p:cTn id="10" fill="hold">
                            <p:stCondLst>
                              <p:cond delay="0"/>
                            </p:stCondLst>
                            <p:childTnLst>
                              <p:par>
                                <p:cTn id="11" presetID="1" presetClass="entr" presetSubtype="0" fill="hold" grpId="0" nodeType="clickEffect">
                                  <p:stCondLst>
                                    <p:cond delay="0"/>
                                  </p:stCondLst>
                                  <p:childTnLst>
                                    <p:set>
                                      <p:cBhvr>
                                        <p:cTn id="12" dur="1" fill="hold">
                                          <p:stCondLst>
                                            <p:cond delay="0"/>
                                          </p:stCondLst>
                                        </p:cTn>
                                        <p:tgtEl>
                                          <p:spTgt spid="4">
                                            <p:txEl>
                                              <p:pRg st="1" end="1"/>
                                            </p:txEl>
                                          </p:spTgt>
                                        </p:tgtEl>
                                        <p:attrNameLst>
                                          <p:attrName>style.visibility</p:attrName>
                                        </p:attrNameLst>
                                      </p:cBhvr>
                                      <p:to>
                                        <p:strVal val="visible"/>
                                      </p:to>
                                    </p:set>
                                  </p:childTnLst>
                                </p:cTn>
                              </p:par>
                            </p:childTnLst>
                          </p:cTn>
                        </p:par>
                      </p:childTnLst>
                    </p:cTn>
                  </p:par>
                  <p:par>
                    <p:cTn id="13" fill="hold">
                      <p:stCondLst>
                        <p:cond delay="indefinite"/>
                      </p:stCondLst>
                      <p:childTnLst>
                        <p:par>
                          <p:cTn id="14" fill="hold">
                            <p:stCondLst>
                              <p:cond delay="0"/>
                            </p:stCondLst>
                            <p:childTnLst>
                              <p:par>
                                <p:cTn id="15" presetID="1" presetClass="entr" presetSubtype="0" fill="hold" grpId="0" nodeType="clickEffect">
                                  <p:stCondLst>
                                    <p:cond delay="0"/>
                                  </p:stCondLst>
                                  <p:childTnLst>
                                    <p:set>
                                      <p:cBhvr>
                                        <p:cTn id="16" dur="1" fill="hold">
                                          <p:stCondLst>
                                            <p:cond delay="0"/>
                                          </p:stCondLst>
                                        </p:cTn>
                                        <p:tgtEl>
                                          <p:spTgt spid="4">
                                            <p:txEl>
                                              <p:pRg st="2" end="2"/>
                                            </p:txEl>
                                          </p:spTgt>
                                        </p:tgtEl>
                                        <p:attrNameLst>
                                          <p:attrName>style.visibility</p:attrName>
                                        </p:attrNameLst>
                                      </p:cBhvr>
                                      <p:to>
                                        <p:strVal val="visible"/>
                                      </p:to>
                                    </p:set>
                                  </p:childTnLst>
                                </p:cTn>
                              </p:par>
                              <p:par>
                                <p:cTn id="17" presetID="1" presetClass="entr" presetSubtype="0" fill="hold" grpId="0" nodeType="withEffect">
                                  <p:stCondLst>
                                    <p:cond delay="0"/>
                                  </p:stCondLst>
                                  <p:childTnLst>
                                    <p:set>
                                      <p:cBhvr>
                                        <p:cTn id="18" dur="1" fill="hold">
                                          <p:stCondLst>
                                            <p:cond delay="0"/>
                                          </p:stCondLst>
                                        </p:cTn>
                                        <p:tgtEl>
                                          <p:spTgt spid="10"/>
                                        </p:tgtEl>
                                        <p:attrNameLst>
                                          <p:attrName>style.visibility</p:attrName>
                                        </p:attrNameLst>
                                      </p:cBhvr>
                                      <p:to>
                                        <p:strVal val="visible"/>
                                      </p:to>
                                    </p:set>
                                  </p:childTnLst>
                                </p:cTn>
                              </p:par>
                              <p:par>
                                <p:cTn id="19" presetID="1" presetClass="exit" presetSubtype="0" fill="hold" grpId="1" nodeType="withEffect">
                                  <p:stCondLst>
                                    <p:cond delay="0"/>
                                  </p:stCondLst>
                                  <p:childTnLst>
                                    <p:set>
                                      <p:cBhvr>
                                        <p:cTn id="20" dur="1" fill="hold">
                                          <p:stCondLst>
                                            <p:cond delay="0"/>
                                          </p:stCondLst>
                                        </p:cTn>
                                        <p:tgtEl>
                                          <p:spTgt spid="5"/>
                                        </p:tgtEl>
                                        <p:attrNameLst>
                                          <p:attrName>style.visibility</p:attrName>
                                        </p:attrNameLst>
                                      </p:cBhvr>
                                      <p:to>
                                        <p:strVal val="hidden"/>
                                      </p:to>
                                    </p:set>
                                  </p:childTnLst>
                                </p:cTn>
                              </p:par>
                            </p:childTnLst>
                          </p:cTn>
                        </p:par>
                      </p:childTnLst>
                    </p:cTn>
                  </p:par>
                  <p:par>
                    <p:cTn id="21" fill="hold">
                      <p:stCondLst>
                        <p:cond delay="indefinite"/>
                      </p:stCondLst>
                      <p:childTnLst>
                        <p:par>
                          <p:cTn id="22" fill="hold">
                            <p:stCondLst>
                              <p:cond delay="0"/>
                            </p:stCondLst>
                            <p:childTnLst>
                              <p:par>
                                <p:cTn id="23" presetID="1" presetClass="entr" presetSubtype="0" fill="hold" grpId="0" nodeType="clickEffect">
                                  <p:stCondLst>
                                    <p:cond delay="0"/>
                                  </p:stCondLst>
                                  <p:childTnLst>
                                    <p:set>
                                      <p:cBhvr>
                                        <p:cTn id="24" dur="1" fill="hold">
                                          <p:stCondLst>
                                            <p:cond delay="0"/>
                                          </p:stCondLst>
                                        </p:cTn>
                                        <p:tgtEl>
                                          <p:spTgt spid="4">
                                            <p:txEl>
                                              <p:pRg st="3" end="3"/>
                                            </p:txEl>
                                          </p:spTgt>
                                        </p:tgtEl>
                                        <p:attrNameLst>
                                          <p:attrName>style.visibility</p:attrName>
                                        </p:attrNameLst>
                                      </p:cBhvr>
                                      <p:to>
                                        <p:strVal val="visible"/>
                                      </p:to>
                                    </p:set>
                                  </p:childTnLst>
                                </p:cTn>
                              </p:par>
                              <p:par>
                                <p:cTn id="25" presetID="1" presetClass="entr" presetSubtype="0" fill="hold" grpId="0" nodeType="withEffect">
                                  <p:stCondLst>
                                    <p:cond delay="0"/>
                                  </p:stCondLst>
                                  <p:childTnLst>
                                    <p:set>
                                      <p:cBhvr>
                                        <p:cTn id="26" dur="1" fill="hold">
                                          <p:stCondLst>
                                            <p:cond delay="0"/>
                                          </p:stCondLst>
                                        </p:cTn>
                                        <p:tgtEl>
                                          <p:spTgt spid="13"/>
                                        </p:tgtEl>
                                        <p:attrNameLst>
                                          <p:attrName>style.visibility</p:attrName>
                                        </p:attrNameLst>
                                      </p:cBhvr>
                                      <p:to>
                                        <p:strVal val="visible"/>
                                      </p:to>
                                    </p:set>
                                  </p:childTnLst>
                                </p:cTn>
                              </p:par>
                              <p:par>
                                <p:cTn id="27" presetID="1" presetClass="exit" presetSubtype="0" fill="hold" grpId="1" nodeType="withEffect">
                                  <p:stCondLst>
                                    <p:cond delay="0"/>
                                  </p:stCondLst>
                                  <p:childTnLst>
                                    <p:set>
                                      <p:cBhvr>
                                        <p:cTn id="28" dur="1" fill="hold">
                                          <p:stCondLst>
                                            <p:cond delay="0"/>
                                          </p:stCondLst>
                                        </p:cTn>
                                        <p:tgtEl>
                                          <p:spTgt spid="10"/>
                                        </p:tgtEl>
                                        <p:attrNameLst>
                                          <p:attrName>style.visibility</p:attrName>
                                        </p:attrNameLst>
                                      </p:cBhvr>
                                      <p:to>
                                        <p:strVal val="hidden"/>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4" grpId="0" build="p"/>
    </p:bldLst>
  </p:timing>
</p:sld>
</file>

<file path=ppt/slides/slide5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b0_2">
            <a:extLst>
              <a:ext uri="{FF2B5EF4-FFF2-40B4-BE49-F238E27FC236}">
                <a16:creationId xmlns:a16="http://schemas.microsoft.com/office/drawing/2014/main" id="{33DE8782-7F2B-1033-00F6-2A6652EE0E80}"/>
              </a:ext>
            </a:extLst>
          </p:cNvPr>
          <p:cNvSpPr txBox="1"/>
          <p:nvPr/>
        </p:nvSpPr>
        <p:spPr>
          <a:xfrm>
            <a:off x="0" y="148566"/>
            <a:ext cx="11680992" cy="548640"/>
          </a:xfrm>
          <a:prstGeom prst="rect">
            <a:avLst/>
          </a:prstGeom>
          <a:noFill/>
          <a:ln>
            <a:noFill/>
          </a:ln>
        </p:spPr>
        <p:txBody>
          <a:bodyPr wrap="square" rtlCol="0" anchor="ctr"/>
          <a:lstStyle/>
          <a:p>
            <a:r>
              <a:rPr lang="en-US" sz="3200" b="1" dirty="0">
                <a:solidFill>
                  <a:srgbClr val="000000"/>
                </a:solidFill>
                <a:latin typeface="Calibri" pitchFamily="34" charset="0"/>
                <a:ea typeface="Calibri" pitchFamily="34" charset="-122"/>
                <a:cs typeface="Calibri" pitchFamily="34" charset="-120"/>
              </a:rPr>
              <a:t>Understanding </a:t>
            </a:r>
            <a:r>
              <a:rPr lang="en-US" sz="3200" b="1" dirty="0">
                <a:solidFill>
                  <a:srgbClr val="362FEC"/>
                </a:solidFill>
                <a:latin typeface="Calibri" pitchFamily="34" charset="0"/>
                <a:ea typeface="Calibri" pitchFamily="34" charset="-122"/>
                <a:cs typeface="Calibri" pitchFamily="34" charset="-120"/>
              </a:rPr>
              <a:t>Language</a:t>
            </a:r>
            <a:endParaRPr lang="en-US" sz="3200" dirty="0">
              <a:solidFill>
                <a:srgbClr val="362FEC"/>
              </a:solidFill>
            </a:endParaRPr>
          </a:p>
        </p:txBody>
      </p:sp>
      <p:sp>
        <p:nvSpPr>
          <p:cNvPr id="3" name="subheading">
            <a:extLst>
              <a:ext uri="{FF2B5EF4-FFF2-40B4-BE49-F238E27FC236}">
                <a16:creationId xmlns:a16="http://schemas.microsoft.com/office/drawing/2014/main" id="{5CB8A4AA-40B1-94AE-8EEE-080599481F78}"/>
              </a:ext>
            </a:extLst>
          </p:cNvPr>
          <p:cNvSpPr txBox="1"/>
          <p:nvPr/>
        </p:nvSpPr>
        <p:spPr>
          <a:xfrm>
            <a:off x="292608" y="868680"/>
            <a:ext cx="11430000" cy="411480"/>
          </a:xfrm>
          <a:prstGeom prst="rect">
            <a:avLst/>
          </a:prstGeom>
          <a:noFill/>
          <a:ln>
            <a:noFill/>
          </a:ln>
        </p:spPr>
        <p:txBody>
          <a:bodyPr wrap="square" lIns="0" tIns="0" rIns="0" bIns="0" rtlCol="0" anchor="ctr"/>
          <a:lstStyle/>
          <a:p>
            <a:pPr marL="0" indent="0">
              <a:buNone/>
            </a:pPr>
            <a:r>
              <a:rPr lang="en-US" sz="2000" b="1" dirty="0">
                <a:solidFill>
                  <a:srgbClr val="362FEC"/>
                </a:solidFill>
                <a:latin typeface="Calibri" panose="020F0502020204030204" pitchFamily="34" charset="0"/>
                <a:cs typeface="Calibri" panose="020F0502020204030204" pitchFamily="34" charset="0"/>
              </a:rPr>
              <a:t>What a sentence is</a:t>
            </a:r>
          </a:p>
        </p:txBody>
      </p:sp>
      <p:sp>
        <p:nvSpPr>
          <p:cNvPr id="4" name="points"/>
          <p:cNvSpPr txBox="1"/>
          <p:nvPr/>
        </p:nvSpPr>
        <p:spPr>
          <a:xfrm>
            <a:off x="384048" y="1417320"/>
            <a:ext cx="6126480" cy="5166360"/>
          </a:xfrm>
          <a:prstGeom prst="rect">
            <a:avLst/>
          </a:prstGeom>
          <a:noFill/>
        </p:spPr>
        <p:txBody>
          <a:bodyPr wrap="square" lIns="0" rIns="0" tIns="0" bIns="0">
            <a:spAutoFit/>
          </a:bodyPr>
          <a:lstStyle/>
          <a:p>
            <a:pPr algn="l">
              <a:spcAft>
                <a:spcPts val="1600"/>
              </a:spcAft>
            </a:pPr>
            <a:r>
              <a:rPr sz="2000" b="1" i="0">
                <a:solidFill>
                  <a:srgbClr val="FF0000"/>
                </a:solidFill>
                <a:latin typeface="Calibri"/>
              </a:rPr>
              <a:t>A sequence of marks</a:t>
            </a:r>
            <a:r>
              <a:rPr sz="2000" b="0" i="0">
                <a:solidFill>
                  <a:srgbClr val="000000"/>
                </a:solidFill>
                <a:latin typeface="Calibri"/>
              </a:rPr>
              <a:t>: symbols on a page or sounds in time.</a:t>
            </a:r>
          </a:p>
          <a:p>
            <a:pPr algn="l">
              <a:spcAft>
                <a:spcPts val="1600"/>
              </a:spcAft>
            </a:pPr>
            <a:r>
              <a:rPr sz="2000" b="1" i="0">
                <a:solidFill>
                  <a:srgbClr val="362FEC"/>
                </a:solidFill>
                <a:latin typeface="Calibri"/>
              </a:rPr>
              <a:t>A grammatical construction</a:t>
            </a:r>
            <a:r>
              <a:rPr sz="2000" b="0" i="0">
                <a:solidFill>
                  <a:srgbClr val="000000"/>
                </a:solidFill>
                <a:latin typeface="Calibri"/>
              </a:rPr>
              <a:t>: words grouped into phrases by rules.</a:t>
            </a:r>
          </a:p>
          <a:p>
            <a:pPr algn="l">
              <a:spcAft>
                <a:spcPts val="1600"/>
              </a:spcAft>
            </a:pPr>
            <a:r>
              <a:rPr sz="2000" b="1" i="0">
                <a:solidFill>
                  <a:srgbClr val="00B050"/>
                </a:solidFill>
                <a:latin typeface="Calibri"/>
              </a:rPr>
              <a:t>An expression about something</a:t>
            </a:r>
            <a:r>
              <a:rPr sz="2000" b="0" i="0">
                <a:solidFill>
                  <a:srgbClr val="000000"/>
                </a:solidFill>
                <a:latin typeface="Calibri"/>
              </a:rPr>
              <a:t>: it refers, and can be true or false.</a:t>
            </a:r>
          </a:p>
          <a:p>
            <a:pPr algn="l">
              <a:spcAft>
                <a:spcPts val="1600"/>
              </a:spcAft>
            </a:pPr>
            <a:r>
              <a:rPr sz="2000" b="1" i="0">
                <a:solidFill>
                  <a:srgbClr val="ED7D31"/>
                </a:solidFill>
                <a:latin typeface="Calibri"/>
              </a:rPr>
              <a:t>A move in an interaction</a:t>
            </a:r>
            <a:r>
              <a:rPr sz="2000" b="0" i="0">
                <a:solidFill>
                  <a:srgbClr val="000000"/>
                </a:solidFill>
                <a:latin typeface="Calibri"/>
              </a:rPr>
              <a:t>: it asks, tells, promises, or requests.</a:t>
            </a:r>
          </a:p>
        </p:txBody>
      </p:sp>
      <p:grpSp>
        <p:nvGrpSpPr>
          <p:cNvPr id="5" name="picture 1"/>
          <p:cNvGrpSpPr/>
          <p:nvPr/>
        </p:nvGrpSpPr>
        <p:grpSpPr>
          <a:xfrm>
            <a:off x="6629400" y="1371600"/>
            <a:ext cx="5486400" cy="3611879"/>
            <a:chOff x="6629400" y="1371600"/>
            <a:chExt cx="5486400" cy="3611879"/>
          </a:xfrm>
        </p:grpSpPr>
        <p:pic>
          <p:nvPicPr>
            <p:cNvPr id="6" name="Picture 5" descr="image.jpg"/>
            <p:cNvPicPr>
              <a:picLocks noChangeAspect="1"/>
            </p:cNvPicPr>
            <p:nvPr/>
          </p:nvPicPr>
          <p:blipFill>
            <a:blip r:embed="rId2"/>
            <a:stretch>
              <a:fillRect/>
            </a:stretch>
          </p:blipFill>
          <p:spPr>
            <a:xfrm>
              <a:off x="7856982" y="1371600"/>
              <a:ext cx="3031236" cy="3291840"/>
            </a:xfrm>
            <a:prstGeom prst="rect">
              <a:avLst/>
            </a:prstGeom>
          </p:spPr>
        </p:pic>
        <p:sp>
          <p:nvSpPr>
            <p:cNvPr id="7" name="TextBox 6"/>
            <p:cNvSpPr txBox="1"/>
            <p:nvPr/>
          </p:nvSpPr>
          <p:spPr>
            <a:xfrm>
              <a:off x="6629400" y="4709159"/>
              <a:ext cx="5486400" cy="274320"/>
            </a:xfrm>
            <a:prstGeom prst="rect">
              <a:avLst/>
            </a:prstGeom>
            <a:noFill/>
          </p:spPr>
          <p:txBody>
            <a:bodyPr wrap="square" anchor="t" lIns="0" rIns="0" tIns="0" bIns="0">
              <a:spAutoFit/>
            </a:bodyPr>
            <a:lstStyle/>
            <a:p>
              <a:pPr algn="ctr"/>
              <a:r>
                <a:rPr sz="1200" b="0" i="0">
                  <a:solidFill>
                    <a:srgbClr val="595959"/>
                  </a:solidFill>
                  <a:latin typeface="Calibri"/>
                </a:rPr>
                <a:t>a student's exercise tablet in cuneiform (Metropolitan Museum of Art)</a:t>
              </a:r>
            </a:p>
          </p:txBody>
        </p:sp>
      </p:grpSp>
      <p:grpSp>
        <p:nvGrpSpPr>
          <p:cNvPr id="8" name="picture 2"/>
          <p:cNvGrpSpPr/>
          <p:nvPr/>
        </p:nvGrpSpPr>
        <p:grpSpPr>
          <a:xfrm>
            <a:off x="6812280" y="1371600"/>
            <a:ext cx="5120640" cy="4041648"/>
            <a:chOff x="6812280" y="1371600"/>
            <a:chExt cx="5120640" cy="4041648"/>
          </a:xfrm>
        </p:grpSpPr>
        <p:pic>
          <p:nvPicPr>
            <p:cNvPr id="9" name="Picture 8" descr="parse_tree.png"/>
            <p:cNvPicPr>
              <a:picLocks noChangeAspect="1"/>
            </p:cNvPicPr>
            <p:nvPr/>
          </p:nvPicPr>
          <p:blipFill>
            <a:blip r:embed="rId3"/>
            <a:stretch>
              <a:fillRect/>
            </a:stretch>
          </p:blipFill>
          <p:spPr>
            <a:xfrm>
              <a:off x="6957778" y="1371600"/>
              <a:ext cx="4829642" cy="3108960"/>
            </a:xfrm>
            <a:prstGeom prst="rect">
              <a:avLst/>
            </a:prstGeom>
          </p:spPr>
        </p:pic>
        <p:sp>
          <p:nvSpPr>
            <p:cNvPr id="10" name="description"/>
            <p:cNvSpPr txBox="1"/>
            <p:nvPr/>
          </p:nvSpPr>
          <p:spPr>
            <a:xfrm>
              <a:off x="6812280" y="4590288"/>
              <a:ext cx="5120640" cy="822960"/>
            </a:xfrm>
            <a:prstGeom prst="rect">
              <a:avLst/>
            </a:prstGeom>
            <a:noFill/>
          </p:spPr>
          <p:txBody>
            <a:bodyPr wrap="square" anchor="t" lIns="0" rIns="0" tIns="0" bIns="0">
              <a:spAutoFit/>
            </a:bodyPr>
            <a:lstStyle/>
            <a:p>
              <a:pPr algn="l"/>
              <a:r>
                <a:rPr sz="1400" b="0" i="0">
                  <a:solidFill>
                    <a:srgbClr val="595959"/>
                  </a:solidFill>
                  <a:latin typeface="Calibri"/>
                </a:rPr>
                <a:t>Structure: Week 2 (grammars and automata).</a:t>
              </a:r>
            </a:p>
          </p:txBody>
        </p:sp>
      </p:grpSp>
      <p:grpSp>
        <p:nvGrpSpPr>
          <p:cNvPr id="11" name="picture 3"/>
          <p:cNvGrpSpPr/>
          <p:nvPr/>
        </p:nvGrpSpPr>
        <p:grpSpPr>
          <a:xfrm>
            <a:off x="6629400" y="1371600"/>
            <a:ext cx="5486400" cy="4206240"/>
            <a:chOff x="6629400" y="1371600"/>
            <a:chExt cx="5486400" cy="4206240"/>
          </a:xfrm>
        </p:grpSpPr>
        <p:pic>
          <p:nvPicPr>
            <p:cNvPr id="12" name="Picture 11" descr="venus.jpg"/>
            <p:cNvPicPr>
              <a:picLocks noChangeAspect="1"/>
            </p:cNvPicPr>
            <p:nvPr/>
          </p:nvPicPr>
          <p:blipFill>
            <a:blip r:embed="rId4"/>
            <a:stretch>
              <a:fillRect/>
            </a:stretch>
          </p:blipFill>
          <p:spPr>
            <a:xfrm>
              <a:off x="7909560" y="1371600"/>
              <a:ext cx="2926080" cy="2926080"/>
            </a:xfrm>
            <a:prstGeom prst="rect">
              <a:avLst/>
            </a:prstGeom>
          </p:spPr>
        </p:pic>
        <p:sp>
          <p:nvSpPr>
            <p:cNvPr id="13" name="TextBox 12"/>
            <p:cNvSpPr txBox="1"/>
            <p:nvPr/>
          </p:nvSpPr>
          <p:spPr>
            <a:xfrm>
              <a:off x="6629400" y="4343400"/>
              <a:ext cx="5486400" cy="274320"/>
            </a:xfrm>
            <a:prstGeom prst="rect">
              <a:avLst/>
            </a:prstGeom>
            <a:noFill/>
          </p:spPr>
          <p:txBody>
            <a:bodyPr wrap="square" anchor="t" lIns="0" rIns="0" tIns="0" bIns="0">
              <a:spAutoFit/>
            </a:bodyPr>
            <a:lstStyle/>
            <a:p>
              <a:pPr algn="ctr"/>
              <a:r>
                <a:rPr sz="1200" b="0" i="0">
                  <a:solidFill>
                    <a:srgbClr val="595959"/>
                  </a:solidFill>
                  <a:latin typeface="Calibri"/>
                </a:rPr>
                <a:t>Venus: “the morning star” and “the evening star”</a:t>
              </a:r>
            </a:p>
          </p:txBody>
        </p:sp>
        <p:sp>
          <p:nvSpPr>
            <p:cNvPr id="14" name="description"/>
            <p:cNvSpPr txBox="1"/>
            <p:nvPr/>
          </p:nvSpPr>
          <p:spPr>
            <a:xfrm>
              <a:off x="6812280" y="4754880"/>
              <a:ext cx="5120640" cy="822960"/>
            </a:xfrm>
            <a:prstGeom prst="rect">
              <a:avLst/>
            </a:prstGeom>
            <a:noFill/>
          </p:spPr>
          <p:txBody>
            <a:bodyPr wrap="square" anchor="t" lIns="0" rIns="0" tIns="0" bIns="0">
              <a:spAutoFit/>
            </a:bodyPr>
            <a:lstStyle/>
            <a:p>
              <a:pPr algn="l"/>
              <a:r>
                <a:rPr sz="1400" b="0" i="0">
                  <a:solidFill>
                    <a:srgbClr val="595959"/>
                  </a:solidFill>
                  <a:latin typeface="Calibri"/>
                </a:rPr>
                <a:t>Reference: §7.</a:t>
              </a:r>
            </a:p>
          </p:txBody>
        </p:sp>
      </p:grpSp>
      <p:grpSp>
        <p:nvGrpSpPr>
          <p:cNvPr id="15" name="picture 4"/>
          <p:cNvGrpSpPr/>
          <p:nvPr/>
        </p:nvGrpSpPr>
        <p:grpSpPr>
          <a:xfrm>
            <a:off x="6812280" y="1371600"/>
            <a:ext cx="5120640" cy="2570101"/>
            <a:chOff x="6812280" y="1371600"/>
            <a:chExt cx="5120640" cy="2570101"/>
          </a:xfrm>
        </p:grpSpPr>
        <p:pic>
          <p:nvPicPr>
            <p:cNvPr id="16" name="Picture 15" descr="intent_schematic.png"/>
            <p:cNvPicPr>
              <a:picLocks noChangeAspect="1"/>
            </p:cNvPicPr>
            <p:nvPr/>
          </p:nvPicPr>
          <p:blipFill>
            <a:blip r:embed="rId5"/>
            <a:stretch>
              <a:fillRect/>
            </a:stretch>
          </p:blipFill>
          <p:spPr>
            <a:xfrm>
              <a:off x="6812280" y="1371600"/>
              <a:ext cx="5120640" cy="1637413"/>
            </a:xfrm>
            <a:prstGeom prst="rect">
              <a:avLst/>
            </a:prstGeom>
          </p:spPr>
        </p:pic>
        <p:sp>
          <p:nvSpPr>
            <p:cNvPr id="17" name="description"/>
            <p:cNvSpPr txBox="1"/>
            <p:nvPr/>
          </p:nvSpPr>
          <p:spPr>
            <a:xfrm>
              <a:off x="6812280" y="3118741"/>
              <a:ext cx="5120640" cy="822960"/>
            </a:xfrm>
            <a:prstGeom prst="rect">
              <a:avLst/>
            </a:prstGeom>
            <a:noFill/>
          </p:spPr>
          <p:txBody>
            <a:bodyPr wrap="square" anchor="t" lIns="0" rIns="0" tIns="0" bIns="0">
              <a:spAutoFit/>
            </a:bodyPr>
            <a:lstStyle/>
            <a:p>
              <a:pPr algn="l"/>
              <a:r>
                <a:rPr sz="1400" b="0" i="0">
                  <a:solidFill>
                    <a:srgbClr val="595959"/>
                  </a:solidFill>
                  <a:latin typeface="Calibri"/>
                </a:rPr>
                <a:t>Use and intent: §7.</a:t>
              </a:r>
            </a:p>
          </p:txBody>
        </p:sp>
      </p:grpSp>
      <p:sp>
        <p:nvSpPr>
          <p:cNvPr id="18" name="takeaway"/>
          <p:cNvSpPr txBox="1"/>
          <p:nvPr/>
        </p:nvSpPr>
        <p:spPr>
          <a:xfrm>
            <a:off x="384048" y="5669280"/>
            <a:ext cx="11430000" cy="457200"/>
          </a:xfrm>
          <a:prstGeom prst="rect">
            <a:avLst/>
          </a:prstGeom>
          <a:noFill/>
        </p:spPr>
        <p:txBody>
          <a:bodyPr wrap="square" lIns="0" rIns="0" tIns="0" bIns="0">
            <a:spAutoFit/>
          </a:bodyPr>
          <a:lstStyle/>
          <a:p>
            <a:pPr algn="l">
              <a:spcAft>
                <a:spcPts val="1000"/>
              </a:spcAft>
            </a:pPr>
            <a:r>
              <a:rPr sz="2000" b="1" i="0">
                <a:solidFill>
                  <a:srgbClr val="362FEC"/>
                </a:solidFill>
                <a:latin typeface="Calibri"/>
              </a:rPr>
              <a:t>This section: </a:t>
            </a:r>
            <a:r>
              <a:rPr sz="2000" b="0" i="0">
                <a:solidFill>
                  <a:srgbClr val="000000"/>
                </a:solidFill>
                <a:latin typeface="Calibri"/>
              </a:rPr>
              <a:t>structure and statistics. Meaning and use come next.</a:t>
            </a:r>
          </a:p>
        </p:txBody>
      </p:sp>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4">
                                            <p:txEl>
                                              <p:pRg st="0" end="0"/>
                                            </p:txEl>
                                          </p:spTgt>
                                        </p:tgtEl>
                                        <p:attrNameLst>
                                          <p:attrName>style.visibility</p:attrName>
                                        </p:attrNameLst>
                                      </p:cBhvr>
                                      <p:to>
                                        <p:strVal val="visible"/>
                                      </p:to>
                                    </p:set>
                                  </p:childTnLst>
                                </p:cTn>
                              </p:par>
                              <p:par>
                                <p:cTn id="7" presetID="1" presetClass="entr" presetSubtype="0" fill="hold" grpId="0" nodeType="withEffect">
                                  <p:stCondLst>
                                    <p:cond delay="0"/>
                                  </p:stCondLst>
                                  <p:childTnLst>
                                    <p:set>
                                      <p:cBhvr>
                                        <p:cTn id="8" dur="1" fill="hold">
                                          <p:stCondLst>
                                            <p:cond delay="0"/>
                                          </p:stCondLst>
                                        </p:cTn>
                                        <p:tgtEl>
                                          <p:spTgt spid="5"/>
                                        </p:tgtEl>
                                        <p:attrNameLst>
                                          <p:attrName>style.visibility</p:attrName>
                                        </p:attrNameLst>
                                      </p:cBhvr>
                                      <p:to>
                                        <p:strVal val="visible"/>
                                      </p:to>
                                    </p:set>
                                  </p:childTnLst>
                                </p:cTn>
                              </p:par>
                            </p:childTnLst>
                          </p:cTn>
                        </p:par>
                      </p:childTnLst>
                    </p:cTn>
                  </p:par>
                  <p:par>
                    <p:cTn id="9" fill="hold">
                      <p:stCondLst>
                        <p:cond delay="indefinite"/>
                      </p:stCondLst>
                      <p:childTnLst>
                        <p:par>
                          <p:cTn id="10" fill="hold">
                            <p:stCondLst>
                              <p:cond delay="0"/>
                            </p:stCondLst>
                            <p:childTnLst>
                              <p:par>
                                <p:cTn id="11" presetID="1" presetClass="entr" presetSubtype="0" fill="hold" grpId="0" nodeType="clickEffect">
                                  <p:stCondLst>
                                    <p:cond delay="0"/>
                                  </p:stCondLst>
                                  <p:childTnLst>
                                    <p:set>
                                      <p:cBhvr>
                                        <p:cTn id="12" dur="1" fill="hold">
                                          <p:stCondLst>
                                            <p:cond delay="0"/>
                                          </p:stCondLst>
                                        </p:cTn>
                                        <p:tgtEl>
                                          <p:spTgt spid="4">
                                            <p:txEl>
                                              <p:pRg st="1" end="1"/>
                                            </p:txEl>
                                          </p:spTgt>
                                        </p:tgtEl>
                                        <p:attrNameLst>
                                          <p:attrName>style.visibility</p:attrName>
                                        </p:attrNameLst>
                                      </p:cBhvr>
                                      <p:to>
                                        <p:strVal val="visible"/>
                                      </p:to>
                                    </p:set>
                                  </p:childTnLst>
                                </p:cTn>
                              </p:par>
                              <p:par>
                                <p:cTn id="13" presetID="1" presetClass="entr" presetSubtype="0" fill="hold" grpId="0" nodeType="withEffect">
                                  <p:stCondLst>
                                    <p:cond delay="0"/>
                                  </p:stCondLst>
                                  <p:childTnLst>
                                    <p:set>
                                      <p:cBhvr>
                                        <p:cTn id="14" dur="1" fill="hold">
                                          <p:stCondLst>
                                            <p:cond delay="0"/>
                                          </p:stCondLst>
                                        </p:cTn>
                                        <p:tgtEl>
                                          <p:spTgt spid="8"/>
                                        </p:tgtEl>
                                        <p:attrNameLst>
                                          <p:attrName>style.visibility</p:attrName>
                                        </p:attrNameLst>
                                      </p:cBhvr>
                                      <p:to>
                                        <p:strVal val="visible"/>
                                      </p:to>
                                    </p:set>
                                  </p:childTnLst>
                                </p:cTn>
                              </p:par>
                              <p:par>
                                <p:cTn id="15" presetID="1" presetClass="exit" presetSubtype="0" fill="hold" grpId="1" nodeType="withEffect">
                                  <p:stCondLst>
                                    <p:cond delay="0"/>
                                  </p:stCondLst>
                                  <p:childTnLst>
                                    <p:set>
                                      <p:cBhvr>
                                        <p:cTn id="16" dur="1" fill="hold">
                                          <p:stCondLst>
                                            <p:cond delay="0"/>
                                          </p:stCondLst>
                                        </p:cTn>
                                        <p:tgtEl>
                                          <p:spTgt spid="5"/>
                                        </p:tgtEl>
                                        <p:attrNameLst>
                                          <p:attrName>style.visibility</p:attrName>
                                        </p:attrNameLst>
                                      </p:cBhvr>
                                      <p:to>
                                        <p:strVal val="hidden"/>
                                      </p:to>
                                    </p:set>
                                  </p:childTnLst>
                                </p:cTn>
                              </p:par>
                            </p:childTnLst>
                          </p:cTn>
                        </p:par>
                      </p:childTnLst>
                    </p:cTn>
                  </p:par>
                  <p:par>
                    <p:cTn id="17" fill="hold">
                      <p:stCondLst>
                        <p:cond delay="indefinite"/>
                      </p:stCondLst>
                      <p:childTnLst>
                        <p:par>
                          <p:cTn id="18" fill="hold">
                            <p:stCondLst>
                              <p:cond delay="0"/>
                            </p:stCondLst>
                            <p:childTnLst>
                              <p:par>
                                <p:cTn id="19" presetID="1" presetClass="entr" presetSubtype="0" fill="hold" grpId="0" nodeType="clickEffect">
                                  <p:stCondLst>
                                    <p:cond delay="0"/>
                                  </p:stCondLst>
                                  <p:childTnLst>
                                    <p:set>
                                      <p:cBhvr>
                                        <p:cTn id="20" dur="1" fill="hold">
                                          <p:stCondLst>
                                            <p:cond delay="0"/>
                                          </p:stCondLst>
                                        </p:cTn>
                                        <p:tgtEl>
                                          <p:spTgt spid="4">
                                            <p:txEl>
                                              <p:pRg st="2" end="2"/>
                                            </p:txEl>
                                          </p:spTgt>
                                        </p:tgtEl>
                                        <p:attrNameLst>
                                          <p:attrName>style.visibility</p:attrName>
                                        </p:attrNameLst>
                                      </p:cBhvr>
                                      <p:to>
                                        <p:strVal val="visible"/>
                                      </p:to>
                                    </p:set>
                                  </p:childTnLst>
                                </p:cTn>
                              </p:par>
                              <p:par>
                                <p:cTn id="21" presetID="1" presetClass="entr" presetSubtype="0" fill="hold" grpId="0" nodeType="withEffect">
                                  <p:stCondLst>
                                    <p:cond delay="0"/>
                                  </p:stCondLst>
                                  <p:childTnLst>
                                    <p:set>
                                      <p:cBhvr>
                                        <p:cTn id="22" dur="1" fill="hold">
                                          <p:stCondLst>
                                            <p:cond delay="0"/>
                                          </p:stCondLst>
                                        </p:cTn>
                                        <p:tgtEl>
                                          <p:spTgt spid="11"/>
                                        </p:tgtEl>
                                        <p:attrNameLst>
                                          <p:attrName>style.visibility</p:attrName>
                                        </p:attrNameLst>
                                      </p:cBhvr>
                                      <p:to>
                                        <p:strVal val="visible"/>
                                      </p:to>
                                    </p:set>
                                  </p:childTnLst>
                                </p:cTn>
                              </p:par>
                              <p:par>
                                <p:cTn id="23" presetID="1" presetClass="exit" presetSubtype="0" fill="hold" grpId="1" nodeType="withEffect">
                                  <p:stCondLst>
                                    <p:cond delay="0"/>
                                  </p:stCondLst>
                                  <p:childTnLst>
                                    <p:set>
                                      <p:cBhvr>
                                        <p:cTn id="24" dur="1" fill="hold">
                                          <p:stCondLst>
                                            <p:cond delay="0"/>
                                          </p:stCondLst>
                                        </p:cTn>
                                        <p:tgtEl>
                                          <p:spTgt spid="8"/>
                                        </p:tgtEl>
                                        <p:attrNameLst>
                                          <p:attrName>style.visibility</p:attrName>
                                        </p:attrNameLst>
                                      </p:cBhvr>
                                      <p:to>
                                        <p:strVal val="hidden"/>
                                      </p:to>
                                    </p:set>
                                  </p:childTnLst>
                                </p:cTn>
                              </p:par>
                            </p:childTnLst>
                          </p:cTn>
                        </p:par>
                      </p:childTnLst>
                    </p:cTn>
                  </p:par>
                  <p:par>
                    <p:cTn id="25" fill="hold">
                      <p:stCondLst>
                        <p:cond delay="indefinite"/>
                      </p:stCondLst>
                      <p:childTnLst>
                        <p:par>
                          <p:cTn id="26" fill="hold">
                            <p:stCondLst>
                              <p:cond delay="0"/>
                            </p:stCondLst>
                            <p:childTnLst>
                              <p:par>
                                <p:cTn id="27" presetID="1" presetClass="entr" presetSubtype="0" fill="hold" grpId="0" nodeType="clickEffect">
                                  <p:stCondLst>
                                    <p:cond delay="0"/>
                                  </p:stCondLst>
                                  <p:childTnLst>
                                    <p:set>
                                      <p:cBhvr>
                                        <p:cTn id="28" dur="1" fill="hold">
                                          <p:stCondLst>
                                            <p:cond delay="0"/>
                                          </p:stCondLst>
                                        </p:cTn>
                                        <p:tgtEl>
                                          <p:spTgt spid="4">
                                            <p:txEl>
                                              <p:pRg st="3" end="3"/>
                                            </p:txEl>
                                          </p:spTgt>
                                        </p:tgtEl>
                                        <p:attrNameLst>
                                          <p:attrName>style.visibility</p:attrName>
                                        </p:attrNameLst>
                                      </p:cBhvr>
                                      <p:to>
                                        <p:strVal val="visible"/>
                                      </p:to>
                                    </p:set>
                                  </p:childTnLst>
                                </p:cTn>
                              </p:par>
                              <p:par>
                                <p:cTn id="29" presetID="1" presetClass="entr" presetSubtype="0" fill="hold" grpId="0" nodeType="withEffect">
                                  <p:stCondLst>
                                    <p:cond delay="0"/>
                                  </p:stCondLst>
                                  <p:childTnLst>
                                    <p:set>
                                      <p:cBhvr>
                                        <p:cTn id="30" dur="1" fill="hold">
                                          <p:stCondLst>
                                            <p:cond delay="0"/>
                                          </p:stCondLst>
                                        </p:cTn>
                                        <p:tgtEl>
                                          <p:spTgt spid="15"/>
                                        </p:tgtEl>
                                        <p:attrNameLst>
                                          <p:attrName>style.visibility</p:attrName>
                                        </p:attrNameLst>
                                      </p:cBhvr>
                                      <p:to>
                                        <p:strVal val="visible"/>
                                      </p:to>
                                    </p:set>
                                  </p:childTnLst>
                                </p:cTn>
                              </p:par>
                              <p:par>
                                <p:cTn id="31" presetID="1" presetClass="exit" presetSubtype="0" fill="hold" grpId="1" nodeType="withEffect">
                                  <p:stCondLst>
                                    <p:cond delay="0"/>
                                  </p:stCondLst>
                                  <p:childTnLst>
                                    <p:set>
                                      <p:cBhvr>
                                        <p:cTn id="32" dur="1" fill="hold">
                                          <p:stCondLst>
                                            <p:cond delay="0"/>
                                          </p:stCondLst>
                                        </p:cTn>
                                        <p:tgtEl>
                                          <p:spTgt spid="11"/>
                                        </p:tgtEl>
                                        <p:attrNameLst>
                                          <p:attrName>style.visibility</p:attrName>
                                        </p:attrNameLst>
                                      </p:cBhvr>
                                      <p:to>
                                        <p:strVal val="hidden"/>
                                      </p:to>
                                    </p:set>
                                  </p:childTnLst>
                                </p:cTn>
                              </p:par>
                            </p:childTnLst>
                          </p:cTn>
                        </p:par>
                      </p:childTnLst>
                    </p:cTn>
                  </p:par>
                  <p:par>
                    <p:cTn id="33" fill="hold">
                      <p:stCondLst>
                        <p:cond delay="indefinite"/>
                      </p:stCondLst>
                      <p:childTnLst>
                        <p:par>
                          <p:cTn id="34" fill="hold">
                            <p:stCondLst>
                              <p:cond delay="0"/>
                            </p:stCondLst>
                            <p:childTnLst>
                              <p:par>
                                <p:cTn id="35" presetID="1" presetClass="entr" presetSubtype="0" fill="hold" grpId="0" nodeType="clickEffect">
                                  <p:stCondLst>
                                    <p:cond delay="0"/>
                                  </p:stCondLst>
                                  <p:childTnLst>
                                    <p:set>
                                      <p:cBhvr>
                                        <p:cTn id="36" dur="1" fill="hold">
                                          <p:stCondLst>
                                            <p:cond delay="0"/>
                                          </p:stCondLst>
                                        </p:cTn>
                                        <p:tgtEl>
                                          <p:spTgt spid="18"/>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4" grpId="0" build="p"/>
      <p:bldP spid="18" grpId="0"/>
    </p:bldLst>
  </p:timing>
</p:sld>
</file>

<file path=ppt/slides/slide5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b0_2">
            <a:extLst>
              <a:ext uri="{FF2B5EF4-FFF2-40B4-BE49-F238E27FC236}">
                <a16:creationId xmlns:a16="http://schemas.microsoft.com/office/drawing/2014/main" id="{33DE8782-7F2B-1033-00F6-2A6652EE0E80}"/>
              </a:ext>
            </a:extLst>
          </p:cNvPr>
          <p:cNvSpPr txBox="1"/>
          <p:nvPr/>
        </p:nvSpPr>
        <p:spPr>
          <a:xfrm>
            <a:off x="0" y="148566"/>
            <a:ext cx="11680992" cy="548640"/>
          </a:xfrm>
          <a:prstGeom prst="rect">
            <a:avLst/>
          </a:prstGeom>
          <a:noFill/>
          <a:ln>
            <a:noFill/>
          </a:ln>
        </p:spPr>
        <p:txBody>
          <a:bodyPr wrap="square" rtlCol="0" anchor="ctr"/>
          <a:lstStyle/>
          <a:p>
            <a:r>
              <a:rPr lang="en-US" sz="3200" b="1" dirty="0">
                <a:solidFill>
                  <a:srgbClr val="000000"/>
                </a:solidFill>
                <a:latin typeface="Calibri" pitchFamily="34" charset="0"/>
                <a:ea typeface="Calibri" pitchFamily="34" charset="-122"/>
                <a:cs typeface="Calibri" pitchFamily="34" charset="-120"/>
              </a:rPr>
              <a:t>Understanding </a:t>
            </a:r>
            <a:r>
              <a:rPr lang="en-US" sz="3200" b="1" dirty="0">
                <a:solidFill>
                  <a:srgbClr val="362FEC"/>
                </a:solidFill>
                <a:latin typeface="Calibri" pitchFamily="34" charset="0"/>
                <a:ea typeface="Calibri" pitchFamily="34" charset="-122"/>
                <a:cs typeface="Calibri" pitchFamily="34" charset="-120"/>
              </a:rPr>
              <a:t>Language</a:t>
            </a:r>
            <a:endParaRPr lang="en-US" sz="3200" dirty="0">
              <a:solidFill>
                <a:srgbClr val="362FEC"/>
              </a:solidFill>
            </a:endParaRPr>
          </a:p>
        </p:txBody>
      </p:sp>
      <p:sp>
        <p:nvSpPr>
          <p:cNvPr id="3" name="subheading">
            <a:extLst>
              <a:ext uri="{FF2B5EF4-FFF2-40B4-BE49-F238E27FC236}">
                <a16:creationId xmlns:a16="http://schemas.microsoft.com/office/drawing/2014/main" id="{5CB8A4AA-40B1-94AE-8EEE-080599481F78}"/>
              </a:ext>
            </a:extLst>
          </p:cNvPr>
          <p:cNvSpPr txBox="1"/>
          <p:nvPr/>
        </p:nvSpPr>
        <p:spPr>
          <a:xfrm>
            <a:off x="292608" y="868680"/>
            <a:ext cx="11430000" cy="411480"/>
          </a:xfrm>
          <a:prstGeom prst="rect">
            <a:avLst/>
          </a:prstGeom>
          <a:noFill/>
          <a:ln>
            <a:noFill/>
          </a:ln>
        </p:spPr>
        <p:txBody>
          <a:bodyPr wrap="square" lIns="0" tIns="0" rIns="0" bIns="0" rtlCol="0" anchor="ctr"/>
          <a:lstStyle/>
          <a:p>
            <a:pPr marL="0" indent="0">
              <a:buNone/>
            </a:pPr>
            <a:r>
              <a:rPr lang="en-US" sz="2000" b="1" dirty="0">
                <a:solidFill>
                  <a:srgbClr val="362FEC"/>
                </a:solidFill>
                <a:latin typeface="Calibri" panose="020F0502020204030204" pitchFamily="34" charset="0"/>
                <a:cs typeface="Calibri" panose="020F0502020204030204" pitchFamily="34" charset="0"/>
              </a:rPr>
              <a:t>Rules and productivity</a:t>
            </a:r>
          </a:p>
        </p:txBody>
      </p:sp>
      <p:sp>
        <p:nvSpPr>
          <p:cNvPr id="4" name="points"/>
          <p:cNvSpPr txBox="1"/>
          <p:nvPr/>
        </p:nvSpPr>
        <p:spPr>
          <a:xfrm>
            <a:off x="384048" y="1417320"/>
            <a:ext cx="6126480" cy="5166360"/>
          </a:xfrm>
          <a:prstGeom prst="rect">
            <a:avLst/>
          </a:prstGeom>
          <a:noFill/>
        </p:spPr>
        <p:txBody>
          <a:bodyPr wrap="square" lIns="0" rIns="0" tIns="0" bIns="0">
            <a:spAutoFit/>
          </a:bodyPr>
          <a:lstStyle/>
          <a:p>
            <a:pPr algn="l">
              <a:spcAft>
                <a:spcPts val="1400"/>
              </a:spcAft>
            </a:pPr>
            <a:r>
              <a:rPr sz="1900" b="1" i="0">
                <a:solidFill>
                  <a:srgbClr val="FF0000"/>
                </a:solidFill>
                <a:latin typeface="Calibri"/>
              </a:rPr>
              <a:t>Pāṇini's Aṣṭādhyāyī</a:t>
            </a:r>
            <a:r>
              <a:rPr sz="1900" b="0" i="0">
                <a:solidFill>
                  <a:srgbClr val="000000"/>
                </a:solidFill>
                <a:latin typeface="Calibri"/>
              </a:rPr>
              <a:t>: about four thousand rules that derive the forms of Sanskrit; the oldest grammar that survives complete.</a:t>
            </a:r>
          </a:p>
          <a:p>
            <a:pPr algn="l">
              <a:spcAft>
                <a:spcPts val="1400"/>
              </a:spcAft>
            </a:pPr>
            <a:r>
              <a:rPr sz="1900" b="1" i="0">
                <a:solidFill>
                  <a:srgbClr val="00B050"/>
                </a:solidFill>
                <a:latin typeface="Calibri"/>
              </a:rPr>
              <a:t>Productivity</a:t>
            </a:r>
            <a:r>
              <a:rPr sz="1900" b="0" i="0">
                <a:solidFill>
                  <a:srgbClr val="000000"/>
                </a:solidFill>
                <a:latin typeface="Calibri"/>
              </a:rPr>
              <a:t>: a finite description determines unboundedly many expressions, including ones never observed.</a:t>
            </a:r>
          </a:p>
          <a:p>
            <a:pPr algn="l">
              <a:spcAft>
                <a:spcPts val="1400"/>
              </a:spcAft>
            </a:pPr>
            <a:r>
              <a:rPr sz="1900" b="1" i="0">
                <a:solidFill>
                  <a:srgbClr val="362FEC"/>
                </a:solidFill>
                <a:latin typeface="Calibri"/>
              </a:rPr>
              <a:t>1956  </a:t>
            </a:r>
            <a:r>
              <a:rPr sz="1900" b="1" i="0">
                <a:solidFill>
                  <a:srgbClr val="000000"/>
                </a:solidFill>
                <a:latin typeface="Calibri"/>
              </a:rPr>
              <a:t>Chomsky: </a:t>
            </a:r>
            <a:r>
              <a:rPr sz="1900" b="0" i="0">
                <a:solidFill>
                  <a:srgbClr val="000000"/>
                </a:solidFill>
                <a:latin typeface="Calibri"/>
              </a:rPr>
              <a:t>a grammar is a finite device that generates exactly the grammatical sentences; the hierarchy classifies such devices.</a:t>
            </a:r>
          </a:p>
        </p:txBody>
      </p:sp>
      <p:grpSp>
        <p:nvGrpSpPr>
          <p:cNvPr id="5" name="picture 1"/>
          <p:cNvGrpSpPr/>
          <p:nvPr/>
        </p:nvGrpSpPr>
        <p:grpSpPr>
          <a:xfrm>
            <a:off x="6629400" y="1371600"/>
            <a:ext cx="5486400" cy="2018385"/>
            <a:chOff x="6629400" y="1371600"/>
            <a:chExt cx="5486400" cy="2018385"/>
          </a:xfrm>
        </p:grpSpPr>
        <p:pic>
          <p:nvPicPr>
            <p:cNvPr id="6" name="Picture 5" descr="panini.jpg"/>
            <p:cNvPicPr>
              <a:picLocks noChangeAspect="1"/>
            </p:cNvPicPr>
            <p:nvPr/>
          </p:nvPicPr>
          <p:blipFill>
            <a:blip r:embed="rId2"/>
            <a:stretch>
              <a:fillRect/>
            </a:stretch>
          </p:blipFill>
          <p:spPr>
            <a:xfrm>
              <a:off x="6812280" y="1371600"/>
              <a:ext cx="5120640" cy="738225"/>
            </a:xfrm>
            <a:prstGeom prst="rect">
              <a:avLst/>
            </a:prstGeom>
          </p:spPr>
        </p:pic>
        <p:sp>
          <p:nvSpPr>
            <p:cNvPr id="7" name="TextBox 6"/>
            <p:cNvSpPr txBox="1"/>
            <p:nvPr/>
          </p:nvSpPr>
          <p:spPr>
            <a:xfrm>
              <a:off x="6629400" y="2155545"/>
              <a:ext cx="5486400" cy="274320"/>
            </a:xfrm>
            <a:prstGeom prst="rect">
              <a:avLst/>
            </a:prstGeom>
            <a:noFill/>
          </p:spPr>
          <p:txBody>
            <a:bodyPr wrap="square" anchor="t" lIns="0" rIns="0" tIns="0" bIns="0">
              <a:spAutoFit/>
            </a:bodyPr>
            <a:lstStyle/>
            <a:p>
              <a:pPr algn="ctr"/>
              <a:r>
                <a:rPr sz="1200" b="0" i="0">
                  <a:solidFill>
                    <a:srgbClr val="595959"/>
                  </a:solidFill>
                  <a:latin typeface="Calibri"/>
                </a:rPr>
                <a:t>a manuscript of the Aṣṭādhyāyī, Southern Grantha script</a:t>
              </a:r>
            </a:p>
          </p:txBody>
        </p:sp>
        <p:sp>
          <p:nvSpPr>
            <p:cNvPr id="8" name="description"/>
            <p:cNvSpPr txBox="1"/>
            <p:nvPr/>
          </p:nvSpPr>
          <p:spPr>
            <a:xfrm>
              <a:off x="6812280" y="2567025"/>
              <a:ext cx="5120640" cy="822960"/>
            </a:xfrm>
            <a:prstGeom prst="rect">
              <a:avLst/>
            </a:prstGeom>
            <a:noFill/>
          </p:spPr>
          <p:txBody>
            <a:bodyPr wrap="square" anchor="t" lIns="0" rIns="0" tIns="0" bIns="0">
              <a:spAutoFit/>
            </a:bodyPr>
            <a:lstStyle/>
            <a:p>
              <a:pPr algn="l"/>
              <a:r>
                <a:rPr sz="1400" b="0" i="0">
                  <a:solidFill>
                    <a:srgbClr val="595959"/>
                  </a:solidFill>
                  <a:latin typeface="Calibri"/>
                </a:rPr>
                <a:t>Usually dated to the middle of the first millennium BCE. Pāṇini names ten earlier grammarians, whose works are lost.</a:t>
              </a:r>
            </a:p>
          </p:txBody>
        </p:sp>
      </p:grpSp>
      <p:grpSp>
        <p:nvGrpSpPr>
          <p:cNvPr id="9" name="picture 2"/>
          <p:cNvGrpSpPr/>
          <p:nvPr/>
        </p:nvGrpSpPr>
        <p:grpSpPr>
          <a:xfrm>
            <a:off x="6812280" y="1463040"/>
            <a:ext cx="5120640" cy="2651760"/>
            <a:chOff x="6812280" y="1463040"/>
            <a:chExt cx="5120640" cy="2651760"/>
          </a:xfrm>
        </p:grpSpPr>
        <p:sp>
          <p:nvSpPr>
            <p:cNvPr id="10" name="Rounded Rectangle 9"/>
            <p:cNvSpPr/>
            <p:nvPr/>
          </p:nvSpPr>
          <p:spPr>
            <a:xfrm>
              <a:off x="6812280" y="1463040"/>
              <a:ext cx="5120640" cy="1737360"/>
            </a:xfrm>
            <a:prstGeom prst="roundRect">
              <a:avLst>
                <a:gd name="adj" fmla="val 6000"/>
              </a:avLst>
            </a:prstGeom>
            <a:solidFill>
              <a:srgbClr val="EDEDED"/>
            </a:solidFill>
            <a:ln>
              <a:noFill/>
            </a:ln>
          </p:spPr>
          <p:style>
            <a:lnRef idx="1">
              <a:schemeClr val="accent1"/>
            </a:lnRef>
            <a:fillRef idx="3">
              <a:schemeClr val="accent1"/>
            </a:fillRef>
            <a:effectRef idx="2">
              <a:schemeClr val="accent1"/>
            </a:effectRef>
            <a:fontRef idx="minor">
              <a:schemeClr val="lt1"/>
            </a:fontRef>
          </p:style>
          <p:txBody>
            <a:bodyPr rtlCol="0" anchor="ctr" wrap="square" lIns="137160" rIns="137160" tIns="54864" bIns="54864"/>
            <a:lstStyle/>
            <a:p>
              <a:pPr algn="l"/>
              <a:r>
                <a:rPr sz="1800" b="0" i="0">
                  <a:solidFill>
                    <a:srgbClr val="000000"/>
                  </a:solidFill>
                  <a:latin typeface="Calibri"/>
                </a:rPr>
                <a:t>the cat saw the dog</a:t>
              </a:r>
            </a:p>
            <a:p>
              <a:pPr algn="l"/>
              <a:r>
                <a:rPr sz="1800" b="0" i="0">
                  <a:solidFill>
                    <a:srgbClr val="000000"/>
                  </a:solidFill>
                  <a:latin typeface="Calibri"/>
                </a:rPr>
                <a:t>the cat saw the dog </a:t>
              </a:r>
              <a:r>
                <a:rPr sz="1800" b="0" i="0">
                  <a:solidFill>
                    <a:srgbClr val="362FEC"/>
                  </a:solidFill>
                  <a:latin typeface="Calibri"/>
                </a:rPr>
                <a:t>that chased the rat</a:t>
              </a:r>
            </a:p>
            <a:p>
              <a:pPr algn="l"/>
              <a:r>
                <a:rPr sz="1800" b="0" i="0">
                  <a:solidFill>
                    <a:srgbClr val="000000"/>
                  </a:solidFill>
                  <a:latin typeface="Calibri"/>
                </a:rPr>
                <a:t>the cat saw the dog that chased the rat </a:t>
              </a:r>
              <a:r>
                <a:rPr sz="1800" b="0" i="0">
                  <a:solidFill>
                    <a:srgbClr val="00B050"/>
                  </a:solidFill>
                  <a:latin typeface="Calibri"/>
                </a:rPr>
                <a:t>that ate the cheese</a:t>
              </a:r>
            </a:p>
            <a:p>
              <a:pPr algn="l"/>
              <a:r>
                <a:rPr sz="1800" b="0" i="0">
                  <a:solidFill>
                    <a:srgbClr val="000000"/>
                  </a:solidFill>
                  <a:latin typeface="Calibri"/>
                </a:rPr>
                <a:t>…</a:t>
              </a:r>
            </a:p>
          </p:txBody>
        </p:sp>
        <p:sp>
          <p:nvSpPr>
            <p:cNvPr id="11" name="description"/>
            <p:cNvSpPr txBox="1"/>
            <p:nvPr/>
          </p:nvSpPr>
          <p:spPr>
            <a:xfrm>
              <a:off x="6812280" y="3383280"/>
              <a:ext cx="5120640" cy="731520"/>
            </a:xfrm>
            <a:prstGeom prst="rect">
              <a:avLst/>
            </a:prstGeom>
            <a:noFill/>
          </p:spPr>
          <p:txBody>
            <a:bodyPr wrap="square" anchor="t" lIns="0" rIns="0" tIns="0" bIns="0">
              <a:spAutoFit/>
            </a:bodyPr>
            <a:lstStyle/>
            <a:p>
              <a:pPr algn="l"/>
              <a:r>
                <a:rPr sz="1400" b="0" i="0">
                  <a:solidFill>
                    <a:srgbClr val="595959"/>
                  </a:solidFill>
                  <a:latin typeface="Calibri"/>
                </a:rPr>
                <a:t>One rule for relative clauses, applied again and again: a finite description, unboundedly many sentences, most never observed.</a:t>
              </a:r>
            </a:p>
          </p:txBody>
        </p:sp>
      </p:grpSp>
      <p:grpSp>
        <p:nvGrpSpPr>
          <p:cNvPr id="12" name="picture 3"/>
          <p:cNvGrpSpPr/>
          <p:nvPr/>
        </p:nvGrpSpPr>
        <p:grpSpPr>
          <a:xfrm>
            <a:off x="6537960" y="1371600"/>
            <a:ext cx="5421200" cy="3611880"/>
            <a:chOff x="6537960" y="1371600"/>
            <a:chExt cx="5421200" cy="3611880"/>
          </a:xfrm>
        </p:grpSpPr>
        <p:pic>
          <p:nvPicPr>
            <p:cNvPr id="13" name="Picture 12" descr="chomsky.jpg"/>
            <p:cNvPicPr>
              <a:picLocks noChangeAspect="1"/>
            </p:cNvPicPr>
            <p:nvPr/>
          </p:nvPicPr>
          <p:blipFill>
            <a:blip r:embed="rId3"/>
            <a:stretch>
              <a:fillRect/>
            </a:stretch>
          </p:blipFill>
          <p:spPr>
            <a:xfrm>
              <a:off x="6812280" y="1371600"/>
              <a:ext cx="2063527" cy="2114630"/>
            </a:xfrm>
            <a:prstGeom prst="rect">
              <a:avLst/>
            </a:prstGeom>
          </p:spPr>
        </p:pic>
        <p:sp>
          <p:nvSpPr>
            <p:cNvPr id="14" name="TextBox 13"/>
            <p:cNvSpPr txBox="1"/>
            <p:nvPr/>
          </p:nvSpPr>
          <p:spPr>
            <a:xfrm>
              <a:off x="6537960" y="3522806"/>
              <a:ext cx="2612167" cy="274320"/>
            </a:xfrm>
            <a:prstGeom prst="rect">
              <a:avLst/>
            </a:prstGeom>
            <a:noFill/>
          </p:spPr>
          <p:txBody>
            <a:bodyPr wrap="square" anchor="t" lIns="0" rIns="0" tIns="0" bIns="0">
              <a:spAutoFit/>
            </a:bodyPr>
            <a:lstStyle/>
            <a:p>
              <a:pPr algn="ctr"/>
              <a:r>
                <a:rPr sz="1200" b="0" i="0">
                  <a:solidFill>
                    <a:srgbClr val="595959"/>
                  </a:solidFill>
                  <a:latin typeface="Calibri"/>
                </a:rPr>
                <a:t>Noam Chomsky</a:t>
              </a:r>
            </a:p>
          </p:txBody>
        </p:sp>
        <p:pic>
          <p:nvPicPr>
            <p:cNvPr id="15" name="Picture 14" descr="chomsky_hierarchy.png"/>
            <p:cNvPicPr>
              <a:picLocks noChangeAspect="1"/>
            </p:cNvPicPr>
            <p:nvPr/>
          </p:nvPicPr>
          <p:blipFill>
            <a:blip r:embed="rId4"/>
            <a:stretch>
              <a:fillRect/>
            </a:stretch>
          </p:blipFill>
          <p:spPr>
            <a:xfrm>
              <a:off x="9058687" y="1371600"/>
              <a:ext cx="2900473" cy="2114630"/>
            </a:xfrm>
            <a:prstGeom prst="rect">
              <a:avLst/>
            </a:prstGeom>
          </p:spPr>
        </p:pic>
        <p:sp>
          <p:nvSpPr>
            <p:cNvPr id="16" name="description"/>
            <p:cNvSpPr txBox="1"/>
            <p:nvPr/>
          </p:nvSpPr>
          <p:spPr>
            <a:xfrm>
              <a:off x="6812280" y="4251960"/>
              <a:ext cx="5120640" cy="731520"/>
            </a:xfrm>
            <a:prstGeom prst="rect">
              <a:avLst/>
            </a:prstGeom>
            <a:noFill/>
          </p:spPr>
          <p:txBody>
            <a:bodyPr wrap="square" anchor="t" lIns="0" rIns="0" tIns="0" bIns="0">
              <a:spAutoFit/>
            </a:bodyPr>
            <a:lstStyle/>
            <a:p>
              <a:pPr algn="l"/>
              <a:r>
                <a:rPr sz="1400" b="0" i="0">
                  <a:solidFill>
                    <a:srgbClr val="595959"/>
                  </a:solidFill>
                  <a:latin typeface="Calibri"/>
                </a:rPr>
                <a:t>Three Models for the Description of Language (1956). Week 2 develops the hierarchy and the automata that recognize each level.</a:t>
              </a:r>
            </a:p>
          </p:txBody>
        </p:sp>
      </p:grpSp>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4">
                                            <p:txEl>
                                              <p:pRg st="0" end="0"/>
                                            </p:txEl>
                                          </p:spTgt>
                                        </p:tgtEl>
                                        <p:attrNameLst>
                                          <p:attrName>style.visibility</p:attrName>
                                        </p:attrNameLst>
                                      </p:cBhvr>
                                      <p:to>
                                        <p:strVal val="visible"/>
                                      </p:to>
                                    </p:set>
                                  </p:childTnLst>
                                </p:cTn>
                              </p:par>
                              <p:par>
                                <p:cTn id="7" presetID="1" presetClass="entr" presetSubtype="0" fill="hold" grpId="0" nodeType="withEffect">
                                  <p:stCondLst>
                                    <p:cond delay="0"/>
                                  </p:stCondLst>
                                  <p:childTnLst>
                                    <p:set>
                                      <p:cBhvr>
                                        <p:cTn id="8" dur="1" fill="hold">
                                          <p:stCondLst>
                                            <p:cond delay="0"/>
                                          </p:stCondLst>
                                        </p:cTn>
                                        <p:tgtEl>
                                          <p:spTgt spid="5"/>
                                        </p:tgtEl>
                                        <p:attrNameLst>
                                          <p:attrName>style.visibility</p:attrName>
                                        </p:attrNameLst>
                                      </p:cBhvr>
                                      <p:to>
                                        <p:strVal val="visible"/>
                                      </p:to>
                                    </p:set>
                                  </p:childTnLst>
                                </p:cTn>
                              </p:par>
                            </p:childTnLst>
                          </p:cTn>
                        </p:par>
                      </p:childTnLst>
                    </p:cTn>
                  </p:par>
                  <p:par>
                    <p:cTn id="9" fill="hold">
                      <p:stCondLst>
                        <p:cond delay="indefinite"/>
                      </p:stCondLst>
                      <p:childTnLst>
                        <p:par>
                          <p:cTn id="10" fill="hold">
                            <p:stCondLst>
                              <p:cond delay="0"/>
                            </p:stCondLst>
                            <p:childTnLst>
                              <p:par>
                                <p:cTn id="11" presetID="1" presetClass="entr" presetSubtype="0" fill="hold" grpId="0" nodeType="clickEffect">
                                  <p:stCondLst>
                                    <p:cond delay="0"/>
                                  </p:stCondLst>
                                  <p:childTnLst>
                                    <p:set>
                                      <p:cBhvr>
                                        <p:cTn id="12" dur="1" fill="hold">
                                          <p:stCondLst>
                                            <p:cond delay="0"/>
                                          </p:stCondLst>
                                        </p:cTn>
                                        <p:tgtEl>
                                          <p:spTgt spid="4">
                                            <p:txEl>
                                              <p:pRg st="1" end="1"/>
                                            </p:txEl>
                                          </p:spTgt>
                                        </p:tgtEl>
                                        <p:attrNameLst>
                                          <p:attrName>style.visibility</p:attrName>
                                        </p:attrNameLst>
                                      </p:cBhvr>
                                      <p:to>
                                        <p:strVal val="visible"/>
                                      </p:to>
                                    </p:set>
                                  </p:childTnLst>
                                </p:cTn>
                              </p:par>
                              <p:par>
                                <p:cTn id="13" presetID="1" presetClass="entr" presetSubtype="0" fill="hold" grpId="0" nodeType="withEffect">
                                  <p:stCondLst>
                                    <p:cond delay="0"/>
                                  </p:stCondLst>
                                  <p:childTnLst>
                                    <p:set>
                                      <p:cBhvr>
                                        <p:cTn id="14" dur="1" fill="hold">
                                          <p:stCondLst>
                                            <p:cond delay="0"/>
                                          </p:stCondLst>
                                        </p:cTn>
                                        <p:tgtEl>
                                          <p:spTgt spid="9"/>
                                        </p:tgtEl>
                                        <p:attrNameLst>
                                          <p:attrName>style.visibility</p:attrName>
                                        </p:attrNameLst>
                                      </p:cBhvr>
                                      <p:to>
                                        <p:strVal val="visible"/>
                                      </p:to>
                                    </p:set>
                                  </p:childTnLst>
                                </p:cTn>
                              </p:par>
                              <p:par>
                                <p:cTn id="15" presetID="1" presetClass="exit" presetSubtype="0" fill="hold" grpId="1" nodeType="withEffect">
                                  <p:stCondLst>
                                    <p:cond delay="0"/>
                                  </p:stCondLst>
                                  <p:childTnLst>
                                    <p:set>
                                      <p:cBhvr>
                                        <p:cTn id="16" dur="1" fill="hold">
                                          <p:stCondLst>
                                            <p:cond delay="0"/>
                                          </p:stCondLst>
                                        </p:cTn>
                                        <p:tgtEl>
                                          <p:spTgt spid="5"/>
                                        </p:tgtEl>
                                        <p:attrNameLst>
                                          <p:attrName>style.visibility</p:attrName>
                                        </p:attrNameLst>
                                      </p:cBhvr>
                                      <p:to>
                                        <p:strVal val="hidden"/>
                                      </p:to>
                                    </p:set>
                                  </p:childTnLst>
                                </p:cTn>
                              </p:par>
                            </p:childTnLst>
                          </p:cTn>
                        </p:par>
                      </p:childTnLst>
                    </p:cTn>
                  </p:par>
                  <p:par>
                    <p:cTn id="17" fill="hold">
                      <p:stCondLst>
                        <p:cond delay="indefinite"/>
                      </p:stCondLst>
                      <p:childTnLst>
                        <p:par>
                          <p:cTn id="18" fill="hold">
                            <p:stCondLst>
                              <p:cond delay="0"/>
                            </p:stCondLst>
                            <p:childTnLst>
                              <p:par>
                                <p:cTn id="19" presetID="1" presetClass="entr" presetSubtype="0" fill="hold" grpId="0" nodeType="clickEffect">
                                  <p:stCondLst>
                                    <p:cond delay="0"/>
                                  </p:stCondLst>
                                  <p:childTnLst>
                                    <p:set>
                                      <p:cBhvr>
                                        <p:cTn id="20" dur="1" fill="hold">
                                          <p:stCondLst>
                                            <p:cond delay="0"/>
                                          </p:stCondLst>
                                        </p:cTn>
                                        <p:tgtEl>
                                          <p:spTgt spid="4">
                                            <p:txEl>
                                              <p:pRg st="2" end="2"/>
                                            </p:txEl>
                                          </p:spTgt>
                                        </p:tgtEl>
                                        <p:attrNameLst>
                                          <p:attrName>style.visibility</p:attrName>
                                        </p:attrNameLst>
                                      </p:cBhvr>
                                      <p:to>
                                        <p:strVal val="visible"/>
                                      </p:to>
                                    </p:set>
                                  </p:childTnLst>
                                </p:cTn>
                              </p:par>
                              <p:par>
                                <p:cTn id="21" presetID="1" presetClass="entr" presetSubtype="0" fill="hold" grpId="0" nodeType="withEffect">
                                  <p:stCondLst>
                                    <p:cond delay="0"/>
                                  </p:stCondLst>
                                  <p:childTnLst>
                                    <p:set>
                                      <p:cBhvr>
                                        <p:cTn id="22" dur="1" fill="hold">
                                          <p:stCondLst>
                                            <p:cond delay="0"/>
                                          </p:stCondLst>
                                        </p:cTn>
                                        <p:tgtEl>
                                          <p:spTgt spid="12"/>
                                        </p:tgtEl>
                                        <p:attrNameLst>
                                          <p:attrName>style.visibility</p:attrName>
                                        </p:attrNameLst>
                                      </p:cBhvr>
                                      <p:to>
                                        <p:strVal val="visible"/>
                                      </p:to>
                                    </p:set>
                                  </p:childTnLst>
                                </p:cTn>
                              </p:par>
                              <p:par>
                                <p:cTn id="23" presetID="1" presetClass="exit" presetSubtype="0" fill="hold" grpId="1" nodeType="withEffect">
                                  <p:stCondLst>
                                    <p:cond delay="0"/>
                                  </p:stCondLst>
                                  <p:childTnLst>
                                    <p:set>
                                      <p:cBhvr>
                                        <p:cTn id="24" dur="1" fill="hold">
                                          <p:stCondLst>
                                            <p:cond delay="0"/>
                                          </p:stCondLst>
                                        </p:cTn>
                                        <p:tgtEl>
                                          <p:spTgt spid="9"/>
                                        </p:tgtEl>
                                        <p:attrNameLst>
                                          <p:attrName>style.visibility</p:attrName>
                                        </p:attrNameLst>
                                      </p:cBhvr>
                                      <p:to>
                                        <p:strVal val="hidden"/>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4" grpId="0" build="p"/>
    </p:bldLst>
  </p:timing>
</p:sld>
</file>

<file path=ppt/slides/slide5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b0_2">
            <a:extLst>
              <a:ext uri="{FF2B5EF4-FFF2-40B4-BE49-F238E27FC236}">
                <a16:creationId xmlns:a16="http://schemas.microsoft.com/office/drawing/2014/main" id="{33DE8782-7F2B-1033-00F6-2A6652EE0E80}"/>
              </a:ext>
            </a:extLst>
          </p:cNvPr>
          <p:cNvSpPr txBox="1"/>
          <p:nvPr/>
        </p:nvSpPr>
        <p:spPr>
          <a:xfrm>
            <a:off x="0" y="148566"/>
            <a:ext cx="11680992" cy="548640"/>
          </a:xfrm>
          <a:prstGeom prst="rect">
            <a:avLst/>
          </a:prstGeom>
          <a:noFill/>
          <a:ln>
            <a:noFill/>
          </a:ln>
        </p:spPr>
        <p:txBody>
          <a:bodyPr wrap="square" rtlCol="0" anchor="ctr"/>
          <a:lstStyle/>
          <a:p>
            <a:r>
              <a:rPr lang="en-US" sz="3200" b="1" dirty="0">
                <a:solidFill>
                  <a:srgbClr val="000000"/>
                </a:solidFill>
                <a:latin typeface="Calibri" pitchFamily="34" charset="0"/>
                <a:ea typeface="Calibri" pitchFamily="34" charset="-122"/>
                <a:cs typeface="Calibri" pitchFamily="34" charset="-120"/>
              </a:rPr>
              <a:t>Understanding </a:t>
            </a:r>
            <a:r>
              <a:rPr lang="en-US" sz="3200" b="1" dirty="0">
                <a:solidFill>
                  <a:srgbClr val="362FEC"/>
                </a:solidFill>
                <a:latin typeface="Calibri" pitchFamily="34" charset="0"/>
                <a:ea typeface="Calibri" pitchFamily="34" charset="-122"/>
                <a:cs typeface="Calibri" pitchFamily="34" charset="-120"/>
              </a:rPr>
              <a:t>Language</a:t>
            </a:r>
            <a:endParaRPr lang="en-US" sz="3200" dirty="0">
              <a:solidFill>
                <a:srgbClr val="362FEC"/>
              </a:solidFill>
            </a:endParaRPr>
          </a:p>
        </p:txBody>
      </p:sp>
      <p:sp>
        <p:nvSpPr>
          <p:cNvPr id="3" name="subheading">
            <a:extLst>
              <a:ext uri="{FF2B5EF4-FFF2-40B4-BE49-F238E27FC236}">
                <a16:creationId xmlns:a16="http://schemas.microsoft.com/office/drawing/2014/main" id="{5CB8A4AA-40B1-94AE-8EEE-080599481F78}"/>
              </a:ext>
            </a:extLst>
          </p:cNvPr>
          <p:cNvSpPr txBox="1"/>
          <p:nvPr/>
        </p:nvSpPr>
        <p:spPr>
          <a:xfrm>
            <a:off x="292608" y="868680"/>
            <a:ext cx="11430000" cy="411480"/>
          </a:xfrm>
          <a:prstGeom prst="rect">
            <a:avLst/>
          </a:prstGeom>
          <a:noFill/>
          <a:ln>
            <a:noFill/>
          </a:ln>
        </p:spPr>
        <p:txBody>
          <a:bodyPr wrap="square" lIns="0" tIns="0" rIns="0" bIns="0" rtlCol="0" anchor="ctr"/>
          <a:lstStyle/>
          <a:p>
            <a:pPr marL="0" indent="0">
              <a:buNone/>
            </a:pPr>
            <a:r>
              <a:rPr lang="en-US" sz="2000" b="1" dirty="0">
                <a:solidFill>
                  <a:srgbClr val="362FEC"/>
                </a:solidFill>
                <a:latin typeface="Calibri" panose="020F0502020204030204" pitchFamily="34" charset="0"/>
                <a:cs typeface="Calibri" panose="020F0502020204030204" pitchFamily="34" charset="0"/>
              </a:rPr>
              <a:t>Learning a language from examples</a:t>
            </a:r>
          </a:p>
        </p:txBody>
      </p:sp>
      <p:sp>
        <p:nvSpPr>
          <p:cNvPr id="4" name="points"/>
          <p:cNvSpPr txBox="1"/>
          <p:nvPr/>
        </p:nvSpPr>
        <p:spPr>
          <a:xfrm>
            <a:off x="384048" y="1417320"/>
            <a:ext cx="6126480" cy="5166360"/>
          </a:xfrm>
          <a:prstGeom prst="rect">
            <a:avLst/>
          </a:prstGeom>
          <a:noFill/>
        </p:spPr>
        <p:txBody>
          <a:bodyPr wrap="square" lIns="0" rIns="0" tIns="0" bIns="0">
            <a:spAutoFit/>
          </a:bodyPr>
          <a:lstStyle/>
          <a:p>
            <a:pPr algn="l">
              <a:spcAft>
                <a:spcPts val="1200"/>
              </a:spcAft>
            </a:pPr>
            <a:r>
              <a:rPr sz="1800" b="1" i="0">
                <a:solidFill>
                  <a:srgbClr val="FF0000"/>
                </a:solidFill>
                <a:latin typeface="Calibri"/>
              </a:rPr>
              <a:t>1967  </a:t>
            </a:r>
            <a:r>
              <a:rPr sz="1800" b="1" i="0">
                <a:solidFill>
                  <a:srgbClr val="000000"/>
                </a:solidFill>
                <a:latin typeface="Calibri"/>
              </a:rPr>
              <a:t>Gold: </a:t>
            </a:r>
            <a:r>
              <a:rPr sz="1800" b="0" i="0">
                <a:solidFill>
                  <a:srgbClr val="000000"/>
                </a:solidFill>
                <a:latin typeface="Calibri"/>
              </a:rPr>
              <a:t>shown a language's strings in any order, no learner identifies even the regular languages: it cannot detect overgeneralization.</a:t>
            </a:r>
          </a:p>
          <a:p>
            <a:pPr algn="l">
              <a:spcAft>
                <a:spcPts val="1200"/>
              </a:spcAft>
            </a:pPr>
            <a:r>
              <a:rPr sz="1800" b="1" i="0">
                <a:solidFill>
                  <a:srgbClr val="FF0000"/>
                </a:solidFill>
                <a:latin typeface="Calibri"/>
              </a:rPr>
              <a:t>1980  </a:t>
            </a:r>
            <a:r>
              <a:rPr sz="1800" b="1" i="0">
                <a:solidFill>
                  <a:srgbClr val="000000"/>
                </a:solidFill>
                <a:latin typeface="Calibri"/>
              </a:rPr>
              <a:t>Angluin: </a:t>
            </a:r>
            <a:r>
              <a:rPr sz="1800" b="0" i="0">
                <a:solidFill>
                  <a:srgbClr val="000000"/>
                </a:solidFill>
                <a:latin typeface="Calibri"/>
              </a:rPr>
              <a:t>exactly which classes are learnable from positive examples (tell-tale sets). The poverty of the stimulus (Chomsky).</a:t>
            </a:r>
          </a:p>
          <a:p>
            <a:pPr algn="l">
              <a:spcAft>
                <a:spcPts val="1200"/>
              </a:spcAft>
            </a:pPr>
            <a:r>
              <a:rPr sz="1800" b="1" i="0">
                <a:solidFill>
                  <a:srgbClr val="00B050"/>
                </a:solidFill>
                <a:latin typeface="Calibri"/>
              </a:rPr>
              <a:t>1969  </a:t>
            </a:r>
            <a:r>
              <a:rPr sz="1800" b="1" i="0">
                <a:solidFill>
                  <a:srgbClr val="000000"/>
                </a:solidFill>
                <a:latin typeface="Calibri"/>
              </a:rPr>
              <a:t>Horning: </a:t>
            </a:r>
            <a:r>
              <a:rPr sz="1800" b="0" i="0">
                <a:solidFill>
                  <a:srgbClr val="000000"/>
                </a:solidFill>
                <a:latin typeface="Calibri"/>
              </a:rPr>
              <a:t>from random samples, probabilistic context-free grammars are learnable: frequencies are evidence.</a:t>
            </a:r>
          </a:p>
          <a:p>
            <a:pPr algn="l">
              <a:spcAft>
                <a:spcPts val="1200"/>
              </a:spcAft>
            </a:pPr>
            <a:r>
              <a:rPr sz="1800" b="1" i="0">
                <a:solidFill>
                  <a:srgbClr val="362FEC"/>
                </a:solidFill>
                <a:latin typeface="Calibri"/>
              </a:rPr>
              <a:t>2024  </a:t>
            </a:r>
            <a:r>
              <a:rPr sz="1800" b="1" i="0">
                <a:solidFill>
                  <a:srgbClr val="000000"/>
                </a:solidFill>
                <a:latin typeface="Calibri"/>
              </a:rPr>
              <a:t>Kleinberg and Mullainathan: </a:t>
            </a:r>
            <a:r>
              <a:rPr sz="1800" b="0" i="0">
                <a:solidFill>
                  <a:srgbClr val="000000"/>
                </a:solidFill>
                <a:latin typeface="Calibri"/>
              </a:rPr>
              <a:t>generating new valid strings is possible for every countable class. The catch: validity against breadth.</a:t>
            </a:r>
          </a:p>
        </p:txBody>
      </p:sp>
      <p:grpSp>
        <p:nvGrpSpPr>
          <p:cNvPr id="5" name="picture 1"/>
          <p:cNvGrpSpPr/>
          <p:nvPr/>
        </p:nvGrpSpPr>
        <p:grpSpPr>
          <a:xfrm>
            <a:off x="6812280" y="1371600"/>
            <a:ext cx="5120640" cy="3858768"/>
            <a:chOff x="6812280" y="1371600"/>
            <a:chExt cx="5120640" cy="3858768"/>
          </a:xfrm>
        </p:grpSpPr>
        <p:pic>
          <p:nvPicPr>
            <p:cNvPr id="6" name="Picture 5" descr="gold_vs_random_left.png"/>
            <p:cNvPicPr>
              <a:picLocks noChangeAspect="1"/>
            </p:cNvPicPr>
            <p:nvPr/>
          </p:nvPicPr>
          <p:blipFill>
            <a:blip r:embed="rId2"/>
            <a:stretch>
              <a:fillRect/>
            </a:stretch>
          </p:blipFill>
          <p:spPr>
            <a:xfrm>
              <a:off x="7656424" y="1371600"/>
              <a:ext cx="3432351" cy="2926080"/>
            </a:xfrm>
            <a:prstGeom prst="rect">
              <a:avLst/>
            </a:prstGeom>
          </p:spPr>
        </p:pic>
        <p:sp>
          <p:nvSpPr>
            <p:cNvPr id="7" name="description"/>
            <p:cNvSpPr txBox="1"/>
            <p:nvPr/>
          </p:nvSpPr>
          <p:spPr>
            <a:xfrm>
              <a:off x="6812280" y="4407408"/>
              <a:ext cx="5120640" cy="822960"/>
            </a:xfrm>
            <a:prstGeom prst="rect">
              <a:avLst/>
            </a:prstGeom>
            <a:noFill/>
          </p:spPr>
          <p:txBody>
            <a:bodyPr wrap="square" anchor="t" lIns="0" rIns="0" tIns="0" bIns="0">
              <a:spAutoFit/>
            </a:bodyPr>
            <a:lstStyle/>
            <a:p>
              <a:pPr algn="l"/>
              <a:r>
                <a:rPr sz="1400" b="0" i="0">
                  <a:solidFill>
                    <a:srgbClr val="595959"/>
                  </a:solidFill>
                  <a:latin typeface="Calibri"/>
                </a:rPr>
                <a:t>Gold's learner guesses a grammar after each string and must eventually settle on a correct one. With negative examples too, much larger classes become learnable.</a:t>
              </a:r>
            </a:p>
          </p:txBody>
        </p:sp>
      </p:grpSp>
      <p:grpSp>
        <p:nvGrpSpPr>
          <p:cNvPr id="8" name="picture 3"/>
          <p:cNvGrpSpPr/>
          <p:nvPr/>
        </p:nvGrpSpPr>
        <p:grpSpPr>
          <a:xfrm>
            <a:off x="6812280" y="1371600"/>
            <a:ext cx="5120640" cy="3310128"/>
            <a:chOff x="6812280" y="1371600"/>
            <a:chExt cx="5120640" cy="3310128"/>
          </a:xfrm>
        </p:grpSpPr>
        <p:pic>
          <p:nvPicPr>
            <p:cNvPr id="9" name="Picture 8" descr="gold_vs_random_right.png"/>
            <p:cNvPicPr>
              <a:picLocks noChangeAspect="1"/>
            </p:cNvPicPr>
            <p:nvPr/>
          </p:nvPicPr>
          <p:blipFill>
            <a:blip r:embed="rId3"/>
            <a:stretch>
              <a:fillRect/>
            </a:stretch>
          </p:blipFill>
          <p:spPr>
            <a:xfrm>
              <a:off x="7835281" y="1371600"/>
              <a:ext cx="3074636" cy="2377440"/>
            </a:xfrm>
            <a:prstGeom prst="rect">
              <a:avLst/>
            </a:prstGeom>
          </p:spPr>
        </p:pic>
        <p:sp>
          <p:nvSpPr>
            <p:cNvPr id="10" name="description"/>
            <p:cNvSpPr txBox="1"/>
            <p:nvPr/>
          </p:nvSpPr>
          <p:spPr>
            <a:xfrm>
              <a:off x="6812280" y="3858768"/>
              <a:ext cx="5120640" cy="822960"/>
            </a:xfrm>
            <a:prstGeom prst="rect">
              <a:avLst/>
            </a:prstGeom>
            <a:noFill/>
          </p:spPr>
          <p:txBody>
            <a:bodyPr wrap="square" anchor="t" lIns="0" rIns="0" tIns="0" bIns="0">
              <a:spAutoFit/>
            </a:bodyPr>
            <a:lstStyle/>
            <a:p>
              <a:pPr algn="l"/>
              <a:r>
                <a:rPr sz="1400" b="0" i="0">
                  <a:solidFill>
                    <a:srgbClr val="595959"/>
                  </a:solidFill>
                  <a:latin typeface="Calibri"/>
                </a:rPr>
                <a:t>A construction that should appear often but never does is evidence that it is ungrammatical. Learning from random samples, with frequency as evidence, is the setting of a language model.</a:t>
              </a:r>
            </a:p>
          </p:txBody>
        </p:sp>
      </p:grpSp>
      <p:grpSp>
        <p:nvGrpSpPr>
          <p:cNvPr id="11" name="picture 4"/>
          <p:cNvGrpSpPr/>
          <p:nvPr/>
        </p:nvGrpSpPr>
        <p:grpSpPr>
          <a:xfrm>
            <a:off x="6812280" y="1371600"/>
            <a:ext cx="5120640" cy="3584448"/>
            <a:chOff x="6812280" y="1371600"/>
            <a:chExt cx="5120640" cy="3584448"/>
          </a:xfrm>
        </p:grpSpPr>
        <p:pic>
          <p:nvPicPr>
            <p:cNvPr id="12" name="Picture 11" descr="validity_breadth.png"/>
            <p:cNvPicPr>
              <a:picLocks noChangeAspect="1"/>
            </p:cNvPicPr>
            <p:nvPr/>
          </p:nvPicPr>
          <p:blipFill>
            <a:blip r:embed="rId4"/>
            <a:stretch>
              <a:fillRect/>
            </a:stretch>
          </p:blipFill>
          <p:spPr>
            <a:xfrm>
              <a:off x="6855754" y="1371600"/>
              <a:ext cx="5033691" cy="2651760"/>
            </a:xfrm>
            <a:prstGeom prst="rect">
              <a:avLst/>
            </a:prstGeom>
          </p:spPr>
        </p:pic>
        <p:sp>
          <p:nvSpPr>
            <p:cNvPr id="13" name="description"/>
            <p:cNvSpPr txBox="1"/>
            <p:nvPr/>
          </p:nvSpPr>
          <p:spPr>
            <a:xfrm>
              <a:off x="6812280" y="4133088"/>
              <a:ext cx="5120640" cy="822960"/>
            </a:xfrm>
            <a:prstGeom prst="rect">
              <a:avLst/>
            </a:prstGeom>
            <a:noFill/>
          </p:spPr>
          <p:txBody>
            <a:bodyPr wrap="square" anchor="t" lIns="0" rIns="0" tIns="0" bIns="0">
              <a:spAutoFit/>
            </a:bodyPr>
            <a:lstStyle/>
            <a:p>
              <a:pPr algn="l"/>
              <a:r>
                <a:rPr sz="1400" b="0" i="0">
                  <a:solidFill>
                    <a:srgbClr val="595959"/>
                  </a:solidFill>
                  <a:latin typeface="Calibri"/>
                </a:rPr>
                <a:t>Hallucination against mode collapse: for next-token predictors, being both valid and broad is impossible for most classes (Kalavasis, Mehrotra, Velegkas 2025), unless negative examples are supplied; Kleinberg and Wei (2025) keep a positive fraction.</a:t>
              </a:r>
            </a:p>
          </p:txBody>
        </p:sp>
      </p:grpSp>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4">
                                            <p:txEl>
                                              <p:pRg st="0" end="0"/>
                                            </p:txEl>
                                          </p:spTgt>
                                        </p:tgtEl>
                                        <p:attrNameLst>
                                          <p:attrName>style.visibility</p:attrName>
                                        </p:attrNameLst>
                                      </p:cBhvr>
                                      <p:to>
                                        <p:strVal val="visible"/>
                                      </p:to>
                                    </p:set>
                                  </p:childTnLst>
                                </p:cTn>
                              </p:par>
                              <p:par>
                                <p:cTn id="7" presetID="1" presetClass="entr" presetSubtype="0" fill="hold" grpId="0" nodeType="withEffect">
                                  <p:stCondLst>
                                    <p:cond delay="0"/>
                                  </p:stCondLst>
                                  <p:childTnLst>
                                    <p:set>
                                      <p:cBhvr>
                                        <p:cTn id="8" dur="1" fill="hold">
                                          <p:stCondLst>
                                            <p:cond delay="0"/>
                                          </p:stCondLst>
                                        </p:cTn>
                                        <p:tgtEl>
                                          <p:spTgt spid="5"/>
                                        </p:tgtEl>
                                        <p:attrNameLst>
                                          <p:attrName>style.visibility</p:attrName>
                                        </p:attrNameLst>
                                      </p:cBhvr>
                                      <p:to>
                                        <p:strVal val="visible"/>
                                      </p:to>
                                    </p:set>
                                  </p:childTnLst>
                                </p:cTn>
                              </p:par>
                            </p:childTnLst>
                          </p:cTn>
                        </p:par>
                      </p:childTnLst>
                    </p:cTn>
                  </p:par>
                  <p:par>
                    <p:cTn id="9" fill="hold">
                      <p:stCondLst>
                        <p:cond delay="indefinite"/>
                      </p:stCondLst>
                      <p:childTnLst>
                        <p:par>
                          <p:cTn id="10" fill="hold">
                            <p:stCondLst>
                              <p:cond delay="0"/>
                            </p:stCondLst>
                            <p:childTnLst>
                              <p:par>
                                <p:cTn id="11" presetID="1" presetClass="entr" presetSubtype="0" fill="hold" grpId="0" nodeType="clickEffect">
                                  <p:stCondLst>
                                    <p:cond delay="0"/>
                                  </p:stCondLst>
                                  <p:childTnLst>
                                    <p:set>
                                      <p:cBhvr>
                                        <p:cTn id="12" dur="1" fill="hold">
                                          <p:stCondLst>
                                            <p:cond delay="0"/>
                                          </p:stCondLst>
                                        </p:cTn>
                                        <p:tgtEl>
                                          <p:spTgt spid="4">
                                            <p:txEl>
                                              <p:pRg st="1" end="1"/>
                                            </p:txEl>
                                          </p:spTgt>
                                        </p:tgtEl>
                                        <p:attrNameLst>
                                          <p:attrName>style.visibility</p:attrName>
                                        </p:attrNameLst>
                                      </p:cBhvr>
                                      <p:to>
                                        <p:strVal val="visible"/>
                                      </p:to>
                                    </p:set>
                                  </p:childTnLst>
                                </p:cTn>
                              </p:par>
                            </p:childTnLst>
                          </p:cTn>
                        </p:par>
                      </p:childTnLst>
                    </p:cTn>
                  </p:par>
                  <p:par>
                    <p:cTn id="13" fill="hold">
                      <p:stCondLst>
                        <p:cond delay="indefinite"/>
                      </p:stCondLst>
                      <p:childTnLst>
                        <p:par>
                          <p:cTn id="14" fill="hold">
                            <p:stCondLst>
                              <p:cond delay="0"/>
                            </p:stCondLst>
                            <p:childTnLst>
                              <p:par>
                                <p:cTn id="15" presetID="1" presetClass="entr" presetSubtype="0" fill="hold" grpId="0" nodeType="clickEffect">
                                  <p:stCondLst>
                                    <p:cond delay="0"/>
                                  </p:stCondLst>
                                  <p:childTnLst>
                                    <p:set>
                                      <p:cBhvr>
                                        <p:cTn id="16" dur="1" fill="hold">
                                          <p:stCondLst>
                                            <p:cond delay="0"/>
                                          </p:stCondLst>
                                        </p:cTn>
                                        <p:tgtEl>
                                          <p:spTgt spid="4">
                                            <p:txEl>
                                              <p:pRg st="2" end="2"/>
                                            </p:txEl>
                                          </p:spTgt>
                                        </p:tgtEl>
                                        <p:attrNameLst>
                                          <p:attrName>style.visibility</p:attrName>
                                        </p:attrNameLst>
                                      </p:cBhvr>
                                      <p:to>
                                        <p:strVal val="visible"/>
                                      </p:to>
                                    </p:set>
                                  </p:childTnLst>
                                </p:cTn>
                              </p:par>
                              <p:par>
                                <p:cTn id="17" presetID="1" presetClass="entr" presetSubtype="0" fill="hold" grpId="0" nodeType="withEffect">
                                  <p:stCondLst>
                                    <p:cond delay="0"/>
                                  </p:stCondLst>
                                  <p:childTnLst>
                                    <p:set>
                                      <p:cBhvr>
                                        <p:cTn id="18" dur="1" fill="hold">
                                          <p:stCondLst>
                                            <p:cond delay="0"/>
                                          </p:stCondLst>
                                        </p:cTn>
                                        <p:tgtEl>
                                          <p:spTgt spid="8"/>
                                        </p:tgtEl>
                                        <p:attrNameLst>
                                          <p:attrName>style.visibility</p:attrName>
                                        </p:attrNameLst>
                                      </p:cBhvr>
                                      <p:to>
                                        <p:strVal val="visible"/>
                                      </p:to>
                                    </p:set>
                                  </p:childTnLst>
                                </p:cTn>
                              </p:par>
                              <p:par>
                                <p:cTn id="19" presetID="1" presetClass="exit" presetSubtype="0" fill="hold" grpId="1" nodeType="withEffect">
                                  <p:stCondLst>
                                    <p:cond delay="0"/>
                                  </p:stCondLst>
                                  <p:childTnLst>
                                    <p:set>
                                      <p:cBhvr>
                                        <p:cTn id="20" dur="1" fill="hold">
                                          <p:stCondLst>
                                            <p:cond delay="0"/>
                                          </p:stCondLst>
                                        </p:cTn>
                                        <p:tgtEl>
                                          <p:spTgt spid="5"/>
                                        </p:tgtEl>
                                        <p:attrNameLst>
                                          <p:attrName>style.visibility</p:attrName>
                                        </p:attrNameLst>
                                      </p:cBhvr>
                                      <p:to>
                                        <p:strVal val="hidden"/>
                                      </p:to>
                                    </p:set>
                                  </p:childTnLst>
                                </p:cTn>
                              </p:par>
                            </p:childTnLst>
                          </p:cTn>
                        </p:par>
                      </p:childTnLst>
                    </p:cTn>
                  </p:par>
                  <p:par>
                    <p:cTn id="21" fill="hold">
                      <p:stCondLst>
                        <p:cond delay="indefinite"/>
                      </p:stCondLst>
                      <p:childTnLst>
                        <p:par>
                          <p:cTn id="22" fill="hold">
                            <p:stCondLst>
                              <p:cond delay="0"/>
                            </p:stCondLst>
                            <p:childTnLst>
                              <p:par>
                                <p:cTn id="23" presetID="1" presetClass="entr" presetSubtype="0" fill="hold" grpId="0" nodeType="clickEffect">
                                  <p:stCondLst>
                                    <p:cond delay="0"/>
                                  </p:stCondLst>
                                  <p:childTnLst>
                                    <p:set>
                                      <p:cBhvr>
                                        <p:cTn id="24" dur="1" fill="hold">
                                          <p:stCondLst>
                                            <p:cond delay="0"/>
                                          </p:stCondLst>
                                        </p:cTn>
                                        <p:tgtEl>
                                          <p:spTgt spid="4">
                                            <p:txEl>
                                              <p:pRg st="3" end="3"/>
                                            </p:txEl>
                                          </p:spTgt>
                                        </p:tgtEl>
                                        <p:attrNameLst>
                                          <p:attrName>style.visibility</p:attrName>
                                        </p:attrNameLst>
                                      </p:cBhvr>
                                      <p:to>
                                        <p:strVal val="visible"/>
                                      </p:to>
                                    </p:set>
                                  </p:childTnLst>
                                </p:cTn>
                              </p:par>
                              <p:par>
                                <p:cTn id="25" presetID="1" presetClass="entr" presetSubtype="0" fill="hold" grpId="0" nodeType="withEffect">
                                  <p:stCondLst>
                                    <p:cond delay="0"/>
                                  </p:stCondLst>
                                  <p:childTnLst>
                                    <p:set>
                                      <p:cBhvr>
                                        <p:cTn id="26" dur="1" fill="hold">
                                          <p:stCondLst>
                                            <p:cond delay="0"/>
                                          </p:stCondLst>
                                        </p:cTn>
                                        <p:tgtEl>
                                          <p:spTgt spid="11"/>
                                        </p:tgtEl>
                                        <p:attrNameLst>
                                          <p:attrName>style.visibility</p:attrName>
                                        </p:attrNameLst>
                                      </p:cBhvr>
                                      <p:to>
                                        <p:strVal val="visible"/>
                                      </p:to>
                                    </p:set>
                                  </p:childTnLst>
                                </p:cTn>
                              </p:par>
                              <p:par>
                                <p:cTn id="27" presetID="1" presetClass="exit" presetSubtype="0" fill="hold" grpId="1" nodeType="withEffect">
                                  <p:stCondLst>
                                    <p:cond delay="0"/>
                                  </p:stCondLst>
                                  <p:childTnLst>
                                    <p:set>
                                      <p:cBhvr>
                                        <p:cTn id="28" dur="1" fill="hold">
                                          <p:stCondLst>
                                            <p:cond delay="0"/>
                                          </p:stCondLst>
                                        </p:cTn>
                                        <p:tgtEl>
                                          <p:spTgt spid="8"/>
                                        </p:tgtEl>
                                        <p:attrNameLst>
                                          <p:attrName>style.visibility</p:attrName>
                                        </p:attrNameLst>
                                      </p:cBhvr>
                                      <p:to>
                                        <p:strVal val="hidden"/>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4" grpId="0" build="p"/>
    </p:bldLst>
  </p:timing>
</p:sld>
</file>

<file path=ppt/slides/slide5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b0_2">
            <a:extLst>
              <a:ext uri="{FF2B5EF4-FFF2-40B4-BE49-F238E27FC236}">
                <a16:creationId xmlns:a16="http://schemas.microsoft.com/office/drawing/2014/main" id="{33DE8782-7F2B-1033-00F6-2A6652EE0E80}"/>
              </a:ext>
            </a:extLst>
          </p:cNvPr>
          <p:cNvSpPr txBox="1"/>
          <p:nvPr/>
        </p:nvSpPr>
        <p:spPr>
          <a:xfrm>
            <a:off x="0" y="148566"/>
            <a:ext cx="11680992" cy="548640"/>
          </a:xfrm>
          <a:prstGeom prst="rect">
            <a:avLst/>
          </a:prstGeom>
          <a:noFill/>
          <a:ln>
            <a:noFill/>
          </a:ln>
        </p:spPr>
        <p:txBody>
          <a:bodyPr wrap="square" rtlCol="0" anchor="ctr"/>
          <a:lstStyle/>
          <a:p>
            <a:r>
              <a:rPr lang="en-US" sz="3200" b="1" dirty="0">
                <a:solidFill>
                  <a:srgbClr val="000000"/>
                </a:solidFill>
                <a:latin typeface="Calibri" pitchFamily="34" charset="0"/>
                <a:ea typeface="Calibri" pitchFamily="34" charset="-122"/>
                <a:cs typeface="Calibri" pitchFamily="34" charset="-120"/>
              </a:rPr>
              <a:t>Understanding </a:t>
            </a:r>
            <a:r>
              <a:rPr lang="en-US" sz="3200" b="1" dirty="0">
                <a:solidFill>
                  <a:srgbClr val="362FEC"/>
                </a:solidFill>
                <a:latin typeface="Calibri" pitchFamily="34" charset="0"/>
                <a:ea typeface="Calibri" pitchFamily="34" charset="-122"/>
                <a:cs typeface="Calibri" pitchFamily="34" charset="-120"/>
              </a:rPr>
              <a:t>Language</a:t>
            </a:r>
            <a:endParaRPr lang="en-US" sz="3200" dirty="0">
              <a:solidFill>
                <a:srgbClr val="362FEC"/>
              </a:solidFill>
            </a:endParaRPr>
          </a:p>
        </p:txBody>
      </p:sp>
      <p:sp>
        <p:nvSpPr>
          <p:cNvPr id="3" name="subheading">
            <a:extLst>
              <a:ext uri="{FF2B5EF4-FFF2-40B4-BE49-F238E27FC236}">
                <a16:creationId xmlns:a16="http://schemas.microsoft.com/office/drawing/2014/main" id="{5CB8A4AA-40B1-94AE-8EEE-080599481F78}"/>
              </a:ext>
            </a:extLst>
          </p:cNvPr>
          <p:cNvSpPr txBox="1"/>
          <p:nvPr/>
        </p:nvSpPr>
        <p:spPr>
          <a:xfrm>
            <a:off x="292608" y="868680"/>
            <a:ext cx="11430000" cy="411480"/>
          </a:xfrm>
          <a:prstGeom prst="rect">
            <a:avLst/>
          </a:prstGeom>
          <a:noFill/>
          <a:ln>
            <a:noFill/>
          </a:ln>
        </p:spPr>
        <p:txBody>
          <a:bodyPr wrap="square" lIns="0" tIns="0" rIns="0" bIns="0" rtlCol="0" anchor="ctr"/>
          <a:lstStyle/>
          <a:p>
            <a:pPr marL="0" indent="0">
              <a:buNone/>
            </a:pPr>
            <a:r>
              <a:rPr lang="en-US" sz="2000" b="1" dirty="0">
                <a:solidFill>
                  <a:srgbClr val="362FEC"/>
                </a:solidFill>
                <a:latin typeface="Calibri" panose="020F0502020204030204" pitchFamily="34" charset="0"/>
                <a:cs typeface="Calibri" panose="020F0502020204030204" pitchFamily="34" charset="0"/>
              </a:rPr>
              <a:t>Prediction and statistics</a:t>
            </a:r>
          </a:p>
        </p:txBody>
      </p:sp>
      <p:sp>
        <p:nvSpPr>
          <p:cNvPr id="4" name="points"/>
          <p:cNvSpPr txBox="1"/>
          <p:nvPr/>
        </p:nvSpPr>
        <p:spPr>
          <a:xfrm>
            <a:off x="384048" y="1417320"/>
            <a:ext cx="6126480" cy="5166360"/>
          </a:xfrm>
          <a:prstGeom prst="rect">
            <a:avLst/>
          </a:prstGeom>
          <a:noFill/>
        </p:spPr>
        <p:txBody>
          <a:bodyPr wrap="square" lIns="0" rIns="0" tIns="0" bIns="0">
            <a:spAutoFit/>
          </a:bodyPr>
          <a:lstStyle/>
          <a:p>
            <a:pPr algn="l">
              <a:spcAft>
                <a:spcPts val="1200"/>
              </a:spcAft>
            </a:pPr>
            <a:r>
              <a:rPr sz="1800" b="1" i="0">
                <a:solidFill>
                  <a:srgbClr val="362FEC"/>
                </a:solidFill>
                <a:latin typeface="Calibri"/>
              </a:rPr>
              <a:t>1948  </a:t>
            </a:r>
            <a:r>
              <a:rPr sz="1800" b="1" i="0">
                <a:solidFill>
                  <a:srgbClr val="000000"/>
                </a:solidFill>
                <a:latin typeface="Calibri"/>
              </a:rPr>
              <a:t>Shannon: </a:t>
            </a:r>
            <a:r>
              <a:rPr sz="1800" b="0" i="0">
                <a:solidFill>
                  <a:srgbClr val="000000"/>
                </a:solidFill>
                <a:latin typeface="Calibri"/>
              </a:rPr>
              <a:t>English as a stochastic source: letters, then letters given the previous ones, then words given the previous word.</a:t>
            </a:r>
          </a:p>
          <a:p>
            <a:pPr algn="l">
              <a:spcAft>
                <a:spcPts val="1200"/>
              </a:spcAft>
            </a:pPr>
            <a:r>
              <a:rPr sz="1800" b="1" i="0">
                <a:solidFill>
                  <a:srgbClr val="00B050"/>
                </a:solidFill>
                <a:latin typeface="Calibri"/>
              </a:rPr>
              <a:t>1951  </a:t>
            </a:r>
            <a:r>
              <a:rPr sz="1800" b="1" i="0">
                <a:solidFill>
                  <a:srgbClr val="000000"/>
                </a:solidFill>
                <a:latin typeface="Calibri"/>
              </a:rPr>
              <a:t>the guessing game: </a:t>
            </a:r>
            <a:r>
              <a:rPr sz="1800" b="0" i="0">
                <a:solidFill>
                  <a:srgbClr val="000000"/>
                </a:solidFill>
                <a:latin typeface="Calibri"/>
              </a:rPr>
              <a:t>people guessing the next letter: about one bit per letter with long context (0.6 to 1.3).</a:t>
            </a:r>
          </a:p>
          <a:p>
            <a:pPr algn="l">
              <a:spcAft>
                <a:spcPts val="1200"/>
              </a:spcAft>
            </a:pPr>
            <a:r>
              <a:rPr sz="1800" b="1" i="0">
                <a:solidFill>
                  <a:srgbClr val="FF0000"/>
                </a:solidFill>
                <a:latin typeface="Calibri"/>
              </a:rPr>
              <a:t>1957  </a:t>
            </a:r>
            <a:r>
              <a:rPr sz="1800" b="1" i="0">
                <a:solidFill>
                  <a:srgbClr val="000000"/>
                </a:solidFill>
                <a:latin typeface="Calibri"/>
              </a:rPr>
              <a:t>Chomsky: </a:t>
            </a:r>
            <a:r>
              <a:rPr sz="1800" b="0" i="0">
                <a:solidFill>
                  <a:srgbClr val="000000"/>
                </a:solidFill>
                <a:latin typeface="Calibri"/>
              </a:rPr>
              <a:t>“Colorless green ideas sleep furiously” and its reversal were both unseen, so statistics must treat them alike?</a:t>
            </a:r>
          </a:p>
          <a:p>
            <a:pPr algn="l">
              <a:spcAft>
                <a:spcPts val="1200"/>
              </a:spcAft>
            </a:pPr>
            <a:r>
              <a:rPr sz="1800" b="1" i="0">
                <a:solidFill>
                  <a:srgbClr val="00B050"/>
                </a:solidFill>
                <a:latin typeface="Calibri"/>
              </a:rPr>
              <a:t>2000  </a:t>
            </a:r>
            <a:r>
              <a:rPr sz="1800" b="1" i="0">
                <a:solidFill>
                  <a:srgbClr val="000000"/>
                </a:solidFill>
                <a:latin typeface="Calibri"/>
              </a:rPr>
              <a:t>Pereira: </a:t>
            </a:r>
            <a:r>
              <a:rPr sz="1800" b="0" i="0">
                <a:solidFill>
                  <a:srgbClr val="000000"/>
                </a:solidFill>
                <a:latin typeface="Calibri"/>
              </a:rPr>
              <a:t>a class-based bigram model prefers the grammatical one by about 200,000 times.</a:t>
            </a:r>
          </a:p>
        </p:txBody>
      </p:sp>
      <p:grpSp>
        <p:nvGrpSpPr>
          <p:cNvPr id="5" name="picture 1"/>
          <p:cNvGrpSpPr/>
          <p:nvPr/>
        </p:nvGrpSpPr>
        <p:grpSpPr>
          <a:xfrm>
            <a:off x="6812280" y="1371600"/>
            <a:ext cx="5120640" cy="4480560"/>
            <a:chOff x="6812280" y="1371600"/>
            <a:chExt cx="5120640" cy="4480560"/>
          </a:xfrm>
        </p:grpSpPr>
        <p:pic>
          <p:nvPicPr>
            <p:cNvPr id="6" name="Picture 5" descr="image.jpg"/>
            <p:cNvPicPr>
              <a:picLocks noChangeAspect="1"/>
            </p:cNvPicPr>
            <p:nvPr/>
          </p:nvPicPr>
          <p:blipFill>
            <a:blip r:embed="rId2"/>
            <a:stretch>
              <a:fillRect/>
            </a:stretch>
          </p:blipFill>
          <p:spPr>
            <a:xfrm>
              <a:off x="8658453" y="1371600"/>
              <a:ext cx="1428292" cy="2011680"/>
            </a:xfrm>
            <a:prstGeom prst="rect">
              <a:avLst/>
            </a:prstGeom>
          </p:spPr>
        </p:pic>
        <p:sp>
          <p:nvSpPr>
            <p:cNvPr id="7" name="TextBox 6"/>
            <p:cNvSpPr txBox="1"/>
            <p:nvPr/>
          </p:nvSpPr>
          <p:spPr>
            <a:xfrm>
              <a:off x="8384133" y="3419856"/>
              <a:ext cx="1976932" cy="274320"/>
            </a:xfrm>
            <a:prstGeom prst="rect">
              <a:avLst/>
            </a:prstGeom>
            <a:noFill/>
          </p:spPr>
          <p:txBody>
            <a:bodyPr wrap="square" anchor="t" lIns="0" rIns="0" tIns="0" bIns="0">
              <a:spAutoFit/>
            </a:bodyPr>
            <a:lstStyle/>
            <a:p>
              <a:pPr algn="ctr"/>
              <a:r>
                <a:rPr sz="1200" b="0" i="0">
                  <a:solidFill>
                    <a:srgbClr val="595959"/>
                  </a:solidFill>
                  <a:latin typeface="Calibri"/>
                </a:rPr>
                <a:t>Claude Shannon</a:t>
              </a:r>
            </a:p>
          </p:txBody>
        </p:sp>
        <p:sp>
          <p:nvSpPr>
            <p:cNvPr id="8" name="Rounded Rectangle 7"/>
            <p:cNvSpPr/>
            <p:nvPr/>
          </p:nvSpPr>
          <p:spPr>
            <a:xfrm>
              <a:off x="6812280" y="3794760"/>
              <a:ext cx="5120640" cy="1371600"/>
            </a:xfrm>
            <a:prstGeom prst="roundRect">
              <a:avLst>
                <a:gd name="adj" fmla="val 6000"/>
              </a:avLst>
            </a:prstGeom>
            <a:solidFill>
              <a:srgbClr val="EDEDED"/>
            </a:solidFill>
            <a:ln>
              <a:noFill/>
            </a:ln>
          </p:spPr>
          <p:style>
            <a:lnRef idx="1">
              <a:schemeClr val="accent1"/>
            </a:lnRef>
            <a:fillRef idx="3">
              <a:schemeClr val="accent1"/>
            </a:fillRef>
            <a:effectRef idx="2">
              <a:schemeClr val="accent1"/>
            </a:effectRef>
            <a:fontRef idx="minor">
              <a:schemeClr val="lt1"/>
            </a:fontRef>
          </p:style>
          <p:txBody>
            <a:bodyPr rtlCol="0" anchor="ctr" wrap="square" lIns="137160" rIns="137160" tIns="54864" bIns="54864"/>
            <a:lstStyle/>
            <a:p>
              <a:pPr algn="l"/>
              <a:r>
                <a:rPr sz="1300" b="0" i="0">
                  <a:solidFill>
                    <a:srgbClr val="595959"/>
                  </a:solidFill>
                  <a:latin typeface="Calibri"/>
                </a:rPr>
                <a:t>random letters:  </a:t>
              </a:r>
              <a:r>
                <a:rPr sz="1300" b="0" i="0">
                  <a:solidFill>
                    <a:srgbClr val="000000"/>
                  </a:solidFill>
                  <a:latin typeface="Consolas"/>
                </a:rPr>
                <a:t>dwugnmrvcawluamtgzya</a:t>
              </a:r>
            </a:p>
            <a:p>
              <a:pPr algn="l"/>
              <a:r>
                <a:rPr sz="1300" b="0" i="0">
                  <a:solidFill>
                    <a:srgbClr val="595959"/>
                  </a:solidFill>
                  <a:latin typeface="Calibri"/>
                </a:rPr>
                <a:t>1 letter of context:  </a:t>
              </a:r>
              <a:r>
                <a:rPr sz="1300" b="0" i="0">
                  <a:solidFill>
                    <a:srgbClr val="000000"/>
                  </a:solidFill>
                  <a:latin typeface="Consolas"/>
                </a:rPr>
                <a:t>the bushery acrouanth vack</a:t>
              </a:r>
            </a:p>
            <a:p>
              <a:pPr algn="l"/>
              <a:r>
                <a:rPr sz="1300" b="0" i="0">
                  <a:solidFill>
                    <a:srgbClr val="595959"/>
                  </a:solidFill>
                  <a:latin typeface="Calibri"/>
                </a:rPr>
                <a:t>4 letters of context:  </a:t>
              </a:r>
              <a:r>
                <a:rPr sz="1300" b="0" i="0">
                  <a:solidFill>
                    <a:srgbClr val="000000"/>
                  </a:solidFill>
                  <a:latin typeface="Consolas"/>
                </a:rPr>
                <a:t>the could nothinking woman</a:t>
              </a:r>
            </a:p>
            <a:p>
              <a:pPr algn="l"/>
              <a:r>
                <a:rPr sz="1300" b="0" i="0">
                  <a:solidFill>
                    <a:srgbClr val="595959"/>
                  </a:solidFill>
                  <a:latin typeface="Calibri"/>
                </a:rPr>
                <a:t>word pairs:  </a:t>
              </a:r>
              <a:r>
                <a:rPr sz="1300" b="0" i="0">
                  <a:solidFill>
                    <a:srgbClr val="000000"/>
                  </a:solidFill>
                  <a:latin typeface="Consolas"/>
                </a:rPr>
                <a:t>she with such a very audible whisper</a:t>
              </a:r>
            </a:p>
          </p:txBody>
        </p:sp>
        <p:sp>
          <p:nvSpPr>
            <p:cNvPr id="9" name="description"/>
            <p:cNvSpPr txBox="1"/>
            <p:nvPr/>
          </p:nvSpPr>
          <p:spPr>
            <a:xfrm>
              <a:off x="6812280" y="5303520"/>
              <a:ext cx="5120640" cy="548640"/>
            </a:xfrm>
            <a:prstGeom prst="rect">
              <a:avLst/>
            </a:prstGeom>
            <a:noFill/>
          </p:spPr>
          <p:txBody>
            <a:bodyPr wrap="square" anchor="t" lIns="0" rIns="0" tIns="0" bIns="0">
              <a:spAutoFit/>
            </a:bodyPr>
            <a:lstStyle/>
            <a:p>
              <a:pPr algn="l"/>
              <a:r>
                <a:rPr sz="1400" b="0" i="0">
                  <a:solidFill>
                    <a:srgbClr val="595959"/>
                  </a:solidFill>
                  <a:latin typeface="Calibri"/>
                </a:rPr>
                <a:t>Samples from counting models trained on two of Jane Austen's novels: more context, more like English.</a:t>
              </a:r>
            </a:p>
          </p:txBody>
        </p:sp>
      </p:grpSp>
      <p:grpSp>
        <p:nvGrpSpPr>
          <p:cNvPr id="10" name="picture 2"/>
          <p:cNvGrpSpPr/>
          <p:nvPr/>
        </p:nvGrpSpPr>
        <p:grpSpPr>
          <a:xfrm>
            <a:off x="7636361" y="1371600"/>
            <a:ext cx="3472476" cy="4480560"/>
            <a:chOff x="7636361" y="1371600"/>
            <a:chExt cx="3472476" cy="4480560"/>
          </a:xfrm>
        </p:grpSpPr>
        <p:pic>
          <p:nvPicPr>
            <p:cNvPr id="11" name="Picture 10" descr="guess_next_letter.png"/>
            <p:cNvPicPr>
              <a:picLocks noChangeAspect="1"/>
            </p:cNvPicPr>
            <p:nvPr/>
          </p:nvPicPr>
          <p:blipFill>
            <a:blip r:embed="rId3"/>
            <a:stretch>
              <a:fillRect/>
            </a:stretch>
          </p:blipFill>
          <p:spPr>
            <a:xfrm>
              <a:off x="7669347" y="1371600"/>
              <a:ext cx="3406504" cy="2103120"/>
            </a:xfrm>
            <a:prstGeom prst="rect">
              <a:avLst/>
            </a:prstGeom>
          </p:spPr>
        </p:pic>
        <p:pic>
          <p:nvPicPr>
            <p:cNvPr id="12" name="Picture 11" descr="entropy_vs_context.png"/>
            <p:cNvPicPr>
              <a:picLocks noChangeAspect="1"/>
            </p:cNvPicPr>
            <p:nvPr/>
          </p:nvPicPr>
          <p:blipFill>
            <a:blip r:embed="rId4"/>
            <a:stretch>
              <a:fillRect/>
            </a:stretch>
          </p:blipFill>
          <p:spPr>
            <a:xfrm>
              <a:off x="7636361" y="3566160"/>
              <a:ext cx="3472476" cy="2286000"/>
            </a:xfrm>
            <a:prstGeom prst="rect">
              <a:avLst/>
            </a:prstGeom>
          </p:spPr>
        </p:pic>
      </p:grpSp>
      <p:grpSp>
        <p:nvGrpSpPr>
          <p:cNvPr id="13" name="picture 3"/>
          <p:cNvGrpSpPr/>
          <p:nvPr/>
        </p:nvGrpSpPr>
        <p:grpSpPr>
          <a:xfrm>
            <a:off x="6812280" y="1645920"/>
            <a:ext cx="5120640" cy="2286000"/>
            <a:chOff x="6812280" y="1645920"/>
            <a:chExt cx="5120640" cy="2286000"/>
          </a:xfrm>
        </p:grpSpPr>
        <p:sp>
          <p:nvSpPr>
            <p:cNvPr id="14" name="Rounded Rectangle 13"/>
            <p:cNvSpPr/>
            <p:nvPr/>
          </p:nvSpPr>
          <p:spPr>
            <a:xfrm>
              <a:off x="6812280" y="1645920"/>
              <a:ext cx="5120640" cy="640080"/>
            </a:xfrm>
            <a:prstGeom prst="roundRect">
              <a:avLst>
                <a:gd name="adj" fmla="val 12000"/>
              </a:avLst>
            </a:prstGeom>
            <a:solidFill>
              <a:srgbClr val="D9F2E4"/>
            </a:solidFill>
            <a:ln>
              <a:noFill/>
            </a:ln>
          </p:spPr>
          <p:style>
            <a:lnRef idx="1">
              <a:schemeClr val="accent1"/>
            </a:lnRef>
            <a:fillRef idx="3">
              <a:schemeClr val="accent1"/>
            </a:fillRef>
            <a:effectRef idx="2">
              <a:schemeClr val="accent1"/>
            </a:effectRef>
            <a:fontRef idx="minor">
              <a:schemeClr val="lt1"/>
            </a:fontRef>
          </p:style>
          <p:txBody>
            <a:bodyPr rtlCol="0" anchor="ctr" wrap="square" lIns="45720" rIns="45720"/>
            <a:lstStyle/>
            <a:p>
              <a:pPr algn="ctr"/>
              <a:r>
                <a:rPr sz="1800" b="1">
                  <a:solidFill>
                    <a:srgbClr val="00843D"/>
                  </a:solidFill>
                  <a:latin typeface="Calibri"/>
                </a:rPr>
                <a:t>Colorless green ideas sleep furiously.</a:t>
              </a:r>
            </a:p>
          </p:txBody>
        </p:sp>
        <p:sp>
          <p:nvSpPr>
            <p:cNvPr id="15" name="Rounded Rectangle 14"/>
            <p:cNvSpPr/>
            <p:nvPr/>
          </p:nvSpPr>
          <p:spPr>
            <a:xfrm>
              <a:off x="6812280" y="2514600"/>
              <a:ext cx="5120640" cy="640080"/>
            </a:xfrm>
            <a:prstGeom prst="roundRect">
              <a:avLst>
                <a:gd name="adj" fmla="val 12000"/>
              </a:avLst>
            </a:prstGeom>
            <a:solidFill>
              <a:srgbClr val="FFE0E0"/>
            </a:solidFill>
            <a:ln>
              <a:noFill/>
            </a:ln>
          </p:spPr>
          <p:style>
            <a:lnRef idx="1">
              <a:schemeClr val="accent1"/>
            </a:lnRef>
            <a:fillRef idx="3">
              <a:schemeClr val="accent1"/>
            </a:fillRef>
            <a:effectRef idx="2">
              <a:schemeClr val="accent1"/>
            </a:effectRef>
            <a:fontRef idx="minor">
              <a:schemeClr val="lt1"/>
            </a:fontRef>
          </p:style>
          <p:txBody>
            <a:bodyPr rtlCol="0" anchor="ctr" wrap="square" lIns="45720" rIns="45720"/>
            <a:lstStyle/>
            <a:p>
              <a:pPr algn="ctr"/>
              <a:r>
                <a:rPr sz="1800" b="1">
                  <a:solidFill>
                    <a:srgbClr val="FF0000"/>
                  </a:solidFill>
                  <a:latin typeface="Calibri"/>
                </a:rPr>
                <a:t>Furiously sleep ideas green colorless.</a:t>
              </a:r>
            </a:p>
          </p:txBody>
        </p:sp>
        <p:sp>
          <p:nvSpPr>
            <p:cNvPr id="16" name="description"/>
            <p:cNvSpPr txBox="1"/>
            <p:nvPr/>
          </p:nvSpPr>
          <p:spPr>
            <a:xfrm>
              <a:off x="6812280" y="3383280"/>
              <a:ext cx="5120640" cy="548640"/>
            </a:xfrm>
            <a:prstGeom prst="rect">
              <a:avLst/>
            </a:prstGeom>
            <a:noFill/>
          </p:spPr>
          <p:txBody>
            <a:bodyPr wrap="square" anchor="t" lIns="0" rIns="0" tIns="0" bIns="0">
              <a:spAutoFit/>
            </a:bodyPr>
            <a:lstStyle/>
            <a:p>
              <a:pPr algn="l"/>
              <a:r>
                <a:rPr sz="1400" b="0" i="0">
                  <a:solidFill>
                    <a:srgbClr val="595959"/>
                  </a:solidFill>
                  <a:latin typeface="Calibri"/>
                </a:rPr>
                <a:t>Syntactic Structures (1957): only the first is grammatical, although neither had presumably ever occurred.</a:t>
              </a:r>
            </a:p>
          </p:txBody>
        </p:sp>
      </p:grpSp>
      <p:grpSp>
        <p:nvGrpSpPr>
          <p:cNvPr id="17" name="picture 4"/>
          <p:cNvGrpSpPr/>
          <p:nvPr/>
        </p:nvGrpSpPr>
        <p:grpSpPr>
          <a:xfrm>
            <a:off x="6812280" y="1463040"/>
            <a:ext cx="5120640" cy="3200400"/>
            <a:chOff x="6812280" y="1463040"/>
            <a:chExt cx="5120640" cy="3200400"/>
          </a:xfrm>
        </p:grpSpPr>
        <p:pic>
          <p:nvPicPr>
            <p:cNvPr id="18" name="Picture 17" descr="colorless.png"/>
            <p:cNvPicPr>
              <a:picLocks noChangeAspect="1"/>
            </p:cNvPicPr>
            <p:nvPr/>
          </p:nvPicPr>
          <p:blipFill>
            <a:blip r:embed="rId5"/>
            <a:stretch>
              <a:fillRect/>
            </a:stretch>
          </p:blipFill>
          <p:spPr>
            <a:xfrm>
              <a:off x="6812280" y="1463040"/>
              <a:ext cx="5120640" cy="2233971"/>
            </a:xfrm>
            <a:prstGeom prst="rect">
              <a:avLst/>
            </a:prstGeom>
          </p:spPr>
        </p:pic>
        <p:sp>
          <p:nvSpPr>
            <p:cNvPr id="19" name="description"/>
            <p:cNvSpPr txBox="1"/>
            <p:nvPr/>
          </p:nvSpPr>
          <p:spPr>
            <a:xfrm>
              <a:off x="6812280" y="3840480"/>
              <a:ext cx="5120640" cy="822960"/>
            </a:xfrm>
            <a:prstGeom prst="rect">
              <a:avLst/>
            </a:prstGeom>
            <a:noFill/>
          </p:spPr>
          <p:txBody>
            <a:bodyPr wrap="square" anchor="t" lIns="0" rIns="0" tIns="0" bIns="0">
              <a:spAutoFit/>
            </a:bodyPr>
            <a:lstStyle/>
            <a:p>
              <a:pPr algn="l"/>
              <a:r>
                <a:rPr sz="1400" b="0" i="0">
                  <a:solidFill>
                    <a:srgbClr val="595959"/>
                  </a:solidFill>
                  <a:latin typeface="Calibri"/>
                </a:rPr>
                <a:t>Sharing statistical strength across similar words assigns sensible probabilities to unseen sentences: the central idea of Weeks 2 and 3. Norvig (2011), On Chomsky and the Two Cultures of Statistical Learning.</a:t>
              </a:r>
            </a:p>
          </p:txBody>
        </p:sp>
      </p:grpSp>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4">
                                            <p:txEl>
                                              <p:pRg st="0" end="0"/>
                                            </p:txEl>
                                          </p:spTgt>
                                        </p:tgtEl>
                                        <p:attrNameLst>
                                          <p:attrName>style.visibility</p:attrName>
                                        </p:attrNameLst>
                                      </p:cBhvr>
                                      <p:to>
                                        <p:strVal val="visible"/>
                                      </p:to>
                                    </p:set>
                                  </p:childTnLst>
                                </p:cTn>
                              </p:par>
                              <p:par>
                                <p:cTn id="7" presetID="1" presetClass="entr" presetSubtype="0" fill="hold" grpId="0" nodeType="withEffect">
                                  <p:stCondLst>
                                    <p:cond delay="0"/>
                                  </p:stCondLst>
                                  <p:childTnLst>
                                    <p:set>
                                      <p:cBhvr>
                                        <p:cTn id="8" dur="1" fill="hold">
                                          <p:stCondLst>
                                            <p:cond delay="0"/>
                                          </p:stCondLst>
                                        </p:cTn>
                                        <p:tgtEl>
                                          <p:spTgt spid="5"/>
                                        </p:tgtEl>
                                        <p:attrNameLst>
                                          <p:attrName>style.visibility</p:attrName>
                                        </p:attrNameLst>
                                      </p:cBhvr>
                                      <p:to>
                                        <p:strVal val="visible"/>
                                      </p:to>
                                    </p:set>
                                  </p:childTnLst>
                                </p:cTn>
                              </p:par>
                            </p:childTnLst>
                          </p:cTn>
                        </p:par>
                      </p:childTnLst>
                    </p:cTn>
                  </p:par>
                  <p:par>
                    <p:cTn id="9" fill="hold">
                      <p:stCondLst>
                        <p:cond delay="indefinite"/>
                      </p:stCondLst>
                      <p:childTnLst>
                        <p:par>
                          <p:cTn id="10" fill="hold">
                            <p:stCondLst>
                              <p:cond delay="0"/>
                            </p:stCondLst>
                            <p:childTnLst>
                              <p:par>
                                <p:cTn id="11" presetID="1" presetClass="entr" presetSubtype="0" fill="hold" grpId="0" nodeType="clickEffect">
                                  <p:stCondLst>
                                    <p:cond delay="0"/>
                                  </p:stCondLst>
                                  <p:childTnLst>
                                    <p:set>
                                      <p:cBhvr>
                                        <p:cTn id="12" dur="1" fill="hold">
                                          <p:stCondLst>
                                            <p:cond delay="0"/>
                                          </p:stCondLst>
                                        </p:cTn>
                                        <p:tgtEl>
                                          <p:spTgt spid="4">
                                            <p:txEl>
                                              <p:pRg st="1" end="1"/>
                                            </p:txEl>
                                          </p:spTgt>
                                        </p:tgtEl>
                                        <p:attrNameLst>
                                          <p:attrName>style.visibility</p:attrName>
                                        </p:attrNameLst>
                                      </p:cBhvr>
                                      <p:to>
                                        <p:strVal val="visible"/>
                                      </p:to>
                                    </p:set>
                                  </p:childTnLst>
                                </p:cTn>
                              </p:par>
                              <p:par>
                                <p:cTn id="13" presetID="1" presetClass="entr" presetSubtype="0" fill="hold" grpId="0" nodeType="withEffect">
                                  <p:stCondLst>
                                    <p:cond delay="0"/>
                                  </p:stCondLst>
                                  <p:childTnLst>
                                    <p:set>
                                      <p:cBhvr>
                                        <p:cTn id="14" dur="1" fill="hold">
                                          <p:stCondLst>
                                            <p:cond delay="0"/>
                                          </p:stCondLst>
                                        </p:cTn>
                                        <p:tgtEl>
                                          <p:spTgt spid="10"/>
                                        </p:tgtEl>
                                        <p:attrNameLst>
                                          <p:attrName>style.visibility</p:attrName>
                                        </p:attrNameLst>
                                      </p:cBhvr>
                                      <p:to>
                                        <p:strVal val="visible"/>
                                      </p:to>
                                    </p:set>
                                  </p:childTnLst>
                                </p:cTn>
                              </p:par>
                              <p:par>
                                <p:cTn id="15" presetID="1" presetClass="exit" presetSubtype="0" fill="hold" grpId="1" nodeType="withEffect">
                                  <p:stCondLst>
                                    <p:cond delay="0"/>
                                  </p:stCondLst>
                                  <p:childTnLst>
                                    <p:set>
                                      <p:cBhvr>
                                        <p:cTn id="16" dur="1" fill="hold">
                                          <p:stCondLst>
                                            <p:cond delay="0"/>
                                          </p:stCondLst>
                                        </p:cTn>
                                        <p:tgtEl>
                                          <p:spTgt spid="5"/>
                                        </p:tgtEl>
                                        <p:attrNameLst>
                                          <p:attrName>style.visibility</p:attrName>
                                        </p:attrNameLst>
                                      </p:cBhvr>
                                      <p:to>
                                        <p:strVal val="hidden"/>
                                      </p:to>
                                    </p:set>
                                  </p:childTnLst>
                                </p:cTn>
                              </p:par>
                            </p:childTnLst>
                          </p:cTn>
                        </p:par>
                      </p:childTnLst>
                    </p:cTn>
                  </p:par>
                  <p:par>
                    <p:cTn id="17" fill="hold">
                      <p:stCondLst>
                        <p:cond delay="indefinite"/>
                      </p:stCondLst>
                      <p:childTnLst>
                        <p:par>
                          <p:cTn id="18" fill="hold">
                            <p:stCondLst>
                              <p:cond delay="0"/>
                            </p:stCondLst>
                            <p:childTnLst>
                              <p:par>
                                <p:cTn id="19" presetID="1" presetClass="entr" presetSubtype="0" fill="hold" grpId="0" nodeType="clickEffect">
                                  <p:stCondLst>
                                    <p:cond delay="0"/>
                                  </p:stCondLst>
                                  <p:childTnLst>
                                    <p:set>
                                      <p:cBhvr>
                                        <p:cTn id="20" dur="1" fill="hold">
                                          <p:stCondLst>
                                            <p:cond delay="0"/>
                                          </p:stCondLst>
                                        </p:cTn>
                                        <p:tgtEl>
                                          <p:spTgt spid="4">
                                            <p:txEl>
                                              <p:pRg st="2" end="2"/>
                                            </p:txEl>
                                          </p:spTgt>
                                        </p:tgtEl>
                                        <p:attrNameLst>
                                          <p:attrName>style.visibility</p:attrName>
                                        </p:attrNameLst>
                                      </p:cBhvr>
                                      <p:to>
                                        <p:strVal val="visible"/>
                                      </p:to>
                                    </p:set>
                                  </p:childTnLst>
                                </p:cTn>
                              </p:par>
                              <p:par>
                                <p:cTn id="21" presetID="1" presetClass="entr" presetSubtype="0" fill="hold" grpId="0" nodeType="withEffect">
                                  <p:stCondLst>
                                    <p:cond delay="0"/>
                                  </p:stCondLst>
                                  <p:childTnLst>
                                    <p:set>
                                      <p:cBhvr>
                                        <p:cTn id="22" dur="1" fill="hold">
                                          <p:stCondLst>
                                            <p:cond delay="0"/>
                                          </p:stCondLst>
                                        </p:cTn>
                                        <p:tgtEl>
                                          <p:spTgt spid="13"/>
                                        </p:tgtEl>
                                        <p:attrNameLst>
                                          <p:attrName>style.visibility</p:attrName>
                                        </p:attrNameLst>
                                      </p:cBhvr>
                                      <p:to>
                                        <p:strVal val="visible"/>
                                      </p:to>
                                    </p:set>
                                  </p:childTnLst>
                                </p:cTn>
                              </p:par>
                              <p:par>
                                <p:cTn id="23" presetID="1" presetClass="exit" presetSubtype="0" fill="hold" grpId="1" nodeType="withEffect">
                                  <p:stCondLst>
                                    <p:cond delay="0"/>
                                  </p:stCondLst>
                                  <p:childTnLst>
                                    <p:set>
                                      <p:cBhvr>
                                        <p:cTn id="24" dur="1" fill="hold">
                                          <p:stCondLst>
                                            <p:cond delay="0"/>
                                          </p:stCondLst>
                                        </p:cTn>
                                        <p:tgtEl>
                                          <p:spTgt spid="10"/>
                                        </p:tgtEl>
                                        <p:attrNameLst>
                                          <p:attrName>style.visibility</p:attrName>
                                        </p:attrNameLst>
                                      </p:cBhvr>
                                      <p:to>
                                        <p:strVal val="hidden"/>
                                      </p:to>
                                    </p:set>
                                  </p:childTnLst>
                                </p:cTn>
                              </p:par>
                            </p:childTnLst>
                          </p:cTn>
                        </p:par>
                      </p:childTnLst>
                    </p:cTn>
                  </p:par>
                  <p:par>
                    <p:cTn id="25" fill="hold">
                      <p:stCondLst>
                        <p:cond delay="indefinite"/>
                      </p:stCondLst>
                      <p:childTnLst>
                        <p:par>
                          <p:cTn id="26" fill="hold">
                            <p:stCondLst>
                              <p:cond delay="0"/>
                            </p:stCondLst>
                            <p:childTnLst>
                              <p:par>
                                <p:cTn id="27" presetID="1" presetClass="entr" presetSubtype="0" fill="hold" grpId="0" nodeType="clickEffect">
                                  <p:stCondLst>
                                    <p:cond delay="0"/>
                                  </p:stCondLst>
                                  <p:childTnLst>
                                    <p:set>
                                      <p:cBhvr>
                                        <p:cTn id="28" dur="1" fill="hold">
                                          <p:stCondLst>
                                            <p:cond delay="0"/>
                                          </p:stCondLst>
                                        </p:cTn>
                                        <p:tgtEl>
                                          <p:spTgt spid="4">
                                            <p:txEl>
                                              <p:pRg st="3" end="3"/>
                                            </p:txEl>
                                          </p:spTgt>
                                        </p:tgtEl>
                                        <p:attrNameLst>
                                          <p:attrName>style.visibility</p:attrName>
                                        </p:attrNameLst>
                                      </p:cBhvr>
                                      <p:to>
                                        <p:strVal val="visible"/>
                                      </p:to>
                                    </p:set>
                                  </p:childTnLst>
                                </p:cTn>
                              </p:par>
                              <p:par>
                                <p:cTn id="29" presetID="1" presetClass="entr" presetSubtype="0" fill="hold" grpId="0" nodeType="withEffect">
                                  <p:stCondLst>
                                    <p:cond delay="0"/>
                                  </p:stCondLst>
                                  <p:childTnLst>
                                    <p:set>
                                      <p:cBhvr>
                                        <p:cTn id="30" dur="1" fill="hold">
                                          <p:stCondLst>
                                            <p:cond delay="0"/>
                                          </p:stCondLst>
                                        </p:cTn>
                                        <p:tgtEl>
                                          <p:spTgt spid="17"/>
                                        </p:tgtEl>
                                        <p:attrNameLst>
                                          <p:attrName>style.visibility</p:attrName>
                                        </p:attrNameLst>
                                      </p:cBhvr>
                                      <p:to>
                                        <p:strVal val="visible"/>
                                      </p:to>
                                    </p:set>
                                  </p:childTnLst>
                                </p:cTn>
                              </p:par>
                              <p:par>
                                <p:cTn id="31" presetID="1" presetClass="exit" presetSubtype="0" fill="hold" grpId="1" nodeType="withEffect">
                                  <p:stCondLst>
                                    <p:cond delay="0"/>
                                  </p:stCondLst>
                                  <p:childTnLst>
                                    <p:set>
                                      <p:cBhvr>
                                        <p:cTn id="32" dur="1" fill="hold">
                                          <p:stCondLst>
                                            <p:cond delay="0"/>
                                          </p:stCondLst>
                                        </p:cTn>
                                        <p:tgtEl>
                                          <p:spTgt spid="13"/>
                                        </p:tgtEl>
                                        <p:attrNameLst>
                                          <p:attrName>style.visibility</p:attrName>
                                        </p:attrNameLst>
                                      </p:cBhvr>
                                      <p:to>
                                        <p:strVal val="hidden"/>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4" grpId="0" build="p"/>
    </p:bldLst>
  </p:timing>
</p:sld>
</file>

<file path=ppt/slides/slide6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b0_2">
            <a:extLst>
              <a:ext uri="{FF2B5EF4-FFF2-40B4-BE49-F238E27FC236}">
                <a16:creationId xmlns:a16="http://schemas.microsoft.com/office/drawing/2014/main" id="{63D8B88D-36C4-45E1-74C8-A7D5EAB586FB}"/>
              </a:ext>
            </a:extLst>
          </p:cNvPr>
          <p:cNvSpPr txBox="1"/>
          <p:nvPr/>
        </p:nvSpPr>
        <p:spPr>
          <a:xfrm>
            <a:off x="0" y="148566"/>
            <a:ext cx="11680992" cy="548640"/>
          </a:xfrm>
          <a:prstGeom prst="rect">
            <a:avLst/>
          </a:prstGeom>
          <a:noFill/>
          <a:ln>
            <a:noFill/>
          </a:ln>
        </p:spPr>
        <p:txBody>
          <a:bodyPr wrap="square" rtlCol="0" anchor="ctr"/>
          <a:lstStyle/>
          <a:p>
            <a:pPr marL="0" indent="0">
              <a:buNone/>
            </a:pPr>
            <a:r>
              <a:rPr lang="en-US" sz="3200" b="1" dirty="0">
                <a:solidFill>
                  <a:srgbClr val="362FEC"/>
                </a:solidFill>
                <a:latin typeface="Calibri" pitchFamily="34" charset="0"/>
                <a:ea typeface="Calibri" pitchFamily="34" charset="-122"/>
                <a:cs typeface="Calibri" pitchFamily="34" charset="-120"/>
              </a:rPr>
              <a:t>Lecture 1</a:t>
            </a:r>
            <a:r>
              <a:rPr lang="en-US" sz="3200" b="1" dirty="0">
                <a:latin typeface="Calibri" pitchFamily="34" charset="0"/>
                <a:ea typeface="Calibri" pitchFamily="34" charset="-122"/>
                <a:cs typeface="Calibri" pitchFamily="34" charset="-120"/>
              </a:rPr>
              <a:t>:</a:t>
            </a:r>
            <a:r>
              <a:rPr lang="en-US" sz="3200" b="1" dirty="0">
                <a:solidFill>
                  <a:srgbClr val="00B050"/>
                </a:solidFill>
                <a:latin typeface="Calibri" pitchFamily="34" charset="0"/>
                <a:ea typeface="Calibri" pitchFamily="34" charset="-122"/>
                <a:cs typeface="Calibri" pitchFamily="34" charset="-120"/>
              </a:rPr>
              <a:t> </a:t>
            </a:r>
            <a:r>
              <a:rPr lang="en-US" sz="3200" b="1" dirty="0">
                <a:solidFill>
                  <a:srgbClr val="000000"/>
                </a:solidFill>
                <a:latin typeface="Calibri" pitchFamily="34" charset="0"/>
                <a:ea typeface="Calibri" pitchFamily="34" charset="-122"/>
                <a:cs typeface="Calibri" pitchFamily="34" charset="-120"/>
              </a:rPr>
              <a:t>(Artificial) </a:t>
            </a:r>
            <a:r>
              <a:rPr lang="en-US" sz="3200" b="1" dirty="0">
                <a:solidFill>
                  <a:srgbClr val="FF0000"/>
                </a:solidFill>
                <a:latin typeface="Calibri" pitchFamily="34" charset="0"/>
                <a:ea typeface="Calibri" pitchFamily="34" charset="-122"/>
                <a:cs typeface="Calibri" pitchFamily="34" charset="-120"/>
              </a:rPr>
              <a:t>Intelligence</a:t>
            </a:r>
            <a:r>
              <a:rPr lang="en-US" sz="3200" b="1" dirty="0">
                <a:solidFill>
                  <a:srgbClr val="000000"/>
                </a:solidFill>
                <a:latin typeface="Calibri" pitchFamily="34" charset="0"/>
                <a:ea typeface="Calibri" pitchFamily="34" charset="-122"/>
                <a:cs typeface="Calibri" pitchFamily="34" charset="-120"/>
              </a:rPr>
              <a:t>, </a:t>
            </a:r>
            <a:r>
              <a:rPr lang="en-US" sz="3200" b="1" dirty="0">
                <a:solidFill>
                  <a:srgbClr val="00B050"/>
                </a:solidFill>
                <a:latin typeface="Calibri" pitchFamily="34" charset="0"/>
                <a:ea typeface="Calibri" pitchFamily="34" charset="-122"/>
                <a:cs typeface="Calibri" pitchFamily="34" charset="-120"/>
              </a:rPr>
              <a:t>Learning</a:t>
            </a:r>
            <a:r>
              <a:rPr lang="en-US" sz="3200" b="1" dirty="0">
                <a:solidFill>
                  <a:srgbClr val="000000"/>
                </a:solidFill>
                <a:latin typeface="Calibri" pitchFamily="34" charset="0"/>
                <a:ea typeface="Calibri" pitchFamily="34" charset="-122"/>
                <a:cs typeface="Calibri" pitchFamily="34" charset="-120"/>
              </a:rPr>
              <a:t>, </a:t>
            </a:r>
            <a:r>
              <a:rPr lang="en-US" sz="3200" b="1" dirty="0">
                <a:solidFill>
                  <a:srgbClr val="362FEC"/>
                </a:solidFill>
                <a:latin typeface="Calibri" pitchFamily="34" charset="0"/>
                <a:ea typeface="Calibri" pitchFamily="34" charset="-122"/>
                <a:cs typeface="Calibri" pitchFamily="34" charset="-120"/>
              </a:rPr>
              <a:t>Language</a:t>
            </a:r>
            <a:r>
              <a:rPr lang="en-US" sz="3200" b="1" dirty="0">
                <a:solidFill>
                  <a:srgbClr val="000000"/>
                </a:solidFill>
                <a:latin typeface="Calibri" pitchFamily="34" charset="0"/>
                <a:ea typeface="Calibri" pitchFamily="34" charset="-122"/>
                <a:cs typeface="Calibri" pitchFamily="34" charset="-120"/>
              </a:rPr>
              <a:t>, and </a:t>
            </a:r>
            <a:r>
              <a:rPr lang="en-US" sz="3200" b="1" dirty="0">
                <a:solidFill>
                  <a:schemeClr val="accent2"/>
                </a:solidFill>
                <a:latin typeface="Calibri" pitchFamily="34" charset="0"/>
                <a:ea typeface="Calibri" pitchFamily="34" charset="-122"/>
                <a:cs typeface="Calibri" pitchFamily="34" charset="-120"/>
              </a:rPr>
              <a:t>Meaning</a:t>
            </a:r>
            <a:endParaRPr lang="en-US" sz="3200" dirty="0">
              <a:solidFill>
                <a:schemeClr val="accent2"/>
              </a:solidFill>
            </a:endParaRPr>
          </a:p>
        </p:txBody>
      </p:sp>
      <p:sp>
        <p:nvSpPr>
          <p:cNvPr id="3" name="TextBox 4">
            <a:extLst>
              <a:ext uri="{FF2B5EF4-FFF2-40B4-BE49-F238E27FC236}">
                <a16:creationId xmlns:a16="http://schemas.microsoft.com/office/drawing/2014/main" id="{66572BAD-DD8C-3E32-5E0A-D54192545328}"/>
              </a:ext>
            </a:extLst>
          </p:cNvPr>
          <p:cNvSpPr txBox="1"/>
          <p:nvPr/>
        </p:nvSpPr>
        <p:spPr>
          <a:xfrm>
            <a:off x="599290" y="1382286"/>
            <a:ext cx="6646637" cy="3785652"/>
          </a:xfrm>
          <a:prstGeom prst="rect">
            <a:avLst/>
          </a:prstGeom>
          <a:noFill/>
        </p:spPr>
        <p:txBody>
          <a:bodyPr wrap="square" rtlCol="0">
            <a:spAutoFit/>
          </a:bodyPr>
          <a:lstStyle/>
          <a:p>
            <a:pPr marL="342900" indent="-342900">
              <a:buFont typeface="+mj-lt"/>
              <a:buAutoNum type="arabicPeriod"/>
            </a:pPr>
            <a:r>
              <a:rPr lang="en-US" sz="2000" dirty="0">
                <a:latin typeface="Calibri" panose="020F0502020204030204" pitchFamily="34" charset="0"/>
                <a:cs typeface="Calibri" panose="020F0502020204030204" pitchFamily="34" charset="0"/>
              </a:rPr>
              <a:t>Short timeline highlighting language and its modeling, course description: what we will study and build</a:t>
            </a:r>
          </a:p>
          <a:p>
            <a:pPr marL="342900" indent="-342900">
              <a:buFont typeface="+mj-lt"/>
              <a:buAutoNum type="arabicPeriod"/>
            </a:pPr>
            <a:endParaRPr lang="en-US" sz="2000" dirty="0">
              <a:latin typeface="Calibri" panose="020F0502020204030204" pitchFamily="34" charset="0"/>
              <a:cs typeface="Calibri" panose="020F0502020204030204" pitchFamily="34" charset="0"/>
            </a:endParaRPr>
          </a:p>
          <a:p>
            <a:pPr marL="342900" indent="-342900">
              <a:buFont typeface="+mj-lt"/>
              <a:buAutoNum type="arabicPeriod"/>
            </a:pPr>
            <a:r>
              <a:rPr lang="en-US" sz="2000" dirty="0">
                <a:latin typeface="Calibri" panose="020F0502020204030204" pitchFamily="34" charset="0"/>
                <a:cs typeface="Calibri" panose="020F0502020204030204" pitchFamily="34" charset="0"/>
              </a:rPr>
              <a:t>Basic AI/ML/DL terminology</a:t>
            </a:r>
          </a:p>
          <a:p>
            <a:pPr marL="342900" indent="-342900">
              <a:buFont typeface="+mj-lt"/>
              <a:buAutoNum type="arabicPeriod"/>
            </a:pPr>
            <a:endParaRPr lang="en-US" sz="2000" dirty="0">
              <a:latin typeface="Calibri" panose="020F0502020204030204" pitchFamily="34" charset="0"/>
              <a:cs typeface="Calibri" panose="020F0502020204030204" pitchFamily="34" charset="0"/>
            </a:endParaRPr>
          </a:p>
          <a:p>
            <a:pPr marL="342900" indent="-342900">
              <a:buFont typeface="+mj-lt"/>
              <a:buAutoNum type="arabicPeriod"/>
            </a:pPr>
            <a:r>
              <a:rPr lang="en-US" sz="2000" dirty="0">
                <a:latin typeface="Calibri" panose="020F0502020204030204" pitchFamily="34" charset="0"/>
                <a:cs typeface="Calibri" panose="020F0502020204030204" pitchFamily="34" charset="0"/>
              </a:rPr>
              <a:t>Understanding </a:t>
            </a:r>
          </a:p>
          <a:p>
            <a:pPr marL="800100" lvl="1" indent="-342900">
              <a:buFont typeface="Arial" panose="020B0604020202020204" pitchFamily="34" charset="0"/>
              <a:buChar char="•"/>
            </a:pPr>
            <a:r>
              <a:rPr lang="en-US" sz="2000" dirty="0">
                <a:latin typeface="Calibri" pitchFamily="34" charset="0"/>
                <a:ea typeface="Calibri" pitchFamily="34" charset="-122"/>
                <a:cs typeface="Calibri" pitchFamily="34" charset="-120"/>
              </a:rPr>
              <a:t>Intelligence</a:t>
            </a:r>
          </a:p>
          <a:p>
            <a:pPr marL="800100" lvl="1" indent="-342900">
              <a:buFont typeface="Arial" panose="020B0604020202020204" pitchFamily="34" charset="0"/>
              <a:buChar char="•"/>
            </a:pPr>
            <a:r>
              <a:rPr lang="en-US" sz="2000" dirty="0">
                <a:latin typeface="Calibri" pitchFamily="34" charset="0"/>
                <a:ea typeface="Calibri" pitchFamily="34" charset="-122"/>
                <a:cs typeface="Calibri" pitchFamily="34" charset="-120"/>
              </a:rPr>
              <a:t>Learning</a:t>
            </a:r>
          </a:p>
          <a:p>
            <a:pPr marL="800100" lvl="1" indent="-342900">
              <a:buFont typeface="Arial" panose="020B0604020202020204" pitchFamily="34" charset="0"/>
              <a:buChar char="•"/>
            </a:pPr>
            <a:r>
              <a:rPr lang="en-US" sz="2000" dirty="0">
                <a:latin typeface="Calibri" pitchFamily="34" charset="0"/>
                <a:ea typeface="Calibri" pitchFamily="34" charset="-122"/>
                <a:cs typeface="Calibri" pitchFamily="34" charset="-120"/>
              </a:rPr>
              <a:t>Language</a:t>
            </a:r>
          </a:p>
          <a:p>
            <a:pPr marL="800100" lvl="1" indent="-342900">
              <a:buFont typeface="Arial" panose="020B0604020202020204" pitchFamily="34" charset="0"/>
              <a:buChar char="•"/>
            </a:pPr>
            <a:r>
              <a:rPr lang="en-US" sz="2000" dirty="0">
                <a:latin typeface="Calibri" pitchFamily="34" charset="0"/>
                <a:ea typeface="Calibri" pitchFamily="34" charset="-122"/>
                <a:cs typeface="Calibri" pitchFamily="34" charset="-120"/>
              </a:rPr>
              <a:t>Meaning</a:t>
            </a:r>
            <a:endParaRPr lang="en-US" sz="2000" dirty="0">
              <a:latin typeface="Calibri" panose="020F0502020204030204" pitchFamily="34" charset="0"/>
              <a:cs typeface="Calibri" panose="020F0502020204030204" pitchFamily="34" charset="0"/>
            </a:endParaRPr>
          </a:p>
          <a:p>
            <a:pPr lvl="1"/>
            <a:endParaRPr lang="en-US" sz="2000" dirty="0">
              <a:latin typeface="Calibri" panose="020F0502020204030204" pitchFamily="34" charset="0"/>
              <a:cs typeface="Calibri" panose="020F0502020204030204" pitchFamily="34" charset="0"/>
            </a:endParaRPr>
          </a:p>
          <a:p>
            <a:pPr marL="457200" indent="-457200">
              <a:buFont typeface="+mj-lt"/>
              <a:buAutoNum type="arabicPeriod"/>
            </a:pPr>
            <a:r>
              <a:rPr lang="en-US" sz="2000" dirty="0">
                <a:latin typeface="Calibri" panose="020F0502020204030204" pitchFamily="34" charset="0"/>
                <a:cs typeface="Calibri" panose="020F0502020204030204" pitchFamily="34" charset="0"/>
              </a:rPr>
              <a:t>Hands-on: an autograd engine</a:t>
            </a:r>
          </a:p>
        </p:txBody>
      </p:sp>
      <p:sp>
        <p:nvSpPr>
          <p:cNvPr id="4" name="red box">
            <a:extLst>
              <a:ext uri="{FF2B5EF4-FFF2-40B4-BE49-F238E27FC236}">
                <a16:creationId xmlns:a16="http://schemas.microsoft.com/office/drawing/2014/main" id="{614C2DA7-5561-EFDE-A18D-698F7356000C}"/>
              </a:ext>
            </a:extLst>
          </p:cNvPr>
          <p:cNvSpPr/>
          <p:nvPr/>
        </p:nvSpPr>
        <p:spPr>
          <a:xfrm>
            <a:off x="1070264" y="4792096"/>
            <a:ext cx="3256364" cy="377241"/>
          </a:xfrm>
          <a:prstGeom prst="rect">
            <a:avLst/>
          </a:prstGeom>
          <a:noFill/>
          <a:ln w="28575">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Tree>
  </p:cSld>
  <p:clrMapOvr>
    <a:masterClrMapping/>
  </p:clrMapOvr>
</p:sld>
</file>

<file path=ppt/slides/slide6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b0_2">
            <a:extLst>
              <a:ext uri="{FF2B5EF4-FFF2-40B4-BE49-F238E27FC236}">
                <a16:creationId xmlns:a16="http://schemas.microsoft.com/office/drawing/2014/main" id="{33DE8782-7F2B-1033-00F6-2A6652EE0E80}"/>
              </a:ext>
            </a:extLst>
          </p:cNvPr>
          <p:cNvSpPr txBox="1"/>
          <p:nvPr/>
        </p:nvSpPr>
        <p:spPr>
          <a:xfrm>
            <a:off x="0" y="148566"/>
            <a:ext cx="11680992" cy="548640"/>
          </a:xfrm>
          <a:prstGeom prst="rect">
            <a:avLst/>
          </a:prstGeom>
          <a:noFill/>
          <a:ln>
            <a:noFill/>
          </a:ln>
        </p:spPr>
        <p:txBody>
          <a:bodyPr wrap="square" rtlCol="0" anchor="ctr"/>
          <a:lstStyle/>
          <a:p>
            <a:r>
              <a:rPr lang="en-US" sz="3200" b="1" dirty="0">
                <a:solidFill>
                  <a:srgbClr val="FF0000"/>
                </a:solidFill>
                <a:latin typeface="Calibri" pitchFamily="34" charset="0"/>
                <a:ea typeface="Calibri" pitchFamily="34" charset="-122"/>
                <a:cs typeface="Calibri" pitchFamily="34" charset="-120"/>
              </a:rPr>
              <a:t>Hands-on</a:t>
            </a:r>
            <a:r>
              <a:rPr lang="en-US" sz="3200" b="1" dirty="0">
                <a:solidFill>
                  <a:srgbClr val="000000"/>
                </a:solidFill>
                <a:latin typeface="Calibri" pitchFamily="34" charset="0"/>
                <a:ea typeface="Calibri" pitchFamily="34" charset="-122"/>
                <a:cs typeface="Calibri" pitchFamily="34" charset="-120"/>
              </a:rPr>
              <a:t>: an </a:t>
            </a:r>
            <a:r>
              <a:rPr lang="en-US" sz="3200" b="1" dirty="0">
                <a:solidFill>
                  <a:srgbClr val="362FEC"/>
                </a:solidFill>
                <a:latin typeface="Calibri" pitchFamily="34" charset="0"/>
                <a:ea typeface="Calibri" pitchFamily="34" charset="-122"/>
                <a:cs typeface="Calibri" pitchFamily="34" charset="-120"/>
              </a:rPr>
              <a:t>Autograd</a:t>
            </a:r>
            <a:r>
              <a:rPr lang="en-US" sz="3200" b="1" dirty="0">
                <a:solidFill>
                  <a:srgbClr val="000000"/>
                </a:solidFill>
                <a:latin typeface="Calibri" pitchFamily="34" charset="0"/>
                <a:ea typeface="Calibri" pitchFamily="34" charset="-122"/>
                <a:cs typeface="Calibri" pitchFamily="34" charset="-120"/>
              </a:rPr>
              <a:t> Engine</a:t>
            </a:r>
            <a:endParaRPr lang="en-US" sz="3200" dirty="0">
              <a:solidFill>
                <a:srgbClr val="362FEC"/>
              </a:solidFill>
            </a:endParaRPr>
          </a:p>
        </p:txBody>
      </p:sp>
      <p:sp>
        <p:nvSpPr>
          <p:cNvPr id="3" name="subheading">
            <a:extLst>
              <a:ext uri="{FF2B5EF4-FFF2-40B4-BE49-F238E27FC236}">
                <a16:creationId xmlns:a16="http://schemas.microsoft.com/office/drawing/2014/main" id="{5CB8A4AA-40B1-94AE-8EEE-080599481F78}"/>
              </a:ext>
            </a:extLst>
          </p:cNvPr>
          <p:cNvSpPr txBox="1"/>
          <p:nvPr/>
        </p:nvSpPr>
        <p:spPr>
          <a:xfrm>
            <a:off x="292608" y="868680"/>
            <a:ext cx="11430000" cy="411480"/>
          </a:xfrm>
          <a:prstGeom prst="rect">
            <a:avLst/>
          </a:prstGeom>
          <a:noFill/>
          <a:ln>
            <a:noFill/>
          </a:ln>
        </p:spPr>
        <p:txBody>
          <a:bodyPr wrap="square" lIns="0" tIns="0" rIns="0" bIns="0" rtlCol="0" anchor="ctr"/>
          <a:lstStyle/>
          <a:p>
            <a:pPr marL="0" indent="0">
              <a:buNone/>
            </a:pPr>
            <a:r>
              <a:rPr lang="en-US" sz="2000" b="1" dirty="0">
                <a:solidFill>
                  <a:srgbClr val="362FEC"/>
                </a:solidFill>
                <a:latin typeface="Calibri" panose="020F0502020204030204" pitchFamily="34" charset="0"/>
                <a:cs typeface="Calibri" panose="020F0502020204030204" pitchFamily="34" charset="0"/>
              </a:rPr>
              <a:t>Three ways to compute a derivative</a:t>
            </a:r>
          </a:p>
        </p:txBody>
      </p:sp>
      <p:sp>
        <p:nvSpPr>
          <p:cNvPr id="4" name="points"/>
          <p:cNvSpPr txBox="1"/>
          <p:nvPr/>
        </p:nvSpPr>
        <p:spPr>
          <a:xfrm>
            <a:off x="384048" y="1417320"/>
            <a:ext cx="6126480" cy="5166360"/>
          </a:xfrm>
          <a:prstGeom prst="rect">
            <a:avLst/>
          </a:prstGeom>
          <a:noFill/>
        </p:spPr>
        <p:txBody>
          <a:bodyPr wrap="square" lIns="0" rIns="0" tIns="0" bIns="0">
            <a:spAutoFit/>
          </a:bodyPr>
          <a:lstStyle/>
          <a:p>
            <a:pPr algn="l">
              <a:spcAft>
                <a:spcPts val="1200"/>
              </a:spcAft>
            </a:pPr>
            <a:r>
              <a:rPr sz="1800" b="1" i="0">
                <a:solidFill>
                  <a:srgbClr val="362FEC"/>
                </a:solidFill>
                <a:latin typeface="Calibri"/>
              </a:rPr>
              <a:t>A small program</a:t>
            </a:r>
            <a:r>
              <a:rPr sz="1800" b="0" i="0">
                <a:solidFill>
                  <a:srgbClr val="000000"/>
                </a:solidFill>
                <a:latin typeface="Calibri"/>
              </a:rPr>
              <a:t>: the logistic map, run for three steps. How do we get its derivative? (Figure 17 of the notes, from Baydin et al., 2018.)</a:t>
            </a:r>
          </a:p>
          <a:p>
            <a:pPr algn="l">
              <a:spcAft>
                <a:spcPts val="1200"/>
              </a:spcAft>
            </a:pPr>
            <a:r>
              <a:rPr sz="1800" b="1" i="0">
                <a:solidFill>
                  <a:srgbClr val="FF0000"/>
                </a:solidFill>
                <a:latin typeface="Calibri"/>
              </a:rPr>
              <a:t>Symbolic</a:t>
            </a:r>
            <a:r>
              <a:rPr sz="1800" b="0" i="0">
                <a:solidFill>
                  <a:srgbClr val="000000"/>
                </a:solidFill>
                <a:latin typeface="Calibri"/>
              </a:rPr>
              <a:t>: expand the program into one formula, then differentiate. Exact, but a value used twice is copied twice.</a:t>
            </a:r>
          </a:p>
          <a:p>
            <a:pPr algn="l">
              <a:spcAft>
                <a:spcPts val="1200"/>
              </a:spcAft>
            </a:pPr>
            <a:r>
              <a:rPr sz="1800" b="1" i="0">
                <a:solidFill>
                  <a:srgbClr val="00B050"/>
                </a:solidFill>
                <a:latin typeface="Calibri"/>
              </a:rPr>
              <a:t>Numerical</a:t>
            </a:r>
            <a:r>
              <a:rPr sz="1800" b="0" i="0">
                <a:solidFill>
                  <a:srgbClr val="000000"/>
                </a:solidFill>
                <a:latin typeface="Calibri"/>
              </a:rPr>
              <a:t>: evaluate the program at nearby points. Approximate, and one input direction at a time.</a:t>
            </a:r>
          </a:p>
          <a:p>
            <a:pPr algn="l">
              <a:spcAft>
                <a:spcPts val="1200"/>
              </a:spcAft>
            </a:pPr>
            <a:r>
              <a:rPr sz="1800" b="1" i="0">
                <a:solidFill>
                  <a:srgbClr val="362FEC"/>
                </a:solidFill>
                <a:latin typeface="Calibri"/>
              </a:rPr>
              <a:t>Automatic</a:t>
            </a:r>
            <a:r>
              <a:rPr sz="1800" b="0" i="0">
                <a:solidFill>
                  <a:srgbClr val="000000"/>
                </a:solidFill>
                <a:latin typeface="Calibri"/>
              </a:rPr>
              <a:t>: apply each operation's exact derivative to the values the program computes. Exact up to rounding, a constant factor more work, and it follows the loops and branches the program took.</a:t>
            </a:r>
          </a:p>
        </p:txBody>
      </p:sp>
      <p:grpSp>
        <p:nvGrpSpPr>
          <p:cNvPr id="5" name="picture 1"/>
          <p:cNvGrpSpPr/>
          <p:nvPr/>
        </p:nvGrpSpPr>
        <p:grpSpPr>
          <a:xfrm>
            <a:off x="6967374" y="1325880"/>
            <a:ext cx="4810451" cy="4709160"/>
            <a:chOff x="6967374" y="1325880"/>
            <a:chExt cx="4810451" cy="4709160"/>
          </a:xfrm>
        </p:grpSpPr>
        <p:pic>
          <p:nvPicPr>
            <p:cNvPr id="6" name="Picture 5" descr="eq_logmap.png"/>
            <p:cNvPicPr>
              <a:picLocks noChangeAspect="1"/>
            </p:cNvPicPr>
            <p:nvPr/>
          </p:nvPicPr>
          <p:blipFill>
            <a:blip r:embed="rId2"/>
            <a:stretch>
              <a:fillRect/>
            </a:stretch>
          </p:blipFill>
          <p:spPr>
            <a:xfrm>
              <a:off x="7269480" y="1325880"/>
              <a:ext cx="4206240" cy="274377"/>
            </a:xfrm>
            <a:prstGeom prst="rect">
              <a:avLst/>
            </a:prstGeom>
          </p:spPr>
        </p:pic>
        <p:pic>
          <p:nvPicPr>
            <p:cNvPr id="7" name="Picture 6" descr="baydin-differentiation.png"/>
            <p:cNvPicPr>
              <a:picLocks noChangeAspect="1"/>
            </p:cNvPicPr>
            <p:nvPr/>
          </p:nvPicPr>
          <p:blipFill>
            <a:blip r:embed="rId3"/>
            <a:stretch>
              <a:fillRect/>
            </a:stretch>
          </p:blipFill>
          <p:spPr>
            <a:xfrm>
              <a:off x="6967374" y="1828800"/>
              <a:ext cx="4810451" cy="4206240"/>
            </a:xfrm>
            <a:prstGeom prst="rect">
              <a:avLst/>
            </a:prstGeom>
          </p:spPr>
        </p:pic>
      </p:grpSp>
      <p:grpSp>
        <p:nvGrpSpPr>
          <p:cNvPr id="8" name="picture 2"/>
          <p:cNvGrpSpPr/>
          <p:nvPr/>
        </p:nvGrpSpPr>
        <p:grpSpPr>
          <a:xfrm>
            <a:off x="6812280" y="1371600"/>
            <a:ext cx="5120640" cy="4224528"/>
            <a:chOff x="6812280" y="1371600"/>
            <a:chExt cx="5120640" cy="4224528"/>
          </a:xfrm>
        </p:grpSpPr>
        <p:pic>
          <p:nvPicPr>
            <p:cNvPr id="9" name="Picture 8" descr="blowup.png"/>
            <p:cNvPicPr>
              <a:picLocks noChangeAspect="1"/>
            </p:cNvPicPr>
            <p:nvPr/>
          </p:nvPicPr>
          <p:blipFill>
            <a:blip r:embed="rId4"/>
            <a:stretch>
              <a:fillRect/>
            </a:stretch>
          </p:blipFill>
          <p:spPr>
            <a:xfrm>
              <a:off x="6977816" y="1371600"/>
              <a:ext cx="4789567" cy="3291840"/>
            </a:xfrm>
            <a:prstGeom prst="rect">
              <a:avLst/>
            </a:prstGeom>
          </p:spPr>
        </p:pic>
        <p:sp>
          <p:nvSpPr>
            <p:cNvPr id="10" name="description"/>
            <p:cNvSpPr txBox="1"/>
            <p:nvPr/>
          </p:nvSpPr>
          <p:spPr>
            <a:xfrm>
              <a:off x="6812280" y="4773168"/>
              <a:ext cx="5120640" cy="822960"/>
            </a:xfrm>
            <a:prstGeom prst="rect">
              <a:avLst/>
            </a:prstGeom>
            <a:noFill/>
          </p:spPr>
          <p:txBody>
            <a:bodyPr wrap="square" anchor="t" lIns="0" rIns="0" tIns="0" bIns="0">
              <a:spAutoFit/>
            </a:bodyPr>
            <a:lstStyle/>
            <a:p>
              <a:pPr algn="l"/>
              <a:r>
                <a:rPr sz="1400" b="0" i="0">
                  <a:solidFill>
                    <a:srgbClr val="595959"/>
                  </a:solidFill>
                  <a:latin typeface="Calibri"/>
                </a:rPr>
                <a:t>After seven steps the program performs 21 operations; its derivative written as a formula has about 11,000 nodes, and each step multiplies that by more than 2.5. A program with data-dependent branches has no single formula.</a:t>
              </a:r>
            </a:p>
          </p:txBody>
        </p:sp>
      </p:grpSp>
      <p:grpSp>
        <p:nvGrpSpPr>
          <p:cNvPr id="11" name="picture 3"/>
          <p:cNvGrpSpPr/>
          <p:nvPr/>
        </p:nvGrpSpPr>
        <p:grpSpPr>
          <a:xfrm>
            <a:off x="6812280" y="1371600"/>
            <a:ext cx="5120640" cy="4133088"/>
            <a:chOff x="6812280" y="1371600"/>
            <a:chExt cx="5120640" cy="4133088"/>
          </a:xfrm>
        </p:grpSpPr>
        <p:pic>
          <p:nvPicPr>
            <p:cNvPr id="12" name="Picture 11" descr="fd_error.png"/>
            <p:cNvPicPr>
              <a:picLocks noChangeAspect="1"/>
            </p:cNvPicPr>
            <p:nvPr/>
          </p:nvPicPr>
          <p:blipFill>
            <a:blip r:embed="rId5"/>
            <a:stretch>
              <a:fillRect/>
            </a:stretch>
          </p:blipFill>
          <p:spPr>
            <a:xfrm>
              <a:off x="7008378" y="1371600"/>
              <a:ext cx="4728442" cy="3200400"/>
            </a:xfrm>
            <a:prstGeom prst="rect">
              <a:avLst/>
            </a:prstGeom>
          </p:spPr>
        </p:pic>
        <p:sp>
          <p:nvSpPr>
            <p:cNvPr id="13" name="description"/>
            <p:cNvSpPr txBox="1"/>
            <p:nvPr/>
          </p:nvSpPr>
          <p:spPr>
            <a:xfrm>
              <a:off x="6812280" y="4681728"/>
              <a:ext cx="5120640" cy="822960"/>
            </a:xfrm>
            <a:prstGeom prst="rect">
              <a:avLst/>
            </a:prstGeom>
            <a:noFill/>
          </p:spPr>
          <p:txBody>
            <a:bodyPr wrap="square" anchor="t" lIns="0" rIns="0" tIns="0" bIns="0">
              <a:spAutoFit/>
            </a:bodyPr>
            <a:lstStyle/>
            <a:p>
              <a:pPr algn="l"/>
              <a:r>
                <a:rPr sz="1400" b="0" i="0">
                  <a:solidFill>
                    <a:srgbClr val="595959"/>
                  </a:solidFill>
                  <a:latin typeface="Calibri"/>
                </a:rPr>
                <a:t>Even the central difference keeps only about two thirds of the digits of double precision, four or five in single, one or two in 16-bit formats. A gradient in n inputs needs 2n evaluations.</a:t>
              </a:r>
            </a:p>
          </p:txBody>
        </p:sp>
      </p:grpSp>
      <p:grpSp>
        <p:nvGrpSpPr>
          <p:cNvPr id="14" name="picture 4"/>
          <p:cNvGrpSpPr/>
          <p:nvPr/>
        </p:nvGrpSpPr>
        <p:grpSpPr>
          <a:xfrm>
            <a:off x="6812280" y="1371600"/>
            <a:ext cx="5120640" cy="4480560"/>
            <a:chOff x="6812280" y="1371600"/>
            <a:chExt cx="5120640" cy="4480560"/>
          </a:xfrm>
        </p:grpSpPr>
        <p:pic>
          <p:nvPicPr>
            <p:cNvPr id="15" name="Picture 14" descr="baydin-differentiation.png"/>
            <p:cNvPicPr>
              <a:picLocks noChangeAspect="1"/>
            </p:cNvPicPr>
            <p:nvPr/>
          </p:nvPicPr>
          <p:blipFill>
            <a:blip r:embed="rId3"/>
            <a:stretch>
              <a:fillRect/>
            </a:stretch>
          </p:blipFill>
          <p:spPr>
            <a:xfrm>
              <a:off x="7124236" y="1371600"/>
              <a:ext cx="4496726" cy="3931920"/>
            </a:xfrm>
            <a:prstGeom prst="rect">
              <a:avLst/>
            </a:prstGeom>
          </p:spPr>
        </p:pic>
        <p:sp>
          <p:nvSpPr>
            <p:cNvPr id="16" name="description"/>
            <p:cNvSpPr txBox="1"/>
            <p:nvPr/>
          </p:nvSpPr>
          <p:spPr>
            <a:xfrm>
              <a:off x="6812280" y="5394960"/>
              <a:ext cx="5120640" cy="457200"/>
            </a:xfrm>
            <a:prstGeom prst="rect">
              <a:avLst/>
            </a:prstGeom>
            <a:noFill/>
          </p:spPr>
          <p:txBody>
            <a:bodyPr wrap="square" anchor="t" lIns="0" rIns="0" tIns="0" bIns="0">
              <a:spAutoFit/>
            </a:bodyPr>
            <a:lstStyle/>
            <a:p>
              <a:pPr algn="l"/>
              <a:r>
                <a:rPr sz="1400" b="0" i="0">
                  <a:solidFill>
                    <a:srgbClr val="595959"/>
                  </a:solidFill>
                  <a:latin typeface="Calibri"/>
                </a:rPr>
                <a:t>The right-hand column of the figure: each value v is carried together with its derivative dv.</a:t>
              </a:r>
            </a:p>
          </p:txBody>
        </p:sp>
      </p:grpSp>
      <p:sp>
        <p:nvSpPr>
          <p:cNvPr id="17" name="takeaway"/>
          <p:cNvSpPr txBox="1"/>
          <p:nvPr/>
        </p:nvSpPr>
        <p:spPr>
          <a:xfrm>
            <a:off x="384048" y="6080760"/>
            <a:ext cx="11430000" cy="457200"/>
          </a:xfrm>
          <a:prstGeom prst="rect">
            <a:avLst/>
          </a:prstGeom>
          <a:noFill/>
        </p:spPr>
        <p:txBody>
          <a:bodyPr wrap="square" lIns="0" rIns="0" tIns="0" bIns="0">
            <a:spAutoFit/>
          </a:bodyPr>
          <a:lstStyle/>
          <a:p>
            <a:pPr algn="l">
              <a:spcAft>
                <a:spcPts val="1000"/>
              </a:spcAft>
            </a:pPr>
            <a:r>
              <a:rPr sz="1800" b="1" i="0">
                <a:solidFill>
                  <a:srgbClr val="000000"/>
                </a:solidFill>
                <a:latin typeface="Calibri"/>
              </a:rPr>
              <a:t>Against numerical differentiation, autodiff wins twice: </a:t>
            </a:r>
            <a:r>
              <a:rPr sz="1800" b="1" i="0">
                <a:solidFill>
                  <a:srgbClr val="00B050"/>
                </a:solidFill>
                <a:latin typeface="Calibri"/>
              </a:rPr>
              <a:t>accuracy</a:t>
            </a:r>
            <a:r>
              <a:rPr sz="1800" b="0" i="0">
                <a:solidFill>
                  <a:srgbClr val="000000"/>
                </a:solidFill>
                <a:latin typeface="Calibri"/>
              </a:rPr>
              <a:t> (the smaller win) and </a:t>
            </a:r>
            <a:r>
              <a:rPr sz="1800" b="1" i="0">
                <a:solidFill>
                  <a:srgbClr val="FF0000"/>
                </a:solidFill>
                <a:latin typeface="Calibri"/>
              </a:rPr>
              <a:t>cost</a:t>
            </a:r>
            <a:r>
              <a:rPr sz="1800" b="0" i="0">
                <a:solidFill>
                  <a:srgbClr val="000000"/>
                </a:solidFill>
                <a:latin typeface="Calibri"/>
              </a:rPr>
              <a:t> (the decisive one).</a:t>
            </a:r>
          </a:p>
        </p:txBody>
      </p:sp>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4">
                                            <p:txEl>
                                              <p:pRg st="0" end="0"/>
                                            </p:txEl>
                                          </p:spTgt>
                                        </p:tgtEl>
                                        <p:attrNameLst>
                                          <p:attrName>style.visibility</p:attrName>
                                        </p:attrNameLst>
                                      </p:cBhvr>
                                      <p:to>
                                        <p:strVal val="visible"/>
                                      </p:to>
                                    </p:set>
                                  </p:childTnLst>
                                </p:cTn>
                              </p:par>
                              <p:par>
                                <p:cTn id="7" presetID="1" presetClass="entr" presetSubtype="0" fill="hold" grpId="0" nodeType="withEffect">
                                  <p:stCondLst>
                                    <p:cond delay="0"/>
                                  </p:stCondLst>
                                  <p:childTnLst>
                                    <p:set>
                                      <p:cBhvr>
                                        <p:cTn id="8" dur="1" fill="hold">
                                          <p:stCondLst>
                                            <p:cond delay="0"/>
                                          </p:stCondLst>
                                        </p:cTn>
                                        <p:tgtEl>
                                          <p:spTgt spid="5"/>
                                        </p:tgtEl>
                                        <p:attrNameLst>
                                          <p:attrName>style.visibility</p:attrName>
                                        </p:attrNameLst>
                                      </p:cBhvr>
                                      <p:to>
                                        <p:strVal val="visible"/>
                                      </p:to>
                                    </p:set>
                                  </p:childTnLst>
                                </p:cTn>
                              </p:par>
                            </p:childTnLst>
                          </p:cTn>
                        </p:par>
                      </p:childTnLst>
                    </p:cTn>
                  </p:par>
                  <p:par>
                    <p:cTn id="9" fill="hold">
                      <p:stCondLst>
                        <p:cond delay="indefinite"/>
                      </p:stCondLst>
                      <p:childTnLst>
                        <p:par>
                          <p:cTn id="10" fill="hold">
                            <p:stCondLst>
                              <p:cond delay="0"/>
                            </p:stCondLst>
                            <p:childTnLst>
                              <p:par>
                                <p:cTn id="11" presetID="1" presetClass="entr" presetSubtype="0" fill="hold" grpId="0" nodeType="clickEffect">
                                  <p:stCondLst>
                                    <p:cond delay="0"/>
                                  </p:stCondLst>
                                  <p:childTnLst>
                                    <p:set>
                                      <p:cBhvr>
                                        <p:cTn id="12" dur="1" fill="hold">
                                          <p:stCondLst>
                                            <p:cond delay="0"/>
                                          </p:stCondLst>
                                        </p:cTn>
                                        <p:tgtEl>
                                          <p:spTgt spid="4">
                                            <p:txEl>
                                              <p:pRg st="1" end="1"/>
                                            </p:txEl>
                                          </p:spTgt>
                                        </p:tgtEl>
                                        <p:attrNameLst>
                                          <p:attrName>style.visibility</p:attrName>
                                        </p:attrNameLst>
                                      </p:cBhvr>
                                      <p:to>
                                        <p:strVal val="visible"/>
                                      </p:to>
                                    </p:set>
                                  </p:childTnLst>
                                </p:cTn>
                              </p:par>
                              <p:par>
                                <p:cTn id="13" presetID="1" presetClass="entr" presetSubtype="0" fill="hold" grpId="0" nodeType="withEffect">
                                  <p:stCondLst>
                                    <p:cond delay="0"/>
                                  </p:stCondLst>
                                  <p:childTnLst>
                                    <p:set>
                                      <p:cBhvr>
                                        <p:cTn id="14" dur="1" fill="hold">
                                          <p:stCondLst>
                                            <p:cond delay="0"/>
                                          </p:stCondLst>
                                        </p:cTn>
                                        <p:tgtEl>
                                          <p:spTgt spid="8"/>
                                        </p:tgtEl>
                                        <p:attrNameLst>
                                          <p:attrName>style.visibility</p:attrName>
                                        </p:attrNameLst>
                                      </p:cBhvr>
                                      <p:to>
                                        <p:strVal val="visible"/>
                                      </p:to>
                                    </p:set>
                                  </p:childTnLst>
                                </p:cTn>
                              </p:par>
                              <p:par>
                                <p:cTn id="15" presetID="1" presetClass="exit" presetSubtype="0" fill="hold" grpId="1" nodeType="withEffect">
                                  <p:stCondLst>
                                    <p:cond delay="0"/>
                                  </p:stCondLst>
                                  <p:childTnLst>
                                    <p:set>
                                      <p:cBhvr>
                                        <p:cTn id="16" dur="1" fill="hold">
                                          <p:stCondLst>
                                            <p:cond delay="0"/>
                                          </p:stCondLst>
                                        </p:cTn>
                                        <p:tgtEl>
                                          <p:spTgt spid="5"/>
                                        </p:tgtEl>
                                        <p:attrNameLst>
                                          <p:attrName>style.visibility</p:attrName>
                                        </p:attrNameLst>
                                      </p:cBhvr>
                                      <p:to>
                                        <p:strVal val="hidden"/>
                                      </p:to>
                                    </p:set>
                                  </p:childTnLst>
                                </p:cTn>
                              </p:par>
                            </p:childTnLst>
                          </p:cTn>
                        </p:par>
                      </p:childTnLst>
                    </p:cTn>
                  </p:par>
                  <p:par>
                    <p:cTn id="17" fill="hold">
                      <p:stCondLst>
                        <p:cond delay="indefinite"/>
                      </p:stCondLst>
                      <p:childTnLst>
                        <p:par>
                          <p:cTn id="18" fill="hold">
                            <p:stCondLst>
                              <p:cond delay="0"/>
                            </p:stCondLst>
                            <p:childTnLst>
                              <p:par>
                                <p:cTn id="19" presetID="1" presetClass="entr" presetSubtype="0" fill="hold" grpId="0" nodeType="clickEffect">
                                  <p:stCondLst>
                                    <p:cond delay="0"/>
                                  </p:stCondLst>
                                  <p:childTnLst>
                                    <p:set>
                                      <p:cBhvr>
                                        <p:cTn id="20" dur="1" fill="hold">
                                          <p:stCondLst>
                                            <p:cond delay="0"/>
                                          </p:stCondLst>
                                        </p:cTn>
                                        <p:tgtEl>
                                          <p:spTgt spid="4">
                                            <p:txEl>
                                              <p:pRg st="2" end="2"/>
                                            </p:txEl>
                                          </p:spTgt>
                                        </p:tgtEl>
                                        <p:attrNameLst>
                                          <p:attrName>style.visibility</p:attrName>
                                        </p:attrNameLst>
                                      </p:cBhvr>
                                      <p:to>
                                        <p:strVal val="visible"/>
                                      </p:to>
                                    </p:set>
                                  </p:childTnLst>
                                </p:cTn>
                              </p:par>
                              <p:par>
                                <p:cTn id="21" presetID="1" presetClass="entr" presetSubtype="0" fill="hold" grpId="0" nodeType="withEffect">
                                  <p:stCondLst>
                                    <p:cond delay="0"/>
                                  </p:stCondLst>
                                  <p:childTnLst>
                                    <p:set>
                                      <p:cBhvr>
                                        <p:cTn id="22" dur="1" fill="hold">
                                          <p:stCondLst>
                                            <p:cond delay="0"/>
                                          </p:stCondLst>
                                        </p:cTn>
                                        <p:tgtEl>
                                          <p:spTgt spid="11"/>
                                        </p:tgtEl>
                                        <p:attrNameLst>
                                          <p:attrName>style.visibility</p:attrName>
                                        </p:attrNameLst>
                                      </p:cBhvr>
                                      <p:to>
                                        <p:strVal val="visible"/>
                                      </p:to>
                                    </p:set>
                                  </p:childTnLst>
                                </p:cTn>
                              </p:par>
                              <p:par>
                                <p:cTn id="23" presetID="1" presetClass="exit" presetSubtype="0" fill="hold" grpId="1" nodeType="withEffect">
                                  <p:stCondLst>
                                    <p:cond delay="0"/>
                                  </p:stCondLst>
                                  <p:childTnLst>
                                    <p:set>
                                      <p:cBhvr>
                                        <p:cTn id="24" dur="1" fill="hold">
                                          <p:stCondLst>
                                            <p:cond delay="0"/>
                                          </p:stCondLst>
                                        </p:cTn>
                                        <p:tgtEl>
                                          <p:spTgt spid="8"/>
                                        </p:tgtEl>
                                        <p:attrNameLst>
                                          <p:attrName>style.visibility</p:attrName>
                                        </p:attrNameLst>
                                      </p:cBhvr>
                                      <p:to>
                                        <p:strVal val="hidden"/>
                                      </p:to>
                                    </p:set>
                                  </p:childTnLst>
                                </p:cTn>
                              </p:par>
                            </p:childTnLst>
                          </p:cTn>
                        </p:par>
                      </p:childTnLst>
                    </p:cTn>
                  </p:par>
                  <p:par>
                    <p:cTn id="25" fill="hold">
                      <p:stCondLst>
                        <p:cond delay="indefinite"/>
                      </p:stCondLst>
                      <p:childTnLst>
                        <p:par>
                          <p:cTn id="26" fill="hold">
                            <p:stCondLst>
                              <p:cond delay="0"/>
                            </p:stCondLst>
                            <p:childTnLst>
                              <p:par>
                                <p:cTn id="27" presetID="1" presetClass="entr" presetSubtype="0" fill="hold" grpId="0" nodeType="clickEffect">
                                  <p:stCondLst>
                                    <p:cond delay="0"/>
                                  </p:stCondLst>
                                  <p:childTnLst>
                                    <p:set>
                                      <p:cBhvr>
                                        <p:cTn id="28" dur="1" fill="hold">
                                          <p:stCondLst>
                                            <p:cond delay="0"/>
                                          </p:stCondLst>
                                        </p:cTn>
                                        <p:tgtEl>
                                          <p:spTgt spid="4">
                                            <p:txEl>
                                              <p:pRg st="3" end="3"/>
                                            </p:txEl>
                                          </p:spTgt>
                                        </p:tgtEl>
                                        <p:attrNameLst>
                                          <p:attrName>style.visibility</p:attrName>
                                        </p:attrNameLst>
                                      </p:cBhvr>
                                      <p:to>
                                        <p:strVal val="visible"/>
                                      </p:to>
                                    </p:set>
                                  </p:childTnLst>
                                </p:cTn>
                              </p:par>
                              <p:par>
                                <p:cTn id="29" presetID="1" presetClass="entr" presetSubtype="0" fill="hold" grpId="0" nodeType="withEffect">
                                  <p:stCondLst>
                                    <p:cond delay="0"/>
                                  </p:stCondLst>
                                  <p:childTnLst>
                                    <p:set>
                                      <p:cBhvr>
                                        <p:cTn id="30" dur="1" fill="hold">
                                          <p:stCondLst>
                                            <p:cond delay="0"/>
                                          </p:stCondLst>
                                        </p:cTn>
                                        <p:tgtEl>
                                          <p:spTgt spid="14"/>
                                        </p:tgtEl>
                                        <p:attrNameLst>
                                          <p:attrName>style.visibility</p:attrName>
                                        </p:attrNameLst>
                                      </p:cBhvr>
                                      <p:to>
                                        <p:strVal val="visible"/>
                                      </p:to>
                                    </p:set>
                                  </p:childTnLst>
                                </p:cTn>
                              </p:par>
                              <p:par>
                                <p:cTn id="31" presetID="1" presetClass="exit" presetSubtype="0" fill="hold" grpId="1" nodeType="withEffect">
                                  <p:stCondLst>
                                    <p:cond delay="0"/>
                                  </p:stCondLst>
                                  <p:childTnLst>
                                    <p:set>
                                      <p:cBhvr>
                                        <p:cTn id="32" dur="1" fill="hold">
                                          <p:stCondLst>
                                            <p:cond delay="0"/>
                                          </p:stCondLst>
                                        </p:cTn>
                                        <p:tgtEl>
                                          <p:spTgt spid="11"/>
                                        </p:tgtEl>
                                        <p:attrNameLst>
                                          <p:attrName>style.visibility</p:attrName>
                                        </p:attrNameLst>
                                      </p:cBhvr>
                                      <p:to>
                                        <p:strVal val="hidden"/>
                                      </p:to>
                                    </p:set>
                                  </p:childTnLst>
                                </p:cTn>
                              </p:par>
                            </p:childTnLst>
                          </p:cTn>
                        </p:par>
                      </p:childTnLst>
                    </p:cTn>
                  </p:par>
                  <p:par>
                    <p:cTn id="33" fill="hold">
                      <p:stCondLst>
                        <p:cond delay="indefinite"/>
                      </p:stCondLst>
                      <p:childTnLst>
                        <p:par>
                          <p:cTn id="34" fill="hold">
                            <p:stCondLst>
                              <p:cond delay="0"/>
                            </p:stCondLst>
                            <p:childTnLst>
                              <p:par>
                                <p:cTn id="35" presetID="1" presetClass="entr" presetSubtype="0" fill="hold" grpId="0" nodeType="clickEffect">
                                  <p:stCondLst>
                                    <p:cond delay="0"/>
                                  </p:stCondLst>
                                  <p:childTnLst>
                                    <p:set>
                                      <p:cBhvr>
                                        <p:cTn id="36" dur="1" fill="hold">
                                          <p:stCondLst>
                                            <p:cond delay="0"/>
                                          </p:stCondLst>
                                        </p:cTn>
                                        <p:tgtEl>
                                          <p:spTgt spid="17"/>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4" grpId="0" build="p"/>
      <p:bldP spid="17" grpId="0"/>
    </p:bldLst>
  </p:timing>
</p:sld>
</file>

<file path=ppt/slides/slide6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b0_2">
            <a:extLst>
              <a:ext uri="{FF2B5EF4-FFF2-40B4-BE49-F238E27FC236}">
                <a16:creationId xmlns:a16="http://schemas.microsoft.com/office/drawing/2014/main" id="{33DE8782-7F2B-1033-00F6-2A6652EE0E80}"/>
              </a:ext>
            </a:extLst>
          </p:cNvPr>
          <p:cNvSpPr txBox="1"/>
          <p:nvPr/>
        </p:nvSpPr>
        <p:spPr>
          <a:xfrm>
            <a:off x="0" y="148566"/>
            <a:ext cx="11680992" cy="548640"/>
          </a:xfrm>
          <a:prstGeom prst="rect">
            <a:avLst/>
          </a:prstGeom>
          <a:noFill/>
          <a:ln>
            <a:noFill/>
          </a:ln>
        </p:spPr>
        <p:txBody>
          <a:bodyPr wrap="square" rtlCol="0" anchor="ctr"/>
          <a:lstStyle/>
          <a:p>
            <a:r>
              <a:rPr lang="en-US" sz="3200" b="1" dirty="0">
                <a:solidFill>
                  <a:srgbClr val="FF0000"/>
                </a:solidFill>
                <a:latin typeface="Calibri" pitchFamily="34" charset="0"/>
                <a:ea typeface="Calibri" pitchFamily="34" charset="-122"/>
                <a:cs typeface="Calibri" pitchFamily="34" charset="-120"/>
              </a:rPr>
              <a:t>Hands-on</a:t>
            </a:r>
            <a:r>
              <a:rPr lang="en-US" sz="3200" b="1" dirty="0">
                <a:solidFill>
                  <a:srgbClr val="000000"/>
                </a:solidFill>
                <a:latin typeface="Calibri" pitchFamily="34" charset="0"/>
                <a:ea typeface="Calibri" pitchFamily="34" charset="-122"/>
                <a:cs typeface="Calibri" pitchFamily="34" charset="-120"/>
              </a:rPr>
              <a:t>: an </a:t>
            </a:r>
            <a:r>
              <a:rPr lang="en-US" sz="3200" b="1" dirty="0">
                <a:solidFill>
                  <a:srgbClr val="362FEC"/>
                </a:solidFill>
                <a:latin typeface="Calibri" pitchFamily="34" charset="0"/>
                <a:ea typeface="Calibri" pitchFamily="34" charset="-122"/>
                <a:cs typeface="Calibri" pitchFamily="34" charset="-120"/>
              </a:rPr>
              <a:t>Autograd</a:t>
            </a:r>
            <a:r>
              <a:rPr lang="en-US" sz="3200" b="1" dirty="0">
                <a:solidFill>
                  <a:srgbClr val="000000"/>
                </a:solidFill>
                <a:latin typeface="Calibri" pitchFamily="34" charset="0"/>
                <a:ea typeface="Calibri" pitchFamily="34" charset="-122"/>
                <a:cs typeface="Calibri" pitchFamily="34" charset="-120"/>
              </a:rPr>
              <a:t> Engine</a:t>
            </a:r>
            <a:endParaRPr lang="en-US" sz="3200" dirty="0">
              <a:solidFill>
                <a:srgbClr val="362FEC"/>
              </a:solidFill>
            </a:endParaRPr>
          </a:p>
        </p:txBody>
      </p:sp>
      <p:sp>
        <p:nvSpPr>
          <p:cNvPr id="3" name="subheading">
            <a:extLst>
              <a:ext uri="{FF2B5EF4-FFF2-40B4-BE49-F238E27FC236}">
                <a16:creationId xmlns:a16="http://schemas.microsoft.com/office/drawing/2014/main" id="{5CB8A4AA-40B1-94AE-8EEE-080599481F78}"/>
              </a:ext>
            </a:extLst>
          </p:cNvPr>
          <p:cNvSpPr txBox="1"/>
          <p:nvPr/>
        </p:nvSpPr>
        <p:spPr>
          <a:xfrm>
            <a:off x="292608" y="868680"/>
            <a:ext cx="11430000" cy="411480"/>
          </a:xfrm>
          <a:prstGeom prst="rect">
            <a:avLst/>
          </a:prstGeom>
          <a:noFill/>
          <a:ln>
            <a:noFill/>
          </a:ln>
        </p:spPr>
        <p:txBody>
          <a:bodyPr wrap="square" lIns="0" tIns="0" rIns="0" bIns="0" rtlCol="0" anchor="ctr"/>
          <a:lstStyle/>
          <a:p>
            <a:pPr marL="0" indent="0">
              <a:buNone/>
            </a:pPr>
            <a:r>
              <a:rPr lang="en-US" sz="2000" b="1" dirty="0">
                <a:solidFill>
                  <a:srgbClr val="362FEC"/>
                </a:solidFill>
                <a:latin typeface="Calibri" panose="020F0502020204030204" pitchFamily="34" charset="0"/>
                <a:cs typeface="Calibri" panose="020F0502020204030204" pitchFamily="34" charset="0"/>
              </a:rPr>
              <a:t>Why reverse mode</a:t>
            </a:r>
          </a:p>
        </p:txBody>
      </p:sp>
      <p:sp>
        <p:nvSpPr>
          <p:cNvPr id="4" name="points"/>
          <p:cNvSpPr txBox="1"/>
          <p:nvPr/>
        </p:nvSpPr>
        <p:spPr>
          <a:xfrm>
            <a:off x="384048" y="1417320"/>
            <a:ext cx="6126480" cy="5166360"/>
          </a:xfrm>
          <a:prstGeom prst="rect">
            <a:avLst/>
          </a:prstGeom>
          <a:noFill/>
        </p:spPr>
        <p:txBody>
          <a:bodyPr wrap="square" lIns="0" rIns="0" tIns="0" bIns="0">
            <a:spAutoFit/>
          </a:bodyPr>
          <a:lstStyle/>
          <a:p>
            <a:pPr algn="l">
              <a:spcAft>
                <a:spcPts val="1200"/>
              </a:spcAft>
            </a:pPr>
            <a:r>
              <a:rPr sz="1800" b="1" i="0">
                <a:solidFill>
                  <a:srgbClr val="00B050"/>
                </a:solidFill>
                <a:latin typeface="Calibri"/>
              </a:rPr>
              <a:t>Forward mode</a:t>
            </a:r>
            <a:r>
              <a:rPr sz="1800" b="0" i="0">
                <a:solidFill>
                  <a:srgbClr val="000000"/>
                </a:solidFill>
                <a:latin typeface="Calibri"/>
              </a:rPr>
              <a:t>: carries the derivative with respect to one input forward, alongside the values: n inputs, n passes, like finite differences.</a:t>
            </a:r>
          </a:p>
          <a:p>
            <a:pPr algn="l">
              <a:spcAft>
                <a:spcPts val="1200"/>
              </a:spcAft>
            </a:pPr>
            <a:r>
              <a:rPr sz="1800" b="1" i="0">
                <a:solidFill>
                  <a:srgbClr val="FF0000"/>
                </a:solidFill>
                <a:latin typeface="Calibri"/>
              </a:rPr>
              <a:t>Reverse mode</a:t>
            </a:r>
            <a:r>
              <a:rPr sz="1800" b="0" i="0">
                <a:solidFill>
                  <a:srgbClr val="000000"/>
                </a:solidFill>
                <a:latin typeface="Calibri"/>
              </a:rPr>
              <a:t>: starts from the single output and sends its sensitivity back to every input at once. The whole gradient costs a small constant factor more than the function (Baur and Strassen, 1983). The price is memory.</a:t>
            </a:r>
          </a:p>
          <a:p>
            <a:pPr algn="l">
              <a:spcAft>
                <a:spcPts val="1200"/>
              </a:spcAft>
            </a:pPr>
            <a:r>
              <a:rPr sz="1800" b="1" i="0">
                <a:solidFill>
                  <a:srgbClr val="362FEC"/>
                </a:solidFill>
                <a:latin typeface="Calibri"/>
              </a:rPr>
              <a:t>At scale</a:t>
            </a:r>
            <a:r>
              <a:rPr sz="1800" b="0" i="0">
                <a:solidFill>
                  <a:srgbClr val="000000"/>
                </a:solidFill>
                <a:latin typeface="Calibri"/>
              </a:rPr>
              <a:t>: 100 million parameters: 200 million evaluations for finite differences, about 2 or 3 for forward plus backward.</a:t>
            </a:r>
          </a:p>
        </p:txBody>
      </p:sp>
      <p:grpSp>
        <p:nvGrpSpPr>
          <p:cNvPr id="5" name="picture 1"/>
          <p:cNvGrpSpPr/>
          <p:nvPr/>
        </p:nvGrpSpPr>
        <p:grpSpPr>
          <a:xfrm>
            <a:off x="6812280" y="1371600"/>
            <a:ext cx="5120640" cy="2985161"/>
            <a:chOff x="6812280" y="1371600"/>
            <a:chExt cx="5120640" cy="2985161"/>
          </a:xfrm>
        </p:grpSpPr>
        <p:pic>
          <p:nvPicPr>
            <p:cNvPr id="6" name="Picture 5" descr="modes.png"/>
            <p:cNvPicPr>
              <a:picLocks noChangeAspect="1"/>
            </p:cNvPicPr>
            <p:nvPr/>
          </p:nvPicPr>
          <p:blipFill>
            <a:blip r:embed="rId2"/>
            <a:stretch>
              <a:fillRect/>
            </a:stretch>
          </p:blipFill>
          <p:spPr>
            <a:xfrm>
              <a:off x="6812280" y="1371600"/>
              <a:ext cx="5120640" cy="2052473"/>
            </a:xfrm>
            <a:prstGeom prst="rect">
              <a:avLst/>
            </a:prstGeom>
          </p:spPr>
        </p:pic>
        <p:sp>
          <p:nvSpPr>
            <p:cNvPr id="7" name="description"/>
            <p:cNvSpPr txBox="1"/>
            <p:nvPr/>
          </p:nvSpPr>
          <p:spPr>
            <a:xfrm>
              <a:off x="6812280" y="3533801"/>
              <a:ext cx="5120640" cy="822960"/>
            </a:xfrm>
            <a:prstGeom prst="rect">
              <a:avLst/>
            </a:prstGeom>
            <a:noFill/>
          </p:spPr>
          <p:txBody>
            <a:bodyPr wrap="square" anchor="t" lIns="0" rIns="0" tIns="0" bIns="0">
              <a:spAutoFit/>
            </a:bodyPr>
            <a:lstStyle/>
            <a:p>
              <a:pPr algn="l"/>
              <a:r>
                <a:rPr sz="1400" b="0" i="0">
                  <a:solidFill>
                    <a:srgbClr val="595959"/>
                  </a:solidFill>
                  <a:latin typeface="Calibri"/>
                </a:rPr>
                <a:t>For the logistic map, with a single input, forward mode is fine. For a loss with millions of parameters it is the whole difference.</a:t>
              </a:r>
            </a:p>
          </p:txBody>
        </p:sp>
      </p:grpSp>
      <p:grpSp>
        <p:nvGrpSpPr>
          <p:cNvPr id="8" name="picture 3"/>
          <p:cNvGrpSpPr/>
          <p:nvPr/>
        </p:nvGrpSpPr>
        <p:grpSpPr>
          <a:xfrm>
            <a:off x="6812280" y="1371600"/>
            <a:ext cx="5120640" cy="4133088"/>
            <a:chOff x="6812280" y="1371600"/>
            <a:chExt cx="5120640" cy="4133088"/>
          </a:xfrm>
        </p:grpSpPr>
        <p:pic>
          <p:nvPicPr>
            <p:cNvPr id="9" name="Picture 8" descr="cheap_grad.png"/>
            <p:cNvPicPr>
              <a:picLocks noChangeAspect="1"/>
            </p:cNvPicPr>
            <p:nvPr/>
          </p:nvPicPr>
          <p:blipFill>
            <a:blip r:embed="rId3"/>
            <a:stretch>
              <a:fillRect/>
            </a:stretch>
          </p:blipFill>
          <p:spPr>
            <a:xfrm>
              <a:off x="7145866" y="1371600"/>
              <a:ext cx="4453466" cy="3200400"/>
            </a:xfrm>
            <a:prstGeom prst="rect">
              <a:avLst/>
            </a:prstGeom>
          </p:spPr>
        </p:pic>
        <p:sp>
          <p:nvSpPr>
            <p:cNvPr id="10" name="description"/>
            <p:cNvSpPr txBox="1"/>
            <p:nvPr/>
          </p:nvSpPr>
          <p:spPr>
            <a:xfrm>
              <a:off x="6812280" y="4681728"/>
              <a:ext cx="5120640" cy="822960"/>
            </a:xfrm>
            <a:prstGeom prst="rect">
              <a:avLst/>
            </a:prstGeom>
            <a:noFill/>
          </p:spPr>
          <p:txBody>
            <a:bodyPr wrap="square" anchor="t" lIns="0" rIns="0" tIns="0" bIns="0">
              <a:spAutoFit/>
            </a:bodyPr>
            <a:lstStyle/>
            <a:p>
              <a:pPr algn="l"/>
              <a:r>
                <a:rPr sz="1400" b="0" i="0">
                  <a:solidFill>
                    <a:srgbClr val="595959"/>
                  </a:solidFill>
                  <a:latin typeface="Calibri"/>
                </a:rPr>
                <a:t>In the notebook, width 1024: about 15 minutes for finite differences against about ten milliseconds for forward plus backward. This, more than the digits, is why billion-parameter networks can be trained.</a:t>
              </a:r>
            </a:p>
          </p:txBody>
        </p:sp>
      </p:grpSp>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4">
                                            <p:txEl>
                                              <p:pRg st="0" end="0"/>
                                            </p:txEl>
                                          </p:spTgt>
                                        </p:tgtEl>
                                        <p:attrNameLst>
                                          <p:attrName>style.visibility</p:attrName>
                                        </p:attrNameLst>
                                      </p:cBhvr>
                                      <p:to>
                                        <p:strVal val="visible"/>
                                      </p:to>
                                    </p:set>
                                  </p:childTnLst>
                                </p:cTn>
                              </p:par>
                              <p:par>
                                <p:cTn id="7" presetID="1" presetClass="entr" presetSubtype="0" fill="hold" grpId="0" nodeType="withEffect">
                                  <p:stCondLst>
                                    <p:cond delay="0"/>
                                  </p:stCondLst>
                                  <p:childTnLst>
                                    <p:set>
                                      <p:cBhvr>
                                        <p:cTn id="8" dur="1" fill="hold">
                                          <p:stCondLst>
                                            <p:cond delay="0"/>
                                          </p:stCondLst>
                                        </p:cTn>
                                        <p:tgtEl>
                                          <p:spTgt spid="5"/>
                                        </p:tgtEl>
                                        <p:attrNameLst>
                                          <p:attrName>style.visibility</p:attrName>
                                        </p:attrNameLst>
                                      </p:cBhvr>
                                      <p:to>
                                        <p:strVal val="visible"/>
                                      </p:to>
                                    </p:set>
                                  </p:childTnLst>
                                </p:cTn>
                              </p:par>
                            </p:childTnLst>
                          </p:cTn>
                        </p:par>
                      </p:childTnLst>
                    </p:cTn>
                  </p:par>
                  <p:par>
                    <p:cTn id="9" fill="hold">
                      <p:stCondLst>
                        <p:cond delay="indefinite"/>
                      </p:stCondLst>
                      <p:childTnLst>
                        <p:par>
                          <p:cTn id="10" fill="hold">
                            <p:stCondLst>
                              <p:cond delay="0"/>
                            </p:stCondLst>
                            <p:childTnLst>
                              <p:par>
                                <p:cTn id="11" presetID="1" presetClass="entr" presetSubtype="0" fill="hold" grpId="0" nodeType="clickEffect">
                                  <p:stCondLst>
                                    <p:cond delay="0"/>
                                  </p:stCondLst>
                                  <p:childTnLst>
                                    <p:set>
                                      <p:cBhvr>
                                        <p:cTn id="12" dur="1" fill="hold">
                                          <p:stCondLst>
                                            <p:cond delay="0"/>
                                          </p:stCondLst>
                                        </p:cTn>
                                        <p:tgtEl>
                                          <p:spTgt spid="4">
                                            <p:txEl>
                                              <p:pRg st="1" end="1"/>
                                            </p:txEl>
                                          </p:spTgt>
                                        </p:tgtEl>
                                        <p:attrNameLst>
                                          <p:attrName>style.visibility</p:attrName>
                                        </p:attrNameLst>
                                      </p:cBhvr>
                                      <p:to>
                                        <p:strVal val="visible"/>
                                      </p:to>
                                    </p:set>
                                  </p:childTnLst>
                                </p:cTn>
                              </p:par>
                            </p:childTnLst>
                          </p:cTn>
                        </p:par>
                      </p:childTnLst>
                    </p:cTn>
                  </p:par>
                  <p:par>
                    <p:cTn id="13" fill="hold">
                      <p:stCondLst>
                        <p:cond delay="indefinite"/>
                      </p:stCondLst>
                      <p:childTnLst>
                        <p:par>
                          <p:cTn id="14" fill="hold">
                            <p:stCondLst>
                              <p:cond delay="0"/>
                            </p:stCondLst>
                            <p:childTnLst>
                              <p:par>
                                <p:cTn id="15" presetID="1" presetClass="entr" presetSubtype="0" fill="hold" grpId="0" nodeType="clickEffect">
                                  <p:stCondLst>
                                    <p:cond delay="0"/>
                                  </p:stCondLst>
                                  <p:childTnLst>
                                    <p:set>
                                      <p:cBhvr>
                                        <p:cTn id="16" dur="1" fill="hold">
                                          <p:stCondLst>
                                            <p:cond delay="0"/>
                                          </p:stCondLst>
                                        </p:cTn>
                                        <p:tgtEl>
                                          <p:spTgt spid="4">
                                            <p:txEl>
                                              <p:pRg st="2" end="2"/>
                                            </p:txEl>
                                          </p:spTgt>
                                        </p:tgtEl>
                                        <p:attrNameLst>
                                          <p:attrName>style.visibility</p:attrName>
                                        </p:attrNameLst>
                                      </p:cBhvr>
                                      <p:to>
                                        <p:strVal val="visible"/>
                                      </p:to>
                                    </p:set>
                                  </p:childTnLst>
                                </p:cTn>
                              </p:par>
                              <p:par>
                                <p:cTn id="17" presetID="1" presetClass="entr" presetSubtype="0" fill="hold" grpId="0" nodeType="withEffect">
                                  <p:stCondLst>
                                    <p:cond delay="0"/>
                                  </p:stCondLst>
                                  <p:childTnLst>
                                    <p:set>
                                      <p:cBhvr>
                                        <p:cTn id="18" dur="1" fill="hold">
                                          <p:stCondLst>
                                            <p:cond delay="0"/>
                                          </p:stCondLst>
                                        </p:cTn>
                                        <p:tgtEl>
                                          <p:spTgt spid="8"/>
                                        </p:tgtEl>
                                        <p:attrNameLst>
                                          <p:attrName>style.visibility</p:attrName>
                                        </p:attrNameLst>
                                      </p:cBhvr>
                                      <p:to>
                                        <p:strVal val="visible"/>
                                      </p:to>
                                    </p:set>
                                  </p:childTnLst>
                                </p:cTn>
                              </p:par>
                              <p:par>
                                <p:cTn id="19" presetID="1" presetClass="exit" presetSubtype="0" fill="hold" grpId="1" nodeType="withEffect">
                                  <p:stCondLst>
                                    <p:cond delay="0"/>
                                  </p:stCondLst>
                                  <p:childTnLst>
                                    <p:set>
                                      <p:cBhvr>
                                        <p:cTn id="20" dur="1" fill="hold">
                                          <p:stCondLst>
                                            <p:cond delay="0"/>
                                          </p:stCondLst>
                                        </p:cTn>
                                        <p:tgtEl>
                                          <p:spTgt spid="5"/>
                                        </p:tgtEl>
                                        <p:attrNameLst>
                                          <p:attrName>style.visibility</p:attrName>
                                        </p:attrNameLst>
                                      </p:cBhvr>
                                      <p:to>
                                        <p:strVal val="hidden"/>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4" grpId="0" build="p"/>
    </p:bldLst>
  </p:timing>
</p:sld>
</file>

<file path=ppt/slides/slide6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b0_2">
            <a:extLst>
              <a:ext uri="{FF2B5EF4-FFF2-40B4-BE49-F238E27FC236}">
                <a16:creationId xmlns:a16="http://schemas.microsoft.com/office/drawing/2014/main" id="{33DE8782-7F2B-1033-00F6-2A6652EE0E80}"/>
              </a:ext>
            </a:extLst>
          </p:cNvPr>
          <p:cNvSpPr txBox="1"/>
          <p:nvPr/>
        </p:nvSpPr>
        <p:spPr>
          <a:xfrm>
            <a:off x="0" y="148566"/>
            <a:ext cx="11680992" cy="548640"/>
          </a:xfrm>
          <a:prstGeom prst="rect">
            <a:avLst/>
          </a:prstGeom>
          <a:noFill/>
          <a:ln>
            <a:noFill/>
          </a:ln>
        </p:spPr>
        <p:txBody>
          <a:bodyPr wrap="square" rtlCol="0" anchor="ctr"/>
          <a:lstStyle/>
          <a:p>
            <a:r>
              <a:rPr lang="en-US" sz="3200" b="1" dirty="0">
                <a:solidFill>
                  <a:srgbClr val="FF0000"/>
                </a:solidFill>
                <a:latin typeface="Calibri" pitchFamily="34" charset="0"/>
                <a:ea typeface="Calibri" pitchFamily="34" charset="-122"/>
                <a:cs typeface="Calibri" pitchFamily="34" charset="-120"/>
              </a:rPr>
              <a:t>Hands-on</a:t>
            </a:r>
            <a:r>
              <a:rPr lang="en-US" sz="3200" b="1" dirty="0">
                <a:solidFill>
                  <a:srgbClr val="000000"/>
                </a:solidFill>
                <a:latin typeface="Calibri" pitchFamily="34" charset="0"/>
                <a:ea typeface="Calibri" pitchFamily="34" charset="-122"/>
                <a:cs typeface="Calibri" pitchFamily="34" charset="-120"/>
              </a:rPr>
              <a:t>: an </a:t>
            </a:r>
            <a:r>
              <a:rPr lang="en-US" sz="3200" b="1" dirty="0">
                <a:solidFill>
                  <a:srgbClr val="362FEC"/>
                </a:solidFill>
                <a:latin typeface="Calibri" pitchFamily="34" charset="0"/>
                <a:ea typeface="Calibri" pitchFamily="34" charset="-122"/>
                <a:cs typeface="Calibri" pitchFamily="34" charset="-120"/>
              </a:rPr>
              <a:t>Autograd</a:t>
            </a:r>
            <a:r>
              <a:rPr lang="en-US" sz="3200" b="1" dirty="0">
                <a:solidFill>
                  <a:srgbClr val="000000"/>
                </a:solidFill>
                <a:latin typeface="Calibri" pitchFamily="34" charset="0"/>
                <a:ea typeface="Calibri" pitchFamily="34" charset="-122"/>
                <a:cs typeface="Calibri" pitchFamily="34" charset="-120"/>
              </a:rPr>
              <a:t> Engine</a:t>
            </a:r>
            <a:endParaRPr lang="en-US" sz="3200" dirty="0">
              <a:solidFill>
                <a:srgbClr val="362FEC"/>
              </a:solidFill>
            </a:endParaRPr>
          </a:p>
        </p:txBody>
      </p:sp>
      <p:sp>
        <p:nvSpPr>
          <p:cNvPr id="3" name="subheading">
            <a:extLst>
              <a:ext uri="{FF2B5EF4-FFF2-40B4-BE49-F238E27FC236}">
                <a16:creationId xmlns:a16="http://schemas.microsoft.com/office/drawing/2014/main" id="{5CB8A4AA-40B1-94AE-8EEE-080599481F78}"/>
              </a:ext>
            </a:extLst>
          </p:cNvPr>
          <p:cNvSpPr txBox="1"/>
          <p:nvPr/>
        </p:nvSpPr>
        <p:spPr>
          <a:xfrm>
            <a:off x="292608" y="868680"/>
            <a:ext cx="11430000" cy="411480"/>
          </a:xfrm>
          <a:prstGeom prst="rect">
            <a:avLst/>
          </a:prstGeom>
          <a:noFill/>
          <a:ln>
            <a:noFill/>
          </a:ln>
        </p:spPr>
        <p:txBody>
          <a:bodyPr wrap="square" lIns="0" tIns="0" rIns="0" bIns="0" rtlCol="0" anchor="ctr"/>
          <a:lstStyle/>
          <a:p>
            <a:pPr marL="0" indent="0">
              <a:buNone/>
            </a:pPr>
            <a:r>
              <a:rPr lang="en-US" sz="2000" b="1" dirty="0">
                <a:solidFill>
                  <a:srgbClr val="362FEC"/>
                </a:solidFill>
                <a:latin typeface="Calibri" panose="020F0502020204030204" pitchFamily="34" charset="0"/>
                <a:cs typeface="Calibri" panose="020F0502020204030204" pitchFamily="34" charset="0"/>
              </a:rPr>
              <a:t>Tensors and computation graphs</a:t>
            </a:r>
          </a:p>
        </p:txBody>
      </p:sp>
      <p:sp>
        <p:nvSpPr>
          <p:cNvPr id="4" name="points"/>
          <p:cNvSpPr txBox="1"/>
          <p:nvPr/>
        </p:nvSpPr>
        <p:spPr>
          <a:xfrm>
            <a:off x="384048" y="1417320"/>
            <a:ext cx="6126480" cy="5166360"/>
          </a:xfrm>
          <a:prstGeom prst="rect">
            <a:avLst/>
          </a:prstGeom>
          <a:noFill/>
        </p:spPr>
        <p:txBody>
          <a:bodyPr wrap="square" lIns="0" rIns="0" tIns="0" bIns="0">
            <a:spAutoFit/>
          </a:bodyPr>
          <a:lstStyle/>
          <a:p>
            <a:pPr algn="l">
              <a:spcAft>
                <a:spcPts val="1600"/>
              </a:spcAft>
            </a:pPr>
            <a:r>
              <a:rPr sz="2000" b="1" i="0">
                <a:solidFill>
                  <a:srgbClr val="362FEC"/>
                </a:solidFill>
                <a:latin typeface="Calibri"/>
              </a:rPr>
              <a:t>A tensor</a:t>
            </a:r>
            <a:r>
              <a:rPr sz="2000" b="0" i="0">
                <a:solidFill>
                  <a:srgbClr val="000000"/>
                </a:solidFill>
                <a:latin typeface="Calibri"/>
              </a:rPr>
              <a:t>: holds its data, a gradient of the same shape, its parents, and a backward rule.</a:t>
            </a:r>
          </a:p>
          <a:p>
            <a:pPr algn="l">
              <a:spcAft>
                <a:spcPts val="1600"/>
              </a:spcAft>
            </a:pPr>
            <a:r>
              <a:rPr sz="2000" b="1" i="0">
                <a:solidFill>
                  <a:srgbClr val="00B050"/>
                </a:solidFill>
                <a:latin typeface="Calibri"/>
              </a:rPr>
              <a:t>Every operation records these</a:t>
            </a:r>
            <a:r>
              <a:rPr sz="2000" b="0" i="0">
                <a:solidFill>
                  <a:srgbClr val="000000"/>
                </a:solidFill>
                <a:latin typeface="Calibri"/>
              </a:rPr>
              <a:t>: so evaluating a loss builds a graph from the leaves, the inputs and parameters, to the loss.</a:t>
            </a:r>
          </a:p>
        </p:txBody>
      </p:sp>
      <p:grpSp>
        <p:nvGrpSpPr>
          <p:cNvPr id="5" name="picture 1"/>
          <p:cNvGrpSpPr/>
          <p:nvPr/>
        </p:nvGrpSpPr>
        <p:grpSpPr>
          <a:xfrm>
            <a:off x="6812280" y="1371600"/>
            <a:ext cx="5120640" cy="3789243"/>
            <a:chOff x="6812280" y="1371600"/>
            <a:chExt cx="5120640" cy="3789243"/>
          </a:xfrm>
        </p:grpSpPr>
        <p:pic>
          <p:nvPicPr>
            <p:cNvPr id="6" name="Picture 5" descr="tensor_anatomy.png"/>
            <p:cNvPicPr>
              <a:picLocks noChangeAspect="1"/>
            </p:cNvPicPr>
            <p:nvPr/>
          </p:nvPicPr>
          <p:blipFill>
            <a:blip r:embed="rId2"/>
            <a:stretch>
              <a:fillRect/>
            </a:stretch>
          </p:blipFill>
          <p:spPr>
            <a:xfrm>
              <a:off x="6812280" y="1371600"/>
              <a:ext cx="5120640" cy="2856555"/>
            </a:xfrm>
            <a:prstGeom prst="rect">
              <a:avLst/>
            </a:prstGeom>
          </p:spPr>
        </p:pic>
        <p:sp>
          <p:nvSpPr>
            <p:cNvPr id="7" name="description"/>
            <p:cNvSpPr txBox="1"/>
            <p:nvPr/>
          </p:nvSpPr>
          <p:spPr>
            <a:xfrm>
              <a:off x="6812280" y="4337883"/>
              <a:ext cx="5120640" cy="822960"/>
            </a:xfrm>
            <a:prstGeom prst="rect">
              <a:avLst/>
            </a:prstGeom>
            <a:noFill/>
          </p:spPr>
          <p:txBody>
            <a:bodyPr wrap="square" anchor="t" lIns="0" rIns="0" tIns="0" bIns="0">
              <a:spAutoFit/>
            </a:bodyPr>
            <a:lstStyle/>
            <a:p>
              <a:pPr algn="l"/>
              <a:r>
                <a:rPr sz="1400" b="0" i="0">
                  <a:solidFill>
                    <a:srgbClr val="595959"/>
                  </a:solidFill>
                  <a:latin typeface="Calibri"/>
                </a:rPr>
                <a:t>tinylm/autograd.py: a few hundred lines of plain Python and NumPy.</a:t>
              </a:r>
            </a:p>
          </p:txBody>
        </p:sp>
      </p:grpSp>
      <p:grpSp>
        <p:nvGrpSpPr>
          <p:cNvPr id="8" name="picture 2"/>
          <p:cNvGrpSpPr/>
          <p:nvPr/>
        </p:nvGrpSpPr>
        <p:grpSpPr>
          <a:xfrm>
            <a:off x="6812280" y="1371600"/>
            <a:ext cx="5120640" cy="3429000"/>
            <a:chOff x="6812280" y="1371600"/>
            <a:chExt cx="5120640" cy="3429000"/>
          </a:xfrm>
        </p:grpSpPr>
        <p:sp>
          <p:nvSpPr>
            <p:cNvPr id="9" name="Rounded Rectangle 8"/>
            <p:cNvSpPr/>
            <p:nvPr/>
          </p:nvSpPr>
          <p:spPr>
            <a:xfrm>
              <a:off x="6812280" y="1371600"/>
              <a:ext cx="5120640" cy="1737360"/>
            </a:xfrm>
            <a:prstGeom prst="roundRect">
              <a:avLst>
                <a:gd name="adj" fmla="val 6000"/>
              </a:avLst>
            </a:prstGeom>
            <a:solidFill>
              <a:srgbClr val="EDEDED"/>
            </a:solidFill>
            <a:ln>
              <a:noFill/>
            </a:ln>
          </p:spPr>
          <p:style>
            <a:lnRef idx="1">
              <a:schemeClr val="accent1"/>
            </a:lnRef>
            <a:fillRef idx="3">
              <a:schemeClr val="accent1"/>
            </a:fillRef>
            <a:effectRef idx="2">
              <a:schemeClr val="accent1"/>
            </a:effectRef>
            <a:fontRef idx="minor">
              <a:schemeClr val="lt1"/>
            </a:fontRef>
          </p:style>
          <p:txBody>
            <a:bodyPr rtlCol="0" anchor="ctr" wrap="square" lIns="137160" rIns="137160" tIns="54864" bIns="54864"/>
            <a:lstStyle/>
            <a:p>
              <a:pPr algn="l"/>
              <a:r>
                <a:rPr sz="1200" b="0" i="0">
                  <a:solidFill>
                    <a:srgbClr val="000000"/>
                  </a:solidFill>
                  <a:latin typeface="Consolas"/>
                </a:rPr>
                <a:t>X = Tensor(rng.normal(size=(4, 3)))</a:t>
              </a:r>
            </a:p>
            <a:p>
              <a:pPr algn="l"/>
              <a:r>
                <a:rPr sz="1200" b="0" i="0">
                  <a:solidFill>
                    <a:srgbClr val="000000"/>
                  </a:solidFill>
                  <a:latin typeface="Consolas"/>
                </a:rPr>
                <a:t>W = Tensor(rng.normal(size=(3, 2)), requires_grad=True)</a:t>
              </a:r>
            </a:p>
            <a:p>
              <a:pPr algn="l"/>
              <a:r>
                <a:rPr sz="1200" b="0" i="0">
                  <a:solidFill>
                    <a:srgbClr val="000000"/>
                  </a:solidFill>
                  <a:latin typeface="Consolas"/>
                </a:rPr>
                <a:t>b = Tensor(np.array([0.5, -0.5]), requires_grad=True)</a:t>
              </a:r>
            </a:p>
            <a:p>
              <a:pPr algn="l"/>
              <a:r>
                <a:rPr sz="1200" b="0" i="0">
                  <a:solidFill>
                    <a:srgbClr val="000000"/>
                  </a:solidFill>
                  <a:latin typeface="Consolas"/>
                </a:rPr>
                <a:t/>
              </a:r>
            </a:p>
            <a:p>
              <a:pPr algn="l"/>
              <a:r>
                <a:rPr sz="1200" b="0" i="0">
                  <a:solidFill>
                    <a:srgbClr val="000000"/>
                  </a:solidFill>
                  <a:latin typeface="Consolas"/>
                </a:rPr>
                <a:t>Z = X @ W + b        # (4,3) @ (3,2) + (2,) -&gt; (4,2)</a:t>
              </a:r>
            </a:p>
            <a:p>
              <a:pPr algn="l"/>
              <a:r>
                <a:rPr sz="1200" b="0" i="0">
                  <a:solidFill>
                    <a:srgbClr val="000000"/>
                  </a:solidFill>
                  <a:latin typeface="Consolas"/>
                </a:rPr>
                <a:t>L = (Z ** 2).mean()   # one number</a:t>
              </a:r>
            </a:p>
          </p:txBody>
        </p:sp>
        <p:sp>
          <p:nvSpPr>
            <p:cNvPr id="10" name="Rounded Rectangle 9"/>
            <p:cNvSpPr/>
            <p:nvPr/>
          </p:nvSpPr>
          <p:spPr>
            <a:xfrm>
              <a:off x="6812280" y="3246120"/>
              <a:ext cx="5120640" cy="868680"/>
            </a:xfrm>
            <a:prstGeom prst="roundRect">
              <a:avLst>
                <a:gd name="adj" fmla="val 6000"/>
              </a:avLst>
            </a:prstGeom>
            <a:solidFill>
              <a:srgbClr val="F4F4F4"/>
            </a:solidFill>
            <a:ln>
              <a:noFill/>
            </a:ln>
          </p:spPr>
          <p:style>
            <a:lnRef idx="1">
              <a:schemeClr val="accent1"/>
            </a:lnRef>
            <a:fillRef idx="3">
              <a:schemeClr val="accent1"/>
            </a:fillRef>
            <a:effectRef idx="2">
              <a:schemeClr val="accent1"/>
            </a:effectRef>
            <a:fontRef idx="minor">
              <a:schemeClr val="lt1"/>
            </a:fontRef>
          </p:style>
          <p:txBody>
            <a:bodyPr rtlCol="0" anchor="ctr" wrap="square" lIns="137160" rIns="137160" tIns="54864" bIns="54864"/>
            <a:lstStyle/>
            <a:p>
              <a:pPr algn="l"/>
              <a:r>
                <a:rPr sz="1200" b="0" i="0">
                  <a:solidFill>
                    <a:srgbClr val="595959"/>
                  </a:solidFill>
                  <a:latin typeface="Consolas"/>
                </a:rPr>
                <a:t>Z: shape (4, 2)  op +   parents: @, leaf</a:t>
              </a:r>
            </a:p>
            <a:p>
              <a:pPr algn="l"/>
              <a:r>
                <a:rPr sz="1200" b="0" i="0">
                  <a:solidFill>
                    <a:srgbClr val="595959"/>
                  </a:solidFill>
                  <a:latin typeface="Consolas"/>
                </a:rPr>
                <a:t>L: shape ()      op /   parents: sum, leaf</a:t>
              </a:r>
            </a:p>
            <a:p>
              <a:pPr algn="l"/>
              <a:r>
                <a:rPr sz="1200" b="0" i="0">
                  <a:solidFill>
                    <a:srgbClr val="595959"/>
                  </a:solidFill>
                  <a:latin typeface="Consolas"/>
                </a:rPr>
                <a:t>L = 3.913</a:t>
              </a:r>
            </a:p>
          </p:txBody>
        </p:sp>
        <p:sp>
          <p:nvSpPr>
            <p:cNvPr id="11" name="description"/>
            <p:cNvSpPr txBox="1"/>
            <p:nvPr/>
          </p:nvSpPr>
          <p:spPr>
            <a:xfrm>
              <a:off x="6812280" y="4251960"/>
              <a:ext cx="5120640" cy="548640"/>
            </a:xfrm>
            <a:prstGeom prst="rect">
              <a:avLst/>
            </a:prstGeom>
            <a:noFill/>
          </p:spPr>
          <p:txBody>
            <a:bodyPr wrap="square" anchor="t" lIns="0" rIns="0" tIns="0" bIns="0">
              <a:spAutoFit/>
            </a:bodyPr>
            <a:lstStyle/>
            <a:p>
              <a:pPr algn="l"/>
              <a:r>
                <a:rPr sz="1400" b="0" i="0">
                  <a:solidFill>
                    <a:srgbClr val="595959"/>
                  </a:solidFill>
                  <a:latin typeface="Calibri"/>
                </a:rPr>
                <a:t>Part A of the Week 1 notebook, section 1. The engine computes a mean as a sum divided by a count.</a:t>
              </a:r>
            </a:p>
          </p:txBody>
        </p:sp>
      </p:grpSp>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4">
                                            <p:txEl>
                                              <p:pRg st="0" end="0"/>
                                            </p:txEl>
                                          </p:spTgt>
                                        </p:tgtEl>
                                        <p:attrNameLst>
                                          <p:attrName>style.visibility</p:attrName>
                                        </p:attrNameLst>
                                      </p:cBhvr>
                                      <p:to>
                                        <p:strVal val="visible"/>
                                      </p:to>
                                    </p:set>
                                  </p:childTnLst>
                                </p:cTn>
                              </p:par>
                              <p:par>
                                <p:cTn id="7" presetID="1" presetClass="entr" presetSubtype="0" fill="hold" grpId="0" nodeType="withEffect">
                                  <p:stCondLst>
                                    <p:cond delay="0"/>
                                  </p:stCondLst>
                                  <p:childTnLst>
                                    <p:set>
                                      <p:cBhvr>
                                        <p:cTn id="8" dur="1" fill="hold">
                                          <p:stCondLst>
                                            <p:cond delay="0"/>
                                          </p:stCondLst>
                                        </p:cTn>
                                        <p:tgtEl>
                                          <p:spTgt spid="5"/>
                                        </p:tgtEl>
                                        <p:attrNameLst>
                                          <p:attrName>style.visibility</p:attrName>
                                        </p:attrNameLst>
                                      </p:cBhvr>
                                      <p:to>
                                        <p:strVal val="visible"/>
                                      </p:to>
                                    </p:set>
                                  </p:childTnLst>
                                </p:cTn>
                              </p:par>
                            </p:childTnLst>
                          </p:cTn>
                        </p:par>
                      </p:childTnLst>
                    </p:cTn>
                  </p:par>
                  <p:par>
                    <p:cTn id="9" fill="hold">
                      <p:stCondLst>
                        <p:cond delay="indefinite"/>
                      </p:stCondLst>
                      <p:childTnLst>
                        <p:par>
                          <p:cTn id="10" fill="hold">
                            <p:stCondLst>
                              <p:cond delay="0"/>
                            </p:stCondLst>
                            <p:childTnLst>
                              <p:par>
                                <p:cTn id="11" presetID="1" presetClass="entr" presetSubtype="0" fill="hold" grpId="0" nodeType="clickEffect">
                                  <p:stCondLst>
                                    <p:cond delay="0"/>
                                  </p:stCondLst>
                                  <p:childTnLst>
                                    <p:set>
                                      <p:cBhvr>
                                        <p:cTn id="12" dur="1" fill="hold">
                                          <p:stCondLst>
                                            <p:cond delay="0"/>
                                          </p:stCondLst>
                                        </p:cTn>
                                        <p:tgtEl>
                                          <p:spTgt spid="4">
                                            <p:txEl>
                                              <p:pRg st="1" end="1"/>
                                            </p:txEl>
                                          </p:spTgt>
                                        </p:tgtEl>
                                        <p:attrNameLst>
                                          <p:attrName>style.visibility</p:attrName>
                                        </p:attrNameLst>
                                      </p:cBhvr>
                                      <p:to>
                                        <p:strVal val="visible"/>
                                      </p:to>
                                    </p:set>
                                  </p:childTnLst>
                                </p:cTn>
                              </p:par>
                              <p:par>
                                <p:cTn id="13" presetID="1" presetClass="entr" presetSubtype="0" fill="hold" grpId="0" nodeType="withEffect">
                                  <p:stCondLst>
                                    <p:cond delay="0"/>
                                  </p:stCondLst>
                                  <p:childTnLst>
                                    <p:set>
                                      <p:cBhvr>
                                        <p:cTn id="14" dur="1" fill="hold">
                                          <p:stCondLst>
                                            <p:cond delay="0"/>
                                          </p:stCondLst>
                                        </p:cTn>
                                        <p:tgtEl>
                                          <p:spTgt spid="8"/>
                                        </p:tgtEl>
                                        <p:attrNameLst>
                                          <p:attrName>style.visibility</p:attrName>
                                        </p:attrNameLst>
                                      </p:cBhvr>
                                      <p:to>
                                        <p:strVal val="visible"/>
                                      </p:to>
                                    </p:set>
                                  </p:childTnLst>
                                </p:cTn>
                              </p:par>
                              <p:par>
                                <p:cTn id="15" presetID="1" presetClass="exit" presetSubtype="0" fill="hold" grpId="1" nodeType="withEffect">
                                  <p:stCondLst>
                                    <p:cond delay="0"/>
                                  </p:stCondLst>
                                  <p:childTnLst>
                                    <p:set>
                                      <p:cBhvr>
                                        <p:cTn id="16" dur="1" fill="hold">
                                          <p:stCondLst>
                                            <p:cond delay="0"/>
                                          </p:stCondLst>
                                        </p:cTn>
                                        <p:tgtEl>
                                          <p:spTgt spid="5"/>
                                        </p:tgtEl>
                                        <p:attrNameLst>
                                          <p:attrName>style.visibility</p:attrName>
                                        </p:attrNameLst>
                                      </p:cBhvr>
                                      <p:to>
                                        <p:strVal val="hidden"/>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4" grpId="0" build="p"/>
    </p:bldLst>
  </p:timing>
</p:sld>
</file>

<file path=ppt/slides/slide6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b0_2">
            <a:extLst>
              <a:ext uri="{FF2B5EF4-FFF2-40B4-BE49-F238E27FC236}">
                <a16:creationId xmlns:a16="http://schemas.microsoft.com/office/drawing/2014/main" id="{33DE8782-7F2B-1033-00F6-2A6652EE0E80}"/>
              </a:ext>
            </a:extLst>
          </p:cNvPr>
          <p:cNvSpPr txBox="1"/>
          <p:nvPr/>
        </p:nvSpPr>
        <p:spPr>
          <a:xfrm>
            <a:off x="0" y="148566"/>
            <a:ext cx="11680992" cy="548640"/>
          </a:xfrm>
          <a:prstGeom prst="rect">
            <a:avLst/>
          </a:prstGeom>
          <a:noFill/>
          <a:ln>
            <a:noFill/>
          </a:ln>
        </p:spPr>
        <p:txBody>
          <a:bodyPr wrap="square" rtlCol="0" anchor="ctr"/>
          <a:lstStyle/>
          <a:p>
            <a:r>
              <a:rPr lang="en-US" sz="3200" b="1" dirty="0">
                <a:solidFill>
                  <a:srgbClr val="FF0000"/>
                </a:solidFill>
                <a:latin typeface="Calibri" pitchFamily="34" charset="0"/>
                <a:ea typeface="Calibri" pitchFamily="34" charset="-122"/>
                <a:cs typeface="Calibri" pitchFamily="34" charset="-120"/>
              </a:rPr>
              <a:t>Hands-on</a:t>
            </a:r>
            <a:r>
              <a:rPr lang="en-US" sz="3200" b="1" dirty="0">
                <a:solidFill>
                  <a:srgbClr val="000000"/>
                </a:solidFill>
                <a:latin typeface="Calibri" pitchFamily="34" charset="0"/>
                <a:ea typeface="Calibri" pitchFamily="34" charset="-122"/>
                <a:cs typeface="Calibri" pitchFamily="34" charset="-120"/>
              </a:rPr>
              <a:t>: an </a:t>
            </a:r>
            <a:r>
              <a:rPr lang="en-US" sz="3200" b="1" dirty="0">
                <a:solidFill>
                  <a:srgbClr val="362FEC"/>
                </a:solidFill>
                <a:latin typeface="Calibri" pitchFamily="34" charset="0"/>
                <a:ea typeface="Calibri" pitchFamily="34" charset="-122"/>
                <a:cs typeface="Calibri" pitchFamily="34" charset="-120"/>
              </a:rPr>
              <a:t>Autograd</a:t>
            </a:r>
            <a:r>
              <a:rPr lang="en-US" sz="3200" b="1" dirty="0">
                <a:solidFill>
                  <a:srgbClr val="000000"/>
                </a:solidFill>
                <a:latin typeface="Calibri" pitchFamily="34" charset="0"/>
                <a:ea typeface="Calibri" pitchFamily="34" charset="-122"/>
                <a:cs typeface="Calibri" pitchFamily="34" charset="-120"/>
              </a:rPr>
              <a:t> Engine</a:t>
            </a:r>
            <a:endParaRPr lang="en-US" sz="3200" dirty="0">
              <a:solidFill>
                <a:srgbClr val="362FEC"/>
              </a:solidFill>
            </a:endParaRPr>
          </a:p>
        </p:txBody>
      </p:sp>
      <p:sp>
        <p:nvSpPr>
          <p:cNvPr id="3" name="subheading">
            <a:extLst>
              <a:ext uri="{FF2B5EF4-FFF2-40B4-BE49-F238E27FC236}">
                <a16:creationId xmlns:a16="http://schemas.microsoft.com/office/drawing/2014/main" id="{5CB8A4AA-40B1-94AE-8EEE-080599481F78}"/>
              </a:ext>
            </a:extLst>
          </p:cNvPr>
          <p:cNvSpPr txBox="1"/>
          <p:nvPr/>
        </p:nvSpPr>
        <p:spPr>
          <a:xfrm>
            <a:off x="292608" y="868680"/>
            <a:ext cx="11430000" cy="411480"/>
          </a:xfrm>
          <a:prstGeom prst="rect">
            <a:avLst/>
          </a:prstGeom>
          <a:noFill/>
          <a:ln>
            <a:noFill/>
          </a:ln>
        </p:spPr>
        <p:txBody>
          <a:bodyPr wrap="square" lIns="0" tIns="0" rIns="0" bIns="0" rtlCol="0" anchor="ctr"/>
          <a:lstStyle/>
          <a:p>
            <a:pPr marL="0" indent="0">
              <a:buNone/>
            </a:pPr>
            <a:r>
              <a:rPr lang="en-US" sz="2000" b="1" dirty="0">
                <a:solidFill>
                  <a:srgbClr val="362FEC"/>
                </a:solidFill>
                <a:latin typeface="Calibri" panose="020F0502020204030204" pitchFamily="34" charset="0"/>
                <a:cs typeface="Calibri" panose="020F0502020204030204" pitchFamily="34" charset="0"/>
              </a:rPr>
              <a:t>The backward pass</a:t>
            </a:r>
          </a:p>
        </p:txBody>
      </p:sp>
      <p:sp>
        <p:nvSpPr>
          <p:cNvPr id="4" name="points"/>
          <p:cNvSpPr txBox="1"/>
          <p:nvPr/>
        </p:nvSpPr>
        <p:spPr>
          <a:xfrm>
            <a:off x="384048" y="1417320"/>
            <a:ext cx="6126480" cy="5166360"/>
          </a:xfrm>
          <a:prstGeom prst="rect">
            <a:avLst/>
          </a:prstGeom>
          <a:noFill/>
        </p:spPr>
        <p:txBody>
          <a:bodyPr wrap="square" lIns="0" rIns="0" tIns="0" bIns="0">
            <a:spAutoFit/>
          </a:bodyPr>
          <a:lstStyle/>
          <a:p>
            <a:pPr algn="l">
              <a:spcAft>
                <a:spcPts val="1600"/>
              </a:spcAft>
            </a:pPr>
            <a:r>
              <a:rPr sz="2000" b="1" i="0">
                <a:solidFill>
                  <a:srgbClr val="362FEC"/>
                </a:solidFill>
                <a:latin typeface="Calibri"/>
              </a:rPr>
              <a:t>One local rule per operation</a:t>
            </a:r>
            <a:r>
              <a:rPr sz="2000" b="0" i="0">
                <a:solidFill>
                  <a:srgbClr val="000000"/>
                </a:solidFill>
                <a:latin typeface="Calibri"/>
              </a:rPr>
              <a:t>: a vector–Jacobian product. Visit the nodes in reverse topological order.</a:t>
            </a:r>
          </a:p>
          <a:p>
            <a:pPr algn="l">
              <a:spcAft>
                <a:spcPts val="1600"/>
              </a:spcAft>
            </a:pPr>
            <a:r>
              <a:rPr sz="2000" b="1" i="0">
                <a:solidFill>
                  <a:srgbClr val="00B050"/>
                </a:solidFill>
                <a:latin typeface="Calibri"/>
              </a:rPr>
              <a:t>A value used twice</a:t>
            </a:r>
            <a:r>
              <a:rPr sz="2000" b="0" i="0">
                <a:solidFill>
                  <a:srgbClr val="000000"/>
                </a:solidFill>
                <a:latin typeface="Calibri"/>
              </a:rPr>
              <a:t>: the contributions from its uses add: the multivariable chain rule.</a:t>
            </a:r>
          </a:p>
          <a:p>
            <a:pPr algn="l">
              <a:spcAft>
                <a:spcPts val="1600"/>
              </a:spcAft>
            </a:pPr>
            <a:r>
              <a:rPr sz="2000" b="1" i="0">
                <a:solidFill>
                  <a:srgbClr val="FF0000"/>
                </a:solidFill>
                <a:latin typeface="Calibri"/>
              </a:rPr>
              <a:t>Broadcasting is reuse</a:t>
            </a:r>
            <a:r>
              <a:rPr sz="2000" b="0" i="0">
                <a:solidFill>
                  <a:srgbClr val="000000"/>
                </a:solidFill>
                <a:latin typeface="Calibri"/>
              </a:rPr>
              <a:t>: b is added to every row, so its gradient sums the rows. Every gradient has the shape of its tensor.</a:t>
            </a:r>
          </a:p>
        </p:txBody>
      </p:sp>
      <p:grpSp>
        <p:nvGrpSpPr>
          <p:cNvPr id="5" name="picture 1"/>
          <p:cNvGrpSpPr/>
          <p:nvPr/>
        </p:nvGrpSpPr>
        <p:grpSpPr>
          <a:xfrm>
            <a:off x="6812280" y="1371600"/>
            <a:ext cx="5120640" cy="4069080"/>
            <a:chOff x="6812280" y="1371600"/>
            <a:chExt cx="5120640" cy="4069080"/>
          </a:xfrm>
        </p:grpSpPr>
        <p:pic>
          <p:nvPicPr>
            <p:cNvPr id="6" name="Picture 5" descr="eq_vjp.png"/>
            <p:cNvPicPr>
              <a:picLocks noChangeAspect="1"/>
            </p:cNvPicPr>
            <p:nvPr/>
          </p:nvPicPr>
          <p:blipFill>
            <a:blip r:embed="rId2"/>
            <a:stretch>
              <a:fillRect/>
            </a:stretch>
          </p:blipFill>
          <p:spPr>
            <a:xfrm>
              <a:off x="7543800" y="1371600"/>
              <a:ext cx="3657600" cy="765039"/>
            </a:xfrm>
            <a:prstGeom prst="rect">
              <a:avLst/>
            </a:prstGeom>
          </p:spPr>
        </p:pic>
        <p:pic>
          <p:nvPicPr>
            <p:cNvPr id="7" name="Picture 6" descr="fx_graph.png"/>
            <p:cNvPicPr>
              <a:picLocks noChangeAspect="1"/>
            </p:cNvPicPr>
            <p:nvPr/>
          </p:nvPicPr>
          <p:blipFill>
            <a:blip r:embed="rId3"/>
            <a:stretch>
              <a:fillRect/>
            </a:stretch>
          </p:blipFill>
          <p:spPr>
            <a:xfrm>
              <a:off x="6812280" y="2331720"/>
              <a:ext cx="5120640" cy="2538026"/>
            </a:xfrm>
            <a:prstGeom prst="rect">
              <a:avLst/>
            </a:prstGeom>
          </p:spPr>
        </p:pic>
        <p:sp>
          <p:nvSpPr>
            <p:cNvPr id="8" name="description"/>
            <p:cNvSpPr txBox="1"/>
            <p:nvPr/>
          </p:nvSpPr>
          <p:spPr>
            <a:xfrm>
              <a:off x="6812280" y="4983480"/>
              <a:ext cx="5120640" cy="457200"/>
            </a:xfrm>
            <a:prstGeom prst="rect">
              <a:avLst/>
            </a:prstGeom>
            <a:noFill/>
          </p:spPr>
          <p:txBody>
            <a:bodyPr wrap="square" anchor="t" lIns="0" rIns="0" tIns="0" bIns="0">
              <a:spAutoFit/>
            </a:bodyPr>
            <a:lstStyle/>
            <a:p>
              <a:pPr algn="l"/>
              <a:r>
                <a:rPr sz="1400" b="0" i="0">
                  <a:solidFill>
                    <a:srgbClr val="595959"/>
                  </a:solidFill>
                  <a:latin typeface="Calibri"/>
                </a:rPr>
                <a:t>Forward values flow right; gradients flow left, one local rule per node.</a:t>
              </a:r>
            </a:p>
          </p:txBody>
        </p:sp>
      </p:grpSp>
      <p:grpSp>
        <p:nvGrpSpPr>
          <p:cNvPr id="9" name="picture 2"/>
          <p:cNvGrpSpPr/>
          <p:nvPr/>
        </p:nvGrpSpPr>
        <p:grpSpPr>
          <a:xfrm>
            <a:off x="6812280" y="1371600"/>
            <a:ext cx="5120640" cy="3862131"/>
            <a:chOff x="6812280" y="1371600"/>
            <a:chExt cx="5120640" cy="3862131"/>
          </a:xfrm>
        </p:grpSpPr>
        <p:pic>
          <p:nvPicPr>
            <p:cNvPr id="10" name="Picture 9" descr="eq_fxy.png"/>
            <p:cNvPicPr>
              <a:picLocks noChangeAspect="1"/>
            </p:cNvPicPr>
            <p:nvPr/>
          </p:nvPicPr>
          <p:blipFill>
            <a:blip r:embed="rId4"/>
            <a:stretch>
              <a:fillRect/>
            </a:stretch>
          </p:blipFill>
          <p:spPr>
            <a:xfrm>
              <a:off x="7818120" y="1371600"/>
              <a:ext cx="3108960" cy="382106"/>
            </a:xfrm>
            <a:prstGeom prst="rect">
              <a:avLst/>
            </a:prstGeom>
          </p:spPr>
        </p:pic>
        <p:pic>
          <p:nvPicPr>
            <p:cNvPr id="11" name="Picture 10" descr="fx_graph_twice.png"/>
            <p:cNvPicPr>
              <a:picLocks noChangeAspect="1"/>
            </p:cNvPicPr>
            <p:nvPr/>
          </p:nvPicPr>
          <p:blipFill>
            <a:blip r:embed="rId5"/>
            <a:stretch>
              <a:fillRect/>
            </a:stretch>
          </p:blipFill>
          <p:spPr>
            <a:xfrm>
              <a:off x="6812280" y="1965960"/>
              <a:ext cx="5120640" cy="2555175"/>
            </a:xfrm>
            <a:prstGeom prst="rect">
              <a:avLst/>
            </a:prstGeom>
          </p:spPr>
        </p:pic>
        <p:pic>
          <p:nvPicPr>
            <p:cNvPr id="12" name="Picture 11" descr="eq_twice.png"/>
            <p:cNvPicPr>
              <a:picLocks noChangeAspect="1"/>
            </p:cNvPicPr>
            <p:nvPr/>
          </p:nvPicPr>
          <p:blipFill>
            <a:blip r:embed="rId6"/>
            <a:stretch>
              <a:fillRect/>
            </a:stretch>
          </p:blipFill>
          <p:spPr>
            <a:xfrm>
              <a:off x="6995160" y="4663440"/>
              <a:ext cx="4754880" cy="570291"/>
            </a:xfrm>
            <a:prstGeom prst="rect">
              <a:avLst/>
            </a:prstGeom>
          </p:spPr>
        </p:pic>
      </p:grpSp>
      <p:grpSp>
        <p:nvGrpSpPr>
          <p:cNvPr id="13" name="picture 3"/>
          <p:cNvGrpSpPr/>
          <p:nvPr/>
        </p:nvGrpSpPr>
        <p:grpSpPr>
          <a:xfrm>
            <a:off x="6812280" y="1371600"/>
            <a:ext cx="5120640" cy="3337560"/>
            <a:chOff x="6812280" y="1371600"/>
            <a:chExt cx="5120640" cy="3337560"/>
          </a:xfrm>
        </p:grpSpPr>
        <p:pic>
          <p:nvPicPr>
            <p:cNvPr id="14" name="Picture 13" descr="broadcast.png"/>
            <p:cNvPicPr>
              <a:picLocks noChangeAspect="1"/>
            </p:cNvPicPr>
            <p:nvPr/>
          </p:nvPicPr>
          <p:blipFill>
            <a:blip r:embed="rId7"/>
            <a:stretch>
              <a:fillRect/>
            </a:stretch>
          </p:blipFill>
          <p:spPr>
            <a:xfrm>
              <a:off x="6812280" y="1371600"/>
              <a:ext cx="5120640" cy="1915970"/>
            </a:xfrm>
            <a:prstGeom prst="rect">
              <a:avLst/>
            </a:prstGeom>
          </p:spPr>
        </p:pic>
        <p:pic>
          <p:nvPicPr>
            <p:cNvPr id="15" name="Picture 14" descr="eq_broadcast.png"/>
            <p:cNvPicPr>
              <a:picLocks noChangeAspect="1"/>
            </p:cNvPicPr>
            <p:nvPr/>
          </p:nvPicPr>
          <p:blipFill>
            <a:blip r:embed="rId8"/>
            <a:stretch>
              <a:fillRect/>
            </a:stretch>
          </p:blipFill>
          <p:spPr>
            <a:xfrm>
              <a:off x="6949440" y="3520440"/>
              <a:ext cx="4846320" cy="657596"/>
            </a:xfrm>
            <a:prstGeom prst="rect">
              <a:avLst/>
            </a:prstGeom>
          </p:spPr>
        </p:pic>
        <p:sp>
          <p:nvSpPr>
            <p:cNvPr id="16" name="description"/>
            <p:cNvSpPr txBox="1"/>
            <p:nvPr/>
          </p:nvSpPr>
          <p:spPr>
            <a:xfrm>
              <a:off x="6812280" y="4251960"/>
              <a:ext cx="5120640" cy="457200"/>
            </a:xfrm>
            <a:prstGeom prst="rect">
              <a:avLst/>
            </a:prstGeom>
            <a:noFill/>
          </p:spPr>
          <p:txBody>
            <a:bodyPr wrap="square" anchor="t" lIns="0" rIns="0" tIns="0" bIns="0">
              <a:spAutoFit/>
            </a:bodyPr>
            <a:lstStyle/>
            <a:p>
              <a:pPr algn="l"/>
              <a:r>
                <a:rPr sz="1400" b="0" i="0">
                  <a:solidFill>
                    <a:srgbClr val="595959"/>
                  </a:solidFill>
                  <a:latin typeface="Calibri"/>
                </a:rPr>
                <a:t>A useful check when deriving rules by hand: the gradient has the shape of the tensor it belongs to.</a:t>
              </a:r>
            </a:p>
          </p:txBody>
        </p:sp>
      </p:grpSp>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4">
                                            <p:txEl>
                                              <p:pRg st="0" end="0"/>
                                            </p:txEl>
                                          </p:spTgt>
                                        </p:tgtEl>
                                        <p:attrNameLst>
                                          <p:attrName>style.visibility</p:attrName>
                                        </p:attrNameLst>
                                      </p:cBhvr>
                                      <p:to>
                                        <p:strVal val="visible"/>
                                      </p:to>
                                    </p:set>
                                  </p:childTnLst>
                                </p:cTn>
                              </p:par>
                              <p:par>
                                <p:cTn id="7" presetID="1" presetClass="entr" presetSubtype="0" fill="hold" grpId="0" nodeType="withEffect">
                                  <p:stCondLst>
                                    <p:cond delay="0"/>
                                  </p:stCondLst>
                                  <p:childTnLst>
                                    <p:set>
                                      <p:cBhvr>
                                        <p:cTn id="8" dur="1" fill="hold">
                                          <p:stCondLst>
                                            <p:cond delay="0"/>
                                          </p:stCondLst>
                                        </p:cTn>
                                        <p:tgtEl>
                                          <p:spTgt spid="5"/>
                                        </p:tgtEl>
                                        <p:attrNameLst>
                                          <p:attrName>style.visibility</p:attrName>
                                        </p:attrNameLst>
                                      </p:cBhvr>
                                      <p:to>
                                        <p:strVal val="visible"/>
                                      </p:to>
                                    </p:set>
                                  </p:childTnLst>
                                </p:cTn>
                              </p:par>
                            </p:childTnLst>
                          </p:cTn>
                        </p:par>
                      </p:childTnLst>
                    </p:cTn>
                  </p:par>
                  <p:par>
                    <p:cTn id="9" fill="hold">
                      <p:stCondLst>
                        <p:cond delay="indefinite"/>
                      </p:stCondLst>
                      <p:childTnLst>
                        <p:par>
                          <p:cTn id="10" fill="hold">
                            <p:stCondLst>
                              <p:cond delay="0"/>
                            </p:stCondLst>
                            <p:childTnLst>
                              <p:par>
                                <p:cTn id="11" presetID="1" presetClass="entr" presetSubtype="0" fill="hold" grpId="0" nodeType="clickEffect">
                                  <p:stCondLst>
                                    <p:cond delay="0"/>
                                  </p:stCondLst>
                                  <p:childTnLst>
                                    <p:set>
                                      <p:cBhvr>
                                        <p:cTn id="12" dur="1" fill="hold">
                                          <p:stCondLst>
                                            <p:cond delay="0"/>
                                          </p:stCondLst>
                                        </p:cTn>
                                        <p:tgtEl>
                                          <p:spTgt spid="4">
                                            <p:txEl>
                                              <p:pRg st="1" end="1"/>
                                            </p:txEl>
                                          </p:spTgt>
                                        </p:tgtEl>
                                        <p:attrNameLst>
                                          <p:attrName>style.visibility</p:attrName>
                                        </p:attrNameLst>
                                      </p:cBhvr>
                                      <p:to>
                                        <p:strVal val="visible"/>
                                      </p:to>
                                    </p:set>
                                  </p:childTnLst>
                                </p:cTn>
                              </p:par>
                              <p:par>
                                <p:cTn id="13" presetID="1" presetClass="entr" presetSubtype="0" fill="hold" grpId="0" nodeType="withEffect">
                                  <p:stCondLst>
                                    <p:cond delay="0"/>
                                  </p:stCondLst>
                                  <p:childTnLst>
                                    <p:set>
                                      <p:cBhvr>
                                        <p:cTn id="14" dur="1" fill="hold">
                                          <p:stCondLst>
                                            <p:cond delay="0"/>
                                          </p:stCondLst>
                                        </p:cTn>
                                        <p:tgtEl>
                                          <p:spTgt spid="9"/>
                                        </p:tgtEl>
                                        <p:attrNameLst>
                                          <p:attrName>style.visibility</p:attrName>
                                        </p:attrNameLst>
                                      </p:cBhvr>
                                      <p:to>
                                        <p:strVal val="visible"/>
                                      </p:to>
                                    </p:set>
                                  </p:childTnLst>
                                </p:cTn>
                              </p:par>
                              <p:par>
                                <p:cTn id="15" presetID="1" presetClass="exit" presetSubtype="0" fill="hold" grpId="1" nodeType="withEffect">
                                  <p:stCondLst>
                                    <p:cond delay="0"/>
                                  </p:stCondLst>
                                  <p:childTnLst>
                                    <p:set>
                                      <p:cBhvr>
                                        <p:cTn id="16" dur="1" fill="hold">
                                          <p:stCondLst>
                                            <p:cond delay="0"/>
                                          </p:stCondLst>
                                        </p:cTn>
                                        <p:tgtEl>
                                          <p:spTgt spid="5"/>
                                        </p:tgtEl>
                                        <p:attrNameLst>
                                          <p:attrName>style.visibility</p:attrName>
                                        </p:attrNameLst>
                                      </p:cBhvr>
                                      <p:to>
                                        <p:strVal val="hidden"/>
                                      </p:to>
                                    </p:set>
                                  </p:childTnLst>
                                </p:cTn>
                              </p:par>
                            </p:childTnLst>
                          </p:cTn>
                        </p:par>
                      </p:childTnLst>
                    </p:cTn>
                  </p:par>
                  <p:par>
                    <p:cTn id="17" fill="hold">
                      <p:stCondLst>
                        <p:cond delay="indefinite"/>
                      </p:stCondLst>
                      <p:childTnLst>
                        <p:par>
                          <p:cTn id="18" fill="hold">
                            <p:stCondLst>
                              <p:cond delay="0"/>
                            </p:stCondLst>
                            <p:childTnLst>
                              <p:par>
                                <p:cTn id="19" presetID="1" presetClass="entr" presetSubtype="0" fill="hold" grpId="0" nodeType="clickEffect">
                                  <p:stCondLst>
                                    <p:cond delay="0"/>
                                  </p:stCondLst>
                                  <p:childTnLst>
                                    <p:set>
                                      <p:cBhvr>
                                        <p:cTn id="20" dur="1" fill="hold">
                                          <p:stCondLst>
                                            <p:cond delay="0"/>
                                          </p:stCondLst>
                                        </p:cTn>
                                        <p:tgtEl>
                                          <p:spTgt spid="4">
                                            <p:txEl>
                                              <p:pRg st="2" end="2"/>
                                            </p:txEl>
                                          </p:spTgt>
                                        </p:tgtEl>
                                        <p:attrNameLst>
                                          <p:attrName>style.visibility</p:attrName>
                                        </p:attrNameLst>
                                      </p:cBhvr>
                                      <p:to>
                                        <p:strVal val="visible"/>
                                      </p:to>
                                    </p:set>
                                  </p:childTnLst>
                                </p:cTn>
                              </p:par>
                              <p:par>
                                <p:cTn id="21" presetID="1" presetClass="entr" presetSubtype="0" fill="hold" grpId="0" nodeType="withEffect">
                                  <p:stCondLst>
                                    <p:cond delay="0"/>
                                  </p:stCondLst>
                                  <p:childTnLst>
                                    <p:set>
                                      <p:cBhvr>
                                        <p:cTn id="22" dur="1" fill="hold">
                                          <p:stCondLst>
                                            <p:cond delay="0"/>
                                          </p:stCondLst>
                                        </p:cTn>
                                        <p:tgtEl>
                                          <p:spTgt spid="13"/>
                                        </p:tgtEl>
                                        <p:attrNameLst>
                                          <p:attrName>style.visibility</p:attrName>
                                        </p:attrNameLst>
                                      </p:cBhvr>
                                      <p:to>
                                        <p:strVal val="visible"/>
                                      </p:to>
                                    </p:set>
                                  </p:childTnLst>
                                </p:cTn>
                              </p:par>
                              <p:par>
                                <p:cTn id="23" presetID="1" presetClass="exit" presetSubtype="0" fill="hold" grpId="1" nodeType="withEffect">
                                  <p:stCondLst>
                                    <p:cond delay="0"/>
                                  </p:stCondLst>
                                  <p:childTnLst>
                                    <p:set>
                                      <p:cBhvr>
                                        <p:cTn id="24" dur="1" fill="hold">
                                          <p:stCondLst>
                                            <p:cond delay="0"/>
                                          </p:stCondLst>
                                        </p:cTn>
                                        <p:tgtEl>
                                          <p:spTgt spid="9"/>
                                        </p:tgtEl>
                                        <p:attrNameLst>
                                          <p:attrName>style.visibility</p:attrName>
                                        </p:attrNameLst>
                                      </p:cBhvr>
                                      <p:to>
                                        <p:strVal val="hidden"/>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4" grpId="0" build="p"/>
    </p:bldLst>
  </p:timing>
</p:sld>
</file>

<file path=ppt/slides/slide6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b0_2">
            <a:extLst>
              <a:ext uri="{FF2B5EF4-FFF2-40B4-BE49-F238E27FC236}">
                <a16:creationId xmlns:a16="http://schemas.microsoft.com/office/drawing/2014/main" id="{33DE8782-7F2B-1033-00F6-2A6652EE0E80}"/>
              </a:ext>
            </a:extLst>
          </p:cNvPr>
          <p:cNvSpPr txBox="1"/>
          <p:nvPr/>
        </p:nvSpPr>
        <p:spPr>
          <a:xfrm>
            <a:off x="0" y="148566"/>
            <a:ext cx="11680992" cy="548640"/>
          </a:xfrm>
          <a:prstGeom prst="rect">
            <a:avLst/>
          </a:prstGeom>
          <a:noFill/>
          <a:ln>
            <a:noFill/>
          </a:ln>
        </p:spPr>
        <p:txBody>
          <a:bodyPr wrap="square" rtlCol="0" anchor="ctr"/>
          <a:lstStyle/>
          <a:p>
            <a:r>
              <a:rPr lang="en-US" sz="3200" b="1" dirty="0">
                <a:solidFill>
                  <a:srgbClr val="FF0000"/>
                </a:solidFill>
                <a:latin typeface="Calibri" pitchFamily="34" charset="0"/>
                <a:ea typeface="Calibri" pitchFamily="34" charset="-122"/>
                <a:cs typeface="Calibri" pitchFamily="34" charset="-120"/>
              </a:rPr>
              <a:t>Hands-on</a:t>
            </a:r>
            <a:r>
              <a:rPr lang="en-US" sz="3200" b="1" dirty="0">
                <a:solidFill>
                  <a:srgbClr val="000000"/>
                </a:solidFill>
                <a:latin typeface="Calibri" pitchFamily="34" charset="0"/>
                <a:ea typeface="Calibri" pitchFamily="34" charset="-122"/>
                <a:cs typeface="Calibri" pitchFamily="34" charset="-120"/>
              </a:rPr>
              <a:t>: an </a:t>
            </a:r>
            <a:r>
              <a:rPr lang="en-US" sz="3200" b="1" dirty="0">
                <a:solidFill>
                  <a:srgbClr val="362FEC"/>
                </a:solidFill>
                <a:latin typeface="Calibri" pitchFamily="34" charset="0"/>
                <a:ea typeface="Calibri" pitchFamily="34" charset="-122"/>
                <a:cs typeface="Calibri" pitchFamily="34" charset="-120"/>
              </a:rPr>
              <a:t>Autograd</a:t>
            </a:r>
            <a:r>
              <a:rPr lang="en-US" sz="3200" b="1" dirty="0">
                <a:solidFill>
                  <a:srgbClr val="000000"/>
                </a:solidFill>
                <a:latin typeface="Calibri" pitchFamily="34" charset="0"/>
                <a:ea typeface="Calibri" pitchFamily="34" charset="-122"/>
                <a:cs typeface="Calibri" pitchFamily="34" charset="-120"/>
              </a:rPr>
              <a:t> Engine</a:t>
            </a:r>
            <a:endParaRPr lang="en-US" sz="3200" dirty="0">
              <a:solidFill>
                <a:srgbClr val="362FEC"/>
              </a:solidFill>
            </a:endParaRPr>
          </a:p>
        </p:txBody>
      </p:sp>
      <p:sp>
        <p:nvSpPr>
          <p:cNvPr id="3" name="subheading">
            <a:extLst>
              <a:ext uri="{FF2B5EF4-FFF2-40B4-BE49-F238E27FC236}">
                <a16:creationId xmlns:a16="http://schemas.microsoft.com/office/drawing/2014/main" id="{5CB8A4AA-40B1-94AE-8EEE-080599481F78}"/>
              </a:ext>
            </a:extLst>
          </p:cNvPr>
          <p:cNvSpPr txBox="1"/>
          <p:nvPr/>
        </p:nvSpPr>
        <p:spPr>
          <a:xfrm>
            <a:off x="292608" y="868680"/>
            <a:ext cx="11430000" cy="411480"/>
          </a:xfrm>
          <a:prstGeom prst="rect">
            <a:avLst/>
          </a:prstGeom>
          <a:noFill/>
          <a:ln>
            <a:noFill/>
          </a:ln>
        </p:spPr>
        <p:txBody>
          <a:bodyPr wrap="square" lIns="0" tIns="0" rIns="0" bIns="0" rtlCol="0" anchor="ctr"/>
          <a:lstStyle/>
          <a:p>
            <a:pPr marL="0" indent="0">
              <a:buNone/>
            </a:pPr>
            <a:r>
              <a:rPr lang="en-US" sz="2000" b="1" dirty="0">
                <a:solidFill>
                  <a:srgbClr val="362FEC"/>
                </a:solidFill>
                <a:latin typeface="Calibri" panose="020F0502020204030204" pitchFamily="34" charset="0"/>
                <a:cs typeface="Calibri" panose="020F0502020204030204" pitchFamily="34" charset="0"/>
              </a:rPr>
              <a:t>Checking gradients</a:t>
            </a:r>
          </a:p>
        </p:txBody>
      </p:sp>
      <p:sp>
        <p:nvSpPr>
          <p:cNvPr id="4" name="points"/>
          <p:cNvSpPr txBox="1"/>
          <p:nvPr/>
        </p:nvSpPr>
        <p:spPr>
          <a:xfrm>
            <a:off x="384048" y="1417320"/>
            <a:ext cx="6126480" cy="5166360"/>
          </a:xfrm>
          <a:prstGeom prst="rect">
            <a:avLst/>
          </a:prstGeom>
          <a:noFill/>
        </p:spPr>
        <p:txBody>
          <a:bodyPr wrap="square" lIns="0" rIns="0" tIns="0" bIns="0">
            <a:spAutoFit/>
          </a:bodyPr>
          <a:lstStyle/>
          <a:p>
            <a:pPr algn="l">
              <a:spcAft>
                <a:spcPts val="1600"/>
              </a:spcAft>
            </a:pPr>
            <a:r>
              <a:rPr sz="2000" b="1" i="0">
                <a:solidFill>
                  <a:srgbClr val="FF0000"/>
                </a:solidFill>
                <a:latin typeface="Calibri"/>
              </a:rPr>
              <a:t>A wrong rule does not crash</a:t>
            </a:r>
            <a:r>
              <a:rPr sz="2000" b="0" i="0">
                <a:solidFill>
                  <a:srgbClr val="000000"/>
                </a:solidFill>
                <a:latin typeface="Calibri"/>
              </a:rPr>
              <a:t>: it silently gives a wrong gradient, and training quietly does worse. Check every rule against the central difference.</a:t>
            </a:r>
          </a:p>
          <a:p>
            <a:pPr algn="l">
              <a:spcAft>
                <a:spcPts val="1600"/>
              </a:spcAft>
            </a:pPr>
            <a:r>
              <a:rPr sz="2000" b="1" i="0">
                <a:solidFill>
                  <a:srgbClr val="00B050"/>
                </a:solidFill>
                <a:latin typeface="Calibri"/>
              </a:rPr>
              <a:t>Two errors</a:t>
            </a:r>
            <a:r>
              <a:rPr sz="2000" b="0" i="0">
                <a:solidFill>
                  <a:srgbClr val="000000"/>
                </a:solidFill>
                <a:latin typeface="Calibri"/>
              </a:rPr>
              <a:t>: truncation of order h², rounding of order ε/h: the best h is near 10⁻⁵ in double precision.</a:t>
            </a:r>
          </a:p>
          <a:p>
            <a:pPr algn="l">
              <a:spcAft>
                <a:spcPts val="1600"/>
              </a:spcAft>
            </a:pPr>
            <a:r>
              <a:rPr sz="2000" b="1" i="0">
                <a:solidFill>
                  <a:srgbClr val="362FEC"/>
                </a:solidFill>
                <a:latin typeface="Calibri"/>
              </a:rPr>
              <a:t>And against PyTorch</a:t>
            </a:r>
            <a:r>
              <a:rPr sz="2000" b="0" i="0">
                <a:solidFill>
                  <a:srgbClr val="000000"/>
                </a:solidFill>
                <a:latin typeface="Calibri"/>
              </a:rPr>
              <a:t>: the engine's tests compare its gradients with PyTorch's.</a:t>
            </a:r>
          </a:p>
        </p:txBody>
      </p:sp>
      <p:grpSp>
        <p:nvGrpSpPr>
          <p:cNvPr id="5" name="picture 1"/>
          <p:cNvGrpSpPr/>
          <p:nvPr/>
        </p:nvGrpSpPr>
        <p:grpSpPr>
          <a:xfrm>
            <a:off x="6812280" y="1417320"/>
            <a:ext cx="5120640" cy="2743200"/>
            <a:chOff x="6812280" y="1417320"/>
            <a:chExt cx="5120640" cy="2743200"/>
          </a:xfrm>
        </p:grpSpPr>
        <p:pic>
          <p:nvPicPr>
            <p:cNvPr id="6" name="Picture 5" descr="eq_central.png"/>
            <p:cNvPicPr>
              <a:picLocks noChangeAspect="1"/>
            </p:cNvPicPr>
            <p:nvPr/>
          </p:nvPicPr>
          <p:blipFill>
            <a:blip r:embed="rId2"/>
            <a:stretch>
              <a:fillRect/>
            </a:stretch>
          </p:blipFill>
          <p:spPr>
            <a:xfrm>
              <a:off x="7360920" y="1417320"/>
              <a:ext cx="4023360" cy="708821"/>
            </a:xfrm>
            <a:prstGeom prst="rect">
              <a:avLst/>
            </a:prstGeom>
          </p:spPr>
        </p:pic>
        <p:sp>
          <p:nvSpPr>
            <p:cNvPr id="7" name="Rounded Rectangle 6"/>
            <p:cNvSpPr/>
            <p:nvPr/>
          </p:nvSpPr>
          <p:spPr>
            <a:xfrm>
              <a:off x="6812280" y="2514600"/>
              <a:ext cx="5120640" cy="914400"/>
            </a:xfrm>
            <a:prstGeom prst="roundRect">
              <a:avLst>
                <a:gd name="adj" fmla="val 6000"/>
              </a:avLst>
            </a:prstGeom>
            <a:solidFill>
              <a:srgbClr val="F4F4F4"/>
            </a:solidFill>
            <a:ln>
              <a:noFill/>
            </a:ln>
          </p:spPr>
          <p:style>
            <a:lnRef idx="1">
              <a:schemeClr val="accent1"/>
            </a:lnRef>
            <a:fillRef idx="3">
              <a:schemeClr val="accent1"/>
            </a:fillRef>
            <a:effectRef idx="2">
              <a:schemeClr val="accent1"/>
            </a:effectRef>
            <a:fontRef idx="minor">
              <a:schemeClr val="lt1"/>
            </a:fontRef>
          </p:style>
          <p:txBody>
            <a:bodyPr rtlCol="0" anchor="ctr" wrap="square" lIns="137160" rIns="137160" tIns="54864" bIns="54864"/>
            <a:lstStyle/>
            <a:p>
              <a:pPr algn="l"/>
              <a:r>
                <a:rPr sz="1200" b="0" i="0">
                  <a:solidFill>
                    <a:srgbClr val="595959"/>
                  </a:solidFill>
                  <a:latin typeface="Consolas"/>
                </a:rPr>
                <a:t>dL/db0: finite difference 0.40444980, autograd 0.40444980</a:t>
              </a:r>
            </a:p>
            <a:p>
              <a:pPr algn="l"/>
              <a:r>
                <a:rPr sz="1200" b="0" i="0">
                  <a:solidFill>
                    <a:srgbClr val="595959"/>
                  </a:solidFill>
                  <a:latin typeface="Consolas"/>
                </a:rPr>
                <a:t>gradcheck over every entry of W and b:</a:t>
              </a:r>
            </a:p>
            <a:p>
              <a:pPr algn="l"/>
              <a:r>
                <a:rPr sz="1200" b="0" i="0">
                  <a:solidFill>
                    <a:srgbClr val="595959"/>
                  </a:solidFill>
                  <a:latin typeface="Consolas"/>
                </a:rPr>
                <a:t>largest relative error 4.3e-10</a:t>
              </a:r>
            </a:p>
          </p:txBody>
        </p:sp>
        <p:sp>
          <p:nvSpPr>
            <p:cNvPr id="8" name="description"/>
            <p:cNvSpPr txBox="1"/>
            <p:nvPr/>
          </p:nvSpPr>
          <p:spPr>
            <a:xfrm>
              <a:off x="6812280" y="3611880"/>
              <a:ext cx="5120640" cy="548640"/>
            </a:xfrm>
            <a:prstGeom prst="rect">
              <a:avLst/>
            </a:prstGeom>
            <a:noFill/>
          </p:spPr>
          <p:txBody>
            <a:bodyPr wrap="square" anchor="t" lIns="0" rIns="0" tIns="0" bIns="0">
              <a:spAutoFit/>
            </a:bodyPr>
            <a:lstStyle/>
            <a:p>
              <a:pPr algn="l"/>
              <a:r>
                <a:rPr sz="1400" b="0" i="0">
                  <a:solidFill>
                    <a:srgbClr val="595959"/>
                  </a:solidFill>
                  <a:latin typeface="Calibri"/>
                </a:rPr>
                <a:t>Part A, section 4: predict first, then check. No calculus is needed for this independent check.</a:t>
              </a:r>
            </a:p>
          </p:txBody>
        </p:sp>
      </p:grpSp>
      <p:grpSp>
        <p:nvGrpSpPr>
          <p:cNvPr id="9" name="picture 2"/>
          <p:cNvGrpSpPr/>
          <p:nvPr/>
        </p:nvGrpSpPr>
        <p:grpSpPr>
          <a:xfrm>
            <a:off x="6812280" y="1371600"/>
            <a:ext cx="5120640" cy="4224528"/>
            <a:chOff x="6812280" y="1371600"/>
            <a:chExt cx="5120640" cy="4224528"/>
          </a:xfrm>
        </p:grpSpPr>
        <p:pic>
          <p:nvPicPr>
            <p:cNvPr id="10" name="Picture 9" descr="fd_error.png"/>
            <p:cNvPicPr>
              <a:picLocks noChangeAspect="1"/>
            </p:cNvPicPr>
            <p:nvPr/>
          </p:nvPicPr>
          <p:blipFill>
            <a:blip r:embed="rId3"/>
            <a:stretch>
              <a:fillRect/>
            </a:stretch>
          </p:blipFill>
          <p:spPr>
            <a:xfrm>
              <a:off x="6940829" y="1371600"/>
              <a:ext cx="4863540" cy="3291840"/>
            </a:xfrm>
            <a:prstGeom prst="rect">
              <a:avLst/>
            </a:prstGeom>
          </p:spPr>
        </p:pic>
        <p:sp>
          <p:nvSpPr>
            <p:cNvPr id="11" name="description"/>
            <p:cNvSpPr txBox="1"/>
            <p:nvPr/>
          </p:nvSpPr>
          <p:spPr>
            <a:xfrm>
              <a:off x="6812280" y="4773168"/>
              <a:ext cx="5120640" cy="822960"/>
            </a:xfrm>
            <a:prstGeom prst="rect">
              <a:avLst/>
            </a:prstGeom>
            <a:noFill/>
          </p:spPr>
          <p:txBody>
            <a:bodyPr wrap="square" anchor="t" lIns="0" rIns="0" tIns="0" bIns="0">
              <a:spAutoFit/>
            </a:bodyPr>
            <a:lstStyle/>
            <a:p>
              <a:pPr algn="l"/>
              <a:r>
                <a:rPr sz="1400" b="0" i="0">
                  <a:solidFill>
                    <a:srgbClr val="595959"/>
                  </a:solidFill>
                  <a:latin typeface="Calibri"/>
                </a:rPr>
                <a:t>Error of the central difference against the step size, for a small network.</a:t>
              </a:r>
            </a:p>
          </p:txBody>
        </p:sp>
      </p:grpSp>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4">
                                            <p:txEl>
                                              <p:pRg st="0" end="0"/>
                                            </p:txEl>
                                          </p:spTgt>
                                        </p:tgtEl>
                                        <p:attrNameLst>
                                          <p:attrName>style.visibility</p:attrName>
                                        </p:attrNameLst>
                                      </p:cBhvr>
                                      <p:to>
                                        <p:strVal val="visible"/>
                                      </p:to>
                                    </p:set>
                                  </p:childTnLst>
                                </p:cTn>
                              </p:par>
                              <p:par>
                                <p:cTn id="7" presetID="1" presetClass="entr" presetSubtype="0" fill="hold" grpId="0" nodeType="withEffect">
                                  <p:stCondLst>
                                    <p:cond delay="0"/>
                                  </p:stCondLst>
                                  <p:childTnLst>
                                    <p:set>
                                      <p:cBhvr>
                                        <p:cTn id="8" dur="1" fill="hold">
                                          <p:stCondLst>
                                            <p:cond delay="0"/>
                                          </p:stCondLst>
                                        </p:cTn>
                                        <p:tgtEl>
                                          <p:spTgt spid="5"/>
                                        </p:tgtEl>
                                        <p:attrNameLst>
                                          <p:attrName>style.visibility</p:attrName>
                                        </p:attrNameLst>
                                      </p:cBhvr>
                                      <p:to>
                                        <p:strVal val="visible"/>
                                      </p:to>
                                    </p:set>
                                  </p:childTnLst>
                                </p:cTn>
                              </p:par>
                            </p:childTnLst>
                          </p:cTn>
                        </p:par>
                      </p:childTnLst>
                    </p:cTn>
                  </p:par>
                  <p:par>
                    <p:cTn id="9" fill="hold">
                      <p:stCondLst>
                        <p:cond delay="indefinite"/>
                      </p:stCondLst>
                      <p:childTnLst>
                        <p:par>
                          <p:cTn id="10" fill="hold">
                            <p:stCondLst>
                              <p:cond delay="0"/>
                            </p:stCondLst>
                            <p:childTnLst>
                              <p:par>
                                <p:cTn id="11" presetID="1" presetClass="entr" presetSubtype="0" fill="hold" grpId="0" nodeType="clickEffect">
                                  <p:stCondLst>
                                    <p:cond delay="0"/>
                                  </p:stCondLst>
                                  <p:childTnLst>
                                    <p:set>
                                      <p:cBhvr>
                                        <p:cTn id="12" dur="1" fill="hold">
                                          <p:stCondLst>
                                            <p:cond delay="0"/>
                                          </p:stCondLst>
                                        </p:cTn>
                                        <p:tgtEl>
                                          <p:spTgt spid="4">
                                            <p:txEl>
                                              <p:pRg st="1" end="1"/>
                                            </p:txEl>
                                          </p:spTgt>
                                        </p:tgtEl>
                                        <p:attrNameLst>
                                          <p:attrName>style.visibility</p:attrName>
                                        </p:attrNameLst>
                                      </p:cBhvr>
                                      <p:to>
                                        <p:strVal val="visible"/>
                                      </p:to>
                                    </p:set>
                                  </p:childTnLst>
                                </p:cTn>
                              </p:par>
                              <p:par>
                                <p:cTn id="13" presetID="1" presetClass="entr" presetSubtype="0" fill="hold" grpId="0" nodeType="withEffect">
                                  <p:stCondLst>
                                    <p:cond delay="0"/>
                                  </p:stCondLst>
                                  <p:childTnLst>
                                    <p:set>
                                      <p:cBhvr>
                                        <p:cTn id="14" dur="1" fill="hold">
                                          <p:stCondLst>
                                            <p:cond delay="0"/>
                                          </p:stCondLst>
                                        </p:cTn>
                                        <p:tgtEl>
                                          <p:spTgt spid="9"/>
                                        </p:tgtEl>
                                        <p:attrNameLst>
                                          <p:attrName>style.visibility</p:attrName>
                                        </p:attrNameLst>
                                      </p:cBhvr>
                                      <p:to>
                                        <p:strVal val="visible"/>
                                      </p:to>
                                    </p:set>
                                  </p:childTnLst>
                                </p:cTn>
                              </p:par>
                              <p:par>
                                <p:cTn id="15" presetID="1" presetClass="exit" presetSubtype="0" fill="hold" grpId="1" nodeType="withEffect">
                                  <p:stCondLst>
                                    <p:cond delay="0"/>
                                  </p:stCondLst>
                                  <p:childTnLst>
                                    <p:set>
                                      <p:cBhvr>
                                        <p:cTn id="16" dur="1" fill="hold">
                                          <p:stCondLst>
                                            <p:cond delay="0"/>
                                          </p:stCondLst>
                                        </p:cTn>
                                        <p:tgtEl>
                                          <p:spTgt spid="5"/>
                                        </p:tgtEl>
                                        <p:attrNameLst>
                                          <p:attrName>style.visibility</p:attrName>
                                        </p:attrNameLst>
                                      </p:cBhvr>
                                      <p:to>
                                        <p:strVal val="hidden"/>
                                      </p:to>
                                    </p:set>
                                  </p:childTnLst>
                                </p:cTn>
                              </p:par>
                            </p:childTnLst>
                          </p:cTn>
                        </p:par>
                      </p:childTnLst>
                    </p:cTn>
                  </p:par>
                  <p:par>
                    <p:cTn id="17" fill="hold">
                      <p:stCondLst>
                        <p:cond delay="indefinite"/>
                      </p:stCondLst>
                      <p:childTnLst>
                        <p:par>
                          <p:cTn id="18" fill="hold">
                            <p:stCondLst>
                              <p:cond delay="0"/>
                            </p:stCondLst>
                            <p:childTnLst>
                              <p:par>
                                <p:cTn id="19" presetID="1" presetClass="entr" presetSubtype="0" fill="hold" grpId="0" nodeType="clickEffect">
                                  <p:stCondLst>
                                    <p:cond delay="0"/>
                                  </p:stCondLst>
                                  <p:childTnLst>
                                    <p:set>
                                      <p:cBhvr>
                                        <p:cTn id="20" dur="1" fill="hold">
                                          <p:stCondLst>
                                            <p:cond delay="0"/>
                                          </p:stCondLst>
                                        </p:cTn>
                                        <p:tgtEl>
                                          <p:spTgt spid="4">
                                            <p:txEl>
                                              <p:pRg st="2" end="2"/>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4" grpId="0" build="p"/>
    </p:bldLst>
  </p:timing>
</p:sld>
</file>

<file path=ppt/slides/slide6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b0_2">
            <a:extLst>
              <a:ext uri="{FF2B5EF4-FFF2-40B4-BE49-F238E27FC236}">
                <a16:creationId xmlns:a16="http://schemas.microsoft.com/office/drawing/2014/main" id="{33DE8782-7F2B-1033-00F6-2A6652EE0E80}"/>
              </a:ext>
            </a:extLst>
          </p:cNvPr>
          <p:cNvSpPr txBox="1"/>
          <p:nvPr/>
        </p:nvSpPr>
        <p:spPr>
          <a:xfrm>
            <a:off x="0" y="148566"/>
            <a:ext cx="11680992" cy="548640"/>
          </a:xfrm>
          <a:prstGeom prst="rect">
            <a:avLst/>
          </a:prstGeom>
          <a:noFill/>
          <a:ln>
            <a:noFill/>
          </a:ln>
        </p:spPr>
        <p:txBody>
          <a:bodyPr wrap="square" rtlCol="0" anchor="ctr"/>
          <a:lstStyle/>
          <a:p>
            <a:r>
              <a:rPr lang="en-US" sz="3200" b="1" dirty="0">
                <a:solidFill>
                  <a:srgbClr val="FF0000"/>
                </a:solidFill>
                <a:latin typeface="Calibri" pitchFamily="34" charset="0"/>
                <a:ea typeface="Calibri" pitchFamily="34" charset="-122"/>
                <a:cs typeface="Calibri" pitchFamily="34" charset="-120"/>
              </a:rPr>
              <a:t>Hands-on</a:t>
            </a:r>
            <a:r>
              <a:rPr lang="en-US" sz="3200" b="1" dirty="0">
                <a:solidFill>
                  <a:srgbClr val="000000"/>
                </a:solidFill>
                <a:latin typeface="Calibri" pitchFamily="34" charset="0"/>
                <a:ea typeface="Calibri" pitchFamily="34" charset="-122"/>
                <a:cs typeface="Calibri" pitchFamily="34" charset="-120"/>
              </a:rPr>
              <a:t>: an </a:t>
            </a:r>
            <a:r>
              <a:rPr lang="en-US" sz="3200" b="1" dirty="0">
                <a:solidFill>
                  <a:srgbClr val="362FEC"/>
                </a:solidFill>
                <a:latin typeface="Calibri" pitchFamily="34" charset="0"/>
                <a:ea typeface="Calibri" pitchFamily="34" charset="-122"/>
                <a:cs typeface="Calibri" pitchFamily="34" charset="-120"/>
              </a:rPr>
              <a:t>Autograd</a:t>
            </a:r>
            <a:r>
              <a:rPr lang="en-US" sz="3200" b="1" dirty="0">
                <a:solidFill>
                  <a:srgbClr val="000000"/>
                </a:solidFill>
                <a:latin typeface="Calibri" pitchFamily="34" charset="0"/>
                <a:ea typeface="Calibri" pitchFamily="34" charset="-122"/>
                <a:cs typeface="Calibri" pitchFamily="34" charset="-120"/>
              </a:rPr>
              <a:t> Engine</a:t>
            </a:r>
            <a:endParaRPr lang="en-US" sz="3200" dirty="0">
              <a:solidFill>
                <a:srgbClr val="362FEC"/>
              </a:solidFill>
            </a:endParaRPr>
          </a:p>
        </p:txBody>
      </p:sp>
      <p:sp>
        <p:nvSpPr>
          <p:cNvPr id="3" name="subheading">
            <a:extLst>
              <a:ext uri="{FF2B5EF4-FFF2-40B4-BE49-F238E27FC236}">
                <a16:creationId xmlns:a16="http://schemas.microsoft.com/office/drawing/2014/main" id="{5CB8A4AA-40B1-94AE-8EEE-080599481F78}"/>
              </a:ext>
            </a:extLst>
          </p:cNvPr>
          <p:cNvSpPr txBox="1"/>
          <p:nvPr/>
        </p:nvSpPr>
        <p:spPr>
          <a:xfrm>
            <a:off x="292608" y="868680"/>
            <a:ext cx="11430000" cy="411480"/>
          </a:xfrm>
          <a:prstGeom prst="rect">
            <a:avLst/>
          </a:prstGeom>
          <a:noFill/>
          <a:ln>
            <a:noFill/>
          </a:ln>
        </p:spPr>
        <p:txBody>
          <a:bodyPr wrap="square" lIns="0" tIns="0" rIns="0" bIns="0" rtlCol="0" anchor="ctr"/>
          <a:lstStyle/>
          <a:p>
            <a:pPr marL="0" indent="0">
              <a:buNone/>
            </a:pPr>
            <a:r>
              <a:rPr lang="en-US" sz="2000" b="1" dirty="0">
                <a:solidFill>
                  <a:srgbClr val="362FEC"/>
                </a:solidFill>
                <a:latin typeface="Calibri" panose="020F0502020204030204" pitchFamily="34" charset="0"/>
                <a:cs typeface="Calibri" panose="020F0502020204030204" pitchFamily="34" charset="0"/>
              </a:rPr>
              <a:t>Try it: the Week 1 notebook</a:t>
            </a:r>
          </a:p>
        </p:txBody>
      </p:sp>
      <p:sp>
        <p:nvSpPr>
          <p:cNvPr id="4" name="points"/>
          <p:cNvSpPr txBox="1"/>
          <p:nvPr/>
        </p:nvSpPr>
        <p:spPr>
          <a:xfrm>
            <a:off x="384048" y="1417320"/>
            <a:ext cx="6126480" cy="5166360"/>
          </a:xfrm>
          <a:prstGeom prst="rect">
            <a:avLst/>
          </a:prstGeom>
          <a:noFill/>
        </p:spPr>
        <p:txBody>
          <a:bodyPr wrap="square" lIns="0" rIns="0" tIns="0" bIns="0">
            <a:spAutoFit/>
          </a:bodyPr>
          <a:lstStyle/>
          <a:p>
            <a:pPr algn="l">
              <a:spcAft>
                <a:spcPts val="1400"/>
              </a:spcAft>
            </a:pPr>
            <a:r>
              <a:rPr sz="1900" b="1" i="0">
                <a:solidFill>
                  <a:srgbClr val="362FEC"/>
                </a:solidFill>
                <a:latin typeface="Calibri"/>
              </a:rPr>
              <a:t>Get the code</a:t>
            </a:r>
            <a:r>
              <a:rPr sz="1900" b="0" i="0">
                <a:solidFill>
                  <a:srgbClr val="000000"/>
                </a:solidFill>
                <a:latin typeface="Calibri"/>
              </a:rPr>
              <a:t>: tinylm, the course's codebase, built from scratch.</a:t>
            </a:r>
          </a:p>
          <a:p>
            <a:pPr algn="l">
              <a:spcAft>
                <a:spcPts val="1400"/>
              </a:spcAft>
            </a:pPr>
            <a:r>
              <a:rPr sz="1900" b="1" i="0">
                <a:solidFill>
                  <a:srgbClr val="00B050"/>
                </a:solidFill>
                <a:latin typeface="Calibri"/>
              </a:rPr>
              <a:t>Part A</a:t>
            </a:r>
            <a:r>
              <a:rPr sz="1900" b="0" i="0">
                <a:solidFill>
                  <a:srgbClr val="000000"/>
                </a:solidFill>
                <a:latin typeface="Calibri"/>
              </a:rPr>
              <a:t>: a tensor, the graph walked backwards, gradient shapes, a derivative checked, one gradient step.</a:t>
            </a:r>
          </a:p>
          <a:p>
            <a:pPr algn="l">
              <a:spcAft>
                <a:spcPts val="1400"/>
              </a:spcAft>
            </a:pPr>
            <a:r>
              <a:rPr sz="1900" b="1" i="0">
                <a:solidFill>
                  <a:srgbClr val="FF0000"/>
                </a:solidFill>
                <a:latin typeface="Calibri"/>
              </a:rPr>
              <a:t>Part B</a:t>
            </a:r>
            <a:r>
              <a:rPr sz="1900" b="0" i="0">
                <a:solidFill>
                  <a:srgbClr val="000000"/>
                </a:solidFill>
                <a:latin typeface="Calibri"/>
              </a:rPr>
              <a:t>: the cost of gradients, then logistic regression and a two-layer network trained with the engine.</a:t>
            </a:r>
          </a:p>
          <a:p>
            <a:pPr algn="l">
              <a:spcAft>
                <a:spcPts val="1400"/>
              </a:spcAft>
            </a:pPr>
            <a:r>
              <a:rPr sz="1900" b="1" i="0">
                <a:solidFill>
                  <a:srgbClr val="362FEC"/>
                </a:solidFill>
                <a:latin typeface="Calibri"/>
              </a:rPr>
              <a:t>Exercise, five minutes</a:t>
            </a:r>
            <a:r>
              <a:rPr sz="1900" b="0" i="0">
                <a:solidFill>
                  <a:srgbClr val="000000"/>
                </a:solidFill>
                <a:latin typeface="Calibri"/>
              </a:rPr>
              <a:t>: let L = ‖Xv‖². Work out ∂L/∂v by hand and compare it with v.grad; then change the shape of b and predict b.grad.</a:t>
            </a:r>
          </a:p>
        </p:txBody>
      </p:sp>
      <p:grpSp>
        <p:nvGrpSpPr>
          <p:cNvPr id="5" name="picture 1"/>
          <p:cNvGrpSpPr/>
          <p:nvPr/>
        </p:nvGrpSpPr>
        <p:grpSpPr>
          <a:xfrm>
            <a:off x="6812280" y="1463040"/>
            <a:ext cx="5120640" cy="2148840"/>
            <a:chOff x="6812280" y="1463040"/>
            <a:chExt cx="5120640" cy="2148840"/>
          </a:xfrm>
        </p:grpSpPr>
        <p:sp>
          <p:nvSpPr>
            <p:cNvPr id="6" name="Rounded Rectangle 5"/>
            <p:cNvSpPr/>
            <p:nvPr/>
          </p:nvSpPr>
          <p:spPr>
            <a:xfrm>
              <a:off x="6812280" y="1463040"/>
              <a:ext cx="5120640" cy="1097280"/>
            </a:xfrm>
            <a:prstGeom prst="roundRect">
              <a:avLst>
                <a:gd name="adj" fmla="val 6000"/>
              </a:avLst>
            </a:prstGeom>
            <a:solidFill>
              <a:srgbClr val="EDEDED"/>
            </a:solidFill>
            <a:ln>
              <a:noFill/>
            </a:ln>
          </p:spPr>
          <p:style>
            <a:lnRef idx="1">
              <a:schemeClr val="accent1"/>
            </a:lnRef>
            <a:fillRef idx="3">
              <a:schemeClr val="accent1"/>
            </a:fillRef>
            <a:effectRef idx="2">
              <a:schemeClr val="accent1"/>
            </a:effectRef>
            <a:fontRef idx="minor">
              <a:schemeClr val="lt1"/>
            </a:fontRef>
          </p:style>
          <p:txBody>
            <a:bodyPr rtlCol="0" anchor="ctr" wrap="square" lIns="137160" rIns="137160" tIns="54864" bIns="54864"/>
            <a:lstStyle/>
            <a:p>
              <a:pPr algn="l"/>
              <a:r>
                <a:rPr sz="1100" b="0" i="0">
                  <a:solidFill>
                    <a:srgbClr val="000000"/>
                  </a:solidFill>
                  <a:latin typeface="Consolas"/>
                </a:rPr>
                <a:t>git clone https://github.com/mathrulestheworld/tinylm.git</a:t>
              </a:r>
            </a:p>
            <a:p>
              <a:pPr algn="l"/>
              <a:r>
                <a:rPr sz="1100" b="0" i="0">
                  <a:solidFill>
                    <a:srgbClr val="000000"/>
                  </a:solidFill>
                  <a:latin typeface="Consolas"/>
                </a:rPr>
                <a:t>cd tinylm &amp;&amp; python3 -m pip install -e ".[dev]"</a:t>
              </a:r>
            </a:p>
            <a:p>
              <a:pPr algn="l"/>
              <a:r>
                <a:rPr sz="1100" b="0" i="0">
                  <a:solidFill>
                    <a:srgbClr val="000000"/>
                  </a:solidFill>
                  <a:latin typeface="Consolas"/>
                </a:rPr>
                <a:t>jupyter lab notebooks/week01_autograd.ipynb</a:t>
              </a:r>
            </a:p>
          </p:txBody>
        </p:sp>
        <p:sp>
          <p:nvSpPr>
            <p:cNvPr id="7" name="TextBox 6"/>
            <p:cNvSpPr txBox="1"/>
            <p:nvPr/>
          </p:nvSpPr>
          <p:spPr>
            <a:xfrm>
              <a:off x="6812280" y="2743200"/>
              <a:ext cx="5120640" cy="320040"/>
            </a:xfrm>
            <a:prstGeom prst="rect">
              <a:avLst/>
            </a:prstGeom>
            <a:noFill/>
          </p:spPr>
          <p:txBody>
            <a:bodyPr wrap="square" lIns="0" rIns="0" tIns="0" bIns="0">
              <a:spAutoFit/>
            </a:bodyPr>
            <a:lstStyle/>
            <a:p>
              <a:pPr algn="l">
                <a:spcAft>
                  <a:spcPts val="1000"/>
                </a:spcAft>
              </a:pPr>
              <a:r>
                <a:rPr sz="1400" b="0" i="0">
                  <a:solidFill>
                    <a:srgbClr val="362FEC"/>
                  </a:solidFill>
                  <a:latin typeface="Calibri"/>
                  <a:hlinkClick r:id="rId2"/>
                </a:rPr>
                <a:t>github.com/mathrulestheworld/tinylm</a:t>
              </a:r>
            </a:p>
          </p:txBody>
        </p:sp>
        <p:sp>
          <p:nvSpPr>
            <p:cNvPr id="8" name="description"/>
            <p:cNvSpPr txBox="1"/>
            <p:nvPr/>
          </p:nvSpPr>
          <p:spPr>
            <a:xfrm>
              <a:off x="6812280" y="3154680"/>
              <a:ext cx="5120640" cy="457200"/>
            </a:xfrm>
            <a:prstGeom prst="rect">
              <a:avLst/>
            </a:prstGeom>
            <a:noFill/>
          </p:spPr>
          <p:txBody>
            <a:bodyPr wrap="square" anchor="t" lIns="0" rIns="0" tIns="0" bIns="0">
              <a:spAutoFit/>
            </a:bodyPr>
            <a:lstStyle/>
            <a:p>
              <a:pPr algn="l"/>
              <a:r>
                <a:rPr sz="1400" b="0" i="0">
                  <a:solidFill>
                    <a:srgbClr val="595959"/>
                  </a:solidFill>
                  <a:latin typeface="Calibri"/>
                </a:rPr>
                <a:t>Fallback: the notebook on GitHub has saved outputs.</a:t>
              </a:r>
            </a:p>
          </p:txBody>
        </p:sp>
      </p:grpSp>
      <p:grpSp>
        <p:nvGrpSpPr>
          <p:cNvPr id="9" name="picture 2"/>
          <p:cNvGrpSpPr/>
          <p:nvPr/>
        </p:nvGrpSpPr>
        <p:grpSpPr>
          <a:xfrm>
            <a:off x="6812280" y="1371600"/>
            <a:ext cx="5120640" cy="3749040"/>
            <a:chOff x="6812280" y="1371600"/>
            <a:chExt cx="5120640" cy="3749040"/>
          </a:xfrm>
        </p:grpSpPr>
        <p:sp>
          <p:nvSpPr>
            <p:cNvPr id="10" name="Rounded Rectangle 9"/>
            <p:cNvSpPr/>
            <p:nvPr/>
          </p:nvSpPr>
          <p:spPr>
            <a:xfrm>
              <a:off x="6812280" y="1371600"/>
              <a:ext cx="5120640" cy="1691640"/>
            </a:xfrm>
            <a:prstGeom prst="roundRect">
              <a:avLst>
                <a:gd name="adj" fmla="val 6000"/>
              </a:avLst>
            </a:prstGeom>
            <a:solidFill>
              <a:srgbClr val="EDEDED"/>
            </a:solidFill>
            <a:ln>
              <a:noFill/>
            </a:ln>
          </p:spPr>
          <p:style>
            <a:lnRef idx="1">
              <a:schemeClr val="accent1"/>
            </a:lnRef>
            <a:fillRef idx="3">
              <a:schemeClr val="accent1"/>
            </a:fillRef>
            <a:effectRef idx="2">
              <a:schemeClr val="accent1"/>
            </a:effectRef>
            <a:fontRef idx="minor">
              <a:schemeClr val="lt1"/>
            </a:fontRef>
          </p:style>
          <p:txBody>
            <a:bodyPr rtlCol="0" anchor="ctr" wrap="square" lIns="137160" rIns="137160" tIns="54864" bIns="54864"/>
            <a:lstStyle/>
            <a:p>
              <a:pPr algn="l"/>
              <a:r>
                <a:rPr sz="1200" b="0" i="0">
                  <a:solidFill>
                    <a:srgbClr val="000000"/>
                  </a:solidFill>
                  <a:latin typeface="Consolas"/>
                </a:rPr>
                <a:t>opt = SGD([W, b], lr=0.1)</a:t>
              </a:r>
            </a:p>
            <a:p>
              <a:pPr algn="l"/>
              <a:r>
                <a:rPr sz="1200" b="0" i="0">
                  <a:solidFill>
                    <a:srgbClr val="000000"/>
                  </a:solidFill>
                  <a:latin typeface="Consolas"/>
                </a:rPr>
                <a:t>for step in range(3):</a:t>
              </a:r>
            </a:p>
            <a:p>
              <a:pPr algn="l"/>
              <a:r>
                <a:rPr sz="1200" b="0" i="0">
                  <a:solidFill>
                    <a:srgbClr val="000000"/>
                  </a:solidFill>
                  <a:latin typeface="Consolas"/>
                </a:rPr>
                <a:t>    opt.zero_grad()    # clear old gradients</a:t>
              </a:r>
            </a:p>
            <a:p>
              <a:pPr algn="l"/>
              <a:r>
                <a:rPr sz="1200" b="0" i="0">
                  <a:solidFill>
                    <a:srgbClr val="000000"/>
                  </a:solidFill>
                  <a:latin typeface="Consolas"/>
                </a:rPr>
                <a:t>    L = loss()         # forward</a:t>
              </a:r>
            </a:p>
            <a:p>
              <a:pPr algn="l"/>
              <a:r>
                <a:rPr sz="1200" b="0" i="0">
                  <a:solidFill>
                    <a:srgbClr val="000000"/>
                  </a:solidFill>
                  <a:latin typeface="Consolas"/>
                </a:rPr>
                <a:t>    L.backward()       # fills W.grad and b.grad</a:t>
              </a:r>
            </a:p>
            <a:p>
              <a:pPr algn="l"/>
              <a:r>
                <a:rPr sz="1200" b="0" i="0">
                  <a:solidFill>
                    <a:srgbClr val="000000"/>
                  </a:solidFill>
                  <a:latin typeface="Consolas"/>
                </a:rPr>
                <a:t>    opt.step()         # W &lt;- W - 0.1 * W.grad</a:t>
              </a:r>
            </a:p>
          </p:txBody>
        </p:sp>
        <p:sp>
          <p:nvSpPr>
            <p:cNvPr id="11" name="Rounded Rectangle 10"/>
            <p:cNvSpPr/>
            <p:nvPr/>
          </p:nvSpPr>
          <p:spPr>
            <a:xfrm>
              <a:off x="6812280" y="3200400"/>
              <a:ext cx="2560320" cy="1097280"/>
            </a:xfrm>
            <a:prstGeom prst="roundRect">
              <a:avLst>
                <a:gd name="adj" fmla="val 6000"/>
              </a:avLst>
            </a:prstGeom>
            <a:solidFill>
              <a:srgbClr val="F4F4F4"/>
            </a:solidFill>
            <a:ln>
              <a:noFill/>
            </a:ln>
          </p:spPr>
          <p:style>
            <a:lnRef idx="1">
              <a:schemeClr val="accent1"/>
            </a:lnRef>
            <a:fillRef idx="3">
              <a:schemeClr val="accent1"/>
            </a:fillRef>
            <a:effectRef idx="2">
              <a:schemeClr val="accent1"/>
            </a:effectRef>
            <a:fontRef idx="minor">
              <a:schemeClr val="lt1"/>
            </a:fontRef>
          </p:style>
          <p:txBody>
            <a:bodyPr rtlCol="0" anchor="ctr" wrap="square" lIns="137160" rIns="137160" tIns="54864" bIns="54864"/>
            <a:lstStyle/>
            <a:p>
              <a:pPr algn="l"/>
              <a:r>
                <a:rPr sz="1200" b="0" i="0">
                  <a:solidFill>
                    <a:srgbClr val="595959"/>
                  </a:solidFill>
                  <a:latin typeface="Consolas"/>
                </a:rPr>
                <a:t>step 0: loss 3.9132</a:t>
              </a:r>
            </a:p>
            <a:p>
              <a:pPr algn="l"/>
              <a:r>
                <a:rPr sz="1200" b="0" i="0">
                  <a:solidFill>
                    <a:srgbClr val="595959"/>
                  </a:solidFill>
                  <a:latin typeface="Consolas"/>
                </a:rPr>
                <a:t>step 1: loss 3.0386</a:t>
              </a:r>
            </a:p>
            <a:p>
              <a:pPr algn="l"/>
              <a:r>
                <a:rPr sz="1200" b="0" i="0">
                  <a:solidFill>
                    <a:srgbClr val="595959"/>
                  </a:solidFill>
                  <a:latin typeface="Consolas"/>
                </a:rPr>
                <a:t>step 2: loss 2.3663</a:t>
              </a:r>
            </a:p>
            <a:p>
              <a:pPr algn="l"/>
              <a:r>
                <a:rPr sz="1200" b="0" i="0">
                  <a:solidFill>
                    <a:srgbClr val="595959"/>
                  </a:solidFill>
                  <a:latin typeface="Consolas"/>
                </a:rPr>
                <a:t>after 3 steps: 1.8492</a:t>
              </a:r>
            </a:p>
          </p:txBody>
        </p:sp>
        <p:sp>
          <p:nvSpPr>
            <p:cNvPr id="12" name="description"/>
            <p:cNvSpPr txBox="1"/>
            <p:nvPr/>
          </p:nvSpPr>
          <p:spPr>
            <a:xfrm>
              <a:off x="6812280" y="4480560"/>
              <a:ext cx="5120640" cy="640080"/>
            </a:xfrm>
            <a:prstGeom prst="rect">
              <a:avLst/>
            </a:prstGeom>
            <a:noFill/>
          </p:spPr>
          <p:txBody>
            <a:bodyPr wrap="square" anchor="t" lIns="0" rIns="0" tIns="0" bIns="0">
              <a:spAutoFit/>
            </a:bodyPr>
            <a:lstStyle/>
            <a:p>
              <a:pPr algn="l"/>
              <a:r>
                <a:rPr sz="1400" b="0" i="0">
                  <a:solidFill>
                    <a:srgbClr val="595959"/>
                  </a:solidFill>
                  <a:latin typeface="Calibri"/>
                </a:rPr>
                <a:t>Autograd computes gradients; the optimizer decides how to use them. Training a network is this loop with a different loss.</a:t>
              </a:r>
            </a:p>
          </p:txBody>
        </p:sp>
      </p:grpSp>
      <p:grpSp>
        <p:nvGrpSpPr>
          <p:cNvPr id="13" name="picture 3"/>
          <p:cNvGrpSpPr/>
          <p:nvPr/>
        </p:nvGrpSpPr>
        <p:grpSpPr>
          <a:xfrm>
            <a:off x="6812280" y="1371600"/>
            <a:ext cx="5120640" cy="3034277"/>
            <a:chOff x="6812280" y="1371600"/>
            <a:chExt cx="5120640" cy="3034277"/>
          </a:xfrm>
        </p:grpSpPr>
        <p:pic>
          <p:nvPicPr>
            <p:cNvPr id="14" name="Picture 13" descr="moons.png"/>
            <p:cNvPicPr>
              <a:picLocks noChangeAspect="1"/>
            </p:cNvPicPr>
            <p:nvPr/>
          </p:nvPicPr>
          <p:blipFill>
            <a:blip r:embed="rId3"/>
            <a:stretch>
              <a:fillRect/>
            </a:stretch>
          </p:blipFill>
          <p:spPr>
            <a:xfrm>
              <a:off x="6812280" y="1371600"/>
              <a:ext cx="5120640" cy="2101589"/>
            </a:xfrm>
            <a:prstGeom prst="rect">
              <a:avLst/>
            </a:prstGeom>
          </p:spPr>
        </p:pic>
        <p:sp>
          <p:nvSpPr>
            <p:cNvPr id="15" name="description"/>
            <p:cNvSpPr txBox="1"/>
            <p:nvPr/>
          </p:nvSpPr>
          <p:spPr>
            <a:xfrm>
              <a:off x="6812280" y="3582917"/>
              <a:ext cx="5120640" cy="822960"/>
            </a:xfrm>
            <a:prstGeom prst="rect">
              <a:avLst/>
            </a:prstGeom>
            <a:noFill/>
          </p:spPr>
          <p:txBody>
            <a:bodyPr wrap="square" anchor="t" lIns="0" rIns="0" tIns="0" bIns="0">
              <a:spAutoFit/>
            </a:bodyPr>
            <a:lstStyle/>
            <a:p>
              <a:pPr algn="l"/>
              <a:r>
                <a:rPr sz="1400" b="0" i="0">
                  <a:solidFill>
                    <a:srgbClr val="595959"/>
                  </a:solidFill>
                  <a:latin typeface="Calibri"/>
                </a:rPr>
                <a:t>Two interleaved half-moons: logistic regression draws a straight boundary; one hidden layer of tanh units bends it.</a:t>
              </a:r>
            </a:p>
          </p:txBody>
        </p:sp>
      </p:grpSp>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4">
                                            <p:txEl>
                                              <p:pRg st="0" end="0"/>
                                            </p:txEl>
                                          </p:spTgt>
                                        </p:tgtEl>
                                        <p:attrNameLst>
                                          <p:attrName>style.visibility</p:attrName>
                                        </p:attrNameLst>
                                      </p:cBhvr>
                                      <p:to>
                                        <p:strVal val="visible"/>
                                      </p:to>
                                    </p:set>
                                  </p:childTnLst>
                                </p:cTn>
                              </p:par>
                              <p:par>
                                <p:cTn id="7" presetID="1" presetClass="entr" presetSubtype="0" fill="hold" grpId="0" nodeType="withEffect">
                                  <p:stCondLst>
                                    <p:cond delay="0"/>
                                  </p:stCondLst>
                                  <p:childTnLst>
                                    <p:set>
                                      <p:cBhvr>
                                        <p:cTn id="8" dur="1" fill="hold">
                                          <p:stCondLst>
                                            <p:cond delay="0"/>
                                          </p:stCondLst>
                                        </p:cTn>
                                        <p:tgtEl>
                                          <p:spTgt spid="5"/>
                                        </p:tgtEl>
                                        <p:attrNameLst>
                                          <p:attrName>style.visibility</p:attrName>
                                        </p:attrNameLst>
                                      </p:cBhvr>
                                      <p:to>
                                        <p:strVal val="visible"/>
                                      </p:to>
                                    </p:set>
                                  </p:childTnLst>
                                </p:cTn>
                              </p:par>
                            </p:childTnLst>
                          </p:cTn>
                        </p:par>
                      </p:childTnLst>
                    </p:cTn>
                  </p:par>
                  <p:par>
                    <p:cTn id="9" fill="hold">
                      <p:stCondLst>
                        <p:cond delay="indefinite"/>
                      </p:stCondLst>
                      <p:childTnLst>
                        <p:par>
                          <p:cTn id="10" fill="hold">
                            <p:stCondLst>
                              <p:cond delay="0"/>
                            </p:stCondLst>
                            <p:childTnLst>
                              <p:par>
                                <p:cTn id="11" presetID="1" presetClass="entr" presetSubtype="0" fill="hold" grpId="0" nodeType="clickEffect">
                                  <p:stCondLst>
                                    <p:cond delay="0"/>
                                  </p:stCondLst>
                                  <p:childTnLst>
                                    <p:set>
                                      <p:cBhvr>
                                        <p:cTn id="12" dur="1" fill="hold">
                                          <p:stCondLst>
                                            <p:cond delay="0"/>
                                          </p:stCondLst>
                                        </p:cTn>
                                        <p:tgtEl>
                                          <p:spTgt spid="4">
                                            <p:txEl>
                                              <p:pRg st="1" end="1"/>
                                            </p:txEl>
                                          </p:spTgt>
                                        </p:tgtEl>
                                        <p:attrNameLst>
                                          <p:attrName>style.visibility</p:attrName>
                                        </p:attrNameLst>
                                      </p:cBhvr>
                                      <p:to>
                                        <p:strVal val="visible"/>
                                      </p:to>
                                    </p:set>
                                  </p:childTnLst>
                                </p:cTn>
                              </p:par>
                              <p:par>
                                <p:cTn id="13" presetID="1" presetClass="entr" presetSubtype="0" fill="hold" grpId="0" nodeType="withEffect">
                                  <p:stCondLst>
                                    <p:cond delay="0"/>
                                  </p:stCondLst>
                                  <p:childTnLst>
                                    <p:set>
                                      <p:cBhvr>
                                        <p:cTn id="14" dur="1" fill="hold">
                                          <p:stCondLst>
                                            <p:cond delay="0"/>
                                          </p:stCondLst>
                                        </p:cTn>
                                        <p:tgtEl>
                                          <p:spTgt spid="9"/>
                                        </p:tgtEl>
                                        <p:attrNameLst>
                                          <p:attrName>style.visibility</p:attrName>
                                        </p:attrNameLst>
                                      </p:cBhvr>
                                      <p:to>
                                        <p:strVal val="visible"/>
                                      </p:to>
                                    </p:set>
                                  </p:childTnLst>
                                </p:cTn>
                              </p:par>
                              <p:par>
                                <p:cTn id="15" presetID="1" presetClass="exit" presetSubtype="0" fill="hold" grpId="1" nodeType="withEffect">
                                  <p:stCondLst>
                                    <p:cond delay="0"/>
                                  </p:stCondLst>
                                  <p:childTnLst>
                                    <p:set>
                                      <p:cBhvr>
                                        <p:cTn id="16" dur="1" fill="hold">
                                          <p:stCondLst>
                                            <p:cond delay="0"/>
                                          </p:stCondLst>
                                        </p:cTn>
                                        <p:tgtEl>
                                          <p:spTgt spid="5"/>
                                        </p:tgtEl>
                                        <p:attrNameLst>
                                          <p:attrName>style.visibility</p:attrName>
                                        </p:attrNameLst>
                                      </p:cBhvr>
                                      <p:to>
                                        <p:strVal val="hidden"/>
                                      </p:to>
                                    </p:set>
                                  </p:childTnLst>
                                </p:cTn>
                              </p:par>
                            </p:childTnLst>
                          </p:cTn>
                        </p:par>
                      </p:childTnLst>
                    </p:cTn>
                  </p:par>
                  <p:par>
                    <p:cTn id="17" fill="hold">
                      <p:stCondLst>
                        <p:cond delay="indefinite"/>
                      </p:stCondLst>
                      <p:childTnLst>
                        <p:par>
                          <p:cTn id="18" fill="hold">
                            <p:stCondLst>
                              <p:cond delay="0"/>
                            </p:stCondLst>
                            <p:childTnLst>
                              <p:par>
                                <p:cTn id="19" presetID="1" presetClass="entr" presetSubtype="0" fill="hold" grpId="0" nodeType="clickEffect">
                                  <p:stCondLst>
                                    <p:cond delay="0"/>
                                  </p:stCondLst>
                                  <p:childTnLst>
                                    <p:set>
                                      <p:cBhvr>
                                        <p:cTn id="20" dur="1" fill="hold">
                                          <p:stCondLst>
                                            <p:cond delay="0"/>
                                          </p:stCondLst>
                                        </p:cTn>
                                        <p:tgtEl>
                                          <p:spTgt spid="4">
                                            <p:txEl>
                                              <p:pRg st="2" end="2"/>
                                            </p:txEl>
                                          </p:spTgt>
                                        </p:tgtEl>
                                        <p:attrNameLst>
                                          <p:attrName>style.visibility</p:attrName>
                                        </p:attrNameLst>
                                      </p:cBhvr>
                                      <p:to>
                                        <p:strVal val="visible"/>
                                      </p:to>
                                    </p:set>
                                  </p:childTnLst>
                                </p:cTn>
                              </p:par>
                              <p:par>
                                <p:cTn id="21" presetID="1" presetClass="entr" presetSubtype="0" fill="hold" grpId="0" nodeType="withEffect">
                                  <p:stCondLst>
                                    <p:cond delay="0"/>
                                  </p:stCondLst>
                                  <p:childTnLst>
                                    <p:set>
                                      <p:cBhvr>
                                        <p:cTn id="22" dur="1" fill="hold">
                                          <p:stCondLst>
                                            <p:cond delay="0"/>
                                          </p:stCondLst>
                                        </p:cTn>
                                        <p:tgtEl>
                                          <p:spTgt spid="13"/>
                                        </p:tgtEl>
                                        <p:attrNameLst>
                                          <p:attrName>style.visibility</p:attrName>
                                        </p:attrNameLst>
                                      </p:cBhvr>
                                      <p:to>
                                        <p:strVal val="visible"/>
                                      </p:to>
                                    </p:set>
                                  </p:childTnLst>
                                </p:cTn>
                              </p:par>
                              <p:par>
                                <p:cTn id="23" presetID="1" presetClass="exit" presetSubtype="0" fill="hold" grpId="1" nodeType="withEffect">
                                  <p:stCondLst>
                                    <p:cond delay="0"/>
                                  </p:stCondLst>
                                  <p:childTnLst>
                                    <p:set>
                                      <p:cBhvr>
                                        <p:cTn id="24" dur="1" fill="hold">
                                          <p:stCondLst>
                                            <p:cond delay="0"/>
                                          </p:stCondLst>
                                        </p:cTn>
                                        <p:tgtEl>
                                          <p:spTgt spid="9"/>
                                        </p:tgtEl>
                                        <p:attrNameLst>
                                          <p:attrName>style.visibility</p:attrName>
                                        </p:attrNameLst>
                                      </p:cBhvr>
                                      <p:to>
                                        <p:strVal val="hidden"/>
                                      </p:to>
                                    </p:set>
                                  </p:childTnLst>
                                </p:cTn>
                              </p:par>
                            </p:childTnLst>
                          </p:cTn>
                        </p:par>
                      </p:childTnLst>
                    </p:cTn>
                  </p:par>
                  <p:par>
                    <p:cTn id="25" fill="hold">
                      <p:stCondLst>
                        <p:cond delay="indefinite"/>
                      </p:stCondLst>
                      <p:childTnLst>
                        <p:par>
                          <p:cTn id="26" fill="hold">
                            <p:stCondLst>
                              <p:cond delay="0"/>
                            </p:stCondLst>
                            <p:childTnLst>
                              <p:par>
                                <p:cTn id="27" presetID="1" presetClass="entr" presetSubtype="0" fill="hold" grpId="0" nodeType="clickEffect">
                                  <p:stCondLst>
                                    <p:cond delay="0"/>
                                  </p:stCondLst>
                                  <p:childTnLst>
                                    <p:set>
                                      <p:cBhvr>
                                        <p:cTn id="28" dur="1" fill="hold">
                                          <p:stCondLst>
                                            <p:cond delay="0"/>
                                          </p:stCondLst>
                                        </p:cTn>
                                        <p:tgtEl>
                                          <p:spTgt spid="4">
                                            <p:txEl>
                                              <p:pRg st="3" end="3"/>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4" grpId="0" build="p"/>
    </p:bldLst>
  </p:timing>
</p:sld>
</file>

<file path=ppt/slides/slide6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b0_2">
            <a:extLst>
              <a:ext uri="{FF2B5EF4-FFF2-40B4-BE49-F238E27FC236}">
                <a16:creationId xmlns:a16="http://schemas.microsoft.com/office/drawing/2014/main" id="{33DE8782-7F2B-1033-00F6-2A6652EE0E80}"/>
              </a:ext>
            </a:extLst>
          </p:cNvPr>
          <p:cNvSpPr txBox="1"/>
          <p:nvPr/>
        </p:nvSpPr>
        <p:spPr>
          <a:xfrm>
            <a:off x="0" y="148566"/>
            <a:ext cx="11680992" cy="548640"/>
          </a:xfrm>
          <a:prstGeom prst="rect">
            <a:avLst/>
          </a:prstGeom>
          <a:noFill/>
          <a:ln>
            <a:noFill/>
          </a:ln>
        </p:spPr>
        <p:txBody>
          <a:bodyPr wrap="square" rtlCol="0" anchor="ctr"/>
          <a:lstStyle/>
          <a:p>
            <a:r>
              <a:rPr lang="en-US" sz="3200" b="1" dirty="0">
                <a:solidFill>
                  <a:srgbClr val="FF0000"/>
                </a:solidFill>
                <a:latin typeface="Calibri" pitchFamily="34" charset="0"/>
                <a:ea typeface="Calibri" pitchFamily="34" charset="-122"/>
                <a:cs typeface="Calibri" pitchFamily="34" charset="-120"/>
              </a:rPr>
              <a:t>Hands-on</a:t>
            </a:r>
            <a:r>
              <a:rPr lang="en-US" sz="3200" b="1" dirty="0">
                <a:solidFill>
                  <a:srgbClr val="000000"/>
                </a:solidFill>
                <a:latin typeface="Calibri" pitchFamily="34" charset="0"/>
                <a:ea typeface="Calibri" pitchFamily="34" charset="-122"/>
                <a:cs typeface="Calibri" pitchFamily="34" charset="-120"/>
              </a:rPr>
              <a:t>: an </a:t>
            </a:r>
            <a:r>
              <a:rPr lang="en-US" sz="3200" b="1" dirty="0">
                <a:solidFill>
                  <a:srgbClr val="362FEC"/>
                </a:solidFill>
                <a:latin typeface="Calibri" pitchFamily="34" charset="0"/>
                <a:ea typeface="Calibri" pitchFamily="34" charset="-122"/>
                <a:cs typeface="Calibri" pitchFamily="34" charset="-120"/>
              </a:rPr>
              <a:t>Autograd</a:t>
            </a:r>
            <a:r>
              <a:rPr lang="en-US" sz="3200" b="1" dirty="0">
                <a:solidFill>
                  <a:srgbClr val="000000"/>
                </a:solidFill>
                <a:latin typeface="Calibri" pitchFamily="34" charset="0"/>
                <a:ea typeface="Calibri" pitchFamily="34" charset="-122"/>
                <a:cs typeface="Calibri" pitchFamily="34" charset="-120"/>
              </a:rPr>
              <a:t> Engine</a:t>
            </a:r>
            <a:endParaRPr lang="en-US" sz="3200" dirty="0">
              <a:solidFill>
                <a:srgbClr val="362FEC"/>
              </a:solidFill>
            </a:endParaRPr>
          </a:p>
        </p:txBody>
      </p:sp>
      <p:sp>
        <p:nvSpPr>
          <p:cNvPr id="3" name="subheading">
            <a:extLst>
              <a:ext uri="{FF2B5EF4-FFF2-40B4-BE49-F238E27FC236}">
                <a16:creationId xmlns:a16="http://schemas.microsoft.com/office/drawing/2014/main" id="{5CB8A4AA-40B1-94AE-8EEE-080599481F78}"/>
              </a:ext>
            </a:extLst>
          </p:cNvPr>
          <p:cNvSpPr txBox="1"/>
          <p:nvPr/>
        </p:nvSpPr>
        <p:spPr>
          <a:xfrm>
            <a:off x="292608" y="868680"/>
            <a:ext cx="11430000" cy="411480"/>
          </a:xfrm>
          <a:prstGeom prst="rect">
            <a:avLst/>
          </a:prstGeom>
          <a:noFill/>
          <a:ln>
            <a:noFill/>
          </a:ln>
        </p:spPr>
        <p:txBody>
          <a:bodyPr wrap="square" lIns="0" tIns="0" rIns="0" bIns="0" rtlCol="0" anchor="ctr"/>
          <a:lstStyle/>
          <a:p>
            <a:pPr marL="0" indent="0">
              <a:buNone/>
            </a:pPr>
            <a:r>
              <a:rPr lang="en-US" sz="2000" b="1" dirty="0">
                <a:solidFill>
                  <a:srgbClr val="362FEC"/>
                </a:solidFill>
                <a:latin typeface="Calibri" panose="020F0502020204030204" pitchFamily="34" charset="0"/>
                <a:cs typeface="Calibri" panose="020F0502020204030204" pitchFamily="34" charset="0"/>
              </a:rPr>
              <a:t>From here to language models</a:t>
            </a:r>
          </a:p>
        </p:txBody>
      </p:sp>
      <p:sp>
        <p:nvSpPr>
          <p:cNvPr id="4" name="points"/>
          <p:cNvSpPr txBox="1"/>
          <p:nvPr/>
        </p:nvSpPr>
        <p:spPr>
          <a:xfrm>
            <a:off x="384048" y="1417320"/>
            <a:ext cx="6126480" cy="5166360"/>
          </a:xfrm>
          <a:prstGeom prst="rect">
            <a:avLst/>
          </a:prstGeom>
          <a:noFill/>
        </p:spPr>
        <p:txBody>
          <a:bodyPr wrap="square" lIns="0" rIns="0" tIns="0" bIns="0">
            <a:spAutoFit/>
          </a:bodyPr>
          <a:lstStyle/>
          <a:p>
            <a:pPr algn="l">
              <a:spcAft>
                <a:spcPts val="1200"/>
              </a:spcAft>
            </a:pPr>
            <a:r>
              <a:rPr sz="1900" b="1" i="0">
                <a:solidFill>
                  <a:srgbClr val="362FEC"/>
                </a:solidFill>
                <a:latin typeface="Calibri"/>
              </a:rPr>
              <a:t>Each conditional</a:t>
            </a:r>
            <a:r>
              <a:rPr sz="1900" b="0" i="0">
                <a:solidFill>
                  <a:srgbClr val="000000"/>
                </a:solidFill>
                <a:latin typeface="Calibri"/>
              </a:rPr>
              <a:t>: is a classifier over the vocabulary, computed by a network from the prefix.</a:t>
            </a:r>
          </a:p>
          <a:p>
            <a:pPr algn="l">
              <a:spcAft>
                <a:spcPts val="1200"/>
              </a:spcAft>
            </a:pPr>
            <a:r>
              <a:rPr sz="1900" b="1" i="0">
                <a:solidFill>
                  <a:srgbClr val="00B050"/>
                </a:solidFill>
                <a:latin typeface="Calibri"/>
              </a:rPr>
              <a:t>Training</a:t>
            </a:r>
            <a:r>
              <a:rPr sz="1900" b="0" i="0">
                <a:solidFill>
                  <a:srgbClr val="000000"/>
                </a:solidFill>
                <a:latin typeface="Calibri"/>
              </a:rPr>
              <a:t>: minimizes the log loss of the observed next tokens: self-supervised.</a:t>
            </a:r>
          </a:p>
          <a:p>
            <a:pPr algn="l">
              <a:spcAft>
                <a:spcPts val="1200"/>
              </a:spcAft>
            </a:pPr>
            <a:r>
              <a:rPr sz="1900" b="1" i="0">
                <a:solidFill>
                  <a:srgbClr val="00B050"/>
                </a:solidFill>
                <a:latin typeface="Calibri"/>
              </a:rPr>
              <a:t>Generation</a:t>
            </a:r>
            <a:r>
              <a:rPr sz="1900" b="0" i="0">
                <a:solidFill>
                  <a:srgbClr val="000000"/>
                </a:solidFill>
                <a:latin typeface="Calibri"/>
              </a:rPr>
              <a:t>: samples one token at a time and feeds it back as input.</a:t>
            </a:r>
          </a:p>
          <a:p>
            <a:pPr algn="l">
              <a:spcAft>
                <a:spcPts val="1200"/>
              </a:spcAft>
            </a:pPr>
            <a:r>
              <a:rPr sz="1900" b="1" i="0">
                <a:solidFill>
                  <a:srgbClr val="362FEC"/>
                </a:solidFill>
                <a:latin typeface="Calibri"/>
              </a:rPr>
              <a:t>Four stages</a:t>
            </a:r>
            <a:r>
              <a:rPr sz="1900" b="0" i="0">
                <a:solidFill>
                  <a:srgbClr val="000000"/>
                </a:solidFill>
                <a:latin typeface="Calibri"/>
              </a:rPr>
              <a:t>: each with its own source of learning signal.</a:t>
            </a:r>
          </a:p>
          <a:p>
            <a:pPr algn="l">
              <a:spcAft>
                <a:spcPts val="1200"/>
              </a:spcAft>
            </a:pPr>
            <a:r>
              <a:rPr sz="1900" b="1" i="0">
                <a:solidFill>
                  <a:srgbClr val="FF0000"/>
                </a:solidFill>
                <a:latin typeface="Calibri"/>
              </a:rPr>
              <a:t>Learning mid-conversation </a:t>
            </a:r>
            <a:r>
              <a:rPr sz="1900" b="0" i="0">
                <a:solidFill>
                  <a:srgbClr val="000000"/>
                </a:solidFill>
                <a:latin typeface="Calibri"/>
              </a:rPr>
              <a:t>is conditioning: a fact in the context changes the predictions, and nothing persists once the context is gone.</a:t>
            </a:r>
          </a:p>
        </p:txBody>
      </p:sp>
      <p:grpSp>
        <p:nvGrpSpPr>
          <p:cNvPr id="5" name="picture 1"/>
          <p:cNvGrpSpPr/>
          <p:nvPr/>
        </p:nvGrpSpPr>
        <p:grpSpPr>
          <a:xfrm>
            <a:off x="6995160" y="1371600"/>
            <a:ext cx="5120640" cy="3429000"/>
            <a:chOff x="6995160" y="1371600"/>
            <a:chExt cx="5120640" cy="3429000"/>
          </a:xfrm>
        </p:grpSpPr>
        <p:sp>
          <p:nvSpPr>
            <p:cNvPr id="6" name="TextBox 5"/>
            <p:cNvSpPr txBox="1"/>
            <p:nvPr/>
          </p:nvSpPr>
          <p:spPr>
            <a:xfrm>
              <a:off x="6995160" y="1371600"/>
              <a:ext cx="5120640" cy="365760"/>
            </a:xfrm>
            <a:prstGeom prst="rect">
              <a:avLst/>
            </a:prstGeom>
            <a:noFill/>
          </p:spPr>
          <p:txBody>
            <a:bodyPr wrap="square" lIns="0" rIns="0" tIns="0" bIns="0">
              <a:spAutoFit/>
            </a:bodyPr>
            <a:lstStyle/>
            <a:p>
              <a:pPr algn="l">
                <a:spcAft>
                  <a:spcPts val="1000"/>
                </a:spcAft>
              </a:pPr>
              <a:r>
                <a:rPr sz="2000" b="0" i="0">
                  <a:solidFill>
                    <a:srgbClr val="000000"/>
                  </a:solidFill>
                  <a:latin typeface="Calibri"/>
                </a:rPr>
                <a:t>the cat sat on the </a:t>
              </a:r>
              <a:r>
                <a:rPr sz="2000" b="1" i="0">
                  <a:solidFill>
                    <a:srgbClr val="362FEC"/>
                  </a:solidFill>
                  <a:latin typeface="Calibri"/>
                </a:rPr>
                <a:t>___</a:t>
              </a:r>
            </a:p>
          </p:txBody>
        </p:sp>
        <p:pic>
          <p:nvPicPr>
            <p:cNvPr id="7" name="Picture 6" descr="image.png"/>
            <p:cNvPicPr>
              <a:picLocks noChangeAspect="1"/>
            </p:cNvPicPr>
            <p:nvPr/>
          </p:nvPicPr>
          <p:blipFill>
            <a:blip r:embed="rId2"/>
            <a:stretch>
              <a:fillRect/>
            </a:stretch>
          </p:blipFill>
          <p:spPr>
            <a:xfrm>
              <a:off x="7086600" y="1828800"/>
              <a:ext cx="4572000" cy="2971800"/>
            </a:xfrm>
            <a:prstGeom prst="rect">
              <a:avLst/>
            </a:prstGeom>
          </p:spPr>
        </p:pic>
      </p:grpSp>
      <p:grpSp>
        <p:nvGrpSpPr>
          <p:cNvPr id="8" name="picture 4"/>
          <p:cNvGrpSpPr/>
          <p:nvPr/>
        </p:nvGrpSpPr>
        <p:grpSpPr>
          <a:xfrm>
            <a:off x="6812280" y="1371600"/>
            <a:ext cx="5120640" cy="2022351"/>
            <a:chOff x="6812280" y="1371600"/>
            <a:chExt cx="5120640" cy="2022351"/>
          </a:xfrm>
        </p:grpSpPr>
        <p:pic>
          <p:nvPicPr>
            <p:cNvPr id="9" name="Picture 8" descr="lifecycle.png"/>
            <p:cNvPicPr>
              <a:picLocks noChangeAspect="1"/>
            </p:cNvPicPr>
            <p:nvPr/>
          </p:nvPicPr>
          <p:blipFill>
            <a:blip r:embed="rId3"/>
            <a:stretch>
              <a:fillRect/>
            </a:stretch>
          </p:blipFill>
          <p:spPr>
            <a:xfrm>
              <a:off x="6812280" y="1371600"/>
              <a:ext cx="5120640" cy="1089663"/>
            </a:xfrm>
            <a:prstGeom prst="rect">
              <a:avLst/>
            </a:prstGeom>
          </p:spPr>
        </p:pic>
        <p:sp>
          <p:nvSpPr>
            <p:cNvPr id="10" name="description"/>
            <p:cNvSpPr txBox="1"/>
            <p:nvPr/>
          </p:nvSpPr>
          <p:spPr>
            <a:xfrm>
              <a:off x="6812280" y="2570991"/>
              <a:ext cx="5120640" cy="822960"/>
            </a:xfrm>
            <a:prstGeom prst="rect">
              <a:avLst/>
            </a:prstGeom>
            <a:noFill/>
          </p:spPr>
          <p:txBody>
            <a:bodyPr wrap="square" anchor="t" lIns="0" rIns="0" tIns="0" bIns="0">
              <a:spAutoFit/>
            </a:bodyPr>
            <a:lstStyle/>
            <a:p>
              <a:pPr algn="l"/>
              <a:r>
                <a:rPr sz="1400" b="0" i="0">
                  <a:solidFill>
                    <a:srgbClr val="595959"/>
                  </a:solidFill>
                  <a:latin typeface="Calibri"/>
                </a:rPr>
                <a:t>Pretraining (Weeks 2–4), supervised fine-tuning (5, 7), preferences and reinforcement learning (6, 7), inference (5, 8). Only inference leaves the parameters unchanged.</a:t>
              </a:r>
            </a:p>
          </p:txBody>
        </p:sp>
      </p:grpSp>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4">
                                            <p:txEl>
                                              <p:pRg st="0" end="0"/>
                                            </p:txEl>
                                          </p:spTgt>
                                        </p:tgtEl>
                                        <p:attrNameLst>
                                          <p:attrName>style.visibility</p:attrName>
                                        </p:attrNameLst>
                                      </p:cBhvr>
                                      <p:to>
                                        <p:strVal val="visible"/>
                                      </p:to>
                                    </p:set>
                                  </p:childTnLst>
                                </p:cTn>
                              </p:par>
                              <p:par>
                                <p:cTn id="7" presetID="1" presetClass="entr" presetSubtype="0" fill="hold" grpId="0" nodeType="withEffect">
                                  <p:stCondLst>
                                    <p:cond delay="0"/>
                                  </p:stCondLst>
                                  <p:childTnLst>
                                    <p:set>
                                      <p:cBhvr>
                                        <p:cTn id="8" dur="1" fill="hold">
                                          <p:stCondLst>
                                            <p:cond delay="0"/>
                                          </p:stCondLst>
                                        </p:cTn>
                                        <p:tgtEl>
                                          <p:spTgt spid="5"/>
                                        </p:tgtEl>
                                        <p:attrNameLst>
                                          <p:attrName>style.visibility</p:attrName>
                                        </p:attrNameLst>
                                      </p:cBhvr>
                                      <p:to>
                                        <p:strVal val="visible"/>
                                      </p:to>
                                    </p:set>
                                  </p:childTnLst>
                                </p:cTn>
                              </p:par>
                            </p:childTnLst>
                          </p:cTn>
                        </p:par>
                      </p:childTnLst>
                    </p:cTn>
                  </p:par>
                  <p:par>
                    <p:cTn id="9" fill="hold">
                      <p:stCondLst>
                        <p:cond delay="indefinite"/>
                      </p:stCondLst>
                      <p:childTnLst>
                        <p:par>
                          <p:cTn id="10" fill="hold">
                            <p:stCondLst>
                              <p:cond delay="0"/>
                            </p:stCondLst>
                            <p:childTnLst>
                              <p:par>
                                <p:cTn id="11" presetID="1" presetClass="entr" presetSubtype="0" fill="hold" grpId="0" nodeType="clickEffect">
                                  <p:stCondLst>
                                    <p:cond delay="0"/>
                                  </p:stCondLst>
                                  <p:childTnLst>
                                    <p:set>
                                      <p:cBhvr>
                                        <p:cTn id="12" dur="1" fill="hold">
                                          <p:stCondLst>
                                            <p:cond delay="0"/>
                                          </p:stCondLst>
                                        </p:cTn>
                                        <p:tgtEl>
                                          <p:spTgt spid="4">
                                            <p:txEl>
                                              <p:pRg st="1" end="1"/>
                                            </p:txEl>
                                          </p:spTgt>
                                        </p:tgtEl>
                                        <p:attrNameLst>
                                          <p:attrName>style.visibility</p:attrName>
                                        </p:attrNameLst>
                                      </p:cBhvr>
                                      <p:to>
                                        <p:strVal val="visible"/>
                                      </p:to>
                                    </p:set>
                                  </p:childTnLst>
                                </p:cTn>
                              </p:par>
                            </p:childTnLst>
                          </p:cTn>
                        </p:par>
                      </p:childTnLst>
                    </p:cTn>
                  </p:par>
                  <p:par>
                    <p:cTn id="13" fill="hold">
                      <p:stCondLst>
                        <p:cond delay="indefinite"/>
                      </p:stCondLst>
                      <p:childTnLst>
                        <p:par>
                          <p:cTn id="14" fill="hold">
                            <p:stCondLst>
                              <p:cond delay="0"/>
                            </p:stCondLst>
                            <p:childTnLst>
                              <p:par>
                                <p:cTn id="15" presetID="1" presetClass="entr" presetSubtype="0" fill="hold" grpId="0" nodeType="clickEffect">
                                  <p:stCondLst>
                                    <p:cond delay="0"/>
                                  </p:stCondLst>
                                  <p:childTnLst>
                                    <p:set>
                                      <p:cBhvr>
                                        <p:cTn id="16" dur="1" fill="hold">
                                          <p:stCondLst>
                                            <p:cond delay="0"/>
                                          </p:stCondLst>
                                        </p:cTn>
                                        <p:tgtEl>
                                          <p:spTgt spid="4">
                                            <p:txEl>
                                              <p:pRg st="2" end="2"/>
                                            </p:txEl>
                                          </p:spTgt>
                                        </p:tgtEl>
                                        <p:attrNameLst>
                                          <p:attrName>style.visibility</p:attrName>
                                        </p:attrNameLst>
                                      </p:cBhvr>
                                      <p:to>
                                        <p:strVal val="visible"/>
                                      </p:to>
                                    </p:set>
                                  </p:childTnLst>
                                </p:cTn>
                              </p:par>
                            </p:childTnLst>
                          </p:cTn>
                        </p:par>
                      </p:childTnLst>
                    </p:cTn>
                  </p:par>
                  <p:par>
                    <p:cTn id="17" fill="hold">
                      <p:stCondLst>
                        <p:cond delay="indefinite"/>
                      </p:stCondLst>
                      <p:childTnLst>
                        <p:par>
                          <p:cTn id="18" fill="hold">
                            <p:stCondLst>
                              <p:cond delay="0"/>
                            </p:stCondLst>
                            <p:childTnLst>
                              <p:par>
                                <p:cTn id="19" presetID="1" presetClass="entr" presetSubtype="0" fill="hold" grpId="0" nodeType="clickEffect">
                                  <p:stCondLst>
                                    <p:cond delay="0"/>
                                  </p:stCondLst>
                                  <p:childTnLst>
                                    <p:set>
                                      <p:cBhvr>
                                        <p:cTn id="20" dur="1" fill="hold">
                                          <p:stCondLst>
                                            <p:cond delay="0"/>
                                          </p:stCondLst>
                                        </p:cTn>
                                        <p:tgtEl>
                                          <p:spTgt spid="4">
                                            <p:txEl>
                                              <p:pRg st="3" end="3"/>
                                            </p:txEl>
                                          </p:spTgt>
                                        </p:tgtEl>
                                        <p:attrNameLst>
                                          <p:attrName>style.visibility</p:attrName>
                                        </p:attrNameLst>
                                      </p:cBhvr>
                                      <p:to>
                                        <p:strVal val="visible"/>
                                      </p:to>
                                    </p:set>
                                  </p:childTnLst>
                                </p:cTn>
                              </p:par>
                              <p:par>
                                <p:cTn id="21" presetID="1" presetClass="entr" presetSubtype="0" fill="hold" grpId="0" nodeType="withEffect">
                                  <p:stCondLst>
                                    <p:cond delay="0"/>
                                  </p:stCondLst>
                                  <p:childTnLst>
                                    <p:set>
                                      <p:cBhvr>
                                        <p:cTn id="22" dur="1" fill="hold">
                                          <p:stCondLst>
                                            <p:cond delay="0"/>
                                          </p:stCondLst>
                                        </p:cTn>
                                        <p:tgtEl>
                                          <p:spTgt spid="8"/>
                                        </p:tgtEl>
                                        <p:attrNameLst>
                                          <p:attrName>style.visibility</p:attrName>
                                        </p:attrNameLst>
                                      </p:cBhvr>
                                      <p:to>
                                        <p:strVal val="visible"/>
                                      </p:to>
                                    </p:set>
                                  </p:childTnLst>
                                </p:cTn>
                              </p:par>
                              <p:par>
                                <p:cTn id="23" presetID="1" presetClass="exit" presetSubtype="0" fill="hold" grpId="1" nodeType="withEffect">
                                  <p:stCondLst>
                                    <p:cond delay="0"/>
                                  </p:stCondLst>
                                  <p:childTnLst>
                                    <p:set>
                                      <p:cBhvr>
                                        <p:cTn id="24" dur="1" fill="hold">
                                          <p:stCondLst>
                                            <p:cond delay="0"/>
                                          </p:stCondLst>
                                        </p:cTn>
                                        <p:tgtEl>
                                          <p:spTgt spid="5"/>
                                        </p:tgtEl>
                                        <p:attrNameLst>
                                          <p:attrName>style.visibility</p:attrName>
                                        </p:attrNameLst>
                                      </p:cBhvr>
                                      <p:to>
                                        <p:strVal val="hidden"/>
                                      </p:to>
                                    </p:set>
                                  </p:childTnLst>
                                </p:cTn>
                              </p:par>
                            </p:childTnLst>
                          </p:cTn>
                        </p:par>
                      </p:childTnLst>
                    </p:cTn>
                  </p:par>
                  <p:par>
                    <p:cTn id="25" fill="hold">
                      <p:stCondLst>
                        <p:cond delay="indefinite"/>
                      </p:stCondLst>
                      <p:childTnLst>
                        <p:par>
                          <p:cTn id="26" fill="hold">
                            <p:stCondLst>
                              <p:cond delay="0"/>
                            </p:stCondLst>
                            <p:childTnLst>
                              <p:par>
                                <p:cTn id="27" presetID="1" presetClass="entr" presetSubtype="0" fill="hold" grpId="0" nodeType="clickEffect">
                                  <p:stCondLst>
                                    <p:cond delay="0"/>
                                  </p:stCondLst>
                                  <p:childTnLst>
                                    <p:set>
                                      <p:cBhvr>
                                        <p:cTn id="28" dur="1" fill="hold">
                                          <p:stCondLst>
                                            <p:cond delay="0"/>
                                          </p:stCondLst>
                                        </p:cTn>
                                        <p:tgtEl>
                                          <p:spTgt spid="4">
                                            <p:txEl>
                                              <p:pRg st="4" end="4"/>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4" grpId="0" build="p"/>
    </p:bldLst>
  </p:timing>
</p:sld>
</file>

<file path=ppt/slides/slide6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b0_2">
            <a:extLst>
              <a:ext uri="{FF2B5EF4-FFF2-40B4-BE49-F238E27FC236}">
                <a16:creationId xmlns:a16="http://schemas.microsoft.com/office/drawing/2014/main" id="{33DE8782-7F2B-1033-00F6-2A6652EE0E80}"/>
              </a:ext>
            </a:extLst>
          </p:cNvPr>
          <p:cNvSpPr txBox="1"/>
          <p:nvPr/>
        </p:nvSpPr>
        <p:spPr>
          <a:xfrm>
            <a:off x="0" y="148566"/>
            <a:ext cx="11680992" cy="548640"/>
          </a:xfrm>
          <a:prstGeom prst="rect">
            <a:avLst/>
          </a:prstGeom>
          <a:noFill/>
          <a:ln>
            <a:noFill/>
          </a:ln>
        </p:spPr>
        <p:txBody>
          <a:bodyPr wrap="square" rtlCol="0" anchor="ctr"/>
          <a:lstStyle/>
          <a:p>
            <a:r>
              <a:rPr lang="en-US" sz="3200" b="1" dirty="0">
                <a:solidFill>
                  <a:srgbClr val="FF0000"/>
                </a:solidFill>
                <a:latin typeface="Calibri" pitchFamily="34" charset="0"/>
                <a:ea typeface="Calibri" pitchFamily="34" charset="-122"/>
                <a:cs typeface="Calibri" pitchFamily="34" charset="-120"/>
              </a:rPr>
              <a:t>Hands-on</a:t>
            </a:r>
            <a:r>
              <a:rPr lang="en-US" sz="3200" b="1" dirty="0">
                <a:solidFill>
                  <a:srgbClr val="000000"/>
                </a:solidFill>
                <a:latin typeface="Calibri" pitchFamily="34" charset="0"/>
                <a:ea typeface="Calibri" pitchFamily="34" charset="-122"/>
                <a:cs typeface="Calibri" pitchFamily="34" charset="-120"/>
              </a:rPr>
              <a:t>: an </a:t>
            </a:r>
            <a:r>
              <a:rPr lang="en-US" sz="3200" b="1" dirty="0">
                <a:solidFill>
                  <a:srgbClr val="362FEC"/>
                </a:solidFill>
                <a:latin typeface="Calibri" pitchFamily="34" charset="0"/>
                <a:ea typeface="Calibri" pitchFamily="34" charset="-122"/>
                <a:cs typeface="Calibri" pitchFamily="34" charset="-120"/>
              </a:rPr>
              <a:t>Autograd</a:t>
            </a:r>
            <a:r>
              <a:rPr lang="en-US" sz="3200" b="1" dirty="0">
                <a:solidFill>
                  <a:srgbClr val="000000"/>
                </a:solidFill>
                <a:latin typeface="Calibri" pitchFamily="34" charset="0"/>
                <a:ea typeface="Calibri" pitchFamily="34" charset="-122"/>
                <a:cs typeface="Calibri" pitchFamily="34" charset="-120"/>
              </a:rPr>
              <a:t> Engine</a:t>
            </a:r>
            <a:endParaRPr lang="en-US" sz="3200" dirty="0">
              <a:solidFill>
                <a:srgbClr val="362FEC"/>
              </a:solidFill>
            </a:endParaRPr>
          </a:p>
        </p:txBody>
      </p:sp>
      <p:sp>
        <p:nvSpPr>
          <p:cNvPr id="3" name="subheading">
            <a:extLst>
              <a:ext uri="{FF2B5EF4-FFF2-40B4-BE49-F238E27FC236}">
                <a16:creationId xmlns:a16="http://schemas.microsoft.com/office/drawing/2014/main" id="{5CB8A4AA-40B1-94AE-8EEE-080599481F78}"/>
              </a:ext>
            </a:extLst>
          </p:cNvPr>
          <p:cNvSpPr txBox="1"/>
          <p:nvPr/>
        </p:nvSpPr>
        <p:spPr>
          <a:xfrm>
            <a:off x="292608" y="868680"/>
            <a:ext cx="11430000" cy="411480"/>
          </a:xfrm>
          <a:prstGeom prst="rect">
            <a:avLst/>
          </a:prstGeom>
          <a:noFill/>
          <a:ln>
            <a:noFill/>
          </a:ln>
        </p:spPr>
        <p:txBody>
          <a:bodyPr wrap="square" lIns="0" tIns="0" rIns="0" bIns="0" rtlCol="0" anchor="ctr"/>
          <a:lstStyle/>
          <a:p>
            <a:pPr marL="0" indent="0">
              <a:buNone/>
            </a:pPr>
            <a:r>
              <a:rPr lang="en-US" sz="2000" b="1" dirty="0">
                <a:solidFill>
                  <a:srgbClr val="362FEC"/>
                </a:solidFill>
                <a:latin typeface="Calibri" panose="020F0502020204030204" pitchFamily="34" charset="0"/>
                <a:cs typeface="Calibri" panose="020F0502020204030204" pitchFamily="34" charset="0"/>
              </a:rPr>
              <a:t>Next week: grammars and counts</a:t>
            </a:r>
          </a:p>
        </p:txBody>
      </p:sp>
      <p:sp>
        <p:nvSpPr>
          <p:cNvPr id="4" name="points"/>
          <p:cNvSpPr txBox="1"/>
          <p:nvPr/>
        </p:nvSpPr>
        <p:spPr>
          <a:xfrm>
            <a:off x="384048" y="1417320"/>
            <a:ext cx="6126480" cy="5166360"/>
          </a:xfrm>
          <a:prstGeom prst="rect">
            <a:avLst/>
          </a:prstGeom>
          <a:noFill/>
        </p:spPr>
        <p:txBody>
          <a:bodyPr wrap="square" lIns="0" rIns="0" tIns="0" bIns="0">
            <a:spAutoFit/>
          </a:bodyPr>
          <a:lstStyle/>
          <a:p>
            <a:pPr algn="l">
              <a:spcAft>
                <a:spcPts val="2200"/>
              </a:spcAft>
            </a:pPr>
            <a:r>
              <a:rPr sz="2200" b="1" i="0">
                <a:solidFill>
                  <a:srgbClr val="362FEC"/>
                </a:solidFill>
                <a:latin typeface="Calibri"/>
              </a:rPr>
              <a:t>1</a:t>
            </a:r>
            <a:r>
              <a:rPr sz="2200" b="0" i="0">
                <a:solidFill>
                  <a:srgbClr val="000000"/>
                </a:solidFill>
                <a:latin typeface="Calibri"/>
              </a:rPr>
              <a:t>. What makes a string belong to a language?</a:t>
            </a:r>
          </a:p>
          <a:p>
            <a:pPr algn="l">
              <a:spcAft>
                <a:spcPts val="2200"/>
              </a:spcAft>
            </a:pPr>
            <a:r>
              <a:rPr sz="2200" b="1" i="0">
                <a:solidFill>
                  <a:srgbClr val="00B050"/>
                </a:solidFill>
                <a:latin typeface="Calibri"/>
              </a:rPr>
              <a:t>2</a:t>
            </a:r>
            <a:r>
              <a:rPr sz="2200" b="0" i="0">
                <a:solidFill>
                  <a:srgbClr val="000000"/>
                </a:solidFill>
                <a:latin typeface="Calibri"/>
              </a:rPr>
              <a:t>. How do we assign probabilities to strings?</a:t>
            </a:r>
          </a:p>
          <a:p>
            <a:pPr algn="l">
              <a:spcAft>
                <a:spcPts val="2200"/>
              </a:spcAft>
            </a:pPr>
            <a:r>
              <a:rPr sz="2200" b="1" i="0">
                <a:solidFill>
                  <a:srgbClr val="FF0000"/>
                </a:solidFill>
                <a:latin typeface="Calibri"/>
              </a:rPr>
              <a:t>3</a:t>
            </a:r>
            <a:r>
              <a:rPr sz="2200" b="0" i="0">
                <a:solidFill>
                  <a:srgbClr val="000000"/>
                </a:solidFill>
                <a:latin typeface="Calibri"/>
              </a:rPr>
              <a:t>. How do we measure whether a predictor is any good?</a:t>
            </a:r>
          </a:p>
        </p:txBody>
      </p:sp>
      <p:grpSp>
        <p:nvGrpSpPr>
          <p:cNvPr id="5" name="picture 1"/>
          <p:cNvGrpSpPr/>
          <p:nvPr/>
        </p:nvGrpSpPr>
        <p:grpSpPr>
          <a:xfrm>
            <a:off x="6812280" y="1371600"/>
            <a:ext cx="5120640" cy="3675888"/>
            <a:chOff x="6812280" y="1371600"/>
            <a:chExt cx="5120640" cy="3675888"/>
          </a:xfrm>
        </p:grpSpPr>
        <p:pic>
          <p:nvPicPr>
            <p:cNvPr id="6" name="Picture 5" descr="chomsky_hierarchy.png"/>
            <p:cNvPicPr>
              <a:picLocks noChangeAspect="1"/>
            </p:cNvPicPr>
            <p:nvPr/>
          </p:nvPicPr>
          <p:blipFill>
            <a:blip r:embed="rId2"/>
            <a:stretch>
              <a:fillRect/>
            </a:stretch>
          </p:blipFill>
          <p:spPr>
            <a:xfrm>
              <a:off x="7491283" y="1371600"/>
              <a:ext cx="3762632" cy="2743200"/>
            </a:xfrm>
            <a:prstGeom prst="rect">
              <a:avLst/>
            </a:prstGeom>
          </p:spPr>
        </p:pic>
        <p:sp>
          <p:nvSpPr>
            <p:cNvPr id="7" name="description"/>
            <p:cNvSpPr txBox="1"/>
            <p:nvPr/>
          </p:nvSpPr>
          <p:spPr>
            <a:xfrm>
              <a:off x="6812280" y="4224528"/>
              <a:ext cx="5120640" cy="822960"/>
            </a:xfrm>
            <a:prstGeom prst="rect">
              <a:avLst/>
            </a:prstGeom>
            <a:noFill/>
          </p:spPr>
          <p:txBody>
            <a:bodyPr wrap="square" anchor="t" lIns="0" rIns="0" tIns="0" bIns="0">
              <a:spAutoFit/>
            </a:bodyPr>
            <a:lstStyle/>
            <a:p>
              <a:pPr algn="l"/>
              <a:r>
                <a:rPr sz="1400" b="0" i="0">
                  <a:solidFill>
                    <a:srgbClr val="595959"/>
                  </a:solidFill>
                  <a:latin typeface="Calibri"/>
                </a:rPr>
                <a:t>Grammars and automata.</a:t>
              </a:r>
            </a:p>
          </p:txBody>
        </p:sp>
      </p:grpSp>
      <p:grpSp>
        <p:nvGrpSpPr>
          <p:cNvPr id="8" name="picture 2"/>
          <p:cNvGrpSpPr/>
          <p:nvPr/>
        </p:nvGrpSpPr>
        <p:grpSpPr>
          <a:xfrm>
            <a:off x="6812280" y="1371600"/>
            <a:ext cx="5120640" cy="4041648"/>
            <a:chOff x="6812280" y="1371600"/>
            <a:chExt cx="5120640" cy="4041648"/>
          </a:xfrm>
        </p:grpSpPr>
        <p:pic>
          <p:nvPicPr>
            <p:cNvPr id="9" name="Picture 8" descr="zipf.png"/>
            <p:cNvPicPr>
              <a:picLocks noChangeAspect="1"/>
            </p:cNvPicPr>
            <p:nvPr/>
          </p:nvPicPr>
          <p:blipFill>
            <a:blip r:embed="rId3"/>
            <a:stretch>
              <a:fillRect/>
            </a:stretch>
          </p:blipFill>
          <p:spPr>
            <a:xfrm>
              <a:off x="7215684" y="1371600"/>
              <a:ext cx="4313830" cy="3108960"/>
            </a:xfrm>
            <a:prstGeom prst="rect">
              <a:avLst/>
            </a:prstGeom>
          </p:spPr>
        </p:pic>
        <p:sp>
          <p:nvSpPr>
            <p:cNvPr id="10" name="description"/>
            <p:cNvSpPr txBox="1"/>
            <p:nvPr/>
          </p:nvSpPr>
          <p:spPr>
            <a:xfrm>
              <a:off x="6812280" y="4590288"/>
              <a:ext cx="5120640" cy="822960"/>
            </a:xfrm>
            <a:prstGeom prst="rect">
              <a:avLst/>
            </a:prstGeom>
            <a:noFill/>
          </p:spPr>
          <p:txBody>
            <a:bodyPr wrap="square" anchor="t" lIns="0" rIns="0" tIns="0" bIns="0">
              <a:spAutoFit/>
            </a:bodyPr>
            <a:lstStyle/>
            <a:p>
              <a:pPr algn="l"/>
              <a:r>
                <a:rPr sz="1400" b="0" i="0">
                  <a:solidFill>
                    <a:srgbClr val="595959"/>
                  </a:solidFill>
                  <a:latin typeface="Calibri"/>
                </a:rPr>
                <a:t>Counts: most words are rare.</a:t>
              </a:r>
            </a:p>
          </p:txBody>
        </p:sp>
      </p:grpSp>
      <p:grpSp>
        <p:nvGrpSpPr>
          <p:cNvPr id="11" name="picture 3"/>
          <p:cNvGrpSpPr/>
          <p:nvPr/>
        </p:nvGrpSpPr>
        <p:grpSpPr>
          <a:xfrm>
            <a:off x="6812280" y="1371600"/>
            <a:ext cx="5120640" cy="4041648"/>
            <a:chOff x="6812280" y="1371600"/>
            <a:chExt cx="5120640" cy="4041648"/>
          </a:xfrm>
        </p:grpSpPr>
        <p:pic>
          <p:nvPicPr>
            <p:cNvPr id="12" name="Picture 11" descr="entropy_vs_context.png"/>
            <p:cNvPicPr>
              <a:picLocks noChangeAspect="1"/>
            </p:cNvPicPr>
            <p:nvPr/>
          </p:nvPicPr>
          <p:blipFill>
            <a:blip r:embed="rId4"/>
            <a:stretch>
              <a:fillRect/>
            </a:stretch>
          </p:blipFill>
          <p:spPr>
            <a:xfrm>
              <a:off x="7011316" y="1371600"/>
              <a:ext cx="4722567" cy="3108960"/>
            </a:xfrm>
            <a:prstGeom prst="rect">
              <a:avLst/>
            </a:prstGeom>
          </p:spPr>
        </p:pic>
        <p:sp>
          <p:nvSpPr>
            <p:cNvPr id="13" name="description"/>
            <p:cNvSpPr txBox="1"/>
            <p:nvPr/>
          </p:nvSpPr>
          <p:spPr>
            <a:xfrm>
              <a:off x="6812280" y="4590288"/>
              <a:ext cx="5120640" cy="822960"/>
            </a:xfrm>
            <a:prstGeom prst="rect">
              <a:avLst/>
            </a:prstGeom>
            <a:noFill/>
          </p:spPr>
          <p:txBody>
            <a:bodyPr wrap="square" anchor="t" lIns="0" rIns="0" tIns="0" bIns="0">
              <a:spAutoFit/>
            </a:bodyPr>
            <a:lstStyle/>
            <a:p>
              <a:pPr algn="l"/>
              <a:r>
                <a:rPr sz="1400" b="0" i="0">
                  <a:solidFill>
                    <a:srgbClr val="595959"/>
                  </a:solidFill>
                  <a:latin typeface="Calibri"/>
                </a:rPr>
                <a:t>Held-out log loss, bits per letter, and perplexity.</a:t>
              </a:r>
            </a:p>
          </p:txBody>
        </p:sp>
      </p:grpSp>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4">
                                            <p:txEl>
                                              <p:pRg st="0" end="0"/>
                                            </p:txEl>
                                          </p:spTgt>
                                        </p:tgtEl>
                                        <p:attrNameLst>
                                          <p:attrName>style.visibility</p:attrName>
                                        </p:attrNameLst>
                                      </p:cBhvr>
                                      <p:to>
                                        <p:strVal val="visible"/>
                                      </p:to>
                                    </p:set>
                                  </p:childTnLst>
                                </p:cTn>
                              </p:par>
                              <p:par>
                                <p:cTn id="7" presetID="1" presetClass="entr" presetSubtype="0" fill="hold" grpId="0" nodeType="withEffect">
                                  <p:stCondLst>
                                    <p:cond delay="0"/>
                                  </p:stCondLst>
                                  <p:childTnLst>
                                    <p:set>
                                      <p:cBhvr>
                                        <p:cTn id="8" dur="1" fill="hold">
                                          <p:stCondLst>
                                            <p:cond delay="0"/>
                                          </p:stCondLst>
                                        </p:cTn>
                                        <p:tgtEl>
                                          <p:spTgt spid="5"/>
                                        </p:tgtEl>
                                        <p:attrNameLst>
                                          <p:attrName>style.visibility</p:attrName>
                                        </p:attrNameLst>
                                      </p:cBhvr>
                                      <p:to>
                                        <p:strVal val="visible"/>
                                      </p:to>
                                    </p:set>
                                  </p:childTnLst>
                                </p:cTn>
                              </p:par>
                            </p:childTnLst>
                          </p:cTn>
                        </p:par>
                      </p:childTnLst>
                    </p:cTn>
                  </p:par>
                  <p:par>
                    <p:cTn id="9" fill="hold">
                      <p:stCondLst>
                        <p:cond delay="indefinite"/>
                      </p:stCondLst>
                      <p:childTnLst>
                        <p:par>
                          <p:cTn id="10" fill="hold">
                            <p:stCondLst>
                              <p:cond delay="0"/>
                            </p:stCondLst>
                            <p:childTnLst>
                              <p:par>
                                <p:cTn id="11" presetID="1" presetClass="entr" presetSubtype="0" fill="hold" grpId="0" nodeType="clickEffect">
                                  <p:stCondLst>
                                    <p:cond delay="0"/>
                                  </p:stCondLst>
                                  <p:childTnLst>
                                    <p:set>
                                      <p:cBhvr>
                                        <p:cTn id="12" dur="1" fill="hold">
                                          <p:stCondLst>
                                            <p:cond delay="0"/>
                                          </p:stCondLst>
                                        </p:cTn>
                                        <p:tgtEl>
                                          <p:spTgt spid="4">
                                            <p:txEl>
                                              <p:pRg st="1" end="1"/>
                                            </p:txEl>
                                          </p:spTgt>
                                        </p:tgtEl>
                                        <p:attrNameLst>
                                          <p:attrName>style.visibility</p:attrName>
                                        </p:attrNameLst>
                                      </p:cBhvr>
                                      <p:to>
                                        <p:strVal val="visible"/>
                                      </p:to>
                                    </p:set>
                                  </p:childTnLst>
                                </p:cTn>
                              </p:par>
                              <p:par>
                                <p:cTn id="13" presetID="1" presetClass="entr" presetSubtype="0" fill="hold" grpId="0" nodeType="withEffect">
                                  <p:stCondLst>
                                    <p:cond delay="0"/>
                                  </p:stCondLst>
                                  <p:childTnLst>
                                    <p:set>
                                      <p:cBhvr>
                                        <p:cTn id="14" dur="1" fill="hold">
                                          <p:stCondLst>
                                            <p:cond delay="0"/>
                                          </p:stCondLst>
                                        </p:cTn>
                                        <p:tgtEl>
                                          <p:spTgt spid="8"/>
                                        </p:tgtEl>
                                        <p:attrNameLst>
                                          <p:attrName>style.visibility</p:attrName>
                                        </p:attrNameLst>
                                      </p:cBhvr>
                                      <p:to>
                                        <p:strVal val="visible"/>
                                      </p:to>
                                    </p:set>
                                  </p:childTnLst>
                                </p:cTn>
                              </p:par>
                              <p:par>
                                <p:cTn id="15" presetID="1" presetClass="exit" presetSubtype="0" fill="hold" grpId="1" nodeType="withEffect">
                                  <p:stCondLst>
                                    <p:cond delay="0"/>
                                  </p:stCondLst>
                                  <p:childTnLst>
                                    <p:set>
                                      <p:cBhvr>
                                        <p:cTn id="16" dur="1" fill="hold">
                                          <p:stCondLst>
                                            <p:cond delay="0"/>
                                          </p:stCondLst>
                                        </p:cTn>
                                        <p:tgtEl>
                                          <p:spTgt spid="5"/>
                                        </p:tgtEl>
                                        <p:attrNameLst>
                                          <p:attrName>style.visibility</p:attrName>
                                        </p:attrNameLst>
                                      </p:cBhvr>
                                      <p:to>
                                        <p:strVal val="hidden"/>
                                      </p:to>
                                    </p:set>
                                  </p:childTnLst>
                                </p:cTn>
                              </p:par>
                            </p:childTnLst>
                          </p:cTn>
                        </p:par>
                      </p:childTnLst>
                    </p:cTn>
                  </p:par>
                  <p:par>
                    <p:cTn id="17" fill="hold">
                      <p:stCondLst>
                        <p:cond delay="indefinite"/>
                      </p:stCondLst>
                      <p:childTnLst>
                        <p:par>
                          <p:cTn id="18" fill="hold">
                            <p:stCondLst>
                              <p:cond delay="0"/>
                            </p:stCondLst>
                            <p:childTnLst>
                              <p:par>
                                <p:cTn id="19" presetID="1" presetClass="entr" presetSubtype="0" fill="hold" grpId="0" nodeType="clickEffect">
                                  <p:stCondLst>
                                    <p:cond delay="0"/>
                                  </p:stCondLst>
                                  <p:childTnLst>
                                    <p:set>
                                      <p:cBhvr>
                                        <p:cTn id="20" dur="1" fill="hold">
                                          <p:stCondLst>
                                            <p:cond delay="0"/>
                                          </p:stCondLst>
                                        </p:cTn>
                                        <p:tgtEl>
                                          <p:spTgt spid="4">
                                            <p:txEl>
                                              <p:pRg st="2" end="2"/>
                                            </p:txEl>
                                          </p:spTgt>
                                        </p:tgtEl>
                                        <p:attrNameLst>
                                          <p:attrName>style.visibility</p:attrName>
                                        </p:attrNameLst>
                                      </p:cBhvr>
                                      <p:to>
                                        <p:strVal val="visible"/>
                                      </p:to>
                                    </p:set>
                                  </p:childTnLst>
                                </p:cTn>
                              </p:par>
                              <p:par>
                                <p:cTn id="21" presetID="1" presetClass="entr" presetSubtype="0" fill="hold" grpId="0" nodeType="withEffect">
                                  <p:stCondLst>
                                    <p:cond delay="0"/>
                                  </p:stCondLst>
                                  <p:childTnLst>
                                    <p:set>
                                      <p:cBhvr>
                                        <p:cTn id="22" dur="1" fill="hold">
                                          <p:stCondLst>
                                            <p:cond delay="0"/>
                                          </p:stCondLst>
                                        </p:cTn>
                                        <p:tgtEl>
                                          <p:spTgt spid="11"/>
                                        </p:tgtEl>
                                        <p:attrNameLst>
                                          <p:attrName>style.visibility</p:attrName>
                                        </p:attrNameLst>
                                      </p:cBhvr>
                                      <p:to>
                                        <p:strVal val="visible"/>
                                      </p:to>
                                    </p:set>
                                  </p:childTnLst>
                                </p:cTn>
                              </p:par>
                              <p:par>
                                <p:cTn id="23" presetID="1" presetClass="exit" presetSubtype="0" fill="hold" grpId="1" nodeType="withEffect">
                                  <p:stCondLst>
                                    <p:cond delay="0"/>
                                  </p:stCondLst>
                                  <p:childTnLst>
                                    <p:set>
                                      <p:cBhvr>
                                        <p:cTn id="24" dur="1" fill="hold">
                                          <p:stCondLst>
                                            <p:cond delay="0"/>
                                          </p:stCondLst>
                                        </p:cTn>
                                        <p:tgtEl>
                                          <p:spTgt spid="8"/>
                                        </p:tgtEl>
                                        <p:attrNameLst>
                                          <p:attrName>style.visibility</p:attrName>
                                        </p:attrNameLst>
                                      </p:cBhvr>
                                      <p:to>
                                        <p:strVal val="hidden"/>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4" grpId="0" build="p"/>
    </p:bldLst>
  </p:timing>
</p:sld>
</file>

<file path=ppt/slides/slide6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b0_2">
            <a:extLst>
              <a:ext uri="{FF2B5EF4-FFF2-40B4-BE49-F238E27FC236}">
                <a16:creationId xmlns:a16="http://schemas.microsoft.com/office/drawing/2014/main" id="{33DE8782-7F2B-1033-00F6-2A6652EE0E80}"/>
              </a:ext>
            </a:extLst>
          </p:cNvPr>
          <p:cNvSpPr txBox="1"/>
          <p:nvPr/>
        </p:nvSpPr>
        <p:spPr>
          <a:xfrm>
            <a:off x="0" y="148566"/>
            <a:ext cx="11680992" cy="548640"/>
          </a:xfrm>
          <a:prstGeom prst="rect">
            <a:avLst/>
          </a:prstGeom>
          <a:noFill/>
          <a:ln>
            <a:noFill/>
          </a:ln>
        </p:spPr>
        <p:txBody>
          <a:bodyPr wrap="square" rtlCol="0" anchor="ctr"/>
          <a:lstStyle/>
          <a:p>
            <a:r>
              <a:rPr lang="en-US" sz="3200" b="1" dirty="0">
                <a:solidFill>
                  <a:srgbClr val="000000"/>
                </a:solidFill>
                <a:latin typeface="Calibri" pitchFamily="34" charset="0"/>
                <a:ea typeface="Calibri" pitchFamily="34" charset="-122"/>
                <a:cs typeface="Calibri" pitchFamily="34" charset="-120"/>
              </a:rPr>
              <a:t>Understanding </a:t>
            </a:r>
            <a:r>
              <a:rPr lang="en-US" sz="3200" b="1" dirty="0">
                <a:solidFill>
                  <a:srgbClr val="FF0000"/>
                </a:solidFill>
                <a:latin typeface="Calibri" pitchFamily="34" charset="0"/>
                <a:ea typeface="Calibri" pitchFamily="34" charset="-122"/>
                <a:cs typeface="Calibri" pitchFamily="34" charset="-120"/>
              </a:rPr>
              <a:t>Intelligence</a:t>
            </a:r>
            <a:endParaRPr lang="en-US" sz="3200" dirty="0">
              <a:solidFill>
                <a:srgbClr val="362FEC"/>
              </a:solidFill>
            </a:endParaRPr>
          </a:p>
        </p:txBody>
      </p:sp>
      <p:sp>
        <p:nvSpPr>
          <p:cNvPr id="3" name="subheading">
            <a:extLst>
              <a:ext uri="{FF2B5EF4-FFF2-40B4-BE49-F238E27FC236}">
                <a16:creationId xmlns:a16="http://schemas.microsoft.com/office/drawing/2014/main" id="{5CB8A4AA-40B1-94AE-8EEE-080599481F78}"/>
              </a:ext>
            </a:extLst>
          </p:cNvPr>
          <p:cNvSpPr txBox="1"/>
          <p:nvPr/>
        </p:nvSpPr>
        <p:spPr>
          <a:xfrm>
            <a:off x="292608" y="868680"/>
            <a:ext cx="11430000" cy="411480"/>
          </a:xfrm>
          <a:prstGeom prst="rect">
            <a:avLst/>
          </a:prstGeom>
          <a:noFill/>
          <a:ln>
            <a:noFill/>
          </a:ln>
        </p:spPr>
        <p:txBody>
          <a:bodyPr wrap="square" lIns="0" tIns="0" rIns="0" bIns="0" rtlCol="0" anchor="ctr"/>
          <a:lstStyle/>
          <a:p>
            <a:pPr marL="0" indent="0">
              <a:buNone/>
            </a:pPr>
            <a:r>
              <a:rPr lang="en-US" sz="2000" b="1" dirty="0">
                <a:solidFill>
                  <a:srgbClr val="362FEC"/>
                </a:solidFill>
                <a:latin typeface="Calibri" panose="020F0502020204030204" pitchFamily="34" charset="0"/>
                <a:cs typeface="Calibri" panose="020F0502020204030204" pitchFamily="34" charset="0"/>
              </a:rPr>
              <a:t>Turing's question</a:t>
            </a:r>
          </a:p>
        </p:txBody>
      </p:sp>
      <p:sp>
        <p:nvSpPr>
          <p:cNvPr id="4" name="points"/>
          <p:cNvSpPr txBox="1"/>
          <p:nvPr/>
        </p:nvSpPr>
        <p:spPr>
          <a:xfrm>
            <a:off x="384048" y="1417320"/>
            <a:ext cx="6126480" cy="5166360"/>
          </a:xfrm>
          <a:prstGeom prst="rect">
            <a:avLst/>
          </a:prstGeom>
          <a:noFill/>
        </p:spPr>
        <p:txBody>
          <a:bodyPr wrap="square" lIns="0" rIns="0" tIns="0" bIns="0">
            <a:spAutoFit/>
          </a:bodyPr>
          <a:lstStyle/>
          <a:p>
            <a:pPr algn="l">
              <a:spcAft>
                <a:spcPts val="800"/>
              </a:spcAft>
            </a:pPr>
            <a:r>
              <a:rPr sz="1700" b="1" i="0">
                <a:solidFill>
                  <a:srgbClr val="FF0000"/>
                </a:solidFill>
                <a:latin typeface="Calibri"/>
              </a:rPr>
              <a:t>1637  </a:t>
            </a:r>
            <a:r>
              <a:rPr sz="1700" b="1" i="0">
                <a:solidFill>
                  <a:srgbClr val="000000"/>
                </a:solidFill>
                <a:latin typeface="Calibri"/>
              </a:rPr>
              <a:t>Descartes: </a:t>
            </a:r>
            <a:r>
              <a:rPr sz="1700" b="0" i="0">
                <a:solidFill>
                  <a:srgbClr val="000000"/>
                </a:solidFill>
                <a:latin typeface="Calibri"/>
              </a:rPr>
              <a:t>a machine could never arrange words to reply sensibly to whatever is said, as even the dullest person can.</a:t>
            </a:r>
          </a:p>
          <a:p>
            <a:pPr algn="l">
              <a:spcAft>
                <a:spcPts val="800"/>
              </a:spcAft>
            </a:pPr>
            <a:r>
              <a:rPr sz="1700" b="1" i="0">
                <a:solidFill>
                  <a:srgbClr val="FF0000"/>
                </a:solidFill>
                <a:latin typeface="Calibri"/>
              </a:rPr>
              <a:t>1843  </a:t>
            </a:r>
            <a:r>
              <a:rPr sz="1700" b="1" i="0">
                <a:solidFill>
                  <a:srgbClr val="000000"/>
                </a:solidFill>
                <a:latin typeface="Calibri"/>
              </a:rPr>
              <a:t>Lovelace: </a:t>
            </a:r>
            <a:r>
              <a:rPr sz="1700" b="0" i="0">
                <a:solidFill>
                  <a:srgbClr val="000000"/>
                </a:solidFill>
                <a:latin typeface="Calibri"/>
              </a:rPr>
              <a:t>the Analytical Engine “has no pretensions to originate anything”; it does only what it is ordered to do.</a:t>
            </a:r>
          </a:p>
          <a:p>
            <a:pPr algn="l">
              <a:spcAft>
                <a:spcPts val="800"/>
              </a:spcAft>
            </a:pPr>
            <a:r>
              <a:rPr sz="1700" b="1" i="0">
                <a:solidFill>
                  <a:srgbClr val="FF0000"/>
                </a:solidFill>
                <a:latin typeface="Calibri"/>
              </a:rPr>
              <a:t>1949  </a:t>
            </a:r>
            <a:r>
              <a:rPr sz="1700" b="1" i="0">
                <a:solidFill>
                  <a:srgbClr val="000000"/>
                </a:solidFill>
                <a:latin typeface="Calibri"/>
              </a:rPr>
              <a:t>Jefferson: </a:t>
            </a:r>
            <a:r>
              <a:rPr sz="1700" b="0" i="0">
                <a:solidFill>
                  <a:srgbClr val="000000"/>
                </a:solidFill>
                <a:latin typeface="Calibri"/>
              </a:rPr>
              <a:t>no machine equals the brain until it writes a sonnet from thoughts and emotions felt. The question reaches the newspapers.</a:t>
            </a:r>
          </a:p>
          <a:p>
            <a:pPr algn="l">
              <a:spcAft>
                <a:spcPts val="800"/>
              </a:spcAft>
            </a:pPr>
            <a:r>
              <a:rPr sz="1700" b="1" i="0">
                <a:solidFill>
                  <a:srgbClr val="362FEC"/>
                </a:solidFill>
                <a:latin typeface="Calibri"/>
              </a:rPr>
              <a:t>1950  </a:t>
            </a:r>
            <a:r>
              <a:rPr sz="1700" b="1" i="0">
                <a:solidFill>
                  <a:srgbClr val="000000"/>
                </a:solidFill>
                <a:latin typeface="Calibri"/>
              </a:rPr>
              <a:t>Turing: </a:t>
            </a:r>
            <a:r>
              <a:rPr sz="1700" b="0" i="0">
                <a:solidFill>
                  <a:srgbClr val="000000"/>
                </a:solidFill>
                <a:latin typeface="Calibri"/>
              </a:rPr>
              <a:t>“Can machines think?” is too ill-defined; replace it with a game. Build a child machine, and educate it.</a:t>
            </a:r>
          </a:p>
          <a:p>
            <a:pPr algn="l">
              <a:spcAft>
                <a:spcPts val="800"/>
              </a:spcAft>
            </a:pPr>
            <a:r>
              <a:rPr sz="1700" b="1" i="0">
                <a:solidFill>
                  <a:srgbClr val="362FEC"/>
                </a:solidFill>
                <a:latin typeface="Calibri"/>
              </a:rPr>
              <a:t>What lasts is the method: </a:t>
            </a:r>
            <a:r>
              <a:rPr sz="1700" b="0" i="0">
                <a:solidFill>
                  <a:srgbClr val="000000"/>
                </a:solidFill>
                <a:latin typeface="Calibri"/>
              </a:rPr>
              <a:t>replace “does it understand?” by “what does it compute, and how well, on a specified distribution of tasks?”</a:t>
            </a:r>
          </a:p>
          <a:p>
            <a:pPr algn="l">
              <a:spcAft>
                <a:spcPts val="800"/>
              </a:spcAft>
            </a:pPr>
            <a:r>
              <a:rPr sz="1700" b="1" i="0">
                <a:solidFill>
                  <a:srgbClr val="00B050"/>
                </a:solidFill>
                <a:latin typeface="Calibri"/>
              </a:rPr>
              <a:t>1966  </a:t>
            </a:r>
            <a:r>
              <a:rPr sz="1700" b="1" i="0">
                <a:solidFill>
                  <a:srgbClr val="000000"/>
                </a:solidFill>
                <a:latin typeface="Calibri"/>
              </a:rPr>
              <a:t>ELIZA: </a:t>
            </a:r>
            <a:r>
              <a:rPr sz="1700" b="0" i="0">
                <a:solidFill>
                  <a:srgbClr val="000000"/>
                </a:solidFill>
                <a:latin typeface="Calibri"/>
              </a:rPr>
              <a:t>a few pattern-matching rules left some users sure that it understood them. As a definition of intelligence, imitation is poor.</a:t>
            </a:r>
          </a:p>
          <a:p>
            <a:pPr algn="l">
              <a:spcAft>
                <a:spcPts val="800"/>
              </a:spcAft>
            </a:pPr>
            <a:r>
              <a:rPr sz="1700" b="1" i="0">
                <a:solidFill>
                  <a:srgbClr val="FF0000"/>
                </a:solidFill>
                <a:latin typeface="Calibri"/>
              </a:rPr>
              <a:t>1980  </a:t>
            </a:r>
            <a:r>
              <a:rPr sz="1700" b="1" i="0">
                <a:solidFill>
                  <a:srgbClr val="000000"/>
                </a:solidFill>
                <a:latin typeface="Calibri"/>
              </a:rPr>
              <a:t>The Chinese room: </a:t>
            </a:r>
            <a:r>
              <a:rPr sz="1700" b="0" i="0">
                <a:solidFill>
                  <a:srgbClr val="000000"/>
                </a:solidFill>
                <a:latin typeface="Calibri"/>
              </a:rPr>
              <a:t>the attack from the other side: even flawless behavior, Searle argues, would not show understanding.</a:t>
            </a:r>
          </a:p>
        </p:txBody>
      </p:sp>
      <p:grpSp>
        <p:nvGrpSpPr>
          <p:cNvPr id="5" name="picture 1"/>
          <p:cNvGrpSpPr/>
          <p:nvPr/>
        </p:nvGrpSpPr>
        <p:grpSpPr>
          <a:xfrm>
            <a:off x="6629400" y="1371600"/>
            <a:ext cx="5486400" cy="4480560"/>
            <a:chOff x="6629400" y="1371600"/>
            <a:chExt cx="5486400" cy="4480560"/>
          </a:xfrm>
        </p:grpSpPr>
        <p:pic>
          <p:nvPicPr>
            <p:cNvPr id="6" name="Picture 5" descr="image.jpg"/>
            <p:cNvPicPr>
              <a:picLocks noChangeAspect="1"/>
            </p:cNvPicPr>
            <p:nvPr/>
          </p:nvPicPr>
          <p:blipFill>
            <a:blip r:embed="rId2"/>
            <a:stretch>
              <a:fillRect/>
            </a:stretch>
          </p:blipFill>
          <p:spPr>
            <a:xfrm>
              <a:off x="8065236" y="1371600"/>
              <a:ext cx="2614726" cy="3200400"/>
            </a:xfrm>
            <a:prstGeom prst="rect">
              <a:avLst/>
            </a:prstGeom>
          </p:spPr>
        </p:pic>
        <p:sp>
          <p:nvSpPr>
            <p:cNvPr id="7" name="TextBox 6"/>
            <p:cNvSpPr txBox="1"/>
            <p:nvPr/>
          </p:nvSpPr>
          <p:spPr>
            <a:xfrm>
              <a:off x="6629400" y="4617720"/>
              <a:ext cx="5486400" cy="274320"/>
            </a:xfrm>
            <a:prstGeom prst="rect">
              <a:avLst/>
            </a:prstGeom>
            <a:noFill/>
          </p:spPr>
          <p:txBody>
            <a:bodyPr wrap="square" anchor="t" lIns="0" rIns="0" tIns="0" bIns="0">
              <a:spAutoFit/>
            </a:bodyPr>
            <a:lstStyle/>
            <a:p>
              <a:pPr algn="ctr"/>
              <a:r>
                <a:rPr sz="1200" b="0" i="0">
                  <a:solidFill>
                    <a:srgbClr val="595959"/>
                  </a:solidFill>
                  <a:latin typeface="Calibri"/>
                </a:rPr>
                <a:t>René Descartes, after Frans Hals</a:t>
              </a:r>
            </a:p>
          </p:txBody>
        </p:sp>
        <p:sp>
          <p:nvSpPr>
            <p:cNvPr id="8" name="description"/>
            <p:cNvSpPr txBox="1"/>
            <p:nvPr/>
          </p:nvSpPr>
          <p:spPr>
            <a:xfrm>
              <a:off x="6812280" y="5029200"/>
              <a:ext cx="5120640" cy="822960"/>
            </a:xfrm>
            <a:prstGeom prst="rect">
              <a:avLst/>
            </a:prstGeom>
            <a:noFill/>
          </p:spPr>
          <p:txBody>
            <a:bodyPr wrap="square" anchor="t" lIns="0" rIns="0" tIns="0" bIns="0">
              <a:spAutoFit/>
            </a:bodyPr>
            <a:lstStyle/>
            <a:p>
              <a:pPr algn="l"/>
              <a:r>
                <a:rPr sz="1400" b="0" i="0">
                  <a:solidFill>
                    <a:srgbClr val="595959"/>
                  </a:solidFill>
                  <a:latin typeface="Calibri"/>
                </a:rPr>
                <a:t>Discourse on the Method, Part V (1637): language, used sensibly in any situation, is what a machine could never do.</a:t>
              </a:r>
            </a:p>
          </p:txBody>
        </p:sp>
      </p:grpSp>
      <p:grpSp>
        <p:nvGrpSpPr>
          <p:cNvPr id="9" name="picture 2"/>
          <p:cNvGrpSpPr/>
          <p:nvPr/>
        </p:nvGrpSpPr>
        <p:grpSpPr>
          <a:xfrm>
            <a:off x="6537960" y="1371600"/>
            <a:ext cx="5701327" cy="3931920"/>
            <a:chOff x="6537960" y="1371600"/>
            <a:chExt cx="5701327" cy="3931920"/>
          </a:xfrm>
        </p:grpSpPr>
        <p:pic>
          <p:nvPicPr>
            <p:cNvPr id="10" name="Picture 9" descr="image.jpg"/>
            <p:cNvPicPr>
              <a:picLocks noChangeAspect="1"/>
            </p:cNvPicPr>
            <p:nvPr/>
          </p:nvPicPr>
          <p:blipFill>
            <a:blip r:embed="rId3"/>
            <a:stretch>
              <a:fillRect/>
            </a:stretch>
          </p:blipFill>
          <p:spPr>
            <a:xfrm>
              <a:off x="6812280" y="1371600"/>
              <a:ext cx="1574757" cy="2262483"/>
            </a:xfrm>
            <a:prstGeom prst="rect">
              <a:avLst/>
            </a:prstGeom>
          </p:spPr>
        </p:pic>
        <p:sp>
          <p:nvSpPr>
            <p:cNvPr id="11" name="TextBox 10"/>
            <p:cNvSpPr txBox="1"/>
            <p:nvPr/>
          </p:nvSpPr>
          <p:spPr>
            <a:xfrm>
              <a:off x="6537960" y="3670659"/>
              <a:ext cx="2123397" cy="274320"/>
            </a:xfrm>
            <a:prstGeom prst="rect">
              <a:avLst/>
            </a:prstGeom>
            <a:noFill/>
          </p:spPr>
          <p:txBody>
            <a:bodyPr wrap="square" anchor="t" lIns="0" rIns="0" tIns="0" bIns="0">
              <a:spAutoFit/>
            </a:bodyPr>
            <a:lstStyle/>
            <a:p>
              <a:pPr algn="ctr"/>
              <a:r>
                <a:rPr sz="1200" b="0" i="0">
                  <a:solidFill>
                    <a:srgbClr val="595959"/>
                  </a:solidFill>
                  <a:latin typeface="Calibri"/>
                </a:rPr>
                <a:t>Ada Lovelace</a:t>
              </a:r>
            </a:p>
          </p:txBody>
        </p:sp>
        <p:pic>
          <p:nvPicPr>
            <p:cNvPr id="12" name="Picture 11" descr="image.jpg"/>
            <p:cNvPicPr>
              <a:picLocks noChangeAspect="1"/>
            </p:cNvPicPr>
            <p:nvPr/>
          </p:nvPicPr>
          <p:blipFill>
            <a:blip r:embed="rId4"/>
            <a:stretch>
              <a:fillRect/>
            </a:stretch>
          </p:blipFill>
          <p:spPr>
            <a:xfrm>
              <a:off x="8569917" y="1371600"/>
              <a:ext cx="3395050" cy="2262483"/>
            </a:xfrm>
            <a:prstGeom prst="rect">
              <a:avLst/>
            </a:prstGeom>
          </p:spPr>
        </p:pic>
        <p:sp>
          <p:nvSpPr>
            <p:cNvPr id="13" name="TextBox 12"/>
            <p:cNvSpPr txBox="1"/>
            <p:nvPr/>
          </p:nvSpPr>
          <p:spPr>
            <a:xfrm>
              <a:off x="8295597" y="3670659"/>
              <a:ext cx="3943690" cy="274320"/>
            </a:xfrm>
            <a:prstGeom prst="rect">
              <a:avLst/>
            </a:prstGeom>
            <a:noFill/>
          </p:spPr>
          <p:txBody>
            <a:bodyPr wrap="square" anchor="t" lIns="0" rIns="0" tIns="0" bIns="0">
              <a:spAutoFit/>
            </a:bodyPr>
            <a:lstStyle/>
            <a:p>
              <a:pPr algn="ctr"/>
              <a:r>
                <a:rPr sz="1200" b="0" i="0">
                  <a:solidFill>
                    <a:srgbClr val="595959"/>
                  </a:solidFill>
                  <a:latin typeface="Calibri"/>
                </a:rPr>
                <a:t>Babbage's Analytical Engine, trial model</a:t>
              </a:r>
            </a:p>
          </p:txBody>
        </p:sp>
        <p:sp>
          <p:nvSpPr>
            <p:cNvPr id="14" name="description"/>
            <p:cNvSpPr txBox="1"/>
            <p:nvPr/>
          </p:nvSpPr>
          <p:spPr>
            <a:xfrm>
              <a:off x="6812280" y="4572000"/>
              <a:ext cx="5120640" cy="731520"/>
            </a:xfrm>
            <a:prstGeom prst="rect">
              <a:avLst/>
            </a:prstGeom>
            <a:noFill/>
          </p:spPr>
          <p:txBody>
            <a:bodyPr wrap="square" anchor="t" lIns="0" rIns="0" tIns="0" bIns="0">
              <a:spAutoFit/>
            </a:bodyPr>
            <a:lstStyle/>
            <a:p>
              <a:pPr algn="l"/>
              <a:r>
                <a:rPr sz="1400" b="0" i="0">
                  <a:solidFill>
                    <a:srgbClr val="595959"/>
                  </a:solidFill>
                  <a:latin typeface="Calibri"/>
                </a:rPr>
                <a:t>Her notes on the Analytical Engine (1843): it can do whatever we know how to order it to perform, and nothing more.</a:t>
              </a:r>
            </a:p>
          </p:txBody>
        </p:sp>
      </p:grpSp>
      <p:grpSp>
        <p:nvGrpSpPr>
          <p:cNvPr id="15" name="picture 3"/>
          <p:cNvGrpSpPr/>
          <p:nvPr/>
        </p:nvGrpSpPr>
        <p:grpSpPr>
          <a:xfrm>
            <a:off x="6629400" y="1371600"/>
            <a:ext cx="5486400" cy="4297680"/>
            <a:chOff x="6629400" y="1371600"/>
            <a:chExt cx="5486400" cy="4297680"/>
          </a:xfrm>
        </p:grpSpPr>
        <p:pic>
          <p:nvPicPr>
            <p:cNvPr id="16" name="Picture 15" descr="image.jpg"/>
            <p:cNvPicPr>
              <a:picLocks noChangeAspect="1"/>
            </p:cNvPicPr>
            <p:nvPr/>
          </p:nvPicPr>
          <p:blipFill>
            <a:blip r:embed="rId5"/>
            <a:stretch>
              <a:fillRect/>
            </a:stretch>
          </p:blipFill>
          <p:spPr>
            <a:xfrm>
              <a:off x="7087141" y="1371600"/>
              <a:ext cx="4570917" cy="3017520"/>
            </a:xfrm>
            <a:prstGeom prst="rect">
              <a:avLst/>
            </a:prstGeom>
          </p:spPr>
        </p:pic>
        <p:sp>
          <p:nvSpPr>
            <p:cNvPr id="17" name="TextBox 16"/>
            <p:cNvSpPr txBox="1"/>
            <p:nvPr/>
          </p:nvSpPr>
          <p:spPr>
            <a:xfrm>
              <a:off x="6629400" y="4434840"/>
              <a:ext cx="5486400" cy="274320"/>
            </a:xfrm>
            <a:prstGeom prst="rect">
              <a:avLst/>
            </a:prstGeom>
            <a:noFill/>
          </p:spPr>
          <p:txBody>
            <a:bodyPr wrap="square" anchor="t" lIns="0" rIns="0" tIns="0" bIns="0">
              <a:spAutoFit/>
            </a:bodyPr>
            <a:lstStyle/>
            <a:p>
              <a:pPr algn="ctr"/>
              <a:r>
                <a:rPr sz="1200" b="0" i="0">
                  <a:solidFill>
                    <a:srgbClr val="595959"/>
                  </a:solidFill>
                  <a:latin typeface="Calibri"/>
                </a:rPr>
                <a:t>the Manchester Baby, the first stored-program computer (1948; replica)</a:t>
              </a:r>
            </a:p>
          </p:txBody>
        </p:sp>
        <p:sp>
          <p:nvSpPr>
            <p:cNvPr id="18" name="description"/>
            <p:cNvSpPr txBox="1"/>
            <p:nvPr/>
          </p:nvSpPr>
          <p:spPr>
            <a:xfrm>
              <a:off x="6812280" y="4846320"/>
              <a:ext cx="5120640" cy="822960"/>
            </a:xfrm>
            <a:prstGeom prst="rect">
              <a:avLst/>
            </a:prstGeom>
            <a:noFill/>
          </p:spPr>
          <p:txBody>
            <a:bodyPr wrap="square" anchor="t" lIns="0" rIns="0" tIns="0" bIns="0">
              <a:spAutoFit/>
            </a:bodyPr>
            <a:lstStyle/>
            <a:p>
              <a:pPr algn="l"/>
              <a:r>
                <a:rPr sz="1400" b="0" i="0">
                  <a:solidFill>
                    <a:srgbClr val="595959"/>
                  </a:solidFill>
                  <a:latin typeface="Calibri"/>
                </a:rPr>
                <a:t>Geoffrey Jefferson's lecture of 1949 was widely reported. Stored-program computers were running in Manchester and Cambridge; Turing worked on Manchester's.</a:t>
              </a:r>
            </a:p>
          </p:txBody>
        </p:sp>
      </p:grpSp>
      <p:grpSp>
        <p:nvGrpSpPr>
          <p:cNvPr id="19" name="picture 4"/>
          <p:cNvGrpSpPr/>
          <p:nvPr/>
        </p:nvGrpSpPr>
        <p:grpSpPr>
          <a:xfrm>
            <a:off x="6537960" y="1371600"/>
            <a:ext cx="5704434" cy="4023360"/>
            <a:chOff x="6537960" y="1371600"/>
            <a:chExt cx="5704434" cy="4023360"/>
          </a:xfrm>
        </p:grpSpPr>
        <p:pic>
          <p:nvPicPr>
            <p:cNvPr id="20" name="Picture 19" descr="image.jpg"/>
            <p:cNvPicPr>
              <a:picLocks noChangeAspect="1"/>
            </p:cNvPicPr>
            <p:nvPr/>
          </p:nvPicPr>
          <p:blipFill>
            <a:blip r:embed="rId6"/>
            <a:stretch>
              <a:fillRect/>
            </a:stretch>
          </p:blipFill>
          <p:spPr>
            <a:xfrm>
              <a:off x="6812280" y="1371600"/>
              <a:ext cx="1410532" cy="1920414"/>
            </a:xfrm>
            <a:prstGeom prst="rect">
              <a:avLst/>
            </a:prstGeom>
          </p:spPr>
        </p:pic>
        <p:sp>
          <p:nvSpPr>
            <p:cNvPr id="21" name="TextBox 20"/>
            <p:cNvSpPr txBox="1"/>
            <p:nvPr/>
          </p:nvSpPr>
          <p:spPr>
            <a:xfrm>
              <a:off x="6537960" y="3328590"/>
              <a:ext cx="1959172" cy="274320"/>
            </a:xfrm>
            <a:prstGeom prst="rect">
              <a:avLst/>
            </a:prstGeom>
            <a:noFill/>
          </p:spPr>
          <p:txBody>
            <a:bodyPr wrap="square" anchor="t" lIns="0" rIns="0" tIns="0" bIns="0">
              <a:spAutoFit/>
            </a:bodyPr>
            <a:lstStyle/>
            <a:p>
              <a:pPr algn="ctr"/>
              <a:r>
                <a:rPr sz="1200" b="0" i="0">
                  <a:solidFill>
                    <a:srgbClr val="595959"/>
                  </a:solidFill>
                  <a:latin typeface="Calibri"/>
                </a:rPr>
                <a:t>Alan Turing</a:t>
              </a:r>
            </a:p>
          </p:txBody>
        </p:sp>
        <p:pic>
          <p:nvPicPr>
            <p:cNvPr id="22" name="Picture 21" descr="image.png"/>
            <p:cNvPicPr>
              <a:picLocks noChangeAspect="1"/>
            </p:cNvPicPr>
            <p:nvPr/>
          </p:nvPicPr>
          <p:blipFill>
            <a:blip r:embed="rId7"/>
            <a:stretch>
              <a:fillRect/>
            </a:stretch>
          </p:blipFill>
          <p:spPr>
            <a:xfrm>
              <a:off x="8405692" y="1371600"/>
              <a:ext cx="3562382" cy="1920414"/>
            </a:xfrm>
            <a:prstGeom prst="rect">
              <a:avLst/>
            </a:prstGeom>
          </p:spPr>
        </p:pic>
        <p:sp>
          <p:nvSpPr>
            <p:cNvPr id="23" name="TextBox 22"/>
            <p:cNvSpPr txBox="1"/>
            <p:nvPr/>
          </p:nvSpPr>
          <p:spPr>
            <a:xfrm>
              <a:off x="8131372" y="3328590"/>
              <a:ext cx="4111022" cy="274320"/>
            </a:xfrm>
            <a:prstGeom prst="rect">
              <a:avLst/>
            </a:prstGeom>
            <a:noFill/>
          </p:spPr>
          <p:txBody>
            <a:bodyPr wrap="square" anchor="t" lIns="0" rIns="0" tIns="0" bIns="0">
              <a:spAutoFit/>
            </a:bodyPr>
            <a:lstStyle/>
            <a:p>
              <a:pPr algn="ctr"/>
              <a:r>
                <a:rPr sz="1200" b="0" i="0">
                  <a:solidFill>
                    <a:srgbClr val="595959"/>
                  </a:solidFill>
                  <a:latin typeface="Calibri"/>
                </a:rPr>
                <a:t>the imitation game</a:t>
              </a:r>
            </a:p>
          </p:txBody>
        </p:sp>
        <p:sp>
          <p:nvSpPr>
            <p:cNvPr id="24" name="description"/>
            <p:cNvSpPr txBox="1"/>
            <p:nvPr/>
          </p:nvSpPr>
          <p:spPr>
            <a:xfrm>
              <a:off x="6812280" y="4206240"/>
              <a:ext cx="5120640" cy="1188720"/>
            </a:xfrm>
            <a:prstGeom prst="rect">
              <a:avLst/>
            </a:prstGeom>
            <a:noFill/>
          </p:spPr>
          <p:txBody>
            <a:bodyPr wrap="square" anchor="t" lIns="0" rIns="0" tIns="0" bIns="0">
              <a:spAutoFit/>
            </a:bodyPr>
            <a:lstStyle/>
            <a:p>
              <a:pPr algn="l"/>
              <a:r>
                <a:rPr sz="1400" b="0" i="0">
                  <a:solidFill>
                    <a:srgbClr val="595959"/>
                  </a:solidFill>
                  <a:latin typeface="Calibri"/>
                </a:rPr>
                <a:t>Computing Machinery and Intelligence (1950). Turing predicted that by about 2000 an average interrogator would have at most a 70% chance of a correct identification after five minutes. Most of the paper answers objections; its last section, “Learning Machines”, asks “why not rather try to produce one which simulates the child's?”</a:t>
              </a:r>
            </a:p>
          </p:txBody>
        </p:sp>
      </p:grpSp>
      <p:grpSp>
        <p:nvGrpSpPr>
          <p:cNvPr id="25" name="picture 6"/>
          <p:cNvGrpSpPr/>
          <p:nvPr/>
        </p:nvGrpSpPr>
        <p:grpSpPr>
          <a:xfrm>
            <a:off x="6537960" y="1371600"/>
            <a:ext cx="5670932" cy="3749040"/>
            <a:chOff x="6537960" y="1371600"/>
            <a:chExt cx="5670932" cy="3749040"/>
          </a:xfrm>
        </p:grpSpPr>
        <p:pic>
          <p:nvPicPr>
            <p:cNvPr id="26" name="Picture 25" descr="image.png"/>
            <p:cNvPicPr>
              <a:picLocks noChangeAspect="1"/>
            </p:cNvPicPr>
            <p:nvPr/>
          </p:nvPicPr>
          <p:blipFill>
            <a:blip r:embed="rId8"/>
            <a:stretch>
              <a:fillRect/>
            </a:stretch>
          </p:blipFill>
          <p:spPr>
            <a:xfrm>
              <a:off x="6812280" y="1371600"/>
              <a:ext cx="3772837" cy="2446567"/>
            </a:xfrm>
            <a:prstGeom prst="rect">
              <a:avLst/>
            </a:prstGeom>
          </p:spPr>
        </p:pic>
        <p:sp>
          <p:nvSpPr>
            <p:cNvPr id="27" name="TextBox 26"/>
            <p:cNvSpPr txBox="1"/>
            <p:nvPr/>
          </p:nvSpPr>
          <p:spPr>
            <a:xfrm>
              <a:off x="6537960" y="3854743"/>
              <a:ext cx="4321477" cy="274320"/>
            </a:xfrm>
            <a:prstGeom prst="rect">
              <a:avLst/>
            </a:prstGeom>
            <a:noFill/>
          </p:spPr>
          <p:txBody>
            <a:bodyPr wrap="square" anchor="t" lIns="0" rIns="0" tIns="0" bIns="0">
              <a:spAutoFit/>
            </a:bodyPr>
            <a:lstStyle/>
            <a:p>
              <a:pPr algn="ctr"/>
              <a:r>
                <a:rPr sz="1200" b="0" i="0">
                  <a:solidFill>
                    <a:srgbClr val="595959"/>
                  </a:solidFill>
                  <a:latin typeface="Calibri"/>
                </a:rPr>
                <a:t>ELIZA in a modern reimplementation</a:t>
              </a:r>
            </a:p>
          </p:txBody>
        </p:sp>
        <p:pic>
          <p:nvPicPr>
            <p:cNvPr id="28" name="Picture 27" descr="image.jpg"/>
            <p:cNvPicPr>
              <a:picLocks noChangeAspect="1"/>
            </p:cNvPicPr>
            <p:nvPr/>
          </p:nvPicPr>
          <p:blipFill>
            <a:blip r:embed="rId9"/>
            <a:stretch>
              <a:fillRect/>
            </a:stretch>
          </p:blipFill>
          <p:spPr>
            <a:xfrm>
              <a:off x="10767997" y="1371600"/>
              <a:ext cx="1166575" cy="2446567"/>
            </a:xfrm>
            <a:prstGeom prst="rect">
              <a:avLst/>
            </a:prstGeom>
          </p:spPr>
        </p:pic>
        <p:sp>
          <p:nvSpPr>
            <p:cNvPr id="29" name="TextBox 28"/>
            <p:cNvSpPr txBox="1"/>
            <p:nvPr/>
          </p:nvSpPr>
          <p:spPr>
            <a:xfrm>
              <a:off x="10493677" y="3854743"/>
              <a:ext cx="1715215" cy="274320"/>
            </a:xfrm>
            <a:prstGeom prst="rect">
              <a:avLst/>
            </a:prstGeom>
            <a:noFill/>
          </p:spPr>
          <p:txBody>
            <a:bodyPr wrap="square" anchor="t" lIns="0" rIns="0" tIns="0" bIns="0">
              <a:spAutoFit/>
            </a:bodyPr>
            <a:lstStyle/>
            <a:p>
              <a:pPr algn="ctr"/>
              <a:r>
                <a:rPr sz="1200" b="0" i="0">
                  <a:solidFill>
                    <a:srgbClr val="595959"/>
                  </a:solidFill>
                  <a:latin typeface="Calibri"/>
                </a:rPr>
                <a:t>Joseph Weizenbaum</a:t>
              </a:r>
            </a:p>
          </p:txBody>
        </p:sp>
        <p:sp>
          <p:nvSpPr>
            <p:cNvPr id="30" name="description"/>
            <p:cNvSpPr txBox="1"/>
            <p:nvPr/>
          </p:nvSpPr>
          <p:spPr>
            <a:xfrm>
              <a:off x="6812280" y="4297680"/>
              <a:ext cx="5120640" cy="822960"/>
            </a:xfrm>
            <a:prstGeom prst="rect">
              <a:avLst/>
            </a:prstGeom>
            <a:noFill/>
          </p:spPr>
          <p:txBody>
            <a:bodyPr wrap="square" anchor="t" lIns="0" rIns="0" tIns="0" bIns="0">
              <a:spAutoFit/>
            </a:bodyPr>
            <a:lstStyle/>
            <a:p>
              <a:pPr algn="l"/>
              <a:r>
                <a:rPr sz="1400" b="0" i="0">
                  <a:solidFill>
                    <a:srgbClr val="595959"/>
                  </a:solidFill>
                  <a:latin typeface="Calibri"/>
                </a:rPr>
                <a:t>Imitating humans is anthropocentric, rewards deception, and invites people to attribute understanding on thin evidence. Turing did not offer the game as a definition.</a:t>
              </a:r>
            </a:p>
          </p:txBody>
        </p:sp>
      </p:grpSp>
      <p:grpSp>
        <p:nvGrpSpPr>
          <p:cNvPr id="31" name="picture 7"/>
          <p:cNvGrpSpPr/>
          <p:nvPr/>
        </p:nvGrpSpPr>
        <p:grpSpPr>
          <a:xfrm>
            <a:off x="6812280" y="1371600"/>
            <a:ext cx="5441602" cy="3657600"/>
            <a:chOff x="6812280" y="1371600"/>
            <a:chExt cx="5441602" cy="3657600"/>
          </a:xfrm>
        </p:grpSpPr>
        <p:pic>
          <p:nvPicPr>
            <p:cNvPr id="32" name="Picture 31" descr="image.png"/>
            <p:cNvPicPr>
              <a:picLocks noChangeAspect="1"/>
            </p:cNvPicPr>
            <p:nvPr/>
          </p:nvPicPr>
          <p:blipFill>
            <a:blip r:embed="rId10"/>
            <a:stretch>
              <a:fillRect/>
            </a:stretch>
          </p:blipFill>
          <p:spPr>
            <a:xfrm>
              <a:off x="6812280" y="1371600"/>
              <a:ext cx="2634315" cy="1566724"/>
            </a:xfrm>
            <a:prstGeom prst="rect">
              <a:avLst/>
            </a:prstGeom>
          </p:spPr>
        </p:pic>
        <p:pic>
          <p:nvPicPr>
            <p:cNvPr id="33" name="Picture 32" descr="image.jpg"/>
            <p:cNvPicPr>
              <a:picLocks noChangeAspect="1"/>
            </p:cNvPicPr>
            <p:nvPr/>
          </p:nvPicPr>
          <p:blipFill>
            <a:blip r:embed="rId11"/>
            <a:stretch>
              <a:fillRect/>
            </a:stretch>
          </p:blipFill>
          <p:spPr>
            <a:xfrm>
              <a:off x="9629475" y="1371600"/>
              <a:ext cx="2350087" cy="1566724"/>
            </a:xfrm>
            <a:prstGeom prst="rect">
              <a:avLst/>
            </a:prstGeom>
          </p:spPr>
        </p:pic>
        <p:sp>
          <p:nvSpPr>
            <p:cNvPr id="34" name="TextBox 33"/>
            <p:cNvSpPr txBox="1"/>
            <p:nvPr/>
          </p:nvSpPr>
          <p:spPr>
            <a:xfrm>
              <a:off x="9355155" y="2974900"/>
              <a:ext cx="2898727" cy="274320"/>
            </a:xfrm>
            <a:prstGeom prst="rect">
              <a:avLst/>
            </a:prstGeom>
            <a:noFill/>
          </p:spPr>
          <p:txBody>
            <a:bodyPr wrap="square" anchor="t" lIns="0" rIns="0" tIns="0" bIns="0">
              <a:spAutoFit/>
            </a:bodyPr>
            <a:lstStyle/>
            <a:p>
              <a:pPr algn="ctr"/>
              <a:r>
                <a:rPr sz="1200" b="0" i="0">
                  <a:solidFill>
                    <a:srgbClr val="595959"/>
                  </a:solidFill>
                  <a:latin typeface="Calibri"/>
                </a:rPr>
                <a:t>John Searle</a:t>
              </a:r>
            </a:p>
          </p:txBody>
        </p:sp>
        <p:sp>
          <p:nvSpPr>
            <p:cNvPr id="35" name="description"/>
            <p:cNvSpPr txBox="1"/>
            <p:nvPr/>
          </p:nvSpPr>
          <p:spPr>
            <a:xfrm>
              <a:off x="6812280" y="3931920"/>
              <a:ext cx="5120640" cy="1097280"/>
            </a:xfrm>
            <a:prstGeom prst="rect">
              <a:avLst/>
            </a:prstGeom>
            <a:noFill/>
          </p:spPr>
          <p:txBody>
            <a:bodyPr wrap="square" anchor="t" lIns="0" rIns="0" tIns="0" bIns="0">
              <a:spAutoFit/>
            </a:bodyPr>
            <a:lstStyle/>
            <a:p>
              <a:pPr algn="l"/>
              <a:r>
                <a:rPr sz="1400" b="0" i="0">
                  <a:solidFill>
                    <a:srgbClr val="595959"/>
                  </a:solidFill>
                  <a:latin typeface="Calibri"/>
                </a:rPr>
                <a:t>A person with a rulebook answers Chinese questions sensibly without understanding Chinese. Reply: the whole system is the candidate. A language model is a learned procedure with no single part playing the person; the analogy sharpens the question of §7: can meaning be learned from form alone?</a:t>
              </a:r>
            </a:p>
          </p:txBody>
        </p:sp>
      </p:grpSp>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4">
                                            <p:txEl>
                                              <p:pRg st="0" end="0"/>
                                            </p:txEl>
                                          </p:spTgt>
                                        </p:tgtEl>
                                        <p:attrNameLst>
                                          <p:attrName>style.visibility</p:attrName>
                                        </p:attrNameLst>
                                      </p:cBhvr>
                                      <p:to>
                                        <p:strVal val="visible"/>
                                      </p:to>
                                    </p:set>
                                  </p:childTnLst>
                                </p:cTn>
                              </p:par>
                              <p:par>
                                <p:cTn id="7" presetID="1" presetClass="entr" presetSubtype="0" fill="hold" grpId="0" nodeType="withEffect">
                                  <p:stCondLst>
                                    <p:cond delay="0"/>
                                  </p:stCondLst>
                                  <p:childTnLst>
                                    <p:set>
                                      <p:cBhvr>
                                        <p:cTn id="8" dur="1" fill="hold">
                                          <p:stCondLst>
                                            <p:cond delay="0"/>
                                          </p:stCondLst>
                                        </p:cTn>
                                        <p:tgtEl>
                                          <p:spTgt spid="5"/>
                                        </p:tgtEl>
                                        <p:attrNameLst>
                                          <p:attrName>style.visibility</p:attrName>
                                        </p:attrNameLst>
                                      </p:cBhvr>
                                      <p:to>
                                        <p:strVal val="visible"/>
                                      </p:to>
                                    </p:set>
                                  </p:childTnLst>
                                </p:cTn>
                              </p:par>
                            </p:childTnLst>
                          </p:cTn>
                        </p:par>
                      </p:childTnLst>
                    </p:cTn>
                  </p:par>
                  <p:par>
                    <p:cTn id="9" fill="hold">
                      <p:stCondLst>
                        <p:cond delay="indefinite"/>
                      </p:stCondLst>
                      <p:childTnLst>
                        <p:par>
                          <p:cTn id="10" fill="hold">
                            <p:stCondLst>
                              <p:cond delay="0"/>
                            </p:stCondLst>
                            <p:childTnLst>
                              <p:par>
                                <p:cTn id="11" presetID="1" presetClass="entr" presetSubtype="0" fill="hold" grpId="0" nodeType="clickEffect">
                                  <p:stCondLst>
                                    <p:cond delay="0"/>
                                  </p:stCondLst>
                                  <p:childTnLst>
                                    <p:set>
                                      <p:cBhvr>
                                        <p:cTn id="12" dur="1" fill="hold">
                                          <p:stCondLst>
                                            <p:cond delay="0"/>
                                          </p:stCondLst>
                                        </p:cTn>
                                        <p:tgtEl>
                                          <p:spTgt spid="4">
                                            <p:txEl>
                                              <p:pRg st="1" end="1"/>
                                            </p:txEl>
                                          </p:spTgt>
                                        </p:tgtEl>
                                        <p:attrNameLst>
                                          <p:attrName>style.visibility</p:attrName>
                                        </p:attrNameLst>
                                      </p:cBhvr>
                                      <p:to>
                                        <p:strVal val="visible"/>
                                      </p:to>
                                    </p:set>
                                  </p:childTnLst>
                                </p:cTn>
                              </p:par>
                              <p:par>
                                <p:cTn id="13" presetID="1" presetClass="entr" presetSubtype="0" fill="hold" grpId="0" nodeType="withEffect">
                                  <p:stCondLst>
                                    <p:cond delay="0"/>
                                  </p:stCondLst>
                                  <p:childTnLst>
                                    <p:set>
                                      <p:cBhvr>
                                        <p:cTn id="14" dur="1" fill="hold">
                                          <p:stCondLst>
                                            <p:cond delay="0"/>
                                          </p:stCondLst>
                                        </p:cTn>
                                        <p:tgtEl>
                                          <p:spTgt spid="9"/>
                                        </p:tgtEl>
                                        <p:attrNameLst>
                                          <p:attrName>style.visibility</p:attrName>
                                        </p:attrNameLst>
                                      </p:cBhvr>
                                      <p:to>
                                        <p:strVal val="visible"/>
                                      </p:to>
                                    </p:set>
                                  </p:childTnLst>
                                </p:cTn>
                              </p:par>
                              <p:par>
                                <p:cTn id="15" presetID="1" presetClass="exit" presetSubtype="0" fill="hold" grpId="1" nodeType="withEffect">
                                  <p:stCondLst>
                                    <p:cond delay="0"/>
                                  </p:stCondLst>
                                  <p:childTnLst>
                                    <p:set>
                                      <p:cBhvr>
                                        <p:cTn id="16" dur="1" fill="hold">
                                          <p:stCondLst>
                                            <p:cond delay="0"/>
                                          </p:stCondLst>
                                        </p:cTn>
                                        <p:tgtEl>
                                          <p:spTgt spid="5"/>
                                        </p:tgtEl>
                                        <p:attrNameLst>
                                          <p:attrName>style.visibility</p:attrName>
                                        </p:attrNameLst>
                                      </p:cBhvr>
                                      <p:to>
                                        <p:strVal val="hidden"/>
                                      </p:to>
                                    </p:set>
                                  </p:childTnLst>
                                </p:cTn>
                              </p:par>
                            </p:childTnLst>
                          </p:cTn>
                        </p:par>
                      </p:childTnLst>
                    </p:cTn>
                  </p:par>
                  <p:par>
                    <p:cTn id="17" fill="hold">
                      <p:stCondLst>
                        <p:cond delay="indefinite"/>
                      </p:stCondLst>
                      <p:childTnLst>
                        <p:par>
                          <p:cTn id="18" fill="hold">
                            <p:stCondLst>
                              <p:cond delay="0"/>
                            </p:stCondLst>
                            <p:childTnLst>
                              <p:par>
                                <p:cTn id="19" presetID="1" presetClass="entr" presetSubtype="0" fill="hold" grpId="0" nodeType="clickEffect">
                                  <p:stCondLst>
                                    <p:cond delay="0"/>
                                  </p:stCondLst>
                                  <p:childTnLst>
                                    <p:set>
                                      <p:cBhvr>
                                        <p:cTn id="20" dur="1" fill="hold">
                                          <p:stCondLst>
                                            <p:cond delay="0"/>
                                          </p:stCondLst>
                                        </p:cTn>
                                        <p:tgtEl>
                                          <p:spTgt spid="4">
                                            <p:txEl>
                                              <p:pRg st="2" end="2"/>
                                            </p:txEl>
                                          </p:spTgt>
                                        </p:tgtEl>
                                        <p:attrNameLst>
                                          <p:attrName>style.visibility</p:attrName>
                                        </p:attrNameLst>
                                      </p:cBhvr>
                                      <p:to>
                                        <p:strVal val="visible"/>
                                      </p:to>
                                    </p:set>
                                  </p:childTnLst>
                                </p:cTn>
                              </p:par>
                              <p:par>
                                <p:cTn id="21" presetID="1" presetClass="entr" presetSubtype="0" fill="hold" grpId="0" nodeType="withEffect">
                                  <p:stCondLst>
                                    <p:cond delay="0"/>
                                  </p:stCondLst>
                                  <p:childTnLst>
                                    <p:set>
                                      <p:cBhvr>
                                        <p:cTn id="22" dur="1" fill="hold">
                                          <p:stCondLst>
                                            <p:cond delay="0"/>
                                          </p:stCondLst>
                                        </p:cTn>
                                        <p:tgtEl>
                                          <p:spTgt spid="15"/>
                                        </p:tgtEl>
                                        <p:attrNameLst>
                                          <p:attrName>style.visibility</p:attrName>
                                        </p:attrNameLst>
                                      </p:cBhvr>
                                      <p:to>
                                        <p:strVal val="visible"/>
                                      </p:to>
                                    </p:set>
                                  </p:childTnLst>
                                </p:cTn>
                              </p:par>
                              <p:par>
                                <p:cTn id="23" presetID="1" presetClass="exit" presetSubtype="0" fill="hold" grpId="1" nodeType="withEffect">
                                  <p:stCondLst>
                                    <p:cond delay="0"/>
                                  </p:stCondLst>
                                  <p:childTnLst>
                                    <p:set>
                                      <p:cBhvr>
                                        <p:cTn id="24" dur="1" fill="hold">
                                          <p:stCondLst>
                                            <p:cond delay="0"/>
                                          </p:stCondLst>
                                        </p:cTn>
                                        <p:tgtEl>
                                          <p:spTgt spid="9"/>
                                        </p:tgtEl>
                                        <p:attrNameLst>
                                          <p:attrName>style.visibility</p:attrName>
                                        </p:attrNameLst>
                                      </p:cBhvr>
                                      <p:to>
                                        <p:strVal val="hidden"/>
                                      </p:to>
                                    </p:set>
                                  </p:childTnLst>
                                </p:cTn>
                              </p:par>
                            </p:childTnLst>
                          </p:cTn>
                        </p:par>
                      </p:childTnLst>
                    </p:cTn>
                  </p:par>
                  <p:par>
                    <p:cTn id="25" fill="hold">
                      <p:stCondLst>
                        <p:cond delay="indefinite"/>
                      </p:stCondLst>
                      <p:childTnLst>
                        <p:par>
                          <p:cTn id="26" fill="hold">
                            <p:stCondLst>
                              <p:cond delay="0"/>
                            </p:stCondLst>
                            <p:childTnLst>
                              <p:par>
                                <p:cTn id="27" presetID="1" presetClass="entr" presetSubtype="0" fill="hold" grpId="0" nodeType="clickEffect">
                                  <p:stCondLst>
                                    <p:cond delay="0"/>
                                  </p:stCondLst>
                                  <p:childTnLst>
                                    <p:set>
                                      <p:cBhvr>
                                        <p:cTn id="28" dur="1" fill="hold">
                                          <p:stCondLst>
                                            <p:cond delay="0"/>
                                          </p:stCondLst>
                                        </p:cTn>
                                        <p:tgtEl>
                                          <p:spTgt spid="4">
                                            <p:txEl>
                                              <p:pRg st="3" end="3"/>
                                            </p:txEl>
                                          </p:spTgt>
                                        </p:tgtEl>
                                        <p:attrNameLst>
                                          <p:attrName>style.visibility</p:attrName>
                                        </p:attrNameLst>
                                      </p:cBhvr>
                                      <p:to>
                                        <p:strVal val="visible"/>
                                      </p:to>
                                    </p:set>
                                  </p:childTnLst>
                                </p:cTn>
                              </p:par>
                              <p:par>
                                <p:cTn id="29" presetID="1" presetClass="entr" presetSubtype="0" fill="hold" grpId="0" nodeType="withEffect">
                                  <p:stCondLst>
                                    <p:cond delay="0"/>
                                  </p:stCondLst>
                                  <p:childTnLst>
                                    <p:set>
                                      <p:cBhvr>
                                        <p:cTn id="30" dur="1" fill="hold">
                                          <p:stCondLst>
                                            <p:cond delay="0"/>
                                          </p:stCondLst>
                                        </p:cTn>
                                        <p:tgtEl>
                                          <p:spTgt spid="19"/>
                                        </p:tgtEl>
                                        <p:attrNameLst>
                                          <p:attrName>style.visibility</p:attrName>
                                        </p:attrNameLst>
                                      </p:cBhvr>
                                      <p:to>
                                        <p:strVal val="visible"/>
                                      </p:to>
                                    </p:set>
                                  </p:childTnLst>
                                </p:cTn>
                              </p:par>
                              <p:par>
                                <p:cTn id="31" presetID="1" presetClass="exit" presetSubtype="0" fill="hold" grpId="1" nodeType="withEffect">
                                  <p:stCondLst>
                                    <p:cond delay="0"/>
                                  </p:stCondLst>
                                  <p:childTnLst>
                                    <p:set>
                                      <p:cBhvr>
                                        <p:cTn id="32" dur="1" fill="hold">
                                          <p:stCondLst>
                                            <p:cond delay="0"/>
                                          </p:stCondLst>
                                        </p:cTn>
                                        <p:tgtEl>
                                          <p:spTgt spid="15"/>
                                        </p:tgtEl>
                                        <p:attrNameLst>
                                          <p:attrName>style.visibility</p:attrName>
                                        </p:attrNameLst>
                                      </p:cBhvr>
                                      <p:to>
                                        <p:strVal val="hidden"/>
                                      </p:to>
                                    </p:set>
                                  </p:childTnLst>
                                </p:cTn>
                              </p:par>
                            </p:childTnLst>
                          </p:cTn>
                        </p:par>
                      </p:childTnLst>
                    </p:cTn>
                  </p:par>
                  <p:par>
                    <p:cTn id="33" fill="hold">
                      <p:stCondLst>
                        <p:cond delay="indefinite"/>
                      </p:stCondLst>
                      <p:childTnLst>
                        <p:par>
                          <p:cTn id="34" fill="hold">
                            <p:stCondLst>
                              <p:cond delay="0"/>
                            </p:stCondLst>
                            <p:childTnLst>
                              <p:par>
                                <p:cTn id="35" presetID="1" presetClass="entr" presetSubtype="0" fill="hold" grpId="0" nodeType="clickEffect">
                                  <p:stCondLst>
                                    <p:cond delay="0"/>
                                  </p:stCondLst>
                                  <p:childTnLst>
                                    <p:set>
                                      <p:cBhvr>
                                        <p:cTn id="36" dur="1" fill="hold">
                                          <p:stCondLst>
                                            <p:cond delay="0"/>
                                          </p:stCondLst>
                                        </p:cTn>
                                        <p:tgtEl>
                                          <p:spTgt spid="4">
                                            <p:txEl>
                                              <p:pRg st="4" end="4"/>
                                            </p:txEl>
                                          </p:spTgt>
                                        </p:tgtEl>
                                        <p:attrNameLst>
                                          <p:attrName>style.visibility</p:attrName>
                                        </p:attrNameLst>
                                      </p:cBhvr>
                                      <p:to>
                                        <p:strVal val="visible"/>
                                      </p:to>
                                    </p:set>
                                  </p:childTnLst>
                                </p:cTn>
                              </p:par>
                            </p:childTnLst>
                          </p:cTn>
                        </p:par>
                      </p:childTnLst>
                    </p:cTn>
                  </p:par>
                  <p:par>
                    <p:cTn id="37" fill="hold">
                      <p:stCondLst>
                        <p:cond delay="indefinite"/>
                      </p:stCondLst>
                      <p:childTnLst>
                        <p:par>
                          <p:cTn id="38" fill="hold">
                            <p:stCondLst>
                              <p:cond delay="0"/>
                            </p:stCondLst>
                            <p:childTnLst>
                              <p:par>
                                <p:cTn id="39" presetID="1" presetClass="entr" presetSubtype="0" fill="hold" grpId="0" nodeType="clickEffect">
                                  <p:stCondLst>
                                    <p:cond delay="0"/>
                                  </p:stCondLst>
                                  <p:childTnLst>
                                    <p:set>
                                      <p:cBhvr>
                                        <p:cTn id="40" dur="1" fill="hold">
                                          <p:stCondLst>
                                            <p:cond delay="0"/>
                                          </p:stCondLst>
                                        </p:cTn>
                                        <p:tgtEl>
                                          <p:spTgt spid="4">
                                            <p:txEl>
                                              <p:pRg st="5" end="5"/>
                                            </p:txEl>
                                          </p:spTgt>
                                        </p:tgtEl>
                                        <p:attrNameLst>
                                          <p:attrName>style.visibility</p:attrName>
                                        </p:attrNameLst>
                                      </p:cBhvr>
                                      <p:to>
                                        <p:strVal val="visible"/>
                                      </p:to>
                                    </p:set>
                                  </p:childTnLst>
                                </p:cTn>
                              </p:par>
                              <p:par>
                                <p:cTn id="41" presetID="1" presetClass="entr" presetSubtype="0" fill="hold" grpId="0" nodeType="withEffect">
                                  <p:stCondLst>
                                    <p:cond delay="0"/>
                                  </p:stCondLst>
                                  <p:childTnLst>
                                    <p:set>
                                      <p:cBhvr>
                                        <p:cTn id="42" dur="1" fill="hold">
                                          <p:stCondLst>
                                            <p:cond delay="0"/>
                                          </p:stCondLst>
                                        </p:cTn>
                                        <p:tgtEl>
                                          <p:spTgt spid="25"/>
                                        </p:tgtEl>
                                        <p:attrNameLst>
                                          <p:attrName>style.visibility</p:attrName>
                                        </p:attrNameLst>
                                      </p:cBhvr>
                                      <p:to>
                                        <p:strVal val="visible"/>
                                      </p:to>
                                    </p:set>
                                  </p:childTnLst>
                                </p:cTn>
                              </p:par>
                              <p:par>
                                <p:cTn id="43" presetID="1" presetClass="exit" presetSubtype="0" fill="hold" grpId="1" nodeType="withEffect">
                                  <p:stCondLst>
                                    <p:cond delay="0"/>
                                  </p:stCondLst>
                                  <p:childTnLst>
                                    <p:set>
                                      <p:cBhvr>
                                        <p:cTn id="44" dur="1" fill="hold">
                                          <p:stCondLst>
                                            <p:cond delay="0"/>
                                          </p:stCondLst>
                                        </p:cTn>
                                        <p:tgtEl>
                                          <p:spTgt spid="19"/>
                                        </p:tgtEl>
                                        <p:attrNameLst>
                                          <p:attrName>style.visibility</p:attrName>
                                        </p:attrNameLst>
                                      </p:cBhvr>
                                      <p:to>
                                        <p:strVal val="hidden"/>
                                      </p:to>
                                    </p:set>
                                  </p:childTnLst>
                                </p:cTn>
                              </p:par>
                            </p:childTnLst>
                          </p:cTn>
                        </p:par>
                      </p:childTnLst>
                    </p:cTn>
                  </p:par>
                  <p:par>
                    <p:cTn id="45" fill="hold">
                      <p:stCondLst>
                        <p:cond delay="indefinite"/>
                      </p:stCondLst>
                      <p:childTnLst>
                        <p:par>
                          <p:cTn id="46" fill="hold">
                            <p:stCondLst>
                              <p:cond delay="0"/>
                            </p:stCondLst>
                            <p:childTnLst>
                              <p:par>
                                <p:cTn id="47" presetID="1" presetClass="entr" presetSubtype="0" fill="hold" grpId="0" nodeType="clickEffect">
                                  <p:stCondLst>
                                    <p:cond delay="0"/>
                                  </p:stCondLst>
                                  <p:childTnLst>
                                    <p:set>
                                      <p:cBhvr>
                                        <p:cTn id="48" dur="1" fill="hold">
                                          <p:stCondLst>
                                            <p:cond delay="0"/>
                                          </p:stCondLst>
                                        </p:cTn>
                                        <p:tgtEl>
                                          <p:spTgt spid="4">
                                            <p:txEl>
                                              <p:pRg st="6" end="6"/>
                                            </p:txEl>
                                          </p:spTgt>
                                        </p:tgtEl>
                                        <p:attrNameLst>
                                          <p:attrName>style.visibility</p:attrName>
                                        </p:attrNameLst>
                                      </p:cBhvr>
                                      <p:to>
                                        <p:strVal val="visible"/>
                                      </p:to>
                                    </p:set>
                                  </p:childTnLst>
                                </p:cTn>
                              </p:par>
                              <p:par>
                                <p:cTn id="49" presetID="1" presetClass="entr" presetSubtype="0" fill="hold" grpId="0" nodeType="withEffect">
                                  <p:stCondLst>
                                    <p:cond delay="0"/>
                                  </p:stCondLst>
                                  <p:childTnLst>
                                    <p:set>
                                      <p:cBhvr>
                                        <p:cTn id="50" dur="1" fill="hold">
                                          <p:stCondLst>
                                            <p:cond delay="0"/>
                                          </p:stCondLst>
                                        </p:cTn>
                                        <p:tgtEl>
                                          <p:spTgt spid="31"/>
                                        </p:tgtEl>
                                        <p:attrNameLst>
                                          <p:attrName>style.visibility</p:attrName>
                                        </p:attrNameLst>
                                      </p:cBhvr>
                                      <p:to>
                                        <p:strVal val="visible"/>
                                      </p:to>
                                    </p:set>
                                  </p:childTnLst>
                                </p:cTn>
                              </p:par>
                              <p:par>
                                <p:cTn id="51" presetID="1" presetClass="exit" presetSubtype="0" fill="hold" grpId="1" nodeType="withEffect">
                                  <p:stCondLst>
                                    <p:cond delay="0"/>
                                  </p:stCondLst>
                                  <p:childTnLst>
                                    <p:set>
                                      <p:cBhvr>
                                        <p:cTn id="52" dur="1" fill="hold">
                                          <p:stCondLst>
                                            <p:cond delay="0"/>
                                          </p:stCondLst>
                                        </p:cTn>
                                        <p:tgtEl>
                                          <p:spTgt spid="25"/>
                                        </p:tgtEl>
                                        <p:attrNameLst>
                                          <p:attrName>style.visibility</p:attrName>
                                        </p:attrNameLst>
                                      </p:cBhvr>
                                      <p:to>
                                        <p:strVal val="hidden"/>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4" grpId="0" build="p"/>
    </p:bldLst>
  </p:timing>
</p:sld>
</file>

<file path=ppt/slides/slide7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b0_2">
            <a:extLst>
              <a:ext uri="{FF2B5EF4-FFF2-40B4-BE49-F238E27FC236}">
                <a16:creationId xmlns:a16="http://schemas.microsoft.com/office/drawing/2014/main" id="{33DE8782-7F2B-1033-00F6-2A6652EE0E80}"/>
              </a:ext>
            </a:extLst>
          </p:cNvPr>
          <p:cNvSpPr txBox="1"/>
          <p:nvPr/>
        </p:nvSpPr>
        <p:spPr>
          <a:xfrm>
            <a:off x="0" y="148566"/>
            <a:ext cx="11680992" cy="548640"/>
          </a:xfrm>
          <a:prstGeom prst="rect">
            <a:avLst/>
          </a:prstGeom>
          <a:noFill/>
          <a:ln>
            <a:noFill/>
          </a:ln>
        </p:spPr>
        <p:txBody>
          <a:bodyPr wrap="square" rtlCol="0" anchor="ctr"/>
          <a:lstStyle/>
          <a:p>
            <a:r>
              <a:rPr lang="en-US" sz="3200" b="1" dirty="0">
                <a:solidFill>
                  <a:srgbClr val="000000"/>
                </a:solidFill>
                <a:latin typeface="Calibri" pitchFamily="34" charset="0"/>
                <a:ea typeface="Calibri" pitchFamily="34" charset="-122"/>
                <a:cs typeface="Calibri" pitchFamily="34" charset="-120"/>
              </a:rPr>
              <a:t>Understanding </a:t>
            </a:r>
            <a:r>
              <a:rPr lang="en-US" sz="3200" b="1" dirty="0">
                <a:solidFill>
                  <a:srgbClr val="FF0000"/>
                </a:solidFill>
                <a:latin typeface="Calibri" pitchFamily="34" charset="0"/>
                <a:ea typeface="Calibri" pitchFamily="34" charset="-122"/>
                <a:cs typeface="Calibri" pitchFamily="34" charset="-120"/>
              </a:rPr>
              <a:t>Intelligence</a:t>
            </a:r>
            <a:endParaRPr lang="en-US" sz="3200" dirty="0">
              <a:solidFill>
                <a:srgbClr val="362FEC"/>
              </a:solidFill>
            </a:endParaRPr>
          </a:p>
        </p:txBody>
      </p:sp>
      <p:sp>
        <p:nvSpPr>
          <p:cNvPr id="3" name="subheading">
            <a:extLst>
              <a:ext uri="{FF2B5EF4-FFF2-40B4-BE49-F238E27FC236}">
                <a16:creationId xmlns:a16="http://schemas.microsoft.com/office/drawing/2014/main" id="{5CB8A4AA-40B1-94AE-8EEE-080599481F78}"/>
              </a:ext>
            </a:extLst>
          </p:cNvPr>
          <p:cNvSpPr txBox="1"/>
          <p:nvPr/>
        </p:nvSpPr>
        <p:spPr>
          <a:xfrm>
            <a:off x="292608" y="868680"/>
            <a:ext cx="11430000" cy="411480"/>
          </a:xfrm>
          <a:prstGeom prst="rect">
            <a:avLst/>
          </a:prstGeom>
          <a:noFill/>
          <a:ln>
            <a:noFill/>
          </a:ln>
        </p:spPr>
        <p:txBody>
          <a:bodyPr wrap="square" lIns="0" tIns="0" rIns="0" bIns="0" rtlCol="0" anchor="ctr"/>
          <a:lstStyle/>
          <a:p>
            <a:pPr marL="0" indent="0">
              <a:buNone/>
            </a:pPr>
            <a:r>
              <a:rPr lang="en-US" sz="2000" b="1" dirty="0">
                <a:solidFill>
                  <a:srgbClr val="362FEC"/>
                </a:solidFill>
                <a:latin typeface="Calibri" panose="020F0502020204030204" pitchFamily="34" charset="0"/>
                <a:cs typeface="Calibri" panose="020F0502020204030204" pitchFamily="34" charset="0"/>
              </a:rPr>
              <a:t>Search and learning: Deep Blue and AlphaGo</a:t>
            </a:r>
          </a:p>
        </p:txBody>
      </p:sp>
      <p:sp>
        <p:nvSpPr>
          <p:cNvPr id="4" name="points"/>
          <p:cNvSpPr txBox="1"/>
          <p:nvPr/>
        </p:nvSpPr>
        <p:spPr>
          <a:xfrm>
            <a:off x="384048" y="1417320"/>
            <a:ext cx="6126480" cy="5166360"/>
          </a:xfrm>
          <a:prstGeom prst="rect">
            <a:avLst/>
          </a:prstGeom>
          <a:noFill/>
        </p:spPr>
        <p:txBody>
          <a:bodyPr wrap="square" lIns="0" rIns="0" tIns="0" bIns="0">
            <a:spAutoFit/>
          </a:bodyPr>
          <a:lstStyle/>
          <a:p>
            <a:pPr algn="l">
              <a:spcAft>
                <a:spcPts val="1200"/>
              </a:spcAft>
            </a:pPr>
            <a:r>
              <a:rPr sz="1800" b="1" i="0">
                <a:solidFill>
                  <a:srgbClr val="FF0000"/>
                </a:solidFill>
                <a:latin typeface="Calibri"/>
              </a:rPr>
              <a:t>1997  </a:t>
            </a:r>
            <a:r>
              <a:rPr sz="1800" b="1" i="0">
                <a:solidFill>
                  <a:srgbClr val="000000"/>
                </a:solidFill>
                <a:latin typeface="Calibri"/>
              </a:rPr>
              <a:t>Deep Blue: </a:t>
            </a:r>
            <a:r>
              <a:rPr sz="1800" b="0" i="0">
                <a:solidFill>
                  <a:srgbClr val="000000"/>
                </a:solidFill>
                <a:latin typeface="Calibri"/>
              </a:rPr>
              <a:t>deep search, with an evaluation built by hand from thousands of features; 480 custom chips. Its knowledge came from people, its strength from search.</a:t>
            </a:r>
          </a:p>
          <a:p>
            <a:pPr algn="l">
              <a:spcAft>
                <a:spcPts val="1200"/>
              </a:spcAft>
            </a:pPr>
            <a:r>
              <a:rPr sz="1800" b="1" i="0">
                <a:solidFill>
                  <a:srgbClr val="00B050"/>
                </a:solidFill>
                <a:latin typeface="Calibri"/>
              </a:rPr>
              <a:t>2016  </a:t>
            </a:r>
            <a:r>
              <a:rPr sz="1800" b="1" i="0">
                <a:solidFill>
                  <a:srgbClr val="000000"/>
                </a:solidFill>
                <a:latin typeface="Calibri"/>
              </a:rPr>
              <a:t>AlphaGo: </a:t>
            </a:r>
            <a:r>
              <a:rPr sz="1800" b="0" i="0">
                <a:solidFill>
                  <a:srgbClr val="000000"/>
                </a:solidFill>
                <a:latin typeface="Calibri"/>
              </a:rPr>
              <a:t>about 250 legal moves per position, and no good hand-written evaluation. A policy network and a value network, learned from expert games and self-play, combined by tree search.</a:t>
            </a:r>
          </a:p>
          <a:p>
            <a:pPr algn="l">
              <a:spcAft>
                <a:spcPts val="1200"/>
              </a:spcAft>
            </a:pPr>
            <a:r>
              <a:rPr sz="1800" b="1" i="0">
                <a:solidFill>
                  <a:srgbClr val="362FEC"/>
                </a:solidFill>
                <a:latin typeface="Calibri"/>
              </a:rPr>
              <a:t>Both search; </a:t>
            </a:r>
            <a:r>
              <a:rPr sz="1800" b="0" i="0">
                <a:solidFill>
                  <a:srgbClr val="000000"/>
                </a:solidFill>
                <a:latin typeface="Calibri"/>
              </a:rPr>
              <a:t>they differ in where the knowledge comes from: written down by people, or learned from data. The same division runs through this course.</a:t>
            </a:r>
          </a:p>
        </p:txBody>
      </p:sp>
      <p:grpSp>
        <p:nvGrpSpPr>
          <p:cNvPr id="5" name="picture 1"/>
          <p:cNvGrpSpPr/>
          <p:nvPr/>
        </p:nvGrpSpPr>
        <p:grpSpPr>
          <a:xfrm>
            <a:off x="6812280" y="1371600"/>
            <a:ext cx="5120640" cy="4407408"/>
            <a:chOff x="6812280" y="1371600"/>
            <a:chExt cx="5120640" cy="4407408"/>
          </a:xfrm>
        </p:grpSpPr>
        <p:pic>
          <p:nvPicPr>
            <p:cNvPr id="6" name="Picture 5" descr="image.png"/>
            <p:cNvPicPr>
              <a:picLocks noChangeAspect="1"/>
            </p:cNvPicPr>
            <p:nvPr/>
          </p:nvPicPr>
          <p:blipFill>
            <a:blip r:embed="rId2"/>
            <a:stretch>
              <a:fillRect/>
            </a:stretch>
          </p:blipFill>
          <p:spPr>
            <a:xfrm>
              <a:off x="6934320" y="1371600"/>
              <a:ext cx="4876558" cy="3474720"/>
            </a:xfrm>
            <a:prstGeom prst="rect">
              <a:avLst/>
            </a:prstGeom>
          </p:spPr>
        </p:pic>
        <p:sp>
          <p:nvSpPr>
            <p:cNvPr id="7" name="description"/>
            <p:cNvSpPr txBox="1"/>
            <p:nvPr/>
          </p:nvSpPr>
          <p:spPr>
            <a:xfrm>
              <a:off x="6812280" y="4956048"/>
              <a:ext cx="5120640" cy="822960"/>
            </a:xfrm>
            <a:prstGeom prst="rect">
              <a:avLst/>
            </a:prstGeom>
            <a:noFill/>
          </p:spPr>
          <p:txBody>
            <a:bodyPr wrap="square" anchor="t" lIns="0" rIns="0" tIns="0" bIns="0">
              <a:spAutoFit/>
            </a:bodyPr>
            <a:lstStyle/>
            <a:p>
              <a:pPr algn="l"/>
              <a:r>
                <a:rPr sz="1400" b="0" i="0">
                  <a:solidFill>
                    <a:srgbClr val="595959"/>
                  </a:solidFill>
                  <a:latin typeface="Calibri"/>
                </a:rPr>
                <a:t>On the order of a hundred million positions per second.</a:t>
              </a:r>
            </a:p>
          </p:txBody>
        </p:sp>
      </p:grpSp>
      <p:grpSp>
        <p:nvGrpSpPr>
          <p:cNvPr id="8" name="picture 2"/>
          <p:cNvGrpSpPr/>
          <p:nvPr/>
        </p:nvGrpSpPr>
        <p:grpSpPr>
          <a:xfrm>
            <a:off x="6812280" y="1371600"/>
            <a:ext cx="5120640" cy="4224528"/>
            <a:chOff x="6812280" y="1371600"/>
            <a:chExt cx="5120640" cy="4224528"/>
          </a:xfrm>
        </p:grpSpPr>
        <p:pic>
          <p:nvPicPr>
            <p:cNvPr id="9" name="Picture 8" descr="image.png"/>
            <p:cNvPicPr>
              <a:picLocks noChangeAspect="1"/>
            </p:cNvPicPr>
            <p:nvPr/>
          </p:nvPicPr>
          <p:blipFill>
            <a:blip r:embed="rId3"/>
            <a:stretch>
              <a:fillRect/>
            </a:stretch>
          </p:blipFill>
          <p:spPr>
            <a:xfrm>
              <a:off x="6888414" y="1371600"/>
              <a:ext cx="4968370" cy="3291840"/>
            </a:xfrm>
            <a:prstGeom prst="rect">
              <a:avLst/>
            </a:prstGeom>
          </p:spPr>
        </p:pic>
        <p:sp>
          <p:nvSpPr>
            <p:cNvPr id="10" name="description"/>
            <p:cNvSpPr txBox="1"/>
            <p:nvPr/>
          </p:nvSpPr>
          <p:spPr>
            <a:xfrm>
              <a:off x="6812280" y="4773168"/>
              <a:ext cx="5120640" cy="822960"/>
            </a:xfrm>
            <a:prstGeom prst="rect">
              <a:avLst/>
            </a:prstGeom>
            <a:noFill/>
          </p:spPr>
          <p:txBody>
            <a:bodyPr wrap="square" anchor="t" lIns="0" rIns="0" tIns="0" bIns="0">
              <a:spAutoFit/>
            </a:bodyPr>
            <a:lstStyle/>
            <a:p>
              <a:pPr algn="l"/>
              <a:r>
                <a:rPr sz="1400" b="0" i="0">
                  <a:solidFill>
                    <a:srgbClr val="595959"/>
                  </a:solidFill>
                  <a:latin typeface="Calibri"/>
                </a:rPr>
                <a:t>Go resisted hand-written evaluation; AlphaGo learned the functions it needed.</a:t>
              </a:r>
            </a:p>
          </p:txBody>
        </p:sp>
      </p:grpSp>
      <p:grpSp>
        <p:nvGrpSpPr>
          <p:cNvPr id="11" name="picture 3"/>
          <p:cNvGrpSpPr/>
          <p:nvPr/>
        </p:nvGrpSpPr>
        <p:grpSpPr>
          <a:xfrm>
            <a:off x="6812280" y="1463040"/>
            <a:ext cx="5120640" cy="3931920"/>
            <a:chOff x="6812280" y="1463040"/>
            <a:chExt cx="5120640" cy="3931920"/>
          </a:xfrm>
        </p:grpSpPr>
        <p:sp>
          <p:nvSpPr>
            <p:cNvPr id="12" name="Rounded Rectangle 11"/>
            <p:cNvSpPr/>
            <p:nvPr/>
          </p:nvSpPr>
          <p:spPr>
            <a:xfrm>
              <a:off x="8412480" y="1463040"/>
              <a:ext cx="1463040" cy="548640"/>
            </a:xfrm>
            <a:prstGeom prst="roundRect">
              <a:avLst>
                <a:gd name="adj" fmla="val 12000"/>
              </a:avLst>
            </a:prstGeom>
            <a:solidFill>
              <a:srgbClr val="EDEDED"/>
            </a:solidFill>
            <a:ln>
              <a:noFill/>
            </a:ln>
          </p:spPr>
          <p:style>
            <a:lnRef idx="1">
              <a:schemeClr val="accent1"/>
            </a:lnRef>
            <a:fillRef idx="3">
              <a:schemeClr val="accent1"/>
            </a:fillRef>
            <a:effectRef idx="2">
              <a:schemeClr val="accent1"/>
            </a:effectRef>
            <a:fontRef idx="minor">
              <a:schemeClr val="lt1"/>
            </a:fontRef>
          </p:style>
          <p:txBody>
            <a:bodyPr rtlCol="0" anchor="ctr" wrap="square" lIns="45720" rIns="45720"/>
            <a:lstStyle/>
            <a:p>
              <a:pPr algn="ctr"/>
              <a:r>
                <a:rPr sz="1600" b="1">
                  <a:solidFill>
                    <a:srgbClr val="000000"/>
                  </a:solidFill>
                  <a:latin typeface="Calibri"/>
                </a:rPr>
                <a:t>AlphaGo</a:t>
              </a:r>
            </a:p>
          </p:txBody>
        </p:sp>
        <p:sp>
          <p:nvSpPr>
            <p:cNvPr id="13" name="Rounded Rectangle 12"/>
            <p:cNvSpPr/>
            <p:nvPr/>
          </p:nvSpPr>
          <p:spPr>
            <a:xfrm>
              <a:off x="9966960" y="1463040"/>
              <a:ext cx="1965960" cy="548640"/>
            </a:xfrm>
            <a:prstGeom prst="roundRect">
              <a:avLst>
                <a:gd name="adj" fmla="val 12000"/>
              </a:avLst>
            </a:prstGeom>
            <a:solidFill>
              <a:srgbClr val="EDEDED"/>
            </a:solidFill>
            <a:ln>
              <a:noFill/>
            </a:ln>
          </p:spPr>
          <p:style>
            <a:lnRef idx="1">
              <a:schemeClr val="accent1"/>
            </a:lnRef>
            <a:fillRef idx="3">
              <a:schemeClr val="accent1"/>
            </a:fillRef>
            <a:effectRef idx="2">
              <a:schemeClr val="accent1"/>
            </a:effectRef>
            <a:fontRef idx="minor">
              <a:schemeClr val="lt1"/>
            </a:fontRef>
          </p:style>
          <p:txBody>
            <a:bodyPr rtlCol="0" anchor="ctr" wrap="square" lIns="45720" rIns="45720"/>
            <a:lstStyle/>
            <a:p>
              <a:pPr algn="ctr"/>
              <a:r>
                <a:rPr sz="1600" b="1">
                  <a:solidFill>
                    <a:srgbClr val="000000"/>
                  </a:solidFill>
                  <a:latin typeface="Calibri"/>
                </a:rPr>
                <a:t>a language model</a:t>
              </a:r>
            </a:p>
          </p:txBody>
        </p:sp>
        <p:sp>
          <p:nvSpPr>
            <p:cNvPr id="14" name="Rounded Rectangle 13"/>
            <p:cNvSpPr/>
            <p:nvPr/>
          </p:nvSpPr>
          <p:spPr>
            <a:xfrm>
              <a:off x="6812280" y="2240280"/>
              <a:ext cx="1508760" cy="640080"/>
            </a:xfrm>
            <a:prstGeom prst="roundRect">
              <a:avLst>
                <a:gd name="adj" fmla="val 12000"/>
              </a:avLst>
            </a:prstGeom>
            <a:solidFill>
              <a:srgbClr val="FFE0E0"/>
            </a:solidFill>
            <a:ln>
              <a:noFill/>
            </a:ln>
          </p:spPr>
          <p:style>
            <a:lnRef idx="1">
              <a:schemeClr val="accent1"/>
            </a:lnRef>
            <a:fillRef idx="3">
              <a:schemeClr val="accent1"/>
            </a:fillRef>
            <a:effectRef idx="2">
              <a:schemeClr val="accent1"/>
            </a:effectRef>
            <a:fontRef idx="minor">
              <a:schemeClr val="lt1"/>
            </a:fontRef>
          </p:style>
          <p:txBody>
            <a:bodyPr rtlCol="0" anchor="ctr" wrap="square" lIns="45720" rIns="45720"/>
            <a:lstStyle/>
            <a:p>
              <a:pPr algn="ctr"/>
              <a:r>
                <a:rPr sz="1500" b="1">
                  <a:solidFill>
                    <a:srgbClr val="FF0000"/>
                  </a:solidFill>
                  <a:latin typeface="Calibri"/>
                </a:rPr>
                <a:t>learned policy</a:t>
              </a:r>
            </a:p>
          </p:txBody>
        </p:sp>
        <p:sp>
          <p:nvSpPr>
            <p:cNvPr id="15" name="Rounded Rectangle 14"/>
            <p:cNvSpPr/>
            <p:nvPr/>
          </p:nvSpPr>
          <p:spPr>
            <a:xfrm>
              <a:off x="8412480" y="2240280"/>
              <a:ext cx="1463040" cy="640080"/>
            </a:xfrm>
            <a:prstGeom prst="roundRect">
              <a:avLst>
                <a:gd name="adj" fmla="val 12000"/>
              </a:avLst>
            </a:prstGeom>
            <a:solidFill>
              <a:srgbClr val="FFFFFF"/>
            </a:solidFill>
            <a:ln w="15875">
              <a:solidFill>
                <a:srgbClr val="B8C2CA"/>
              </a:solidFill>
            </a:ln>
          </p:spPr>
          <p:style>
            <a:lnRef idx="1">
              <a:schemeClr val="accent1"/>
            </a:lnRef>
            <a:fillRef idx="3">
              <a:schemeClr val="accent1"/>
            </a:fillRef>
            <a:effectRef idx="2">
              <a:schemeClr val="accent1"/>
            </a:effectRef>
            <a:fontRef idx="minor">
              <a:schemeClr val="lt1"/>
            </a:fontRef>
          </p:style>
          <p:txBody>
            <a:bodyPr rtlCol="0" anchor="ctr" wrap="square" lIns="45720" rIns="45720"/>
            <a:lstStyle/>
            <a:p>
              <a:pPr algn="ctr"/>
              <a:r>
                <a:rPr sz="1500" b="0">
                  <a:solidFill>
                    <a:srgbClr val="000000"/>
                  </a:solidFill>
                  <a:latin typeface="Calibri"/>
                </a:rPr>
                <a:t>which move to try</a:t>
              </a:r>
            </a:p>
          </p:txBody>
        </p:sp>
        <p:sp>
          <p:nvSpPr>
            <p:cNvPr id="16" name="Rounded Rectangle 15"/>
            <p:cNvSpPr/>
            <p:nvPr/>
          </p:nvSpPr>
          <p:spPr>
            <a:xfrm>
              <a:off x="9966960" y="2240280"/>
              <a:ext cx="1965960" cy="640080"/>
            </a:xfrm>
            <a:prstGeom prst="roundRect">
              <a:avLst>
                <a:gd name="adj" fmla="val 12000"/>
              </a:avLst>
            </a:prstGeom>
            <a:solidFill>
              <a:srgbClr val="FFFFFF"/>
            </a:solidFill>
            <a:ln w="15875">
              <a:solidFill>
                <a:srgbClr val="B8C2CA"/>
              </a:solidFill>
            </a:ln>
          </p:spPr>
          <p:style>
            <a:lnRef idx="1">
              <a:schemeClr val="accent1"/>
            </a:lnRef>
            <a:fillRef idx="3">
              <a:schemeClr val="accent1"/>
            </a:fillRef>
            <a:effectRef idx="2">
              <a:schemeClr val="accent1"/>
            </a:effectRef>
            <a:fontRef idx="minor">
              <a:schemeClr val="lt1"/>
            </a:fontRef>
          </p:style>
          <p:txBody>
            <a:bodyPr rtlCol="0" anchor="ctr" wrap="square" lIns="45720" rIns="45720"/>
            <a:lstStyle/>
            <a:p>
              <a:pPr algn="ctr"/>
              <a:r>
                <a:rPr sz="1500" b="0">
                  <a:solidFill>
                    <a:srgbClr val="000000"/>
                  </a:solidFill>
                  <a:latin typeface="Calibri"/>
                </a:rPr>
                <a:t>which token comes next (pretraining)</a:t>
              </a:r>
            </a:p>
          </p:txBody>
        </p:sp>
        <p:sp>
          <p:nvSpPr>
            <p:cNvPr id="17" name="Rounded Rectangle 16"/>
            <p:cNvSpPr/>
            <p:nvPr/>
          </p:nvSpPr>
          <p:spPr>
            <a:xfrm>
              <a:off x="6812280" y="3017520"/>
              <a:ext cx="1508760" cy="640080"/>
            </a:xfrm>
            <a:prstGeom prst="roundRect">
              <a:avLst>
                <a:gd name="adj" fmla="val 12000"/>
              </a:avLst>
            </a:prstGeom>
            <a:solidFill>
              <a:srgbClr val="D9F2E4"/>
            </a:solidFill>
            <a:ln>
              <a:noFill/>
            </a:ln>
          </p:spPr>
          <p:style>
            <a:lnRef idx="1">
              <a:schemeClr val="accent1"/>
            </a:lnRef>
            <a:fillRef idx="3">
              <a:schemeClr val="accent1"/>
            </a:fillRef>
            <a:effectRef idx="2">
              <a:schemeClr val="accent1"/>
            </a:effectRef>
            <a:fontRef idx="minor">
              <a:schemeClr val="lt1"/>
            </a:fontRef>
          </p:style>
          <p:txBody>
            <a:bodyPr rtlCol="0" anchor="ctr" wrap="square" lIns="45720" rIns="45720"/>
            <a:lstStyle/>
            <a:p>
              <a:pPr algn="ctr"/>
              <a:r>
                <a:rPr sz="1500" b="1">
                  <a:solidFill>
                    <a:srgbClr val="00843D"/>
                  </a:solidFill>
                  <a:latin typeface="Calibri"/>
                </a:rPr>
                <a:t>improved by reward</a:t>
              </a:r>
            </a:p>
          </p:txBody>
        </p:sp>
        <p:sp>
          <p:nvSpPr>
            <p:cNvPr id="18" name="Rounded Rectangle 17"/>
            <p:cNvSpPr/>
            <p:nvPr/>
          </p:nvSpPr>
          <p:spPr>
            <a:xfrm>
              <a:off x="8412480" y="3017520"/>
              <a:ext cx="1463040" cy="640080"/>
            </a:xfrm>
            <a:prstGeom prst="roundRect">
              <a:avLst>
                <a:gd name="adj" fmla="val 12000"/>
              </a:avLst>
            </a:prstGeom>
            <a:solidFill>
              <a:srgbClr val="FFFFFF"/>
            </a:solidFill>
            <a:ln w="15875">
              <a:solidFill>
                <a:srgbClr val="B8C2CA"/>
              </a:solidFill>
            </a:ln>
          </p:spPr>
          <p:style>
            <a:lnRef idx="1">
              <a:schemeClr val="accent1"/>
            </a:lnRef>
            <a:fillRef idx="3">
              <a:schemeClr val="accent1"/>
            </a:fillRef>
            <a:effectRef idx="2">
              <a:schemeClr val="accent1"/>
            </a:effectRef>
            <a:fontRef idx="minor">
              <a:schemeClr val="lt1"/>
            </a:fontRef>
          </p:style>
          <p:txBody>
            <a:bodyPr rtlCol="0" anchor="ctr" wrap="square" lIns="45720" rIns="45720"/>
            <a:lstStyle/>
            <a:p>
              <a:pPr algn="ctr"/>
              <a:r>
                <a:rPr sz="1500" b="0">
                  <a:solidFill>
                    <a:srgbClr val="000000"/>
                  </a:solidFill>
                  <a:latin typeface="Calibri"/>
                </a:rPr>
                <a:t>self-play</a:t>
              </a:r>
            </a:p>
          </p:txBody>
        </p:sp>
        <p:sp>
          <p:nvSpPr>
            <p:cNvPr id="19" name="Rounded Rectangle 18"/>
            <p:cNvSpPr/>
            <p:nvPr/>
          </p:nvSpPr>
          <p:spPr>
            <a:xfrm>
              <a:off x="9966960" y="3017520"/>
              <a:ext cx="1965960" cy="640080"/>
            </a:xfrm>
            <a:prstGeom prst="roundRect">
              <a:avLst>
                <a:gd name="adj" fmla="val 12000"/>
              </a:avLst>
            </a:prstGeom>
            <a:solidFill>
              <a:srgbClr val="FFFFFF"/>
            </a:solidFill>
            <a:ln w="15875">
              <a:solidFill>
                <a:srgbClr val="B8C2CA"/>
              </a:solidFill>
            </a:ln>
          </p:spPr>
          <p:style>
            <a:lnRef idx="1">
              <a:schemeClr val="accent1"/>
            </a:lnRef>
            <a:fillRef idx="3">
              <a:schemeClr val="accent1"/>
            </a:fillRef>
            <a:effectRef idx="2">
              <a:schemeClr val="accent1"/>
            </a:effectRef>
            <a:fontRef idx="minor">
              <a:schemeClr val="lt1"/>
            </a:fontRef>
          </p:style>
          <p:txBody>
            <a:bodyPr rtlCol="0" anchor="ctr" wrap="square" lIns="45720" rIns="45720"/>
            <a:lstStyle/>
            <a:p>
              <a:pPr algn="ctr"/>
              <a:r>
                <a:rPr sz="1500" b="0">
                  <a:solidFill>
                    <a:srgbClr val="000000"/>
                  </a:solidFill>
                  <a:latin typeface="Calibri"/>
                </a:rPr>
                <a:t>post-training with rewards (Weeks 6–7)</a:t>
              </a:r>
            </a:p>
          </p:txBody>
        </p:sp>
        <p:sp>
          <p:nvSpPr>
            <p:cNvPr id="20" name="Rounded Rectangle 19"/>
            <p:cNvSpPr/>
            <p:nvPr/>
          </p:nvSpPr>
          <p:spPr>
            <a:xfrm>
              <a:off x="6812280" y="3794760"/>
              <a:ext cx="1508760" cy="640080"/>
            </a:xfrm>
            <a:prstGeom prst="roundRect">
              <a:avLst>
                <a:gd name="adj" fmla="val 12000"/>
              </a:avLst>
            </a:prstGeom>
            <a:solidFill>
              <a:srgbClr val="E3E2FD"/>
            </a:solidFill>
            <a:ln>
              <a:noFill/>
            </a:ln>
          </p:spPr>
          <p:style>
            <a:lnRef idx="1">
              <a:schemeClr val="accent1"/>
            </a:lnRef>
            <a:fillRef idx="3">
              <a:schemeClr val="accent1"/>
            </a:fillRef>
            <a:effectRef idx="2">
              <a:schemeClr val="accent1"/>
            </a:effectRef>
            <a:fontRef idx="minor">
              <a:schemeClr val="lt1"/>
            </a:fontRef>
          </p:style>
          <p:txBody>
            <a:bodyPr rtlCol="0" anchor="ctr" wrap="square" lIns="45720" rIns="45720"/>
            <a:lstStyle/>
            <a:p>
              <a:pPr algn="ctr"/>
              <a:r>
                <a:rPr sz="1500" b="1">
                  <a:solidFill>
                    <a:srgbClr val="362FEC"/>
                  </a:solidFill>
                  <a:latin typeface="Calibri"/>
                </a:rPr>
                <a:t>search at play time</a:t>
              </a:r>
            </a:p>
          </p:txBody>
        </p:sp>
        <p:sp>
          <p:nvSpPr>
            <p:cNvPr id="21" name="Rounded Rectangle 20"/>
            <p:cNvSpPr/>
            <p:nvPr/>
          </p:nvSpPr>
          <p:spPr>
            <a:xfrm>
              <a:off x="8412480" y="3794760"/>
              <a:ext cx="1463040" cy="640080"/>
            </a:xfrm>
            <a:prstGeom prst="roundRect">
              <a:avLst>
                <a:gd name="adj" fmla="val 12000"/>
              </a:avLst>
            </a:prstGeom>
            <a:solidFill>
              <a:srgbClr val="FFFFFF"/>
            </a:solidFill>
            <a:ln w="15875">
              <a:solidFill>
                <a:srgbClr val="B8C2CA"/>
              </a:solidFill>
            </a:ln>
          </p:spPr>
          <p:style>
            <a:lnRef idx="1">
              <a:schemeClr val="accent1"/>
            </a:lnRef>
            <a:fillRef idx="3">
              <a:schemeClr val="accent1"/>
            </a:fillRef>
            <a:effectRef idx="2">
              <a:schemeClr val="accent1"/>
            </a:effectRef>
            <a:fontRef idx="minor">
              <a:schemeClr val="lt1"/>
            </a:fontRef>
          </p:style>
          <p:txBody>
            <a:bodyPr rtlCol="0" anchor="ctr" wrap="square" lIns="45720" rIns="45720"/>
            <a:lstStyle/>
            <a:p>
              <a:pPr algn="ctr"/>
              <a:r>
                <a:rPr sz="1500" b="0">
                  <a:solidFill>
                    <a:srgbClr val="000000"/>
                  </a:solidFill>
                  <a:latin typeface="Calibri"/>
                </a:rPr>
                <a:t>tree search</a:t>
              </a:r>
            </a:p>
          </p:txBody>
        </p:sp>
        <p:sp>
          <p:nvSpPr>
            <p:cNvPr id="22" name="Rounded Rectangle 21"/>
            <p:cNvSpPr/>
            <p:nvPr/>
          </p:nvSpPr>
          <p:spPr>
            <a:xfrm>
              <a:off x="9966960" y="3794760"/>
              <a:ext cx="1965960" cy="640080"/>
            </a:xfrm>
            <a:prstGeom prst="roundRect">
              <a:avLst>
                <a:gd name="adj" fmla="val 12000"/>
              </a:avLst>
            </a:prstGeom>
            <a:solidFill>
              <a:srgbClr val="FFFFFF"/>
            </a:solidFill>
            <a:ln w="15875">
              <a:solidFill>
                <a:srgbClr val="B8C2CA"/>
              </a:solidFill>
            </a:ln>
          </p:spPr>
          <p:style>
            <a:lnRef idx="1">
              <a:schemeClr val="accent1"/>
            </a:lnRef>
            <a:fillRef idx="3">
              <a:schemeClr val="accent1"/>
            </a:fillRef>
            <a:effectRef idx="2">
              <a:schemeClr val="accent1"/>
            </a:effectRef>
            <a:fontRef idx="minor">
              <a:schemeClr val="lt1"/>
            </a:fontRef>
          </p:style>
          <p:txBody>
            <a:bodyPr rtlCol="0" anchor="ctr" wrap="square" lIns="45720" rIns="45720"/>
            <a:lstStyle/>
            <a:p>
              <a:pPr algn="ctr"/>
              <a:r>
                <a:rPr sz="1500" b="0">
                  <a:solidFill>
                    <a:srgbClr val="000000"/>
                  </a:solidFill>
                  <a:latin typeface="Calibri"/>
                </a:rPr>
                <a:t>sample, verify, search (Week 8)</a:t>
              </a:r>
            </a:p>
          </p:txBody>
        </p:sp>
        <p:sp>
          <p:nvSpPr>
            <p:cNvPr id="23" name="description"/>
            <p:cNvSpPr txBox="1"/>
            <p:nvPr/>
          </p:nvSpPr>
          <p:spPr>
            <a:xfrm>
              <a:off x="6812280" y="4663440"/>
              <a:ext cx="5120640" cy="731520"/>
            </a:xfrm>
            <a:prstGeom prst="rect">
              <a:avLst/>
            </a:prstGeom>
            <a:noFill/>
          </p:spPr>
          <p:txBody>
            <a:bodyPr wrap="square" anchor="t" lIns="0" rIns="0" tIns="0" bIns="0">
              <a:spAutoFit/>
            </a:bodyPr>
            <a:lstStyle/>
            <a:p>
              <a:pPr algn="l"/>
              <a:r>
                <a:rPr sz="1400" b="0" i="0">
                  <a:solidFill>
                    <a:srgbClr val="595959"/>
                  </a:solidFill>
                  <a:latin typeface="Calibri"/>
                </a:rPr>
                <a:t>A pretrained language model is a learned policy over next tokens; rewards improve it as self-play improved AlphaGo's; test-time computation is search around a learned model.</a:t>
              </a:r>
            </a:p>
          </p:txBody>
        </p:sp>
      </p:grpSp>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4">
                                            <p:txEl>
                                              <p:pRg st="0" end="0"/>
                                            </p:txEl>
                                          </p:spTgt>
                                        </p:tgtEl>
                                        <p:attrNameLst>
                                          <p:attrName>style.visibility</p:attrName>
                                        </p:attrNameLst>
                                      </p:cBhvr>
                                      <p:to>
                                        <p:strVal val="visible"/>
                                      </p:to>
                                    </p:set>
                                  </p:childTnLst>
                                </p:cTn>
                              </p:par>
                              <p:par>
                                <p:cTn id="7" presetID="1" presetClass="entr" presetSubtype="0" fill="hold" grpId="0" nodeType="withEffect">
                                  <p:stCondLst>
                                    <p:cond delay="0"/>
                                  </p:stCondLst>
                                  <p:childTnLst>
                                    <p:set>
                                      <p:cBhvr>
                                        <p:cTn id="8" dur="1" fill="hold">
                                          <p:stCondLst>
                                            <p:cond delay="0"/>
                                          </p:stCondLst>
                                        </p:cTn>
                                        <p:tgtEl>
                                          <p:spTgt spid="5"/>
                                        </p:tgtEl>
                                        <p:attrNameLst>
                                          <p:attrName>style.visibility</p:attrName>
                                        </p:attrNameLst>
                                      </p:cBhvr>
                                      <p:to>
                                        <p:strVal val="visible"/>
                                      </p:to>
                                    </p:set>
                                  </p:childTnLst>
                                </p:cTn>
                              </p:par>
                            </p:childTnLst>
                          </p:cTn>
                        </p:par>
                      </p:childTnLst>
                    </p:cTn>
                  </p:par>
                  <p:par>
                    <p:cTn id="9" fill="hold">
                      <p:stCondLst>
                        <p:cond delay="indefinite"/>
                      </p:stCondLst>
                      <p:childTnLst>
                        <p:par>
                          <p:cTn id="10" fill="hold">
                            <p:stCondLst>
                              <p:cond delay="0"/>
                            </p:stCondLst>
                            <p:childTnLst>
                              <p:par>
                                <p:cTn id="11" presetID="1" presetClass="entr" presetSubtype="0" fill="hold" grpId="0" nodeType="clickEffect">
                                  <p:stCondLst>
                                    <p:cond delay="0"/>
                                  </p:stCondLst>
                                  <p:childTnLst>
                                    <p:set>
                                      <p:cBhvr>
                                        <p:cTn id="12" dur="1" fill="hold">
                                          <p:stCondLst>
                                            <p:cond delay="0"/>
                                          </p:stCondLst>
                                        </p:cTn>
                                        <p:tgtEl>
                                          <p:spTgt spid="4">
                                            <p:txEl>
                                              <p:pRg st="1" end="1"/>
                                            </p:txEl>
                                          </p:spTgt>
                                        </p:tgtEl>
                                        <p:attrNameLst>
                                          <p:attrName>style.visibility</p:attrName>
                                        </p:attrNameLst>
                                      </p:cBhvr>
                                      <p:to>
                                        <p:strVal val="visible"/>
                                      </p:to>
                                    </p:set>
                                  </p:childTnLst>
                                </p:cTn>
                              </p:par>
                              <p:par>
                                <p:cTn id="13" presetID="1" presetClass="entr" presetSubtype="0" fill="hold" grpId="0" nodeType="withEffect">
                                  <p:stCondLst>
                                    <p:cond delay="0"/>
                                  </p:stCondLst>
                                  <p:childTnLst>
                                    <p:set>
                                      <p:cBhvr>
                                        <p:cTn id="14" dur="1" fill="hold">
                                          <p:stCondLst>
                                            <p:cond delay="0"/>
                                          </p:stCondLst>
                                        </p:cTn>
                                        <p:tgtEl>
                                          <p:spTgt spid="8"/>
                                        </p:tgtEl>
                                        <p:attrNameLst>
                                          <p:attrName>style.visibility</p:attrName>
                                        </p:attrNameLst>
                                      </p:cBhvr>
                                      <p:to>
                                        <p:strVal val="visible"/>
                                      </p:to>
                                    </p:set>
                                  </p:childTnLst>
                                </p:cTn>
                              </p:par>
                              <p:par>
                                <p:cTn id="15" presetID="1" presetClass="exit" presetSubtype="0" fill="hold" grpId="1" nodeType="withEffect">
                                  <p:stCondLst>
                                    <p:cond delay="0"/>
                                  </p:stCondLst>
                                  <p:childTnLst>
                                    <p:set>
                                      <p:cBhvr>
                                        <p:cTn id="16" dur="1" fill="hold">
                                          <p:stCondLst>
                                            <p:cond delay="0"/>
                                          </p:stCondLst>
                                        </p:cTn>
                                        <p:tgtEl>
                                          <p:spTgt spid="5"/>
                                        </p:tgtEl>
                                        <p:attrNameLst>
                                          <p:attrName>style.visibility</p:attrName>
                                        </p:attrNameLst>
                                      </p:cBhvr>
                                      <p:to>
                                        <p:strVal val="hidden"/>
                                      </p:to>
                                    </p:set>
                                  </p:childTnLst>
                                </p:cTn>
                              </p:par>
                            </p:childTnLst>
                          </p:cTn>
                        </p:par>
                      </p:childTnLst>
                    </p:cTn>
                  </p:par>
                  <p:par>
                    <p:cTn id="17" fill="hold">
                      <p:stCondLst>
                        <p:cond delay="indefinite"/>
                      </p:stCondLst>
                      <p:childTnLst>
                        <p:par>
                          <p:cTn id="18" fill="hold">
                            <p:stCondLst>
                              <p:cond delay="0"/>
                            </p:stCondLst>
                            <p:childTnLst>
                              <p:par>
                                <p:cTn id="19" presetID="1" presetClass="entr" presetSubtype="0" fill="hold" grpId="0" nodeType="clickEffect">
                                  <p:stCondLst>
                                    <p:cond delay="0"/>
                                  </p:stCondLst>
                                  <p:childTnLst>
                                    <p:set>
                                      <p:cBhvr>
                                        <p:cTn id="20" dur="1" fill="hold">
                                          <p:stCondLst>
                                            <p:cond delay="0"/>
                                          </p:stCondLst>
                                        </p:cTn>
                                        <p:tgtEl>
                                          <p:spTgt spid="4">
                                            <p:txEl>
                                              <p:pRg st="2" end="2"/>
                                            </p:txEl>
                                          </p:spTgt>
                                        </p:tgtEl>
                                        <p:attrNameLst>
                                          <p:attrName>style.visibility</p:attrName>
                                        </p:attrNameLst>
                                      </p:cBhvr>
                                      <p:to>
                                        <p:strVal val="visible"/>
                                      </p:to>
                                    </p:set>
                                  </p:childTnLst>
                                </p:cTn>
                              </p:par>
                              <p:par>
                                <p:cTn id="21" presetID="1" presetClass="entr" presetSubtype="0" fill="hold" grpId="0" nodeType="withEffect">
                                  <p:stCondLst>
                                    <p:cond delay="0"/>
                                  </p:stCondLst>
                                  <p:childTnLst>
                                    <p:set>
                                      <p:cBhvr>
                                        <p:cTn id="22" dur="1" fill="hold">
                                          <p:stCondLst>
                                            <p:cond delay="0"/>
                                          </p:stCondLst>
                                        </p:cTn>
                                        <p:tgtEl>
                                          <p:spTgt spid="11"/>
                                        </p:tgtEl>
                                        <p:attrNameLst>
                                          <p:attrName>style.visibility</p:attrName>
                                        </p:attrNameLst>
                                      </p:cBhvr>
                                      <p:to>
                                        <p:strVal val="visible"/>
                                      </p:to>
                                    </p:set>
                                  </p:childTnLst>
                                </p:cTn>
                              </p:par>
                              <p:par>
                                <p:cTn id="23" presetID="1" presetClass="exit" presetSubtype="0" fill="hold" grpId="1" nodeType="withEffect">
                                  <p:stCondLst>
                                    <p:cond delay="0"/>
                                  </p:stCondLst>
                                  <p:childTnLst>
                                    <p:set>
                                      <p:cBhvr>
                                        <p:cTn id="24" dur="1" fill="hold">
                                          <p:stCondLst>
                                            <p:cond delay="0"/>
                                          </p:stCondLst>
                                        </p:cTn>
                                        <p:tgtEl>
                                          <p:spTgt spid="8"/>
                                        </p:tgtEl>
                                        <p:attrNameLst>
                                          <p:attrName>style.visibility</p:attrName>
                                        </p:attrNameLst>
                                      </p:cBhvr>
                                      <p:to>
                                        <p:strVal val="hidden"/>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4" grpId="0" build="p"/>
    </p:bldLst>
  </p:timing>
</p:sld>
</file>

<file path=ppt/slides/slide7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b0_2">
            <a:extLst>
              <a:ext uri="{FF2B5EF4-FFF2-40B4-BE49-F238E27FC236}">
                <a16:creationId xmlns:a16="http://schemas.microsoft.com/office/drawing/2014/main" id="{33DE8782-7F2B-1033-00F6-2A6652EE0E80}"/>
              </a:ext>
            </a:extLst>
          </p:cNvPr>
          <p:cNvSpPr txBox="1"/>
          <p:nvPr/>
        </p:nvSpPr>
        <p:spPr>
          <a:xfrm>
            <a:off x="0" y="148566"/>
            <a:ext cx="11680992" cy="548640"/>
          </a:xfrm>
          <a:prstGeom prst="rect">
            <a:avLst/>
          </a:prstGeom>
          <a:noFill/>
          <a:ln>
            <a:noFill/>
          </a:ln>
        </p:spPr>
        <p:txBody>
          <a:bodyPr wrap="square" rtlCol="0" anchor="ctr"/>
          <a:lstStyle/>
          <a:p>
            <a:r>
              <a:rPr lang="en-US" sz="3200" b="1" dirty="0">
                <a:solidFill>
                  <a:srgbClr val="000000"/>
                </a:solidFill>
                <a:latin typeface="Calibri" pitchFamily="34" charset="0"/>
                <a:ea typeface="Calibri" pitchFamily="34" charset="-122"/>
                <a:cs typeface="Calibri" pitchFamily="34" charset="-120"/>
              </a:rPr>
              <a:t>Understanding </a:t>
            </a:r>
            <a:r>
              <a:rPr lang="en-US" sz="3200" b="1" dirty="0">
                <a:solidFill>
                  <a:srgbClr val="00B050"/>
                </a:solidFill>
                <a:latin typeface="Calibri" pitchFamily="34" charset="0"/>
                <a:ea typeface="Calibri" pitchFamily="34" charset="-122"/>
                <a:cs typeface="Calibri" pitchFamily="34" charset="-120"/>
              </a:rPr>
              <a:t>Learning</a:t>
            </a:r>
            <a:endParaRPr lang="en-US" sz="3200" dirty="0">
              <a:solidFill>
                <a:srgbClr val="362FEC"/>
              </a:solidFill>
            </a:endParaRPr>
          </a:p>
        </p:txBody>
      </p:sp>
      <p:sp>
        <p:nvSpPr>
          <p:cNvPr id="3" name="subheading">
            <a:extLst>
              <a:ext uri="{FF2B5EF4-FFF2-40B4-BE49-F238E27FC236}">
                <a16:creationId xmlns:a16="http://schemas.microsoft.com/office/drawing/2014/main" id="{5CB8A4AA-40B1-94AE-8EEE-080599481F78}"/>
              </a:ext>
            </a:extLst>
          </p:cNvPr>
          <p:cNvSpPr txBox="1"/>
          <p:nvPr/>
        </p:nvSpPr>
        <p:spPr>
          <a:xfrm>
            <a:off x="292608" y="868680"/>
            <a:ext cx="11430000" cy="411480"/>
          </a:xfrm>
          <a:prstGeom prst="rect">
            <a:avLst/>
          </a:prstGeom>
          <a:noFill/>
          <a:ln>
            <a:noFill/>
          </a:ln>
        </p:spPr>
        <p:txBody>
          <a:bodyPr wrap="square" lIns="0" tIns="0" rIns="0" bIns="0" rtlCol="0" anchor="ctr"/>
          <a:lstStyle/>
          <a:p>
            <a:pPr marL="0" indent="0">
              <a:buNone/>
            </a:pPr>
            <a:r>
              <a:rPr lang="en-US" sz="2000" b="1" dirty="0">
                <a:solidFill>
                  <a:srgbClr val="362FEC"/>
                </a:solidFill>
                <a:latin typeface="Calibri" panose="020F0502020204030204" pitchFamily="34" charset="0"/>
                <a:cs typeface="Calibri" panose="020F0502020204030204" pitchFamily="34" charset="0"/>
              </a:rPr>
              <a:t>Prediction is compression</a:t>
            </a:r>
          </a:p>
        </p:txBody>
      </p:sp>
      <p:sp>
        <p:nvSpPr>
          <p:cNvPr id="4" name="points"/>
          <p:cNvSpPr txBox="1"/>
          <p:nvPr/>
        </p:nvSpPr>
        <p:spPr>
          <a:xfrm>
            <a:off x="384048" y="1417320"/>
            <a:ext cx="6126480" cy="5166360"/>
          </a:xfrm>
          <a:prstGeom prst="rect">
            <a:avLst/>
          </a:prstGeom>
          <a:noFill/>
        </p:spPr>
        <p:txBody>
          <a:bodyPr wrap="square" lIns="0" rIns="0" tIns="0" bIns="0">
            <a:spAutoFit/>
          </a:bodyPr>
          <a:lstStyle/>
          <a:p>
            <a:pPr algn="l">
              <a:spcAft>
                <a:spcPts val="1200"/>
              </a:spcAft>
            </a:pPr>
            <a:r>
              <a:rPr sz="1800" b="1" i="0">
                <a:solidFill>
                  <a:srgbClr val="00B050"/>
                </a:solidFill>
                <a:latin typeface="Calibri"/>
              </a:rPr>
              <a:t>Log loss is code length</a:t>
            </a:r>
            <a:r>
              <a:rPr sz="1800" b="0" i="0">
                <a:solidFill>
                  <a:srgbClr val="000000"/>
                </a:solidFill>
                <a:latin typeface="Calibri"/>
              </a:rPr>
              <a:t>: a symbol predicted with probability p can be encoded in about −log₂ p bits (arithmetic coding). Conversely, every prefix code is a probability model (Kraft).</a:t>
            </a:r>
          </a:p>
          <a:p>
            <a:pPr algn="l">
              <a:spcAft>
                <a:spcPts val="1200"/>
              </a:spcAft>
            </a:pPr>
            <a:r>
              <a:rPr sz="1800" b="1" i="0">
                <a:solidFill>
                  <a:srgbClr val="FF0000"/>
                </a:solidFill>
                <a:latin typeface="Calibri"/>
              </a:rPr>
              <a:t>Cross-entropy</a:t>
            </a:r>
            <a:r>
              <a:rPr sz="1800" b="0" i="0">
                <a:solidFill>
                  <a:srgbClr val="000000"/>
                </a:solidFill>
                <a:latin typeface="Calibri"/>
              </a:rPr>
              <a:t>: coding a source p with a model q costs H(p) + KL(p‖q) bits per symbol. A better predictor is a better compressor; the gap to the best code is exactly the KL divergence.</a:t>
            </a:r>
          </a:p>
          <a:p>
            <a:pPr algn="l">
              <a:spcAft>
                <a:spcPts val="1200"/>
              </a:spcAft>
            </a:pPr>
            <a:r>
              <a:rPr sz="1800" b="1" i="0">
                <a:solidFill>
                  <a:srgbClr val="362FEC"/>
                </a:solidFill>
                <a:latin typeface="Calibri"/>
              </a:rPr>
              <a:t>Training is compression</a:t>
            </a:r>
            <a:r>
              <a:rPr sz="1800" b="0" i="0">
                <a:solidFill>
                  <a:srgbClr val="000000"/>
                </a:solidFill>
                <a:latin typeface="Calibri"/>
              </a:rPr>
              <a:t>: maximum likelihood minimizes the KL divergence from the data distribution, so a language model trained on next-token log loss is a compressor for text. It runs the other way too: gzip can generate text (</a:t>
            </a:r>
            <a:r>
              <a:rPr sz="1800" b="0" i="0">
                <a:solidFill>
                  <a:srgbClr val="362FEC"/>
                </a:solidFill>
                <a:latin typeface="Calibri"/>
                <a:hlinkClick r:id="rId2"/>
              </a:rPr>
              <a:t>GziPT</a:t>
            </a:r>
            <a:r>
              <a:rPr sz="1800" b="0" i="0">
                <a:solidFill>
                  <a:srgbClr val="000000"/>
                </a:solidFill>
                <a:latin typeface="Calibri"/>
              </a:rPr>
              <a:t>).</a:t>
            </a:r>
          </a:p>
          <a:p>
            <a:pPr algn="l">
              <a:spcAft>
                <a:spcPts val="1200"/>
              </a:spcAft>
            </a:pPr>
            <a:r>
              <a:rPr sz="1800" b="1" i="0">
                <a:solidFill>
                  <a:srgbClr val="FF0000"/>
                </a:solidFill>
                <a:latin typeface="Calibri"/>
              </a:rPr>
              <a:t>Simplicity, briefly</a:t>
            </a:r>
            <a:r>
              <a:rPr sz="1800" b="0" i="0">
                <a:solidFill>
                  <a:srgbClr val="000000"/>
                </a:solidFill>
                <a:latin typeface="Calibri"/>
              </a:rPr>
              <a:t>: naming a hypothesis costs bits too. Minimum description length: prefer the hypothesis whose own description plus the data coded with it is shortest.</a:t>
            </a:r>
          </a:p>
        </p:txBody>
      </p:sp>
      <p:grpSp>
        <p:nvGrpSpPr>
          <p:cNvPr id="5" name="picture 1"/>
          <p:cNvGrpSpPr/>
          <p:nvPr/>
        </p:nvGrpSpPr>
        <p:grpSpPr>
          <a:xfrm>
            <a:off x="6812280" y="1371600"/>
            <a:ext cx="5120640" cy="3950208"/>
            <a:chOff x="6812280" y="1371600"/>
            <a:chExt cx="5120640" cy="3950208"/>
          </a:xfrm>
        </p:grpSpPr>
        <p:pic>
          <p:nvPicPr>
            <p:cNvPr id="6" name="Picture 5" descr="image.png"/>
            <p:cNvPicPr>
              <a:picLocks noChangeAspect="1"/>
            </p:cNvPicPr>
            <p:nvPr/>
          </p:nvPicPr>
          <p:blipFill>
            <a:blip r:embed="rId3"/>
            <a:stretch>
              <a:fillRect/>
            </a:stretch>
          </p:blipFill>
          <p:spPr>
            <a:xfrm>
              <a:off x="7254486" y="1371600"/>
              <a:ext cx="4236227" cy="3017520"/>
            </a:xfrm>
            <a:prstGeom prst="rect">
              <a:avLst/>
            </a:prstGeom>
          </p:spPr>
        </p:pic>
        <p:sp>
          <p:nvSpPr>
            <p:cNvPr id="7" name="description"/>
            <p:cNvSpPr txBox="1"/>
            <p:nvPr/>
          </p:nvSpPr>
          <p:spPr>
            <a:xfrm>
              <a:off x="6812280" y="4498848"/>
              <a:ext cx="5120640" cy="822960"/>
            </a:xfrm>
            <a:prstGeom prst="rect">
              <a:avLst/>
            </a:prstGeom>
            <a:noFill/>
          </p:spPr>
          <p:txBody>
            <a:bodyPr wrap="square" anchor="t" lIns="0" rIns="0" tIns="0" bIns="0">
              <a:spAutoFit/>
            </a:bodyPr>
            <a:lstStyle/>
            <a:p>
              <a:pPr algn="l"/>
              <a:r>
                <a:rPr sz="1400" b="0" i="0">
                  <a:solidFill>
                    <a:srgbClr val="595959"/>
                  </a:solidFill>
                  <a:latin typeface="Calibri"/>
                </a:rPr>
                <a:t>Probability 1/2: one bit; 1/4: two bits; 1/64: six bits. For a whole message, arithmetic coding comes within two bits of −log₂ q(x).</a:t>
              </a:r>
            </a:p>
          </p:txBody>
        </p:sp>
      </p:grpSp>
      <p:grpSp>
        <p:nvGrpSpPr>
          <p:cNvPr id="8" name="picture 2"/>
          <p:cNvGrpSpPr/>
          <p:nvPr/>
        </p:nvGrpSpPr>
        <p:grpSpPr>
          <a:xfrm>
            <a:off x="6812280" y="1463040"/>
            <a:ext cx="5120640" cy="1991454"/>
            <a:chOff x="6812280" y="1463040"/>
            <a:chExt cx="5120640" cy="1991454"/>
          </a:xfrm>
        </p:grpSpPr>
        <p:pic>
          <p:nvPicPr>
            <p:cNvPr id="9" name="Picture 8" descr="image.png"/>
            <p:cNvPicPr>
              <a:picLocks noChangeAspect="1"/>
            </p:cNvPicPr>
            <p:nvPr/>
          </p:nvPicPr>
          <p:blipFill>
            <a:blip r:embed="rId4"/>
            <a:stretch>
              <a:fillRect/>
            </a:stretch>
          </p:blipFill>
          <p:spPr>
            <a:xfrm>
              <a:off x="6858000" y="1463040"/>
              <a:ext cx="5029200" cy="574134"/>
            </a:xfrm>
            <a:prstGeom prst="rect">
              <a:avLst/>
            </a:prstGeom>
          </p:spPr>
        </p:pic>
        <p:sp>
          <p:nvSpPr>
            <p:cNvPr id="10" name="description"/>
            <p:cNvSpPr txBox="1"/>
            <p:nvPr/>
          </p:nvSpPr>
          <p:spPr>
            <a:xfrm>
              <a:off x="6812280" y="2265774"/>
              <a:ext cx="5120640" cy="822960"/>
            </a:xfrm>
            <a:prstGeom prst="rect">
              <a:avLst/>
            </a:prstGeom>
            <a:noFill/>
          </p:spPr>
          <p:txBody>
            <a:bodyPr wrap="square" anchor="t" lIns="0" rIns="0" tIns="0" bIns="0">
              <a:spAutoFit/>
            </a:bodyPr>
            <a:lstStyle/>
            <a:p>
              <a:pPr algn="l"/>
              <a:r>
                <a:rPr sz="1400" b="0" i="0">
                  <a:solidFill>
                    <a:srgbClr val="595959"/>
                  </a:solidFill>
                  <a:latin typeface="Calibri"/>
                </a:rPr>
                <a:t>H(p), the entropy of the source, is the best any code can do. The KL divergence is nonnegative and zero only when q = p.</a:t>
              </a:r>
            </a:p>
          </p:txBody>
        </p:sp>
        <p:sp>
          <p:nvSpPr>
            <p:cNvPr id="11" name="link"/>
            <p:cNvSpPr txBox="1"/>
            <p:nvPr/>
          </p:nvSpPr>
          <p:spPr>
            <a:xfrm>
              <a:off x="6812280" y="3134454"/>
              <a:ext cx="5120640" cy="320040"/>
            </a:xfrm>
            <a:prstGeom prst="rect">
              <a:avLst/>
            </a:prstGeom>
            <a:noFill/>
          </p:spPr>
          <p:txBody>
            <a:bodyPr wrap="square" lIns="0" rIns="0" tIns="0" bIns="0">
              <a:spAutoFit/>
            </a:bodyPr>
            <a:lstStyle/>
            <a:p>
              <a:pPr algn="l">
                <a:spcAft>
                  <a:spcPts val="1000"/>
                </a:spcAft>
              </a:pPr>
              <a:r>
                <a:rPr sz="1300" b="0" i="0">
                  <a:solidFill>
                    <a:srgbClr val="362FEC"/>
                  </a:solidFill>
                  <a:latin typeface="Calibri"/>
                  <a:hlinkClick r:id="rId5"/>
                </a:rPr>
                <a:t>Grant Sanderson (3Blue1Brown), But what is cross-entropy?</a:t>
              </a:r>
            </a:p>
          </p:txBody>
        </p:sp>
      </p:grpSp>
      <p:grpSp>
        <p:nvGrpSpPr>
          <p:cNvPr id="12" name="picture 3"/>
          <p:cNvGrpSpPr/>
          <p:nvPr/>
        </p:nvGrpSpPr>
        <p:grpSpPr>
          <a:xfrm>
            <a:off x="6812280" y="1463040"/>
            <a:ext cx="5120640" cy="1447300"/>
            <a:chOff x="6812280" y="1463040"/>
            <a:chExt cx="5120640" cy="1447300"/>
          </a:xfrm>
        </p:grpSpPr>
        <p:pic>
          <p:nvPicPr>
            <p:cNvPr id="13" name="Picture 12" descr="image.png"/>
            <p:cNvPicPr>
              <a:picLocks noChangeAspect="1"/>
            </p:cNvPicPr>
            <p:nvPr/>
          </p:nvPicPr>
          <p:blipFill>
            <a:blip r:embed="rId6"/>
            <a:stretch>
              <a:fillRect/>
            </a:stretch>
          </p:blipFill>
          <p:spPr>
            <a:xfrm>
              <a:off x="6858000" y="1463040"/>
              <a:ext cx="5029200" cy="395740"/>
            </a:xfrm>
            <a:prstGeom prst="rect">
              <a:avLst/>
            </a:prstGeom>
          </p:spPr>
        </p:pic>
        <p:sp>
          <p:nvSpPr>
            <p:cNvPr id="14" name="description"/>
            <p:cNvSpPr txBox="1"/>
            <p:nvPr/>
          </p:nvSpPr>
          <p:spPr>
            <a:xfrm>
              <a:off x="6812280" y="2087380"/>
              <a:ext cx="5120640" cy="822960"/>
            </a:xfrm>
            <a:prstGeom prst="rect">
              <a:avLst/>
            </a:prstGeom>
            <a:noFill/>
          </p:spPr>
          <p:txBody>
            <a:bodyPr wrap="square" anchor="t" lIns="0" rIns="0" tIns="0" bIns="0">
              <a:spAutoFit/>
            </a:bodyPr>
            <a:lstStyle/>
            <a:p>
              <a:pPr algn="l"/>
              <a:r>
                <a:rPr sz="1400" b="0" i="0">
                  <a:solidFill>
                    <a:srgbClr val="595959"/>
                  </a:solidFill>
                  <a:latin typeface="Calibri"/>
                </a:rPr>
                <a:t>The entropy does not depend on θ, so maximizing likelihood minimizes the KL divergence to the data. Perplexity in Week 2 is this quantity, exponentiated.</a:t>
              </a:r>
            </a:p>
          </p:txBody>
        </p:sp>
      </p:grpSp>
      <p:grpSp>
        <p:nvGrpSpPr>
          <p:cNvPr id="15" name="picture 4"/>
          <p:cNvGrpSpPr/>
          <p:nvPr/>
        </p:nvGrpSpPr>
        <p:grpSpPr>
          <a:xfrm>
            <a:off x="6812280" y="1463040"/>
            <a:ext cx="5120640" cy="2903652"/>
            <a:chOff x="6812280" y="1463040"/>
            <a:chExt cx="5120640" cy="2903652"/>
          </a:xfrm>
        </p:grpSpPr>
        <p:pic>
          <p:nvPicPr>
            <p:cNvPr id="16" name="Picture 15" descr="eq_mdl.png"/>
            <p:cNvPicPr>
              <a:picLocks noChangeAspect="1"/>
            </p:cNvPicPr>
            <p:nvPr/>
          </p:nvPicPr>
          <p:blipFill>
            <a:blip r:embed="rId7"/>
            <a:stretch>
              <a:fillRect/>
            </a:stretch>
          </p:blipFill>
          <p:spPr>
            <a:xfrm>
              <a:off x="6812280" y="1463040"/>
              <a:ext cx="5120640" cy="758670"/>
            </a:xfrm>
            <a:prstGeom prst="rect">
              <a:avLst/>
            </a:prstGeom>
          </p:spPr>
        </p:pic>
        <p:pic>
          <p:nvPicPr>
            <p:cNvPr id="17" name="Picture 16" descr="image.png"/>
            <p:cNvPicPr>
              <a:picLocks noChangeAspect="1"/>
            </p:cNvPicPr>
            <p:nvPr/>
          </p:nvPicPr>
          <p:blipFill>
            <a:blip r:embed="rId8"/>
            <a:stretch>
              <a:fillRect/>
            </a:stretch>
          </p:blipFill>
          <p:spPr>
            <a:xfrm>
              <a:off x="7863840" y="2541750"/>
              <a:ext cx="3017520" cy="727662"/>
            </a:xfrm>
            <a:prstGeom prst="rect">
              <a:avLst/>
            </a:prstGeom>
          </p:spPr>
        </p:pic>
        <p:sp>
          <p:nvSpPr>
            <p:cNvPr id="18" name="description"/>
            <p:cNvSpPr txBox="1"/>
            <p:nvPr/>
          </p:nvSpPr>
          <p:spPr>
            <a:xfrm>
              <a:off x="6812280" y="3452292"/>
              <a:ext cx="5120640" cy="914400"/>
            </a:xfrm>
            <a:prstGeom prst="rect">
              <a:avLst/>
            </a:prstGeom>
            <a:noFill/>
          </p:spPr>
          <p:txBody>
            <a:bodyPr wrap="square" anchor="t" lIns="0" rIns="0" tIns="0" bIns="0">
              <a:spAutoFit/>
            </a:bodyPr>
            <a:lstStyle/>
            <a:p>
              <a:pPr algn="l"/>
              <a:r>
                <a:rPr sz="1400" b="0" i="0">
                  <a:solidFill>
                    <a:srgbClr val="595959"/>
                  </a:solidFill>
                  <a:latin typeface="Calibri"/>
                </a:rPr>
                <a:t>A hypothesis earns its complexity only by compressing the data. Solomonoff's mixture over programs cannot be computed, but on any computable source its total error is bounded by the source's description length (§A.4).</a:t>
              </a:r>
            </a:p>
          </p:txBody>
        </p:sp>
      </p:grpSp>
      <p:sp>
        <p:nvSpPr>
          <p:cNvPr id="19" name="takeaway"/>
          <p:cNvSpPr txBox="1"/>
          <p:nvPr/>
        </p:nvSpPr>
        <p:spPr>
          <a:xfrm>
            <a:off x="384048" y="6035040"/>
            <a:ext cx="11430000" cy="457200"/>
          </a:xfrm>
          <a:prstGeom prst="rect">
            <a:avLst/>
          </a:prstGeom>
          <a:noFill/>
        </p:spPr>
        <p:txBody>
          <a:bodyPr wrap="square" lIns="0" rIns="0" tIns="0" bIns="0">
            <a:spAutoFit/>
          </a:bodyPr>
          <a:lstStyle/>
          <a:p>
            <a:pPr algn="l">
              <a:spcAft>
                <a:spcPts val="1000"/>
              </a:spcAft>
            </a:pPr>
            <a:r>
              <a:rPr sz="1800" b="1" i="0">
                <a:solidFill>
                  <a:srgbClr val="00B050"/>
                </a:solidFill>
                <a:latin typeface="Calibri"/>
              </a:rPr>
              <a:t>Learning is prediction, and prediction is compression: </a:t>
            </a:r>
            <a:r>
              <a:rPr sz="1800" b="0" i="0">
                <a:solidFill>
                  <a:srgbClr val="000000"/>
                </a:solidFill>
                <a:latin typeface="Calibri"/>
              </a:rPr>
              <a:t>good prediction, short description, and simplicity are three views of one idea.</a:t>
            </a:r>
          </a:p>
        </p:txBody>
      </p:sp>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4">
                                            <p:txEl>
                                              <p:pRg st="0" end="0"/>
                                            </p:txEl>
                                          </p:spTgt>
                                        </p:tgtEl>
                                        <p:attrNameLst>
                                          <p:attrName>style.visibility</p:attrName>
                                        </p:attrNameLst>
                                      </p:cBhvr>
                                      <p:to>
                                        <p:strVal val="visible"/>
                                      </p:to>
                                    </p:set>
                                  </p:childTnLst>
                                </p:cTn>
                              </p:par>
                              <p:par>
                                <p:cTn id="7" presetID="1" presetClass="entr" presetSubtype="0" fill="hold" grpId="0" nodeType="withEffect">
                                  <p:stCondLst>
                                    <p:cond delay="0"/>
                                  </p:stCondLst>
                                  <p:childTnLst>
                                    <p:set>
                                      <p:cBhvr>
                                        <p:cTn id="8" dur="1" fill="hold">
                                          <p:stCondLst>
                                            <p:cond delay="0"/>
                                          </p:stCondLst>
                                        </p:cTn>
                                        <p:tgtEl>
                                          <p:spTgt spid="5"/>
                                        </p:tgtEl>
                                        <p:attrNameLst>
                                          <p:attrName>style.visibility</p:attrName>
                                        </p:attrNameLst>
                                      </p:cBhvr>
                                      <p:to>
                                        <p:strVal val="visible"/>
                                      </p:to>
                                    </p:set>
                                  </p:childTnLst>
                                </p:cTn>
                              </p:par>
                            </p:childTnLst>
                          </p:cTn>
                        </p:par>
                      </p:childTnLst>
                    </p:cTn>
                  </p:par>
                  <p:par>
                    <p:cTn id="9" fill="hold">
                      <p:stCondLst>
                        <p:cond delay="indefinite"/>
                      </p:stCondLst>
                      <p:childTnLst>
                        <p:par>
                          <p:cTn id="10" fill="hold">
                            <p:stCondLst>
                              <p:cond delay="0"/>
                            </p:stCondLst>
                            <p:childTnLst>
                              <p:par>
                                <p:cTn id="11" presetID="1" presetClass="entr" presetSubtype="0" fill="hold" grpId="0" nodeType="clickEffect">
                                  <p:stCondLst>
                                    <p:cond delay="0"/>
                                  </p:stCondLst>
                                  <p:childTnLst>
                                    <p:set>
                                      <p:cBhvr>
                                        <p:cTn id="12" dur="1" fill="hold">
                                          <p:stCondLst>
                                            <p:cond delay="0"/>
                                          </p:stCondLst>
                                        </p:cTn>
                                        <p:tgtEl>
                                          <p:spTgt spid="4">
                                            <p:txEl>
                                              <p:pRg st="1" end="1"/>
                                            </p:txEl>
                                          </p:spTgt>
                                        </p:tgtEl>
                                        <p:attrNameLst>
                                          <p:attrName>style.visibility</p:attrName>
                                        </p:attrNameLst>
                                      </p:cBhvr>
                                      <p:to>
                                        <p:strVal val="visible"/>
                                      </p:to>
                                    </p:set>
                                  </p:childTnLst>
                                </p:cTn>
                              </p:par>
                              <p:par>
                                <p:cTn id="13" presetID="1" presetClass="entr" presetSubtype="0" fill="hold" grpId="0" nodeType="withEffect">
                                  <p:stCondLst>
                                    <p:cond delay="0"/>
                                  </p:stCondLst>
                                  <p:childTnLst>
                                    <p:set>
                                      <p:cBhvr>
                                        <p:cTn id="14" dur="1" fill="hold">
                                          <p:stCondLst>
                                            <p:cond delay="0"/>
                                          </p:stCondLst>
                                        </p:cTn>
                                        <p:tgtEl>
                                          <p:spTgt spid="8"/>
                                        </p:tgtEl>
                                        <p:attrNameLst>
                                          <p:attrName>style.visibility</p:attrName>
                                        </p:attrNameLst>
                                      </p:cBhvr>
                                      <p:to>
                                        <p:strVal val="visible"/>
                                      </p:to>
                                    </p:set>
                                  </p:childTnLst>
                                </p:cTn>
                              </p:par>
                              <p:par>
                                <p:cTn id="15" presetID="1" presetClass="exit" presetSubtype="0" fill="hold" grpId="1" nodeType="withEffect">
                                  <p:stCondLst>
                                    <p:cond delay="0"/>
                                  </p:stCondLst>
                                  <p:childTnLst>
                                    <p:set>
                                      <p:cBhvr>
                                        <p:cTn id="16" dur="1" fill="hold">
                                          <p:stCondLst>
                                            <p:cond delay="0"/>
                                          </p:stCondLst>
                                        </p:cTn>
                                        <p:tgtEl>
                                          <p:spTgt spid="5"/>
                                        </p:tgtEl>
                                        <p:attrNameLst>
                                          <p:attrName>style.visibility</p:attrName>
                                        </p:attrNameLst>
                                      </p:cBhvr>
                                      <p:to>
                                        <p:strVal val="hidden"/>
                                      </p:to>
                                    </p:set>
                                  </p:childTnLst>
                                </p:cTn>
                              </p:par>
                            </p:childTnLst>
                          </p:cTn>
                        </p:par>
                      </p:childTnLst>
                    </p:cTn>
                  </p:par>
                  <p:par>
                    <p:cTn id="17" fill="hold">
                      <p:stCondLst>
                        <p:cond delay="indefinite"/>
                      </p:stCondLst>
                      <p:childTnLst>
                        <p:par>
                          <p:cTn id="18" fill="hold">
                            <p:stCondLst>
                              <p:cond delay="0"/>
                            </p:stCondLst>
                            <p:childTnLst>
                              <p:par>
                                <p:cTn id="19" presetID="1" presetClass="entr" presetSubtype="0" fill="hold" grpId="0" nodeType="clickEffect">
                                  <p:stCondLst>
                                    <p:cond delay="0"/>
                                  </p:stCondLst>
                                  <p:childTnLst>
                                    <p:set>
                                      <p:cBhvr>
                                        <p:cTn id="20" dur="1" fill="hold">
                                          <p:stCondLst>
                                            <p:cond delay="0"/>
                                          </p:stCondLst>
                                        </p:cTn>
                                        <p:tgtEl>
                                          <p:spTgt spid="4">
                                            <p:txEl>
                                              <p:pRg st="2" end="2"/>
                                            </p:txEl>
                                          </p:spTgt>
                                        </p:tgtEl>
                                        <p:attrNameLst>
                                          <p:attrName>style.visibility</p:attrName>
                                        </p:attrNameLst>
                                      </p:cBhvr>
                                      <p:to>
                                        <p:strVal val="visible"/>
                                      </p:to>
                                    </p:set>
                                  </p:childTnLst>
                                </p:cTn>
                              </p:par>
                              <p:par>
                                <p:cTn id="21" presetID="1" presetClass="entr" presetSubtype="0" fill="hold" grpId="0" nodeType="withEffect">
                                  <p:stCondLst>
                                    <p:cond delay="0"/>
                                  </p:stCondLst>
                                  <p:childTnLst>
                                    <p:set>
                                      <p:cBhvr>
                                        <p:cTn id="22" dur="1" fill="hold">
                                          <p:stCondLst>
                                            <p:cond delay="0"/>
                                          </p:stCondLst>
                                        </p:cTn>
                                        <p:tgtEl>
                                          <p:spTgt spid="12"/>
                                        </p:tgtEl>
                                        <p:attrNameLst>
                                          <p:attrName>style.visibility</p:attrName>
                                        </p:attrNameLst>
                                      </p:cBhvr>
                                      <p:to>
                                        <p:strVal val="visible"/>
                                      </p:to>
                                    </p:set>
                                  </p:childTnLst>
                                </p:cTn>
                              </p:par>
                              <p:par>
                                <p:cTn id="23" presetID="1" presetClass="exit" presetSubtype="0" fill="hold" grpId="1" nodeType="withEffect">
                                  <p:stCondLst>
                                    <p:cond delay="0"/>
                                  </p:stCondLst>
                                  <p:childTnLst>
                                    <p:set>
                                      <p:cBhvr>
                                        <p:cTn id="24" dur="1" fill="hold">
                                          <p:stCondLst>
                                            <p:cond delay="0"/>
                                          </p:stCondLst>
                                        </p:cTn>
                                        <p:tgtEl>
                                          <p:spTgt spid="8"/>
                                        </p:tgtEl>
                                        <p:attrNameLst>
                                          <p:attrName>style.visibility</p:attrName>
                                        </p:attrNameLst>
                                      </p:cBhvr>
                                      <p:to>
                                        <p:strVal val="hidden"/>
                                      </p:to>
                                    </p:set>
                                  </p:childTnLst>
                                </p:cTn>
                              </p:par>
                            </p:childTnLst>
                          </p:cTn>
                        </p:par>
                      </p:childTnLst>
                    </p:cTn>
                  </p:par>
                  <p:par>
                    <p:cTn id="25" fill="hold">
                      <p:stCondLst>
                        <p:cond delay="indefinite"/>
                      </p:stCondLst>
                      <p:childTnLst>
                        <p:par>
                          <p:cTn id="26" fill="hold">
                            <p:stCondLst>
                              <p:cond delay="0"/>
                            </p:stCondLst>
                            <p:childTnLst>
                              <p:par>
                                <p:cTn id="27" presetID="1" presetClass="entr" presetSubtype="0" fill="hold" grpId="0" nodeType="clickEffect">
                                  <p:stCondLst>
                                    <p:cond delay="0"/>
                                  </p:stCondLst>
                                  <p:childTnLst>
                                    <p:set>
                                      <p:cBhvr>
                                        <p:cTn id="28" dur="1" fill="hold">
                                          <p:stCondLst>
                                            <p:cond delay="0"/>
                                          </p:stCondLst>
                                        </p:cTn>
                                        <p:tgtEl>
                                          <p:spTgt spid="4">
                                            <p:txEl>
                                              <p:pRg st="3" end="3"/>
                                            </p:txEl>
                                          </p:spTgt>
                                        </p:tgtEl>
                                        <p:attrNameLst>
                                          <p:attrName>style.visibility</p:attrName>
                                        </p:attrNameLst>
                                      </p:cBhvr>
                                      <p:to>
                                        <p:strVal val="visible"/>
                                      </p:to>
                                    </p:set>
                                  </p:childTnLst>
                                </p:cTn>
                              </p:par>
                              <p:par>
                                <p:cTn id="29" presetID="1" presetClass="entr" presetSubtype="0" fill="hold" grpId="0" nodeType="withEffect">
                                  <p:stCondLst>
                                    <p:cond delay="0"/>
                                  </p:stCondLst>
                                  <p:childTnLst>
                                    <p:set>
                                      <p:cBhvr>
                                        <p:cTn id="30" dur="1" fill="hold">
                                          <p:stCondLst>
                                            <p:cond delay="0"/>
                                          </p:stCondLst>
                                        </p:cTn>
                                        <p:tgtEl>
                                          <p:spTgt spid="15"/>
                                        </p:tgtEl>
                                        <p:attrNameLst>
                                          <p:attrName>style.visibility</p:attrName>
                                        </p:attrNameLst>
                                      </p:cBhvr>
                                      <p:to>
                                        <p:strVal val="visible"/>
                                      </p:to>
                                    </p:set>
                                  </p:childTnLst>
                                </p:cTn>
                              </p:par>
                              <p:par>
                                <p:cTn id="31" presetID="1" presetClass="exit" presetSubtype="0" fill="hold" grpId="1" nodeType="withEffect">
                                  <p:stCondLst>
                                    <p:cond delay="0"/>
                                  </p:stCondLst>
                                  <p:childTnLst>
                                    <p:set>
                                      <p:cBhvr>
                                        <p:cTn id="32" dur="1" fill="hold">
                                          <p:stCondLst>
                                            <p:cond delay="0"/>
                                          </p:stCondLst>
                                        </p:cTn>
                                        <p:tgtEl>
                                          <p:spTgt spid="12"/>
                                        </p:tgtEl>
                                        <p:attrNameLst>
                                          <p:attrName>style.visibility</p:attrName>
                                        </p:attrNameLst>
                                      </p:cBhvr>
                                      <p:to>
                                        <p:strVal val="hidden"/>
                                      </p:to>
                                    </p:set>
                                  </p:childTnLst>
                                </p:cTn>
                              </p:par>
                            </p:childTnLst>
                          </p:cTn>
                        </p:par>
                      </p:childTnLst>
                    </p:cTn>
                  </p:par>
                  <p:par>
                    <p:cTn id="33" fill="hold">
                      <p:stCondLst>
                        <p:cond delay="indefinite"/>
                      </p:stCondLst>
                      <p:childTnLst>
                        <p:par>
                          <p:cTn id="34" fill="hold">
                            <p:stCondLst>
                              <p:cond delay="0"/>
                            </p:stCondLst>
                            <p:childTnLst>
                              <p:par>
                                <p:cTn id="35" presetID="1" presetClass="entr" presetSubtype="0" fill="hold" grpId="0" nodeType="clickEffect">
                                  <p:stCondLst>
                                    <p:cond delay="0"/>
                                  </p:stCondLst>
                                  <p:childTnLst>
                                    <p:set>
                                      <p:cBhvr>
                                        <p:cTn id="36" dur="1" fill="hold">
                                          <p:stCondLst>
                                            <p:cond delay="0"/>
                                          </p:stCondLst>
                                        </p:cTn>
                                        <p:tgtEl>
                                          <p:spTgt spid="19"/>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4" grpId="0" build="p"/>
      <p:bldP spid="19" grpId="0"/>
    </p:bldLst>
  </p:timing>
</p:sld>
</file>

<file path=ppt/slides/slide7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b0_2">
            <a:extLst>
              <a:ext uri="{FF2B5EF4-FFF2-40B4-BE49-F238E27FC236}">
                <a16:creationId xmlns:a16="http://schemas.microsoft.com/office/drawing/2014/main" id="{33DE8782-7F2B-1033-00F6-2A6652EE0E80}"/>
              </a:ext>
            </a:extLst>
          </p:cNvPr>
          <p:cNvSpPr txBox="1"/>
          <p:nvPr/>
        </p:nvSpPr>
        <p:spPr>
          <a:xfrm>
            <a:off x="0" y="148566"/>
            <a:ext cx="11680992" cy="548640"/>
          </a:xfrm>
          <a:prstGeom prst="rect">
            <a:avLst/>
          </a:prstGeom>
          <a:noFill/>
          <a:ln>
            <a:noFill/>
          </a:ln>
        </p:spPr>
        <p:txBody>
          <a:bodyPr wrap="square" rtlCol="0" anchor="ctr"/>
          <a:lstStyle/>
          <a:p>
            <a:r>
              <a:rPr lang="en-US" sz="3200" b="1" dirty="0">
                <a:solidFill>
                  <a:srgbClr val="000000"/>
                </a:solidFill>
                <a:latin typeface="Calibri" pitchFamily="34" charset="0"/>
                <a:ea typeface="Calibri" pitchFamily="34" charset="-122"/>
                <a:cs typeface="Calibri" pitchFamily="34" charset="-120"/>
              </a:rPr>
              <a:t>Understanding </a:t>
            </a:r>
            <a:r>
              <a:rPr lang="en-US" sz="3200" b="1" dirty="0">
                <a:solidFill>
                  <a:srgbClr val="362FEC"/>
                </a:solidFill>
                <a:latin typeface="Calibri" pitchFamily="34" charset="0"/>
                <a:ea typeface="Calibri" pitchFamily="34" charset="-122"/>
                <a:cs typeface="Calibri" pitchFamily="34" charset="-120"/>
              </a:rPr>
              <a:t>Language</a:t>
            </a:r>
            <a:endParaRPr lang="en-US" sz="3200" dirty="0">
              <a:solidFill>
                <a:srgbClr val="362FEC"/>
              </a:solidFill>
            </a:endParaRPr>
          </a:p>
        </p:txBody>
      </p:sp>
      <p:sp>
        <p:nvSpPr>
          <p:cNvPr id="3" name="subheading">
            <a:extLst>
              <a:ext uri="{FF2B5EF4-FFF2-40B4-BE49-F238E27FC236}">
                <a16:creationId xmlns:a16="http://schemas.microsoft.com/office/drawing/2014/main" id="{5CB8A4AA-40B1-94AE-8EEE-080599481F78}"/>
              </a:ext>
            </a:extLst>
          </p:cNvPr>
          <p:cNvSpPr txBox="1"/>
          <p:nvPr/>
        </p:nvSpPr>
        <p:spPr>
          <a:xfrm>
            <a:off x="292608" y="868680"/>
            <a:ext cx="11430000" cy="411480"/>
          </a:xfrm>
          <a:prstGeom prst="rect">
            <a:avLst/>
          </a:prstGeom>
          <a:noFill/>
          <a:ln>
            <a:noFill/>
          </a:ln>
        </p:spPr>
        <p:txBody>
          <a:bodyPr wrap="square" lIns="0" tIns="0" rIns="0" bIns="0" rtlCol="0" anchor="ctr"/>
          <a:lstStyle/>
          <a:p>
            <a:pPr marL="0" indent="0">
              <a:buNone/>
            </a:pPr>
            <a:r>
              <a:rPr lang="en-US" sz="2000" b="1" dirty="0">
                <a:solidFill>
                  <a:srgbClr val="362FEC"/>
                </a:solidFill>
                <a:latin typeface="Calibri" panose="020F0502020204030204" pitchFamily="34" charset="0"/>
                <a:cs typeface="Calibri" panose="020F0502020204030204" pitchFamily="34" charset="0"/>
              </a:rPr>
              <a:t>The company a word keeps</a:t>
            </a:r>
          </a:p>
        </p:txBody>
      </p:sp>
      <p:sp>
        <p:nvSpPr>
          <p:cNvPr id="4" name="points"/>
          <p:cNvSpPr txBox="1"/>
          <p:nvPr/>
        </p:nvSpPr>
        <p:spPr>
          <a:xfrm>
            <a:off x="384048" y="1417320"/>
            <a:ext cx="6126480" cy="5166360"/>
          </a:xfrm>
          <a:prstGeom prst="rect">
            <a:avLst/>
          </a:prstGeom>
          <a:noFill/>
        </p:spPr>
        <p:txBody>
          <a:bodyPr wrap="square" lIns="0" rIns="0" tIns="0" bIns="0">
            <a:spAutoFit/>
          </a:bodyPr>
          <a:lstStyle/>
          <a:p>
            <a:pPr algn="l">
              <a:spcAft>
                <a:spcPts val="1200"/>
              </a:spcAft>
            </a:pPr>
            <a:r>
              <a:rPr sz="1800" b="1" i="0">
                <a:solidFill>
                  <a:srgbClr val="00B050"/>
                </a:solidFill>
                <a:latin typeface="Calibri"/>
              </a:rPr>
              <a:t>1954  </a:t>
            </a:r>
            <a:r>
              <a:rPr sz="1800" b="1" i="0">
                <a:solidFill>
                  <a:srgbClr val="000000"/>
                </a:solidFill>
                <a:latin typeface="Calibri"/>
              </a:rPr>
              <a:t>Harris: </a:t>
            </a:r>
            <a:r>
              <a:rPr sz="1800" b="0" i="0">
                <a:solidFill>
                  <a:srgbClr val="000000"/>
                </a:solidFill>
                <a:latin typeface="Calibri"/>
              </a:rPr>
              <a:t>words that occur in similar environments are similar: differences of meaning correspond roughly to differences of environment.</a:t>
            </a:r>
          </a:p>
          <a:p>
            <a:pPr algn="l">
              <a:spcAft>
                <a:spcPts val="1200"/>
              </a:spcAft>
            </a:pPr>
            <a:r>
              <a:rPr sz="1800" b="1" i="0">
                <a:solidFill>
                  <a:srgbClr val="362FEC"/>
                </a:solidFill>
                <a:latin typeface="Calibri"/>
              </a:rPr>
              <a:t>Six sentences: </a:t>
            </a:r>
            <a:r>
              <a:rPr sz="1800" b="0" i="0">
                <a:solidFill>
                  <a:srgbClr val="000000"/>
                </a:solidFill>
                <a:latin typeface="Calibri"/>
              </a:rPr>
              <a:t>without knowing any meanings, one sees that </a:t>
            </a:r>
            <a:r>
              <a:rPr sz="1800" b="0" i="1">
                <a:solidFill>
                  <a:srgbClr val="000000"/>
                </a:solidFill>
                <a:latin typeface="Calibri"/>
              </a:rPr>
              <a:t>oculist</a:t>
            </a:r>
            <a:r>
              <a:rPr sz="1800" b="0" i="0">
                <a:solidFill>
                  <a:srgbClr val="000000"/>
                </a:solidFill>
                <a:latin typeface="Calibri"/>
              </a:rPr>
              <a:t> and </a:t>
            </a:r>
            <a:r>
              <a:rPr sz="1800" b="0" i="1">
                <a:solidFill>
                  <a:srgbClr val="000000"/>
                </a:solidFill>
                <a:latin typeface="Calibri"/>
              </a:rPr>
              <a:t>eye-doctor</a:t>
            </a:r>
            <a:r>
              <a:rPr sz="1800" b="0" i="0">
                <a:solidFill>
                  <a:srgbClr val="000000"/>
                </a:solidFill>
                <a:latin typeface="Calibri"/>
              </a:rPr>
              <a:t> share every environment, and </a:t>
            </a:r>
            <a:r>
              <a:rPr sz="1800" b="0" i="1">
                <a:solidFill>
                  <a:srgbClr val="000000"/>
                </a:solidFill>
                <a:latin typeface="Calibri"/>
              </a:rPr>
              <a:t>lawyer</a:t>
            </a:r>
            <a:r>
              <a:rPr sz="1800" b="0" i="0">
                <a:solidFill>
                  <a:srgbClr val="000000"/>
                </a:solidFill>
                <a:latin typeface="Calibri"/>
              </a:rPr>
              <a:t> shares half.</a:t>
            </a:r>
          </a:p>
          <a:p>
            <a:pPr algn="l">
              <a:spcAft>
                <a:spcPts val="1200"/>
              </a:spcAft>
            </a:pPr>
            <a:r>
              <a:rPr sz="1800" b="1" i="0">
                <a:solidFill>
                  <a:srgbClr val="FF0000"/>
                </a:solidFill>
                <a:latin typeface="Calibri"/>
              </a:rPr>
              <a:t>1957  </a:t>
            </a:r>
            <a:r>
              <a:rPr sz="1800" b="1" i="0">
                <a:solidFill>
                  <a:srgbClr val="000000"/>
                </a:solidFill>
                <a:latin typeface="Calibri"/>
              </a:rPr>
              <a:t>Firth: </a:t>
            </a:r>
            <a:r>
              <a:rPr sz="1800" b="0" i="0">
                <a:solidFill>
                  <a:srgbClr val="000000"/>
                </a:solidFill>
                <a:latin typeface="Calibri"/>
              </a:rPr>
              <a:t>“You shall know a word by the company it keeps.” Word vectors represent a word by statistics of its contexts; neural models learn them together with the predictor (Bengio et al., 2003).</a:t>
            </a:r>
          </a:p>
          <a:p>
            <a:pPr algn="l">
              <a:spcAft>
                <a:spcPts val="1200"/>
              </a:spcAft>
            </a:pPr>
            <a:r>
              <a:rPr sz="1800" b="1" i="0">
                <a:solidFill>
                  <a:srgbClr val="362FEC"/>
                </a:solidFill>
                <a:latin typeface="Calibri"/>
              </a:rPr>
              <a:t>Attention</a:t>
            </a:r>
            <a:r>
              <a:rPr sz="1800" b="0" i="0">
                <a:solidFill>
                  <a:srgbClr val="000000"/>
                </a:solidFill>
                <a:latin typeface="Calibri"/>
              </a:rPr>
              <a:t>: one vector per word is too coarse: “bank” keeps different company in “the bank of the river” and “the bank raised its rates”. Attention gives each occurrence its own vector, a weighted mix of the words around it (Week 3).</a:t>
            </a:r>
          </a:p>
        </p:txBody>
      </p:sp>
      <p:grpSp>
        <p:nvGrpSpPr>
          <p:cNvPr id="5" name="picture 1"/>
          <p:cNvGrpSpPr/>
          <p:nvPr/>
        </p:nvGrpSpPr>
        <p:grpSpPr>
          <a:xfrm>
            <a:off x="6812280" y="1463040"/>
            <a:ext cx="5120640" cy="3108960"/>
            <a:chOff x="6812280" y="1463040"/>
            <a:chExt cx="5120640" cy="3108960"/>
          </a:xfrm>
        </p:grpSpPr>
        <p:sp>
          <p:nvSpPr>
            <p:cNvPr id="6" name="Rounded Rectangle 5"/>
            <p:cNvSpPr/>
            <p:nvPr/>
          </p:nvSpPr>
          <p:spPr>
            <a:xfrm>
              <a:off x="6812280" y="1463040"/>
              <a:ext cx="5120640" cy="2377440"/>
            </a:xfrm>
            <a:prstGeom prst="roundRect">
              <a:avLst>
                <a:gd name="adj" fmla="val 6000"/>
              </a:avLst>
            </a:prstGeom>
            <a:solidFill>
              <a:srgbClr val="EDEDED"/>
            </a:solidFill>
            <a:ln>
              <a:noFill/>
            </a:ln>
          </p:spPr>
          <p:style>
            <a:lnRef idx="1">
              <a:schemeClr val="accent1"/>
            </a:lnRef>
            <a:fillRef idx="3">
              <a:schemeClr val="accent1"/>
            </a:fillRef>
            <a:effectRef idx="2">
              <a:schemeClr val="accent1"/>
            </a:effectRef>
            <a:fontRef idx="minor">
              <a:schemeClr val="lt1"/>
            </a:fontRef>
          </p:style>
          <p:txBody>
            <a:bodyPr rtlCol="0" anchor="ctr" wrap="square" lIns="137160" rIns="137160" tIns="54864" bIns="54864"/>
            <a:lstStyle/>
            <a:p>
              <a:pPr algn="l"/>
              <a:r>
                <a:rPr sz="1600" b="0" i="0">
                  <a:solidFill>
                    <a:srgbClr val="000000"/>
                  </a:solidFill>
                  <a:latin typeface="Consolas"/>
                </a:rPr>
                <a:t>the oculist examined the eye</a:t>
              </a:r>
            </a:p>
            <a:p>
              <a:pPr algn="l"/>
              <a:r>
                <a:rPr sz="1600" b="0" i="0">
                  <a:solidFill>
                    <a:srgbClr val="000000"/>
                  </a:solidFill>
                  <a:latin typeface="Consolas"/>
                </a:rPr>
                <a:t>the eye-doctor examined the eye</a:t>
              </a:r>
            </a:p>
            <a:p>
              <a:pPr algn="l"/>
              <a:r>
                <a:rPr sz="1600" b="0" i="0">
                  <a:solidFill>
                    <a:srgbClr val="000000"/>
                  </a:solidFill>
                  <a:latin typeface="Consolas"/>
                </a:rPr>
                <a:t>the oculist prescribed glasses</a:t>
              </a:r>
            </a:p>
            <a:p>
              <a:pPr algn="l"/>
              <a:r>
                <a:rPr sz="1600" b="0" i="0">
                  <a:solidFill>
                    <a:srgbClr val="000000"/>
                  </a:solidFill>
                  <a:latin typeface="Consolas"/>
                </a:rPr>
                <a:t>the eye-doctor prescribed glasses</a:t>
              </a:r>
            </a:p>
            <a:p>
              <a:pPr algn="l"/>
              <a:r>
                <a:rPr sz="1600" b="0" i="0">
                  <a:solidFill>
                    <a:srgbClr val="000000"/>
                  </a:solidFill>
                  <a:latin typeface="Consolas"/>
                </a:rPr>
                <a:t>the lawyer examined the contract</a:t>
              </a:r>
            </a:p>
            <a:p>
              <a:pPr algn="l"/>
              <a:r>
                <a:rPr sz="1600" b="0" i="0">
                  <a:solidFill>
                    <a:srgbClr val="000000"/>
                  </a:solidFill>
                  <a:latin typeface="Consolas"/>
                </a:rPr>
                <a:t>the lawyer drafted the contract</a:t>
              </a:r>
            </a:p>
          </p:txBody>
        </p:sp>
        <p:sp>
          <p:nvSpPr>
            <p:cNvPr id="7" name="description"/>
            <p:cNvSpPr txBox="1"/>
            <p:nvPr/>
          </p:nvSpPr>
          <p:spPr>
            <a:xfrm>
              <a:off x="6812280" y="4023360"/>
              <a:ext cx="5120640" cy="548640"/>
            </a:xfrm>
            <a:prstGeom prst="rect">
              <a:avLst/>
            </a:prstGeom>
            <a:noFill/>
          </p:spPr>
          <p:txBody>
            <a:bodyPr wrap="square" anchor="t" lIns="0" rIns="0" tIns="0" bIns="0">
              <a:spAutoFit/>
            </a:bodyPr>
            <a:lstStyle/>
            <a:p>
              <a:pPr algn="l"/>
              <a:r>
                <a:rPr sz="1400" b="0" i="0">
                  <a:solidFill>
                    <a:srgbClr val="595959"/>
                  </a:solidFill>
                  <a:latin typeface="Calibri"/>
                </a:rPr>
                <a:t>Distributional Structure (1954). The environment of a word here is the word that follows it.</a:t>
              </a:r>
            </a:p>
          </p:txBody>
        </p:sp>
      </p:grpSp>
      <p:grpSp>
        <p:nvGrpSpPr>
          <p:cNvPr id="8" name="picture 2"/>
          <p:cNvGrpSpPr/>
          <p:nvPr/>
        </p:nvGrpSpPr>
        <p:grpSpPr>
          <a:xfrm>
            <a:off x="6812280" y="1371600"/>
            <a:ext cx="5120640" cy="3950208"/>
            <a:chOff x="6812280" y="1371600"/>
            <a:chExt cx="5120640" cy="3950208"/>
          </a:xfrm>
        </p:grpSpPr>
        <p:pic>
          <p:nvPicPr>
            <p:cNvPr id="9" name="Picture 8" descr="harris_one.png"/>
            <p:cNvPicPr>
              <a:picLocks noChangeAspect="1"/>
            </p:cNvPicPr>
            <p:nvPr/>
          </p:nvPicPr>
          <p:blipFill>
            <a:blip r:embed="rId2"/>
            <a:stretch>
              <a:fillRect/>
            </a:stretch>
          </p:blipFill>
          <p:spPr>
            <a:xfrm>
              <a:off x="7489558" y="1371600"/>
              <a:ext cx="3766082" cy="3017520"/>
            </a:xfrm>
            <a:prstGeom prst="rect">
              <a:avLst/>
            </a:prstGeom>
          </p:spPr>
        </p:pic>
        <p:sp>
          <p:nvSpPr>
            <p:cNvPr id="10" name="description"/>
            <p:cNvSpPr txBox="1"/>
            <p:nvPr/>
          </p:nvSpPr>
          <p:spPr>
            <a:xfrm>
              <a:off x="6812280" y="4498848"/>
              <a:ext cx="5120640" cy="822960"/>
            </a:xfrm>
            <a:prstGeom prst="rect">
              <a:avLst/>
            </a:prstGeom>
            <a:noFill/>
          </p:spPr>
          <p:txBody>
            <a:bodyPr wrap="square" anchor="t" lIns="0" rIns="0" tIns="0" bIns="0">
              <a:spAutoFit/>
            </a:bodyPr>
            <a:lstStyle/>
            <a:p>
              <a:pPr algn="l"/>
              <a:r>
                <a:rPr sz="1400" b="0" i="0">
                  <a:solidFill>
                    <a:srgbClr val="595959"/>
                  </a:solidFill>
                  <a:latin typeface="Calibri"/>
                </a:rPr>
                <a:t>Each word is represented by counts of the words that follow it; the cells are cosine similarities.</a:t>
              </a:r>
            </a:p>
          </p:txBody>
        </p:sp>
      </p:grpSp>
      <p:grpSp>
        <p:nvGrpSpPr>
          <p:cNvPr id="11" name="picture 3"/>
          <p:cNvGrpSpPr/>
          <p:nvPr/>
        </p:nvGrpSpPr>
        <p:grpSpPr>
          <a:xfrm>
            <a:off x="6629400" y="1371600"/>
            <a:ext cx="5486400" cy="4389120"/>
            <a:chOff x="6629400" y="1371600"/>
            <a:chExt cx="5486400" cy="4389120"/>
          </a:xfrm>
        </p:grpSpPr>
        <p:pic>
          <p:nvPicPr>
            <p:cNvPr id="12" name="Picture 11" descr="image.png"/>
            <p:cNvPicPr>
              <a:picLocks noChangeAspect="1"/>
            </p:cNvPicPr>
            <p:nvPr/>
          </p:nvPicPr>
          <p:blipFill>
            <a:blip r:embed="rId3"/>
            <a:stretch>
              <a:fillRect/>
            </a:stretch>
          </p:blipFill>
          <p:spPr>
            <a:xfrm>
              <a:off x="7333549" y="1371600"/>
              <a:ext cx="4078101" cy="3108960"/>
            </a:xfrm>
            <a:prstGeom prst="rect">
              <a:avLst/>
            </a:prstGeom>
          </p:spPr>
        </p:pic>
        <p:sp>
          <p:nvSpPr>
            <p:cNvPr id="13" name="TextBox 12"/>
            <p:cNvSpPr txBox="1"/>
            <p:nvPr/>
          </p:nvSpPr>
          <p:spPr>
            <a:xfrm>
              <a:off x="6629400" y="4526280"/>
              <a:ext cx="5486400" cy="274320"/>
            </a:xfrm>
            <a:prstGeom prst="rect">
              <a:avLst/>
            </a:prstGeom>
            <a:noFill/>
          </p:spPr>
          <p:txBody>
            <a:bodyPr wrap="square" anchor="t" lIns="0" rIns="0" tIns="0" bIns="0">
              <a:spAutoFit/>
            </a:bodyPr>
            <a:lstStyle/>
            <a:p>
              <a:pPr algn="ctr"/>
              <a:r>
                <a:rPr sz="1200" b="0" i="0">
                  <a:solidFill>
                    <a:srgbClr val="595959"/>
                  </a:solidFill>
                  <a:latin typeface="Calibri"/>
                </a:rPr>
                <a:t>word vectors from counts in two Austen novels</a:t>
              </a:r>
            </a:p>
          </p:txBody>
        </p:sp>
        <p:sp>
          <p:nvSpPr>
            <p:cNvPr id="14" name="description"/>
            <p:cNvSpPr txBox="1"/>
            <p:nvPr/>
          </p:nvSpPr>
          <p:spPr>
            <a:xfrm>
              <a:off x="6812280" y="4937760"/>
              <a:ext cx="5120640" cy="822960"/>
            </a:xfrm>
            <a:prstGeom prst="rect">
              <a:avLst/>
            </a:prstGeom>
            <a:noFill/>
          </p:spPr>
          <p:txBody>
            <a:bodyPr wrap="square" anchor="t" lIns="0" rIns="0" tIns="0" bIns="0">
              <a:spAutoFit/>
            </a:bodyPr>
            <a:lstStyle/>
            <a:p>
              <a:pPr algn="l"/>
              <a:r>
                <a:rPr sz="1400" b="0" i="0">
                  <a:solidFill>
                    <a:srgbClr val="595959"/>
                  </a:solidFill>
                  <a:latin typeface="Calibri"/>
                </a:rPr>
                <a:t>Similar company, nearby vectors: relatives, feelings, numbers, places, and times form groups. Company is not the same as meaning: “increase” and “decrease” keep much the same company.</a:t>
              </a:r>
            </a:p>
          </p:txBody>
        </p:sp>
      </p:grpSp>
      <p:grpSp>
        <p:nvGrpSpPr>
          <p:cNvPr id="15" name="picture 4"/>
          <p:cNvGrpSpPr/>
          <p:nvPr/>
        </p:nvGrpSpPr>
        <p:grpSpPr>
          <a:xfrm>
            <a:off x="6812280" y="1371600"/>
            <a:ext cx="5120640" cy="4224528"/>
            <a:chOff x="6812280" y="1371600"/>
            <a:chExt cx="5120640" cy="4224528"/>
          </a:xfrm>
        </p:grpSpPr>
        <p:pic>
          <p:nvPicPr>
            <p:cNvPr id="16" name="Picture 15" descr="bank_attention.png"/>
            <p:cNvPicPr>
              <a:picLocks noChangeAspect="1"/>
            </p:cNvPicPr>
            <p:nvPr/>
          </p:nvPicPr>
          <p:blipFill>
            <a:blip r:embed="rId4"/>
            <a:stretch>
              <a:fillRect/>
            </a:stretch>
          </p:blipFill>
          <p:spPr>
            <a:xfrm>
              <a:off x="7019957" y="1371600"/>
              <a:ext cx="4705285" cy="3291840"/>
            </a:xfrm>
            <a:prstGeom prst="rect">
              <a:avLst/>
            </a:prstGeom>
          </p:spPr>
        </p:pic>
        <p:sp>
          <p:nvSpPr>
            <p:cNvPr id="17" name="description"/>
            <p:cNvSpPr txBox="1"/>
            <p:nvPr/>
          </p:nvSpPr>
          <p:spPr>
            <a:xfrm>
              <a:off x="6812280" y="4773168"/>
              <a:ext cx="5120640" cy="822960"/>
            </a:xfrm>
            <a:prstGeom prst="rect">
              <a:avLst/>
            </a:prstGeom>
            <a:noFill/>
          </p:spPr>
          <p:txBody>
            <a:bodyPr wrap="square" anchor="t" lIns="0" rIns="0" tIns="0" bIns="0">
              <a:spAutoFit/>
            </a:bodyPr>
            <a:lstStyle/>
            <a:p>
              <a:pPr algn="l"/>
              <a:r>
                <a:rPr sz="1400" b="0" i="0">
                  <a:solidFill>
                    <a:srgbClr val="595959"/>
                  </a:solidFill>
                  <a:latin typeface="Calibri"/>
                </a:rPr>
                <a:t>The weights are computed from the words themselves. A word is known, quite literally, by the company it keeps in the sentence at hand.</a:t>
              </a:r>
            </a:p>
          </p:txBody>
        </p:sp>
      </p:grpSp>
      <p:sp>
        <p:nvSpPr>
          <p:cNvPr id="18" name="takeaway"/>
          <p:cNvSpPr txBox="1"/>
          <p:nvPr/>
        </p:nvSpPr>
        <p:spPr>
          <a:xfrm>
            <a:off x="384048" y="6035040"/>
            <a:ext cx="11430000" cy="457200"/>
          </a:xfrm>
          <a:prstGeom prst="rect">
            <a:avLst/>
          </a:prstGeom>
          <a:noFill/>
        </p:spPr>
        <p:txBody>
          <a:bodyPr wrap="square" lIns="0" rIns="0" tIns="0" bIns="0">
            <a:spAutoFit/>
          </a:bodyPr>
          <a:lstStyle/>
          <a:p>
            <a:pPr algn="l">
              <a:spcAft>
                <a:spcPts val="1000"/>
              </a:spcAft>
            </a:pPr>
            <a:r>
              <a:rPr sz="1800" b="1" i="0">
                <a:solidFill>
                  <a:srgbClr val="362FEC"/>
                </a:solidFill>
                <a:latin typeface="Calibri"/>
              </a:rPr>
              <a:t>A language model </a:t>
            </a:r>
            <a:r>
              <a:rPr sz="1800" b="0" i="0">
                <a:solidFill>
                  <a:srgbClr val="000000"/>
                </a:solidFill>
                <a:latin typeface="Calibri"/>
              </a:rPr>
              <a:t>trained to predict the next token is a learned summary of the company every word keeps.</a:t>
            </a:r>
          </a:p>
        </p:txBody>
      </p:sp>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4">
                                            <p:txEl>
                                              <p:pRg st="0" end="0"/>
                                            </p:txEl>
                                          </p:spTgt>
                                        </p:tgtEl>
                                        <p:attrNameLst>
                                          <p:attrName>style.visibility</p:attrName>
                                        </p:attrNameLst>
                                      </p:cBhvr>
                                      <p:to>
                                        <p:strVal val="visible"/>
                                      </p:to>
                                    </p:set>
                                  </p:childTnLst>
                                </p:cTn>
                              </p:par>
                              <p:par>
                                <p:cTn id="7" presetID="1" presetClass="entr" presetSubtype="0" fill="hold" grpId="0" nodeType="withEffect">
                                  <p:stCondLst>
                                    <p:cond delay="0"/>
                                  </p:stCondLst>
                                  <p:childTnLst>
                                    <p:set>
                                      <p:cBhvr>
                                        <p:cTn id="8" dur="1" fill="hold">
                                          <p:stCondLst>
                                            <p:cond delay="0"/>
                                          </p:stCondLst>
                                        </p:cTn>
                                        <p:tgtEl>
                                          <p:spTgt spid="5"/>
                                        </p:tgtEl>
                                        <p:attrNameLst>
                                          <p:attrName>style.visibility</p:attrName>
                                        </p:attrNameLst>
                                      </p:cBhvr>
                                      <p:to>
                                        <p:strVal val="visible"/>
                                      </p:to>
                                    </p:set>
                                  </p:childTnLst>
                                </p:cTn>
                              </p:par>
                            </p:childTnLst>
                          </p:cTn>
                        </p:par>
                      </p:childTnLst>
                    </p:cTn>
                  </p:par>
                  <p:par>
                    <p:cTn id="9" fill="hold">
                      <p:stCondLst>
                        <p:cond delay="indefinite"/>
                      </p:stCondLst>
                      <p:childTnLst>
                        <p:par>
                          <p:cTn id="10" fill="hold">
                            <p:stCondLst>
                              <p:cond delay="0"/>
                            </p:stCondLst>
                            <p:childTnLst>
                              <p:par>
                                <p:cTn id="11" presetID="1" presetClass="entr" presetSubtype="0" fill="hold" grpId="0" nodeType="clickEffect">
                                  <p:stCondLst>
                                    <p:cond delay="0"/>
                                  </p:stCondLst>
                                  <p:childTnLst>
                                    <p:set>
                                      <p:cBhvr>
                                        <p:cTn id="12" dur="1" fill="hold">
                                          <p:stCondLst>
                                            <p:cond delay="0"/>
                                          </p:stCondLst>
                                        </p:cTn>
                                        <p:tgtEl>
                                          <p:spTgt spid="4">
                                            <p:txEl>
                                              <p:pRg st="1" end="1"/>
                                            </p:txEl>
                                          </p:spTgt>
                                        </p:tgtEl>
                                        <p:attrNameLst>
                                          <p:attrName>style.visibility</p:attrName>
                                        </p:attrNameLst>
                                      </p:cBhvr>
                                      <p:to>
                                        <p:strVal val="visible"/>
                                      </p:to>
                                    </p:set>
                                  </p:childTnLst>
                                </p:cTn>
                              </p:par>
                              <p:par>
                                <p:cTn id="13" presetID="1" presetClass="entr" presetSubtype="0" fill="hold" grpId="0" nodeType="withEffect">
                                  <p:stCondLst>
                                    <p:cond delay="0"/>
                                  </p:stCondLst>
                                  <p:childTnLst>
                                    <p:set>
                                      <p:cBhvr>
                                        <p:cTn id="14" dur="1" fill="hold">
                                          <p:stCondLst>
                                            <p:cond delay="0"/>
                                          </p:stCondLst>
                                        </p:cTn>
                                        <p:tgtEl>
                                          <p:spTgt spid="8"/>
                                        </p:tgtEl>
                                        <p:attrNameLst>
                                          <p:attrName>style.visibility</p:attrName>
                                        </p:attrNameLst>
                                      </p:cBhvr>
                                      <p:to>
                                        <p:strVal val="visible"/>
                                      </p:to>
                                    </p:set>
                                  </p:childTnLst>
                                </p:cTn>
                              </p:par>
                              <p:par>
                                <p:cTn id="15" presetID="1" presetClass="exit" presetSubtype="0" fill="hold" grpId="1" nodeType="withEffect">
                                  <p:stCondLst>
                                    <p:cond delay="0"/>
                                  </p:stCondLst>
                                  <p:childTnLst>
                                    <p:set>
                                      <p:cBhvr>
                                        <p:cTn id="16" dur="1" fill="hold">
                                          <p:stCondLst>
                                            <p:cond delay="0"/>
                                          </p:stCondLst>
                                        </p:cTn>
                                        <p:tgtEl>
                                          <p:spTgt spid="5"/>
                                        </p:tgtEl>
                                        <p:attrNameLst>
                                          <p:attrName>style.visibility</p:attrName>
                                        </p:attrNameLst>
                                      </p:cBhvr>
                                      <p:to>
                                        <p:strVal val="hidden"/>
                                      </p:to>
                                    </p:set>
                                  </p:childTnLst>
                                </p:cTn>
                              </p:par>
                            </p:childTnLst>
                          </p:cTn>
                        </p:par>
                      </p:childTnLst>
                    </p:cTn>
                  </p:par>
                  <p:par>
                    <p:cTn id="17" fill="hold">
                      <p:stCondLst>
                        <p:cond delay="indefinite"/>
                      </p:stCondLst>
                      <p:childTnLst>
                        <p:par>
                          <p:cTn id="18" fill="hold">
                            <p:stCondLst>
                              <p:cond delay="0"/>
                            </p:stCondLst>
                            <p:childTnLst>
                              <p:par>
                                <p:cTn id="19" presetID="1" presetClass="entr" presetSubtype="0" fill="hold" grpId="0" nodeType="clickEffect">
                                  <p:stCondLst>
                                    <p:cond delay="0"/>
                                  </p:stCondLst>
                                  <p:childTnLst>
                                    <p:set>
                                      <p:cBhvr>
                                        <p:cTn id="20" dur="1" fill="hold">
                                          <p:stCondLst>
                                            <p:cond delay="0"/>
                                          </p:stCondLst>
                                        </p:cTn>
                                        <p:tgtEl>
                                          <p:spTgt spid="4">
                                            <p:txEl>
                                              <p:pRg st="2" end="2"/>
                                            </p:txEl>
                                          </p:spTgt>
                                        </p:tgtEl>
                                        <p:attrNameLst>
                                          <p:attrName>style.visibility</p:attrName>
                                        </p:attrNameLst>
                                      </p:cBhvr>
                                      <p:to>
                                        <p:strVal val="visible"/>
                                      </p:to>
                                    </p:set>
                                  </p:childTnLst>
                                </p:cTn>
                              </p:par>
                              <p:par>
                                <p:cTn id="21" presetID="1" presetClass="entr" presetSubtype="0" fill="hold" grpId="0" nodeType="withEffect">
                                  <p:stCondLst>
                                    <p:cond delay="0"/>
                                  </p:stCondLst>
                                  <p:childTnLst>
                                    <p:set>
                                      <p:cBhvr>
                                        <p:cTn id="22" dur="1" fill="hold">
                                          <p:stCondLst>
                                            <p:cond delay="0"/>
                                          </p:stCondLst>
                                        </p:cTn>
                                        <p:tgtEl>
                                          <p:spTgt spid="11"/>
                                        </p:tgtEl>
                                        <p:attrNameLst>
                                          <p:attrName>style.visibility</p:attrName>
                                        </p:attrNameLst>
                                      </p:cBhvr>
                                      <p:to>
                                        <p:strVal val="visible"/>
                                      </p:to>
                                    </p:set>
                                  </p:childTnLst>
                                </p:cTn>
                              </p:par>
                              <p:par>
                                <p:cTn id="23" presetID="1" presetClass="exit" presetSubtype="0" fill="hold" grpId="1" nodeType="withEffect">
                                  <p:stCondLst>
                                    <p:cond delay="0"/>
                                  </p:stCondLst>
                                  <p:childTnLst>
                                    <p:set>
                                      <p:cBhvr>
                                        <p:cTn id="24" dur="1" fill="hold">
                                          <p:stCondLst>
                                            <p:cond delay="0"/>
                                          </p:stCondLst>
                                        </p:cTn>
                                        <p:tgtEl>
                                          <p:spTgt spid="8"/>
                                        </p:tgtEl>
                                        <p:attrNameLst>
                                          <p:attrName>style.visibility</p:attrName>
                                        </p:attrNameLst>
                                      </p:cBhvr>
                                      <p:to>
                                        <p:strVal val="hidden"/>
                                      </p:to>
                                    </p:set>
                                  </p:childTnLst>
                                </p:cTn>
                              </p:par>
                            </p:childTnLst>
                          </p:cTn>
                        </p:par>
                      </p:childTnLst>
                    </p:cTn>
                  </p:par>
                  <p:par>
                    <p:cTn id="25" fill="hold">
                      <p:stCondLst>
                        <p:cond delay="indefinite"/>
                      </p:stCondLst>
                      <p:childTnLst>
                        <p:par>
                          <p:cTn id="26" fill="hold">
                            <p:stCondLst>
                              <p:cond delay="0"/>
                            </p:stCondLst>
                            <p:childTnLst>
                              <p:par>
                                <p:cTn id="27" presetID="1" presetClass="entr" presetSubtype="0" fill="hold" grpId="0" nodeType="clickEffect">
                                  <p:stCondLst>
                                    <p:cond delay="0"/>
                                  </p:stCondLst>
                                  <p:childTnLst>
                                    <p:set>
                                      <p:cBhvr>
                                        <p:cTn id="28" dur="1" fill="hold">
                                          <p:stCondLst>
                                            <p:cond delay="0"/>
                                          </p:stCondLst>
                                        </p:cTn>
                                        <p:tgtEl>
                                          <p:spTgt spid="4">
                                            <p:txEl>
                                              <p:pRg st="3" end="3"/>
                                            </p:txEl>
                                          </p:spTgt>
                                        </p:tgtEl>
                                        <p:attrNameLst>
                                          <p:attrName>style.visibility</p:attrName>
                                        </p:attrNameLst>
                                      </p:cBhvr>
                                      <p:to>
                                        <p:strVal val="visible"/>
                                      </p:to>
                                    </p:set>
                                  </p:childTnLst>
                                </p:cTn>
                              </p:par>
                              <p:par>
                                <p:cTn id="29" presetID="1" presetClass="entr" presetSubtype="0" fill="hold" grpId="0" nodeType="withEffect">
                                  <p:stCondLst>
                                    <p:cond delay="0"/>
                                  </p:stCondLst>
                                  <p:childTnLst>
                                    <p:set>
                                      <p:cBhvr>
                                        <p:cTn id="30" dur="1" fill="hold">
                                          <p:stCondLst>
                                            <p:cond delay="0"/>
                                          </p:stCondLst>
                                        </p:cTn>
                                        <p:tgtEl>
                                          <p:spTgt spid="15"/>
                                        </p:tgtEl>
                                        <p:attrNameLst>
                                          <p:attrName>style.visibility</p:attrName>
                                        </p:attrNameLst>
                                      </p:cBhvr>
                                      <p:to>
                                        <p:strVal val="visible"/>
                                      </p:to>
                                    </p:set>
                                  </p:childTnLst>
                                </p:cTn>
                              </p:par>
                              <p:par>
                                <p:cTn id="31" presetID="1" presetClass="exit" presetSubtype="0" fill="hold" grpId="1" nodeType="withEffect">
                                  <p:stCondLst>
                                    <p:cond delay="0"/>
                                  </p:stCondLst>
                                  <p:childTnLst>
                                    <p:set>
                                      <p:cBhvr>
                                        <p:cTn id="32" dur="1" fill="hold">
                                          <p:stCondLst>
                                            <p:cond delay="0"/>
                                          </p:stCondLst>
                                        </p:cTn>
                                        <p:tgtEl>
                                          <p:spTgt spid="11"/>
                                        </p:tgtEl>
                                        <p:attrNameLst>
                                          <p:attrName>style.visibility</p:attrName>
                                        </p:attrNameLst>
                                      </p:cBhvr>
                                      <p:to>
                                        <p:strVal val="hidden"/>
                                      </p:to>
                                    </p:set>
                                  </p:childTnLst>
                                </p:cTn>
                              </p:par>
                            </p:childTnLst>
                          </p:cTn>
                        </p:par>
                      </p:childTnLst>
                    </p:cTn>
                  </p:par>
                  <p:par>
                    <p:cTn id="33" fill="hold">
                      <p:stCondLst>
                        <p:cond delay="indefinite"/>
                      </p:stCondLst>
                      <p:childTnLst>
                        <p:par>
                          <p:cTn id="34" fill="hold">
                            <p:stCondLst>
                              <p:cond delay="0"/>
                            </p:stCondLst>
                            <p:childTnLst>
                              <p:par>
                                <p:cTn id="35" presetID="1" presetClass="entr" presetSubtype="0" fill="hold" grpId="0" nodeType="clickEffect">
                                  <p:stCondLst>
                                    <p:cond delay="0"/>
                                  </p:stCondLst>
                                  <p:childTnLst>
                                    <p:set>
                                      <p:cBhvr>
                                        <p:cTn id="36" dur="1" fill="hold">
                                          <p:stCondLst>
                                            <p:cond delay="0"/>
                                          </p:stCondLst>
                                        </p:cTn>
                                        <p:tgtEl>
                                          <p:spTgt spid="18"/>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4" grpId="0" build="p"/>
      <p:bldP spid="18" grpId="0"/>
    </p:bldLst>
  </p:timing>
</p:sld>
</file>

<file path=ppt/slides/slide7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b0_2">
            <a:extLst>
              <a:ext uri="{FF2B5EF4-FFF2-40B4-BE49-F238E27FC236}">
                <a16:creationId xmlns:a16="http://schemas.microsoft.com/office/drawing/2014/main" id="{33DE8782-7F2B-1033-00F6-2A6652EE0E80}"/>
              </a:ext>
            </a:extLst>
          </p:cNvPr>
          <p:cNvSpPr txBox="1"/>
          <p:nvPr/>
        </p:nvSpPr>
        <p:spPr>
          <a:xfrm>
            <a:off x="0" y="148566"/>
            <a:ext cx="11680992" cy="548640"/>
          </a:xfrm>
          <a:prstGeom prst="rect">
            <a:avLst/>
          </a:prstGeom>
          <a:noFill/>
          <a:ln>
            <a:noFill/>
          </a:ln>
        </p:spPr>
        <p:txBody>
          <a:bodyPr wrap="square" rtlCol="0" anchor="ctr"/>
          <a:lstStyle/>
          <a:p>
            <a:r>
              <a:rPr lang="en-US" sz="3200" b="1" dirty="0">
                <a:solidFill>
                  <a:srgbClr val="000000"/>
                </a:solidFill>
                <a:latin typeface="Calibri" pitchFamily="34" charset="0"/>
                <a:ea typeface="Calibri" pitchFamily="34" charset="-122"/>
                <a:cs typeface="Calibri" pitchFamily="34" charset="-120"/>
              </a:rPr>
              <a:t>Understanding </a:t>
            </a:r>
            <a:r>
              <a:rPr lang="en-US" sz="3200" b="1" dirty="0">
                <a:solidFill>
                  <a:srgbClr val="ED7D31"/>
                </a:solidFill>
                <a:latin typeface="Calibri" pitchFamily="34" charset="0"/>
                <a:ea typeface="Calibri" pitchFamily="34" charset="-122"/>
                <a:cs typeface="Calibri" pitchFamily="34" charset="-120"/>
              </a:rPr>
              <a:t>Meaning</a:t>
            </a:r>
            <a:endParaRPr lang="en-US" sz="3200" dirty="0">
              <a:solidFill>
                <a:srgbClr val="362FEC"/>
              </a:solidFill>
            </a:endParaRPr>
          </a:p>
        </p:txBody>
      </p:sp>
      <p:sp>
        <p:nvSpPr>
          <p:cNvPr id="3" name="subheading">
            <a:extLst>
              <a:ext uri="{FF2B5EF4-FFF2-40B4-BE49-F238E27FC236}">
                <a16:creationId xmlns:a16="http://schemas.microsoft.com/office/drawing/2014/main" id="{5CB8A4AA-40B1-94AE-8EEE-080599481F78}"/>
              </a:ext>
            </a:extLst>
          </p:cNvPr>
          <p:cNvSpPr txBox="1"/>
          <p:nvPr/>
        </p:nvSpPr>
        <p:spPr>
          <a:xfrm>
            <a:off x="292608" y="868680"/>
            <a:ext cx="11430000" cy="411480"/>
          </a:xfrm>
          <a:prstGeom prst="rect">
            <a:avLst/>
          </a:prstGeom>
          <a:noFill/>
          <a:ln>
            <a:noFill/>
          </a:ln>
        </p:spPr>
        <p:txBody>
          <a:bodyPr wrap="square" lIns="0" tIns="0" rIns="0" bIns="0" rtlCol="0" anchor="ctr"/>
          <a:lstStyle/>
          <a:p>
            <a:pPr marL="0" indent="0">
              <a:buNone/>
            </a:pPr>
            <a:r>
              <a:rPr lang="en-US" sz="2000" b="1" dirty="0">
                <a:solidFill>
                  <a:srgbClr val="362FEC"/>
                </a:solidFill>
                <a:latin typeface="Calibri" panose="020F0502020204030204" pitchFamily="34" charset="0"/>
                <a:cs typeface="Calibri" panose="020F0502020204030204" pitchFamily="34" charset="0"/>
              </a:rPr>
              <a:t>What words are about</a:t>
            </a:r>
          </a:p>
        </p:txBody>
      </p:sp>
      <p:sp>
        <p:nvSpPr>
          <p:cNvPr id="4" name="points"/>
          <p:cNvSpPr txBox="1"/>
          <p:nvPr/>
        </p:nvSpPr>
        <p:spPr>
          <a:xfrm>
            <a:off x="384048" y="1417320"/>
            <a:ext cx="6126480" cy="5166360"/>
          </a:xfrm>
          <a:prstGeom prst="rect">
            <a:avLst/>
          </a:prstGeom>
          <a:noFill/>
        </p:spPr>
        <p:txBody>
          <a:bodyPr wrap="square" lIns="0" rIns="0" tIns="0" bIns="0">
            <a:spAutoFit/>
          </a:bodyPr>
          <a:lstStyle/>
          <a:p>
            <a:pPr algn="l">
              <a:spcAft>
                <a:spcPts val="1200"/>
              </a:spcAft>
            </a:pPr>
            <a:r>
              <a:rPr sz="1800" b="1" i="0">
                <a:solidFill>
                  <a:srgbClr val="FF0000"/>
                </a:solidFill>
                <a:latin typeface="Calibri"/>
              </a:rPr>
              <a:t>Reference</a:t>
            </a:r>
            <a:r>
              <a:rPr sz="1800" b="0" i="0">
                <a:solidFill>
                  <a:srgbClr val="000000"/>
                </a:solidFill>
                <a:latin typeface="Calibri"/>
              </a:rPr>
              <a:t>: an expression picks out something in the world. “The morning star” and “the evening star” both refer to Venus, with different senses (Frege, 1892).</a:t>
            </a:r>
          </a:p>
          <a:p>
            <a:pPr algn="l">
              <a:spcAft>
                <a:spcPts val="1200"/>
              </a:spcAft>
            </a:pPr>
            <a:r>
              <a:rPr sz="1800" b="1" i="0">
                <a:solidFill>
                  <a:srgbClr val="362FEC"/>
                </a:solidFill>
                <a:latin typeface="Calibri"/>
              </a:rPr>
              <a:t>Composition</a:t>
            </a:r>
            <a:r>
              <a:rPr sz="1800" b="0" i="0">
                <a:solidFill>
                  <a:srgbClr val="000000"/>
                </a:solidFill>
                <a:latin typeface="Calibri"/>
              </a:rPr>
              <a:t>: the meaning of a whole depends on its parts and how they combine: “Every student read a paper” has two readings.</a:t>
            </a:r>
          </a:p>
          <a:p>
            <a:pPr algn="l">
              <a:spcAft>
                <a:spcPts val="1200"/>
              </a:spcAft>
            </a:pPr>
            <a:r>
              <a:rPr sz="1800" b="1" i="0">
                <a:solidFill>
                  <a:srgbClr val="00B050"/>
                </a:solidFill>
                <a:latin typeface="Calibri"/>
              </a:rPr>
              <a:t>Use</a:t>
            </a:r>
            <a:r>
              <a:rPr sz="1800" b="0" i="0">
                <a:solidFill>
                  <a:srgbClr val="000000"/>
                </a:solidFill>
                <a:latin typeface="Calibri"/>
              </a:rPr>
              <a:t>: for many words the meaning is the use (Wittgenstein, 1953), and speakers communicate more than they say (Grice, 1975).</a:t>
            </a:r>
          </a:p>
          <a:p>
            <a:pPr algn="l">
              <a:spcAft>
                <a:spcPts val="1200"/>
              </a:spcAft>
            </a:pPr>
            <a:r>
              <a:rPr sz="1800" b="1" i="0">
                <a:solidFill>
                  <a:srgbClr val="ED7D31"/>
                </a:solidFill>
                <a:latin typeface="Calibri"/>
              </a:rPr>
              <a:t>Intent</a:t>
            </a:r>
            <a:r>
              <a:rPr sz="1800" b="0" i="0">
                <a:solidFill>
                  <a:srgbClr val="000000"/>
                </a:solidFill>
                <a:latin typeface="Calibri"/>
              </a:rPr>
              <a:t>: a speaker chooses an utterance to convey an intent; the listener reconstructs one from the words and the context they share.</a:t>
            </a:r>
          </a:p>
        </p:txBody>
      </p:sp>
      <p:grpSp>
        <p:nvGrpSpPr>
          <p:cNvPr id="5" name="picture 1"/>
          <p:cNvGrpSpPr/>
          <p:nvPr/>
        </p:nvGrpSpPr>
        <p:grpSpPr>
          <a:xfrm>
            <a:off x="6620388" y="1371600"/>
            <a:ext cx="5504423" cy="3886200"/>
            <a:chOff x="6620388" y="1371600"/>
            <a:chExt cx="5504423" cy="3886200"/>
          </a:xfrm>
        </p:grpSpPr>
        <p:pic>
          <p:nvPicPr>
            <p:cNvPr id="6" name="Picture 5" descr="image.jpg"/>
            <p:cNvPicPr>
              <a:picLocks noChangeAspect="1"/>
            </p:cNvPicPr>
            <p:nvPr/>
          </p:nvPicPr>
          <p:blipFill>
            <a:blip r:embed="rId2"/>
            <a:stretch>
              <a:fillRect/>
            </a:stretch>
          </p:blipFill>
          <p:spPr>
            <a:xfrm>
              <a:off x="6894708" y="1371600"/>
              <a:ext cx="2029702" cy="2743200"/>
            </a:xfrm>
            <a:prstGeom prst="rect">
              <a:avLst/>
            </a:prstGeom>
          </p:spPr>
        </p:pic>
        <p:sp>
          <p:nvSpPr>
            <p:cNvPr id="7" name="TextBox 6"/>
            <p:cNvSpPr txBox="1"/>
            <p:nvPr/>
          </p:nvSpPr>
          <p:spPr>
            <a:xfrm>
              <a:off x="6620388" y="4151376"/>
              <a:ext cx="2578342" cy="274320"/>
            </a:xfrm>
            <a:prstGeom prst="rect">
              <a:avLst/>
            </a:prstGeom>
            <a:noFill/>
          </p:spPr>
          <p:txBody>
            <a:bodyPr wrap="square" anchor="t" lIns="0" rIns="0" tIns="0" bIns="0">
              <a:spAutoFit/>
            </a:bodyPr>
            <a:lstStyle/>
            <a:p>
              <a:pPr algn="ctr"/>
              <a:r>
                <a:rPr sz="1200" b="0" i="0">
                  <a:solidFill>
                    <a:srgbClr val="595959"/>
                  </a:solidFill>
                  <a:latin typeface="Calibri"/>
                </a:rPr>
                <a:t>Gottlob Frege</a:t>
              </a:r>
            </a:p>
          </p:txBody>
        </p:sp>
        <p:pic>
          <p:nvPicPr>
            <p:cNvPr id="8" name="Picture 7" descr="image.jpg"/>
            <p:cNvPicPr>
              <a:picLocks noChangeAspect="1"/>
            </p:cNvPicPr>
            <p:nvPr/>
          </p:nvPicPr>
          <p:blipFill>
            <a:blip r:embed="rId3"/>
            <a:stretch>
              <a:fillRect/>
            </a:stretch>
          </p:blipFill>
          <p:spPr>
            <a:xfrm>
              <a:off x="9107291" y="1371600"/>
              <a:ext cx="2743200" cy="2743200"/>
            </a:xfrm>
            <a:prstGeom prst="rect">
              <a:avLst/>
            </a:prstGeom>
          </p:spPr>
        </p:pic>
        <p:sp>
          <p:nvSpPr>
            <p:cNvPr id="9" name="TextBox 8"/>
            <p:cNvSpPr txBox="1"/>
            <p:nvPr/>
          </p:nvSpPr>
          <p:spPr>
            <a:xfrm>
              <a:off x="8832971" y="4151376"/>
              <a:ext cx="3291840" cy="274320"/>
            </a:xfrm>
            <a:prstGeom prst="rect">
              <a:avLst/>
            </a:prstGeom>
            <a:noFill/>
          </p:spPr>
          <p:txBody>
            <a:bodyPr wrap="square" anchor="t" lIns="0" rIns="0" tIns="0" bIns="0">
              <a:spAutoFit/>
            </a:bodyPr>
            <a:lstStyle/>
            <a:p>
              <a:pPr algn="ctr"/>
              <a:r>
                <a:rPr sz="1200" b="0" i="0">
                  <a:solidFill>
                    <a:srgbClr val="595959"/>
                  </a:solidFill>
                  <a:latin typeface="Calibri"/>
                </a:rPr>
                <a:t>Venus</a:t>
              </a:r>
            </a:p>
          </p:txBody>
        </p:sp>
        <p:sp>
          <p:nvSpPr>
            <p:cNvPr id="10" name="description"/>
            <p:cNvSpPr txBox="1"/>
            <p:nvPr/>
          </p:nvSpPr>
          <p:spPr>
            <a:xfrm>
              <a:off x="6812280" y="4526280"/>
              <a:ext cx="5120640" cy="731520"/>
            </a:xfrm>
            <a:prstGeom prst="rect">
              <a:avLst/>
            </a:prstGeom>
            <a:noFill/>
          </p:spPr>
          <p:txBody>
            <a:bodyPr wrap="square" anchor="t" lIns="0" rIns="0" tIns="0" bIns="0">
              <a:spAutoFit/>
            </a:bodyPr>
            <a:lstStyle/>
            <a:p>
              <a:pPr algn="l"/>
              <a:r>
                <a:rPr sz="1400" b="0" i="0">
                  <a:solidFill>
                    <a:srgbClr val="595959"/>
                  </a:solidFill>
                  <a:latin typeface="Calibri"/>
                </a:rPr>
                <a:t>Aristotle, On Interpretation: a name signifies by convention; only a combination of expressions, a statement, is true or false.</a:t>
              </a:r>
            </a:p>
          </p:txBody>
        </p:sp>
      </p:grpSp>
      <p:grpSp>
        <p:nvGrpSpPr>
          <p:cNvPr id="11" name="picture 2"/>
          <p:cNvGrpSpPr/>
          <p:nvPr/>
        </p:nvGrpSpPr>
        <p:grpSpPr>
          <a:xfrm>
            <a:off x="6554820" y="1463040"/>
            <a:ext cx="5635559" cy="3886200"/>
            <a:chOff x="6554820" y="1463040"/>
            <a:chExt cx="5635559" cy="3886200"/>
          </a:xfrm>
        </p:grpSpPr>
        <p:pic>
          <p:nvPicPr>
            <p:cNvPr id="12" name="Picture 11" descr="image.png"/>
            <p:cNvPicPr>
              <a:picLocks noChangeAspect="1"/>
            </p:cNvPicPr>
            <p:nvPr/>
          </p:nvPicPr>
          <p:blipFill>
            <a:blip r:embed="rId4"/>
            <a:stretch>
              <a:fillRect/>
            </a:stretch>
          </p:blipFill>
          <p:spPr>
            <a:xfrm>
              <a:off x="7178040" y="1463040"/>
              <a:ext cx="4389120" cy="347619"/>
            </a:xfrm>
            <a:prstGeom prst="rect">
              <a:avLst/>
            </a:prstGeom>
          </p:spPr>
        </p:pic>
        <p:pic>
          <p:nvPicPr>
            <p:cNvPr id="13" name="Picture 12" descr="image.png"/>
            <p:cNvPicPr>
              <a:picLocks noChangeAspect="1"/>
            </p:cNvPicPr>
            <p:nvPr/>
          </p:nvPicPr>
          <p:blipFill>
            <a:blip r:embed="rId5"/>
            <a:stretch>
              <a:fillRect/>
            </a:stretch>
          </p:blipFill>
          <p:spPr>
            <a:xfrm>
              <a:off x="6554820" y="2103120"/>
              <a:ext cx="5635559" cy="2377440"/>
            </a:xfrm>
            <a:prstGeom prst="rect">
              <a:avLst/>
            </a:prstGeom>
          </p:spPr>
        </p:pic>
        <p:sp>
          <p:nvSpPr>
            <p:cNvPr id="14" name="description"/>
            <p:cNvSpPr txBox="1"/>
            <p:nvPr/>
          </p:nvSpPr>
          <p:spPr>
            <a:xfrm>
              <a:off x="6812280" y="4617720"/>
              <a:ext cx="5120640" cy="731520"/>
            </a:xfrm>
            <a:prstGeom prst="rect">
              <a:avLst/>
            </a:prstGeom>
            <a:noFill/>
          </p:spPr>
          <p:txBody>
            <a:bodyPr wrap="square" anchor="t" lIns="0" rIns="0" tIns="0" bIns="0">
              <a:spAutoFit/>
            </a:bodyPr>
            <a:lstStyle/>
            <a:p>
              <a:pPr algn="l"/>
              <a:r>
                <a:rPr sz="1400" b="0" i="0">
                  <a:solidFill>
                    <a:srgbClr val="595959"/>
                  </a:solidFill>
                  <a:latin typeface="Calibri"/>
                </a:rPr>
                <a:t>The same words, different truth conditions. A representation that records only which words occur cannot tell the readings apart.</a:t>
              </a:r>
            </a:p>
          </p:txBody>
        </p:sp>
      </p:grpSp>
      <p:grpSp>
        <p:nvGrpSpPr>
          <p:cNvPr id="15" name="picture 3"/>
          <p:cNvGrpSpPr/>
          <p:nvPr/>
        </p:nvGrpSpPr>
        <p:grpSpPr>
          <a:xfrm>
            <a:off x="6812280" y="1554480"/>
            <a:ext cx="5120640" cy="2468880"/>
            <a:chOff x="6812280" y="1554480"/>
            <a:chExt cx="5120640" cy="2468880"/>
          </a:xfrm>
        </p:grpSpPr>
        <p:sp>
          <p:nvSpPr>
            <p:cNvPr id="16" name="Rounded Rectangle 15"/>
            <p:cNvSpPr/>
            <p:nvPr/>
          </p:nvSpPr>
          <p:spPr>
            <a:xfrm>
              <a:off x="6812280" y="1554480"/>
              <a:ext cx="3474720" cy="548640"/>
            </a:xfrm>
            <a:prstGeom prst="roundRect">
              <a:avLst>
                <a:gd name="adj" fmla="val 25000"/>
              </a:avLst>
            </a:prstGeom>
            <a:solidFill>
              <a:srgbClr val="EDEDED"/>
            </a:solidFill>
            <a:ln>
              <a:noFill/>
            </a:ln>
          </p:spPr>
          <p:style>
            <a:lnRef idx="1">
              <a:schemeClr val="accent1"/>
            </a:lnRef>
            <a:fillRef idx="3">
              <a:schemeClr val="accent1"/>
            </a:fillRef>
            <a:effectRef idx="2">
              <a:schemeClr val="accent1"/>
            </a:effectRef>
            <a:fontRef idx="minor">
              <a:schemeClr val="lt1"/>
            </a:fontRef>
          </p:style>
          <p:txBody>
            <a:bodyPr rtlCol="0" anchor="ctr" wrap="square" lIns="137160" rIns="137160" tIns="54864" bIns="54864"/>
            <a:lstStyle/>
            <a:p>
              <a:pPr algn="l"/>
              <a:r>
                <a:rPr sz="1800" b="0" i="0">
                  <a:solidFill>
                    <a:srgbClr val="000000"/>
                  </a:solidFill>
                  <a:latin typeface="Calibri"/>
                </a:rPr>
                <a:t>Did all four experiments succeed?</a:t>
              </a:r>
            </a:p>
          </p:txBody>
        </p:sp>
        <p:sp>
          <p:nvSpPr>
            <p:cNvPr id="17" name="Rounded Rectangle 16"/>
            <p:cNvSpPr/>
            <p:nvPr/>
          </p:nvSpPr>
          <p:spPr>
            <a:xfrm>
              <a:off x="9555480" y="2331720"/>
              <a:ext cx="2377440" cy="548640"/>
            </a:xfrm>
            <a:prstGeom prst="roundRect">
              <a:avLst>
                <a:gd name="adj" fmla="val 25000"/>
              </a:avLst>
            </a:prstGeom>
            <a:solidFill>
              <a:srgbClr val="E3E2FD"/>
            </a:solidFill>
            <a:ln>
              <a:noFill/>
            </a:ln>
          </p:spPr>
          <p:style>
            <a:lnRef idx="1">
              <a:schemeClr val="accent1"/>
            </a:lnRef>
            <a:fillRef idx="3">
              <a:schemeClr val="accent1"/>
            </a:fillRef>
            <a:effectRef idx="2">
              <a:schemeClr val="accent1"/>
            </a:effectRef>
            <a:fontRef idx="minor">
              <a:schemeClr val="lt1"/>
            </a:fontRef>
          </p:style>
          <p:txBody>
            <a:bodyPr rtlCol="0" anchor="ctr" wrap="square" lIns="137160" rIns="137160" tIns="54864" bIns="54864"/>
            <a:lstStyle/>
            <a:p>
              <a:pPr algn="l"/>
              <a:r>
                <a:rPr sz="1800" b="0" i="0">
                  <a:solidFill>
                    <a:srgbClr val="000000"/>
                  </a:solidFill>
                  <a:latin typeface="Calibri"/>
                </a:rPr>
                <a:t>Some succeeded.</a:t>
              </a:r>
            </a:p>
          </p:txBody>
        </p:sp>
        <p:sp>
          <p:nvSpPr>
            <p:cNvPr id="18" name="description"/>
            <p:cNvSpPr txBox="1"/>
            <p:nvPr/>
          </p:nvSpPr>
          <p:spPr>
            <a:xfrm>
              <a:off x="6812280" y="3200400"/>
              <a:ext cx="5120640" cy="822960"/>
            </a:xfrm>
            <a:prstGeom prst="rect">
              <a:avLst/>
            </a:prstGeom>
            <a:noFill/>
          </p:spPr>
          <p:txBody>
            <a:bodyPr wrap="square" anchor="t" lIns="0" rIns="0" tIns="0" bIns="0">
              <a:spAutoFit/>
            </a:bodyPr>
            <a:lstStyle/>
            <a:p>
              <a:pPr algn="l"/>
              <a:r>
                <a:rPr sz="1400" b="0" i="0">
                  <a:solidFill>
                    <a:srgbClr val="595959"/>
                  </a:solidFill>
                  <a:latin typeface="Calibri"/>
                </a:rPr>
                <a:t>Suggests that not all did, although it is consistent with all four succeeding; the suggestion can be cancelled: “in fact, all four did.” A purely logical analysis misses this layer.</a:t>
              </a:r>
            </a:p>
          </p:txBody>
        </p:sp>
      </p:grpSp>
      <p:grpSp>
        <p:nvGrpSpPr>
          <p:cNvPr id="19" name="picture 4"/>
          <p:cNvGrpSpPr/>
          <p:nvPr/>
        </p:nvGrpSpPr>
        <p:grpSpPr>
          <a:xfrm>
            <a:off x="6812280" y="1463040"/>
            <a:ext cx="5120640" cy="2697480"/>
            <a:chOff x="6812280" y="1463040"/>
            <a:chExt cx="5120640" cy="2697480"/>
          </a:xfrm>
        </p:grpSpPr>
        <p:pic>
          <p:nvPicPr>
            <p:cNvPr id="20" name="Picture 19" descr="image.png"/>
            <p:cNvPicPr>
              <a:picLocks noChangeAspect="1"/>
            </p:cNvPicPr>
            <p:nvPr/>
          </p:nvPicPr>
          <p:blipFill>
            <a:blip r:embed="rId6"/>
            <a:stretch>
              <a:fillRect/>
            </a:stretch>
          </p:blipFill>
          <p:spPr>
            <a:xfrm>
              <a:off x="6812280" y="1463040"/>
              <a:ext cx="5120640" cy="1637413"/>
            </a:xfrm>
            <a:prstGeom prst="rect">
              <a:avLst/>
            </a:prstGeom>
          </p:spPr>
        </p:pic>
        <p:sp>
          <p:nvSpPr>
            <p:cNvPr id="21" name="description"/>
            <p:cNvSpPr txBox="1"/>
            <p:nvPr/>
          </p:nvSpPr>
          <p:spPr>
            <a:xfrm>
              <a:off x="6812280" y="3429000"/>
              <a:ext cx="5120640" cy="731520"/>
            </a:xfrm>
            <a:prstGeom prst="rect">
              <a:avLst/>
            </a:prstGeom>
            <a:noFill/>
          </p:spPr>
          <p:txBody>
            <a:bodyPr wrap="square" anchor="t" lIns="0" rIns="0" tIns="0" bIns="0">
              <a:spAutoFit/>
            </a:bodyPr>
            <a:lstStyle/>
            <a:p>
              <a:pPr algn="l"/>
              <a:r>
                <a:rPr sz="1400" b="0" i="0">
                  <a:solidFill>
                    <a:srgbClr val="595959"/>
                  </a:solidFill>
                  <a:latin typeface="Calibri"/>
                </a:rPr>
                <a:t>“It's cold in here” can report the temperature, explain a coat, or ask for the window to be closed. The words fix much less than the meaning.</a:t>
              </a:r>
            </a:p>
          </p:txBody>
        </p:sp>
      </p:grpSp>
      <p:sp>
        <p:nvSpPr>
          <p:cNvPr id="22" name="takeaway"/>
          <p:cNvSpPr txBox="1"/>
          <p:nvPr/>
        </p:nvSpPr>
        <p:spPr>
          <a:xfrm>
            <a:off x="384048" y="5943600"/>
            <a:ext cx="11430000" cy="457200"/>
          </a:xfrm>
          <a:prstGeom prst="rect">
            <a:avLst/>
          </a:prstGeom>
          <a:noFill/>
        </p:spPr>
        <p:txBody>
          <a:bodyPr wrap="square" lIns="0" rIns="0" tIns="0" bIns="0">
            <a:spAutoFit/>
          </a:bodyPr>
          <a:lstStyle/>
          <a:p>
            <a:pPr algn="l">
              <a:spcAft>
                <a:spcPts val="1000"/>
              </a:spcAft>
            </a:pPr>
            <a:r>
              <a:rPr sz="1800" b="1" i="0">
                <a:solidFill>
                  <a:srgbClr val="FF0000"/>
                </a:solidFill>
                <a:latin typeface="Calibri"/>
              </a:rPr>
              <a:t>A language model sees only text: </a:t>
            </a:r>
            <a:r>
              <a:rPr sz="1800" b="0" i="0">
                <a:solidFill>
                  <a:srgbClr val="000000"/>
                </a:solidFill>
                <a:latin typeface="Calibri"/>
              </a:rPr>
              <a:t>no label for the referent or the intent is ever supplied. The text carries evidence about both. Is it enough?</a:t>
            </a:r>
          </a:p>
        </p:txBody>
      </p:sp>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4">
                                            <p:txEl>
                                              <p:pRg st="0" end="0"/>
                                            </p:txEl>
                                          </p:spTgt>
                                        </p:tgtEl>
                                        <p:attrNameLst>
                                          <p:attrName>style.visibility</p:attrName>
                                        </p:attrNameLst>
                                      </p:cBhvr>
                                      <p:to>
                                        <p:strVal val="visible"/>
                                      </p:to>
                                    </p:set>
                                  </p:childTnLst>
                                </p:cTn>
                              </p:par>
                              <p:par>
                                <p:cTn id="7" presetID="1" presetClass="entr" presetSubtype="0" fill="hold" grpId="0" nodeType="withEffect">
                                  <p:stCondLst>
                                    <p:cond delay="0"/>
                                  </p:stCondLst>
                                  <p:childTnLst>
                                    <p:set>
                                      <p:cBhvr>
                                        <p:cTn id="8" dur="1" fill="hold">
                                          <p:stCondLst>
                                            <p:cond delay="0"/>
                                          </p:stCondLst>
                                        </p:cTn>
                                        <p:tgtEl>
                                          <p:spTgt spid="5"/>
                                        </p:tgtEl>
                                        <p:attrNameLst>
                                          <p:attrName>style.visibility</p:attrName>
                                        </p:attrNameLst>
                                      </p:cBhvr>
                                      <p:to>
                                        <p:strVal val="visible"/>
                                      </p:to>
                                    </p:set>
                                  </p:childTnLst>
                                </p:cTn>
                              </p:par>
                            </p:childTnLst>
                          </p:cTn>
                        </p:par>
                      </p:childTnLst>
                    </p:cTn>
                  </p:par>
                  <p:par>
                    <p:cTn id="9" fill="hold">
                      <p:stCondLst>
                        <p:cond delay="indefinite"/>
                      </p:stCondLst>
                      <p:childTnLst>
                        <p:par>
                          <p:cTn id="10" fill="hold">
                            <p:stCondLst>
                              <p:cond delay="0"/>
                            </p:stCondLst>
                            <p:childTnLst>
                              <p:par>
                                <p:cTn id="11" presetID="1" presetClass="entr" presetSubtype="0" fill="hold" grpId="0" nodeType="clickEffect">
                                  <p:stCondLst>
                                    <p:cond delay="0"/>
                                  </p:stCondLst>
                                  <p:childTnLst>
                                    <p:set>
                                      <p:cBhvr>
                                        <p:cTn id="12" dur="1" fill="hold">
                                          <p:stCondLst>
                                            <p:cond delay="0"/>
                                          </p:stCondLst>
                                        </p:cTn>
                                        <p:tgtEl>
                                          <p:spTgt spid="4">
                                            <p:txEl>
                                              <p:pRg st="1" end="1"/>
                                            </p:txEl>
                                          </p:spTgt>
                                        </p:tgtEl>
                                        <p:attrNameLst>
                                          <p:attrName>style.visibility</p:attrName>
                                        </p:attrNameLst>
                                      </p:cBhvr>
                                      <p:to>
                                        <p:strVal val="visible"/>
                                      </p:to>
                                    </p:set>
                                  </p:childTnLst>
                                </p:cTn>
                              </p:par>
                              <p:par>
                                <p:cTn id="13" presetID="1" presetClass="entr" presetSubtype="0" fill="hold" grpId="0" nodeType="withEffect">
                                  <p:stCondLst>
                                    <p:cond delay="0"/>
                                  </p:stCondLst>
                                  <p:childTnLst>
                                    <p:set>
                                      <p:cBhvr>
                                        <p:cTn id="14" dur="1" fill="hold">
                                          <p:stCondLst>
                                            <p:cond delay="0"/>
                                          </p:stCondLst>
                                        </p:cTn>
                                        <p:tgtEl>
                                          <p:spTgt spid="11"/>
                                        </p:tgtEl>
                                        <p:attrNameLst>
                                          <p:attrName>style.visibility</p:attrName>
                                        </p:attrNameLst>
                                      </p:cBhvr>
                                      <p:to>
                                        <p:strVal val="visible"/>
                                      </p:to>
                                    </p:set>
                                  </p:childTnLst>
                                </p:cTn>
                              </p:par>
                              <p:par>
                                <p:cTn id="15" presetID="1" presetClass="exit" presetSubtype="0" fill="hold" grpId="1" nodeType="withEffect">
                                  <p:stCondLst>
                                    <p:cond delay="0"/>
                                  </p:stCondLst>
                                  <p:childTnLst>
                                    <p:set>
                                      <p:cBhvr>
                                        <p:cTn id="16" dur="1" fill="hold">
                                          <p:stCondLst>
                                            <p:cond delay="0"/>
                                          </p:stCondLst>
                                        </p:cTn>
                                        <p:tgtEl>
                                          <p:spTgt spid="5"/>
                                        </p:tgtEl>
                                        <p:attrNameLst>
                                          <p:attrName>style.visibility</p:attrName>
                                        </p:attrNameLst>
                                      </p:cBhvr>
                                      <p:to>
                                        <p:strVal val="hidden"/>
                                      </p:to>
                                    </p:set>
                                  </p:childTnLst>
                                </p:cTn>
                              </p:par>
                            </p:childTnLst>
                          </p:cTn>
                        </p:par>
                      </p:childTnLst>
                    </p:cTn>
                  </p:par>
                  <p:par>
                    <p:cTn id="17" fill="hold">
                      <p:stCondLst>
                        <p:cond delay="indefinite"/>
                      </p:stCondLst>
                      <p:childTnLst>
                        <p:par>
                          <p:cTn id="18" fill="hold">
                            <p:stCondLst>
                              <p:cond delay="0"/>
                            </p:stCondLst>
                            <p:childTnLst>
                              <p:par>
                                <p:cTn id="19" presetID="1" presetClass="entr" presetSubtype="0" fill="hold" grpId="0" nodeType="clickEffect">
                                  <p:stCondLst>
                                    <p:cond delay="0"/>
                                  </p:stCondLst>
                                  <p:childTnLst>
                                    <p:set>
                                      <p:cBhvr>
                                        <p:cTn id="20" dur="1" fill="hold">
                                          <p:stCondLst>
                                            <p:cond delay="0"/>
                                          </p:stCondLst>
                                        </p:cTn>
                                        <p:tgtEl>
                                          <p:spTgt spid="4">
                                            <p:txEl>
                                              <p:pRg st="2" end="2"/>
                                            </p:txEl>
                                          </p:spTgt>
                                        </p:tgtEl>
                                        <p:attrNameLst>
                                          <p:attrName>style.visibility</p:attrName>
                                        </p:attrNameLst>
                                      </p:cBhvr>
                                      <p:to>
                                        <p:strVal val="visible"/>
                                      </p:to>
                                    </p:set>
                                  </p:childTnLst>
                                </p:cTn>
                              </p:par>
                              <p:par>
                                <p:cTn id="21" presetID="1" presetClass="entr" presetSubtype="0" fill="hold" grpId="0" nodeType="withEffect">
                                  <p:stCondLst>
                                    <p:cond delay="0"/>
                                  </p:stCondLst>
                                  <p:childTnLst>
                                    <p:set>
                                      <p:cBhvr>
                                        <p:cTn id="22" dur="1" fill="hold">
                                          <p:stCondLst>
                                            <p:cond delay="0"/>
                                          </p:stCondLst>
                                        </p:cTn>
                                        <p:tgtEl>
                                          <p:spTgt spid="15"/>
                                        </p:tgtEl>
                                        <p:attrNameLst>
                                          <p:attrName>style.visibility</p:attrName>
                                        </p:attrNameLst>
                                      </p:cBhvr>
                                      <p:to>
                                        <p:strVal val="visible"/>
                                      </p:to>
                                    </p:set>
                                  </p:childTnLst>
                                </p:cTn>
                              </p:par>
                              <p:par>
                                <p:cTn id="23" presetID="1" presetClass="exit" presetSubtype="0" fill="hold" grpId="1" nodeType="withEffect">
                                  <p:stCondLst>
                                    <p:cond delay="0"/>
                                  </p:stCondLst>
                                  <p:childTnLst>
                                    <p:set>
                                      <p:cBhvr>
                                        <p:cTn id="24" dur="1" fill="hold">
                                          <p:stCondLst>
                                            <p:cond delay="0"/>
                                          </p:stCondLst>
                                        </p:cTn>
                                        <p:tgtEl>
                                          <p:spTgt spid="11"/>
                                        </p:tgtEl>
                                        <p:attrNameLst>
                                          <p:attrName>style.visibility</p:attrName>
                                        </p:attrNameLst>
                                      </p:cBhvr>
                                      <p:to>
                                        <p:strVal val="hidden"/>
                                      </p:to>
                                    </p:set>
                                  </p:childTnLst>
                                </p:cTn>
                              </p:par>
                            </p:childTnLst>
                          </p:cTn>
                        </p:par>
                      </p:childTnLst>
                    </p:cTn>
                  </p:par>
                  <p:par>
                    <p:cTn id="25" fill="hold">
                      <p:stCondLst>
                        <p:cond delay="indefinite"/>
                      </p:stCondLst>
                      <p:childTnLst>
                        <p:par>
                          <p:cTn id="26" fill="hold">
                            <p:stCondLst>
                              <p:cond delay="0"/>
                            </p:stCondLst>
                            <p:childTnLst>
                              <p:par>
                                <p:cTn id="27" presetID="1" presetClass="entr" presetSubtype="0" fill="hold" grpId="0" nodeType="clickEffect">
                                  <p:stCondLst>
                                    <p:cond delay="0"/>
                                  </p:stCondLst>
                                  <p:childTnLst>
                                    <p:set>
                                      <p:cBhvr>
                                        <p:cTn id="28" dur="1" fill="hold">
                                          <p:stCondLst>
                                            <p:cond delay="0"/>
                                          </p:stCondLst>
                                        </p:cTn>
                                        <p:tgtEl>
                                          <p:spTgt spid="4">
                                            <p:txEl>
                                              <p:pRg st="3" end="3"/>
                                            </p:txEl>
                                          </p:spTgt>
                                        </p:tgtEl>
                                        <p:attrNameLst>
                                          <p:attrName>style.visibility</p:attrName>
                                        </p:attrNameLst>
                                      </p:cBhvr>
                                      <p:to>
                                        <p:strVal val="visible"/>
                                      </p:to>
                                    </p:set>
                                  </p:childTnLst>
                                </p:cTn>
                              </p:par>
                              <p:par>
                                <p:cTn id="29" presetID="1" presetClass="entr" presetSubtype="0" fill="hold" grpId="0" nodeType="withEffect">
                                  <p:stCondLst>
                                    <p:cond delay="0"/>
                                  </p:stCondLst>
                                  <p:childTnLst>
                                    <p:set>
                                      <p:cBhvr>
                                        <p:cTn id="30" dur="1" fill="hold">
                                          <p:stCondLst>
                                            <p:cond delay="0"/>
                                          </p:stCondLst>
                                        </p:cTn>
                                        <p:tgtEl>
                                          <p:spTgt spid="19"/>
                                        </p:tgtEl>
                                        <p:attrNameLst>
                                          <p:attrName>style.visibility</p:attrName>
                                        </p:attrNameLst>
                                      </p:cBhvr>
                                      <p:to>
                                        <p:strVal val="visible"/>
                                      </p:to>
                                    </p:set>
                                  </p:childTnLst>
                                </p:cTn>
                              </p:par>
                              <p:par>
                                <p:cTn id="31" presetID="1" presetClass="exit" presetSubtype="0" fill="hold" grpId="1" nodeType="withEffect">
                                  <p:stCondLst>
                                    <p:cond delay="0"/>
                                  </p:stCondLst>
                                  <p:childTnLst>
                                    <p:set>
                                      <p:cBhvr>
                                        <p:cTn id="32" dur="1" fill="hold">
                                          <p:stCondLst>
                                            <p:cond delay="0"/>
                                          </p:stCondLst>
                                        </p:cTn>
                                        <p:tgtEl>
                                          <p:spTgt spid="15"/>
                                        </p:tgtEl>
                                        <p:attrNameLst>
                                          <p:attrName>style.visibility</p:attrName>
                                        </p:attrNameLst>
                                      </p:cBhvr>
                                      <p:to>
                                        <p:strVal val="hidden"/>
                                      </p:to>
                                    </p:set>
                                  </p:childTnLst>
                                </p:cTn>
                              </p:par>
                            </p:childTnLst>
                          </p:cTn>
                        </p:par>
                      </p:childTnLst>
                    </p:cTn>
                  </p:par>
                  <p:par>
                    <p:cTn id="33" fill="hold">
                      <p:stCondLst>
                        <p:cond delay="indefinite"/>
                      </p:stCondLst>
                      <p:childTnLst>
                        <p:par>
                          <p:cTn id="34" fill="hold">
                            <p:stCondLst>
                              <p:cond delay="0"/>
                            </p:stCondLst>
                            <p:childTnLst>
                              <p:par>
                                <p:cTn id="35" presetID="1" presetClass="entr" presetSubtype="0" fill="hold" grpId="0" nodeType="clickEffect">
                                  <p:stCondLst>
                                    <p:cond delay="0"/>
                                  </p:stCondLst>
                                  <p:childTnLst>
                                    <p:set>
                                      <p:cBhvr>
                                        <p:cTn id="36" dur="1" fill="hold">
                                          <p:stCondLst>
                                            <p:cond delay="0"/>
                                          </p:stCondLst>
                                        </p:cTn>
                                        <p:tgtEl>
                                          <p:spTgt spid="22"/>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4" grpId="0" build="p"/>
      <p:bldP spid="22" grpId="0"/>
    </p:bldLst>
  </p:timing>
</p:sld>
</file>

<file path=ppt/slides/slide7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b0_2">
            <a:extLst>
              <a:ext uri="{FF2B5EF4-FFF2-40B4-BE49-F238E27FC236}">
                <a16:creationId xmlns:a16="http://schemas.microsoft.com/office/drawing/2014/main" id="{33DE8782-7F2B-1033-00F6-2A6652EE0E80}"/>
              </a:ext>
            </a:extLst>
          </p:cNvPr>
          <p:cNvSpPr txBox="1"/>
          <p:nvPr/>
        </p:nvSpPr>
        <p:spPr>
          <a:xfrm>
            <a:off x="0" y="148566"/>
            <a:ext cx="11680992" cy="548640"/>
          </a:xfrm>
          <a:prstGeom prst="rect">
            <a:avLst/>
          </a:prstGeom>
          <a:noFill/>
          <a:ln>
            <a:noFill/>
          </a:ln>
        </p:spPr>
        <p:txBody>
          <a:bodyPr wrap="square" rtlCol="0" anchor="ctr"/>
          <a:lstStyle/>
          <a:p>
            <a:r>
              <a:rPr lang="en-US" sz="3200" b="1" dirty="0">
                <a:solidFill>
                  <a:srgbClr val="000000"/>
                </a:solidFill>
                <a:latin typeface="Calibri" pitchFamily="34" charset="0"/>
                <a:ea typeface="Calibri" pitchFamily="34" charset="-122"/>
                <a:cs typeface="Calibri" pitchFamily="34" charset="-120"/>
              </a:rPr>
              <a:t>Understanding </a:t>
            </a:r>
            <a:r>
              <a:rPr lang="en-US" sz="3200" b="1" dirty="0">
                <a:solidFill>
                  <a:srgbClr val="ED7D31"/>
                </a:solidFill>
                <a:latin typeface="Calibri" pitchFamily="34" charset="0"/>
                <a:ea typeface="Calibri" pitchFamily="34" charset="-122"/>
                <a:cs typeface="Calibri" pitchFamily="34" charset="-120"/>
              </a:rPr>
              <a:t>Meaning</a:t>
            </a:r>
            <a:endParaRPr lang="en-US" sz="3200" dirty="0">
              <a:solidFill>
                <a:srgbClr val="362FEC"/>
              </a:solidFill>
            </a:endParaRPr>
          </a:p>
        </p:txBody>
      </p:sp>
      <p:sp>
        <p:nvSpPr>
          <p:cNvPr id="3" name="subheading">
            <a:extLst>
              <a:ext uri="{FF2B5EF4-FFF2-40B4-BE49-F238E27FC236}">
                <a16:creationId xmlns:a16="http://schemas.microsoft.com/office/drawing/2014/main" id="{5CB8A4AA-40B1-94AE-8EEE-080599481F78}"/>
              </a:ext>
            </a:extLst>
          </p:cNvPr>
          <p:cNvSpPr txBox="1"/>
          <p:nvPr/>
        </p:nvSpPr>
        <p:spPr>
          <a:xfrm>
            <a:off x="292608" y="868680"/>
            <a:ext cx="11430000" cy="411480"/>
          </a:xfrm>
          <a:prstGeom prst="rect">
            <a:avLst/>
          </a:prstGeom>
          <a:noFill/>
          <a:ln>
            <a:noFill/>
          </a:ln>
        </p:spPr>
        <p:txBody>
          <a:bodyPr wrap="square" lIns="0" tIns="0" rIns="0" bIns="0" rtlCol="0" anchor="ctr"/>
          <a:lstStyle/>
          <a:p>
            <a:pPr marL="0" indent="0">
              <a:buNone/>
            </a:pPr>
            <a:r>
              <a:rPr lang="en-US" sz="2000" b="1" dirty="0">
                <a:solidFill>
                  <a:srgbClr val="362FEC"/>
                </a:solidFill>
                <a:latin typeface="Calibri" panose="020F0502020204030204" pitchFamily="34" charset="0"/>
                <a:cs typeface="Calibri" panose="020F0502020204030204" pitchFamily="34" charset="0"/>
              </a:rPr>
              <a:t>The grounding problem</a:t>
            </a:r>
          </a:p>
        </p:txBody>
      </p:sp>
      <p:sp>
        <p:nvSpPr>
          <p:cNvPr id="4" name="points"/>
          <p:cNvSpPr txBox="1"/>
          <p:nvPr/>
        </p:nvSpPr>
        <p:spPr>
          <a:xfrm>
            <a:off x="384048" y="1417320"/>
            <a:ext cx="6126480" cy="5166360"/>
          </a:xfrm>
          <a:prstGeom prst="rect">
            <a:avLst/>
          </a:prstGeom>
          <a:noFill/>
        </p:spPr>
        <p:txBody>
          <a:bodyPr wrap="square" lIns="0" rIns="0" tIns="0" bIns="0">
            <a:spAutoFit/>
          </a:bodyPr>
          <a:lstStyle/>
          <a:p>
            <a:pPr algn="l">
              <a:spcAft>
                <a:spcPts val="1400"/>
              </a:spcAft>
            </a:pPr>
            <a:r>
              <a:rPr sz="1900" b="1" i="0">
                <a:solidFill>
                  <a:srgbClr val="FF0000"/>
                </a:solidFill>
                <a:latin typeface="Calibri"/>
              </a:rPr>
              <a:t>2020  </a:t>
            </a:r>
            <a:r>
              <a:rPr sz="1900" b="1" i="0">
                <a:solidFill>
                  <a:srgbClr val="000000"/>
                </a:solidFill>
                <a:latin typeface="Calibri"/>
              </a:rPr>
              <a:t>Bender and Koller: </a:t>
            </a:r>
            <a:r>
              <a:rPr sz="1900" b="0" i="0">
                <a:solidFill>
                  <a:srgbClr val="000000"/>
                </a:solidFill>
                <a:latin typeface="Calibri"/>
              </a:rPr>
              <a:t>a hyperintelligent octopus taps the cable between two islanders, learns the statistical patterns of their messages, and impersonates one of them convincingly.</a:t>
            </a:r>
          </a:p>
          <a:p>
            <a:pPr algn="l">
              <a:spcAft>
                <a:spcPts val="1400"/>
              </a:spcAft>
            </a:pPr>
            <a:r>
              <a:rPr sz="1900" b="1" i="0">
                <a:solidFill>
                  <a:srgbClr val="ED7D31"/>
                </a:solidFill>
                <a:latin typeface="Calibri"/>
              </a:rPr>
              <a:t>The bear</a:t>
            </a:r>
            <a:r>
              <a:rPr sz="1900" b="0" i="0">
                <a:solidFill>
                  <a:srgbClr val="000000"/>
                </a:solidFill>
                <a:latin typeface="Calibri"/>
              </a:rPr>
              <a:t>: chased by a bear and holding two sticks, one islander asks for advice. The octopus cannot help: nothing in the patterns connects the words to sticks and bears.</a:t>
            </a:r>
          </a:p>
          <a:p>
            <a:pPr algn="l">
              <a:spcAft>
                <a:spcPts val="1400"/>
              </a:spcAft>
            </a:pPr>
            <a:r>
              <a:rPr sz="1900" b="1" i="0">
                <a:solidFill>
                  <a:srgbClr val="362FEC"/>
                </a:solidFill>
                <a:latin typeface="Calibri"/>
              </a:rPr>
              <a:t>1990  </a:t>
            </a:r>
            <a:r>
              <a:rPr sz="1900" b="1" i="0">
                <a:solidFill>
                  <a:srgbClr val="000000"/>
                </a:solidFill>
                <a:latin typeface="Calibri"/>
              </a:rPr>
              <a:t>Harnad: </a:t>
            </a:r>
            <a:r>
              <a:rPr sz="1900" b="0" i="0">
                <a:solidFill>
                  <a:srgbClr val="000000"/>
                </a:solidFill>
                <a:latin typeface="Calibri"/>
              </a:rPr>
              <a:t>the symbol grounding problem: how can the symbols of a formal system mean anything to the system itself, rather than only to the people who interpret it?</a:t>
            </a:r>
          </a:p>
        </p:txBody>
      </p:sp>
      <p:grpSp>
        <p:nvGrpSpPr>
          <p:cNvPr id="5" name="picture 1"/>
          <p:cNvGrpSpPr/>
          <p:nvPr/>
        </p:nvGrpSpPr>
        <p:grpSpPr>
          <a:xfrm>
            <a:off x="6812280" y="1371600"/>
            <a:ext cx="5120640" cy="4133088"/>
            <a:chOff x="6812280" y="1371600"/>
            <a:chExt cx="5120640" cy="4133088"/>
          </a:xfrm>
        </p:grpSpPr>
        <p:pic>
          <p:nvPicPr>
            <p:cNvPr id="6" name="Picture 5" descr="octopus_cable0.png"/>
            <p:cNvPicPr>
              <a:picLocks noChangeAspect="1"/>
            </p:cNvPicPr>
            <p:nvPr/>
          </p:nvPicPr>
          <p:blipFill>
            <a:blip r:embed="rId2"/>
            <a:stretch>
              <a:fillRect/>
            </a:stretch>
          </p:blipFill>
          <p:spPr>
            <a:xfrm>
              <a:off x="6850953" y="1371600"/>
              <a:ext cx="5043293" cy="3200400"/>
            </a:xfrm>
            <a:prstGeom prst="rect">
              <a:avLst/>
            </a:prstGeom>
          </p:spPr>
        </p:pic>
        <p:sp>
          <p:nvSpPr>
            <p:cNvPr id="7" name="description"/>
            <p:cNvSpPr txBox="1"/>
            <p:nvPr/>
          </p:nvSpPr>
          <p:spPr>
            <a:xfrm>
              <a:off x="6812280" y="4681728"/>
              <a:ext cx="5120640" cy="822960"/>
            </a:xfrm>
            <a:prstGeom prst="rect">
              <a:avLst/>
            </a:prstGeom>
            <a:noFill/>
          </p:spPr>
          <p:txBody>
            <a:bodyPr wrap="square" anchor="t" lIns="0" rIns="0" tIns="0" bIns="0">
              <a:spAutoFit/>
            </a:bodyPr>
            <a:lstStyle/>
            <a:p>
              <a:pPr algn="l"/>
              <a:r>
                <a:rPr sz="1400" b="0" i="0">
                  <a:solidFill>
                    <a:srgbClr val="595959"/>
                  </a:solidFill>
                  <a:latin typeface="Calibri"/>
                </a:rPr>
                <a:t>Their claim: meaning cannot be learned from form alone.</a:t>
              </a:r>
            </a:p>
          </p:txBody>
        </p:sp>
      </p:grpSp>
      <p:grpSp>
        <p:nvGrpSpPr>
          <p:cNvPr id="8" name="picture 2"/>
          <p:cNvGrpSpPr/>
          <p:nvPr/>
        </p:nvGrpSpPr>
        <p:grpSpPr>
          <a:xfrm>
            <a:off x="6812280" y="1371600"/>
            <a:ext cx="5120640" cy="4133088"/>
            <a:chOff x="6812280" y="1371600"/>
            <a:chExt cx="5120640" cy="4133088"/>
          </a:xfrm>
        </p:grpSpPr>
        <p:pic>
          <p:nvPicPr>
            <p:cNvPr id="9" name="Picture 8" descr="octopus_cable.png"/>
            <p:cNvPicPr>
              <a:picLocks noChangeAspect="1"/>
            </p:cNvPicPr>
            <p:nvPr/>
          </p:nvPicPr>
          <p:blipFill>
            <a:blip r:embed="rId3"/>
            <a:stretch>
              <a:fillRect/>
            </a:stretch>
          </p:blipFill>
          <p:spPr>
            <a:xfrm>
              <a:off x="6850953" y="1371600"/>
              <a:ext cx="5043293" cy="3200400"/>
            </a:xfrm>
            <a:prstGeom prst="rect">
              <a:avLst/>
            </a:prstGeom>
          </p:spPr>
        </p:pic>
        <p:sp>
          <p:nvSpPr>
            <p:cNvPr id="10" name="description"/>
            <p:cNvSpPr txBox="1"/>
            <p:nvPr/>
          </p:nvSpPr>
          <p:spPr>
            <a:xfrm>
              <a:off x="6812280" y="4681728"/>
              <a:ext cx="5120640" cy="822960"/>
            </a:xfrm>
            <a:prstGeom prst="rect">
              <a:avLst/>
            </a:prstGeom>
            <a:noFill/>
          </p:spPr>
          <p:txBody>
            <a:bodyPr wrap="square" anchor="t" lIns="0" rIns="0" tIns="0" bIns="0">
              <a:spAutoFit/>
            </a:bodyPr>
            <a:lstStyle/>
            <a:p>
              <a:pPr algn="l"/>
              <a:r>
                <a:rPr sz="1400" b="0" i="0">
                  <a:solidFill>
                    <a:srgbClr val="595959"/>
                  </a:solidFill>
                  <a:latin typeface="Calibri"/>
                </a:rPr>
                <a:t>Form alone: the octopus has the messages, but not what they are about.</a:t>
              </a:r>
            </a:p>
          </p:txBody>
        </p:sp>
      </p:grpSp>
      <p:grpSp>
        <p:nvGrpSpPr>
          <p:cNvPr id="11" name="picture 3"/>
          <p:cNvGrpSpPr/>
          <p:nvPr/>
        </p:nvGrpSpPr>
        <p:grpSpPr>
          <a:xfrm>
            <a:off x="6812280" y="1371600"/>
            <a:ext cx="5120640" cy="3950208"/>
            <a:chOff x="6812280" y="1371600"/>
            <a:chExt cx="5120640" cy="3950208"/>
          </a:xfrm>
        </p:grpSpPr>
        <p:pic>
          <p:nvPicPr>
            <p:cNvPr id="12" name="Picture 11" descr="dict_en.png"/>
            <p:cNvPicPr>
              <a:picLocks noChangeAspect="1"/>
            </p:cNvPicPr>
            <p:nvPr/>
          </p:nvPicPr>
          <p:blipFill>
            <a:blip r:embed="rId4"/>
            <a:stretch>
              <a:fillRect/>
            </a:stretch>
          </p:blipFill>
          <p:spPr>
            <a:xfrm>
              <a:off x="7989920" y="1371600"/>
              <a:ext cx="2765359" cy="3017520"/>
            </a:xfrm>
            <a:prstGeom prst="rect">
              <a:avLst/>
            </a:prstGeom>
          </p:spPr>
        </p:pic>
        <p:sp>
          <p:nvSpPr>
            <p:cNvPr id="13" name="description"/>
            <p:cNvSpPr txBox="1"/>
            <p:nvPr/>
          </p:nvSpPr>
          <p:spPr>
            <a:xfrm>
              <a:off x="6812280" y="4498848"/>
              <a:ext cx="5120640" cy="822960"/>
            </a:xfrm>
            <a:prstGeom prst="rect">
              <a:avLst/>
            </a:prstGeom>
            <a:noFill/>
          </p:spPr>
          <p:txBody>
            <a:bodyPr wrap="square" anchor="t" lIns="0" rIns="0" tIns="0" bIns="0">
              <a:spAutoFit/>
            </a:bodyPr>
            <a:lstStyle/>
            <a:p>
              <a:pPr algn="l"/>
              <a:r>
                <a:rPr sz="1400" b="0" i="0">
                  <a:solidFill>
                    <a:srgbClr val="595959"/>
                  </a:solidFill>
                  <a:latin typeface="Calibri"/>
                </a:rPr>
                <a:t>A dictionary defines every word by other words. A newcomer who knows no English learns nothing from it alone: every definition leads only to more words.</a:t>
              </a:r>
            </a:p>
          </p:txBody>
        </p:sp>
      </p:grpSp>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4">
                                            <p:txEl>
                                              <p:pRg st="0" end="0"/>
                                            </p:txEl>
                                          </p:spTgt>
                                        </p:tgtEl>
                                        <p:attrNameLst>
                                          <p:attrName>style.visibility</p:attrName>
                                        </p:attrNameLst>
                                      </p:cBhvr>
                                      <p:to>
                                        <p:strVal val="visible"/>
                                      </p:to>
                                    </p:set>
                                  </p:childTnLst>
                                </p:cTn>
                              </p:par>
                              <p:par>
                                <p:cTn id="7" presetID="1" presetClass="entr" presetSubtype="0" fill="hold" grpId="0" nodeType="withEffect">
                                  <p:stCondLst>
                                    <p:cond delay="0"/>
                                  </p:stCondLst>
                                  <p:childTnLst>
                                    <p:set>
                                      <p:cBhvr>
                                        <p:cTn id="8" dur="1" fill="hold">
                                          <p:stCondLst>
                                            <p:cond delay="0"/>
                                          </p:stCondLst>
                                        </p:cTn>
                                        <p:tgtEl>
                                          <p:spTgt spid="5"/>
                                        </p:tgtEl>
                                        <p:attrNameLst>
                                          <p:attrName>style.visibility</p:attrName>
                                        </p:attrNameLst>
                                      </p:cBhvr>
                                      <p:to>
                                        <p:strVal val="visible"/>
                                      </p:to>
                                    </p:set>
                                  </p:childTnLst>
                                </p:cTn>
                              </p:par>
                            </p:childTnLst>
                          </p:cTn>
                        </p:par>
                      </p:childTnLst>
                    </p:cTn>
                  </p:par>
                  <p:par>
                    <p:cTn id="9" fill="hold">
                      <p:stCondLst>
                        <p:cond delay="indefinite"/>
                      </p:stCondLst>
                      <p:childTnLst>
                        <p:par>
                          <p:cTn id="10" fill="hold">
                            <p:stCondLst>
                              <p:cond delay="0"/>
                            </p:stCondLst>
                            <p:childTnLst>
                              <p:par>
                                <p:cTn id="11" presetID="1" presetClass="entr" presetSubtype="0" fill="hold" grpId="0" nodeType="clickEffect">
                                  <p:stCondLst>
                                    <p:cond delay="0"/>
                                  </p:stCondLst>
                                  <p:childTnLst>
                                    <p:set>
                                      <p:cBhvr>
                                        <p:cTn id="12" dur="1" fill="hold">
                                          <p:stCondLst>
                                            <p:cond delay="0"/>
                                          </p:stCondLst>
                                        </p:cTn>
                                        <p:tgtEl>
                                          <p:spTgt spid="4">
                                            <p:txEl>
                                              <p:pRg st="1" end="1"/>
                                            </p:txEl>
                                          </p:spTgt>
                                        </p:tgtEl>
                                        <p:attrNameLst>
                                          <p:attrName>style.visibility</p:attrName>
                                        </p:attrNameLst>
                                      </p:cBhvr>
                                      <p:to>
                                        <p:strVal val="visible"/>
                                      </p:to>
                                    </p:set>
                                  </p:childTnLst>
                                </p:cTn>
                              </p:par>
                              <p:par>
                                <p:cTn id="13" presetID="1" presetClass="entr" presetSubtype="0" fill="hold" grpId="0" nodeType="withEffect">
                                  <p:stCondLst>
                                    <p:cond delay="0"/>
                                  </p:stCondLst>
                                  <p:childTnLst>
                                    <p:set>
                                      <p:cBhvr>
                                        <p:cTn id="14" dur="1" fill="hold">
                                          <p:stCondLst>
                                            <p:cond delay="0"/>
                                          </p:stCondLst>
                                        </p:cTn>
                                        <p:tgtEl>
                                          <p:spTgt spid="8"/>
                                        </p:tgtEl>
                                        <p:attrNameLst>
                                          <p:attrName>style.visibility</p:attrName>
                                        </p:attrNameLst>
                                      </p:cBhvr>
                                      <p:to>
                                        <p:strVal val="visible"/>
                                      </p:to>
                                    </p:set>
                                  </p:childTnLst>
                                </p:cTn>
                              </p:par>
                              <p:par>
                                <p:cTn id="15" presetID="1" presetClass="exit" presetSubtype="0" fill="hold" grpId="1" nodeType="withEffect">
                                  <p:stCondLst>
                                    <p:cond delay="0"/>
                                  </p:stCondLst>
                                  <p:childTnLst>
                                    <p:set>
                                      <p:cBhvr>
                                        <p:cTn id="16" dur="1" fill="hold">
                                          <p:stCondLst>
                                            <p:cond delay="0"/>
                                          </p:stCondLst>
                                        </p:cTn>
                                        <p:tgtEl>
                                          <p:spTgt spid="5"/>
                                        </p:tgtEl>
                                        <p:attrNameLst>
                                          <p:attrName>style.visibility</p:attrName>
                                        </p:attrNameLst>
                                      </p:cBhvr>
                                      <p:to>
                                        <p:strVal val="hidden"/>
                                      </p:to>
                                    </p:set>
                                  </p:childTnLst>
                                </p:cTn>
                              </p:par>
                            </p:childTnLst>
                          </p:cTn>
                        </p:par>
                      </p:childTnLst>
                    </p:cTn>
                  </p:par>
                  <p:par>
                    <p:cTn id="17" fill="hold">
                      <p:stCondLst>
                        <p:cond delay="indefinite"/>
                      </p:stCondLst>
                      <p:childTnLst>
                        <p:par>
                          <p:cTn id="18" fill="hold">
                            <p:stCondLst>
                              <p:cond delay="0"/>
                            </p:stCondLst>
                            <p:childTnLst>
                              <p:par>
                                <p:cTn id="19" presetID="1" presetClass="entr" presetSubtype="0" fill="hold" grpId="0" nodeType="clickEffect">
                                  <p:stCondLst>
                                    <p:cond delay="0"/>
                                  </p:stCondLst>
                                  <p:childTnLst>
                                    <p:set>
                                      <p:cBhvr>
                                        <p:cTn id="20" dur="1" fill="hold">
                                          <p:stCondLst>
                                            <p:cond delay="0"/>
                                          </p:stCondLst>
                                        </p:cTn>
                                        <p:tgtEl>
                                          <p:spTgt spid="4">
                                            <p:txEl>
                                              <p:pRg st="2" end="2"/>
                                            </p:txEl>
                                          </p:spTgt>
                                        </p:tgtEl>
                                        <p:attrNameLst>
                                          <p:attrName>style.visibility</p:attrName>
                                        </p:attrNameLst>
                                      </p:cBhvr>
                                      <p:to>
                                        <p:strVal val="visible"/>
                                      </p:to>
                                    </p:set>
                                  </p:childTnLst>
                                </p:cTn>
                              </p:par>
                              <p:par>
                                <p:cTn id="21" presetID="1" presetClass="entr" presetSubtype="0" fill="hold" grpId="0" nodeType="withEffect">
                                  <p:stCondLst>
                                    <p:cond delay="0"/>
                                  </p:stCondLst>
                                  <p:childTnLst>
                                    <p:set>
                                      <p:cBhvr>
                                        <p:cTn id="22" dur="1" fill="hold">
                                          <p:stCondLst>
                                            <p:cond delay="0"/>
                                          </p:stCondLst>
                                        </p:cTn>
                                        <p:tgtEl>
                                          <p:spTgt spid="11"/>
                                        </p:tgtEl>
                                        <p:attrNameLst>
                                          <p:attrName>style.visibility</p:attrName>
                                        </p:attrNameLst>
                                      </p:cBhvr>
                                      <p:to>
                                        <p:strVal val="visible"/>
                                      </p:to>
                                    </p:set>
                                  </p:childTnLst>
                                </p:cTn>
                              </p:par>
                              <p:par>
                                <p:cTn id="23" presetID="1" presetClass="exit" presetSubtype="0" fill="hold" grpId="1" nodeType="withEffect">
                                  <p:stCondLst>
                                    <p:cond delay="0"/>
                                  </p:stCondLst>
                                  <p:childTnLst>
                                    <p:set>
                                      <p:cBhvr>
                                        <p:cTn id="24" dur="1" fill="hold">
                                          <p:stCondLst>
                                            <p:cond delay="0"/>
                                          </p:stCondLst>
                                        </p:cTn>
                                        <p:tgtEl>
                                          <p:spTgt spid="8"/>
                                        </p:tgtEl>
                                        <p:attrNameLst>
                                          <p:attrName>style.visibility</p:attrName>
                                        </p:attrNameLst>
                                      </p:cBhvr>
                                      <p:to>
                                        <p:strVal val="hidden"/>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4" grpId="0" build="p"/>
    </p:bldLst>
  </p:timing>
</p:sld>
</file>

<file path=ppt/slides/slide7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b0_2">
            <a:extLst>
              <a:ext uri="{FF2B5EF4-FFF2-40B4-BE49-F238E27FC236}">
                <a16:creationId xmlns:a16="http://schemas.microsoft.com/office/drawing/2014/main" id="{33DE8782-7F2B-1033-00F6-2A6652EE0E80}"/>
              </a:ext>
            </a:extLst>
          </p:cNvPr>
          <p:cNvSpPr txBox="1"/>
          <p:nvPr/>
        </p:nvSpPr>
        <p:spPr>
          <a:xfrm>
            <a:off x="0" y="148566"/>
            <a:ext cx="11680992" cy="548640"/>
          </a:xfrm>
          <a:prstGeom prst="rect">
            <a:avLst/>
          </a:prstGeom>
          <a:noFill/>
          <a:ln>
            <a:noFill/>
          </a:ln>
        </p:spPr>
        <p:txBody>
          <a:bodyPr wrap="square" rtlCol="0" anchor="ctr"/>
          <a:lstStyle/>
          <a:p>
            <a:r>
              <a:rPr lang="en-US" sz="3200" b="1" dirty="0">
                <a:solidFill>
                  <a:srgbClr val="000000"/>
                </a:solidFill>
                <a:latin typeface="Calibri" pitchFamily="34" charset="0"/>
                <a:ea typeface="Calibri" pitchFamily="34" charset="-122"/>
                <a:cs typeface="Calibri" pitchFamily="34" charset="-120"/>
              </a:rPr>
              <a:t>Understanding </a:t>
            </a:r>
            <a:r>
              <a:rPr lang="en-US" sz="3200" b="1" dirty="0">
                <a:solidFill>
                  <a:srgbClr val="ED7D31"/>
                </a:solidFill>
                <a:latin typeface="Calibri" pitchFamily="34" charset="0"/>
                <a:ea typeface="Calibri" pitchFamily="34" charset="-122"/>
                <a:cs typeface="Calibri" pitchFamily="34" charset="-120"/>
              </a:rPr>
              <a:t>Meaning</a:t>
            </a:r>
            <a:endParaRPr lang="en-US" sz="3200" dirty="0">
              <a:solidFill>
                <a:srgbClr val="362FEC"/>
              </a:solidFill>
            </a:endParaRPr>
          </a:p>
        </p:txBody>
      </p:sp>
      <p:sp>
        <p:nvSpPr>
          <p:cNvPr id="3" name="subheading">
            <a:extLst>
              <a:ext uri="{FF2B5EF4-FFF2-40B4-BE49-F238E27FC236}">
                <a16:creationId xmlns:a16="http://schemas.microsoft.com/office/drawing/2014/main" id="{5CB8A4AA-40B1-94AE-8EEE-080599481F78}"/>
              </a:ext>
            </a:extLst>
          </p:cNvPr>
          <p:cNvSpPr txBox="1"/>
          <p:nvPr/>
        </p:nvSpPr>
        <p:spPr>
          <a:xfrm>
            <a:off x="292608" y="868680"/>
            <a:ext cx="11430000" cy="411480"/>
          </a:xfrm>
          <a:prstGeom prst="rect">
            <a:avLst/>
          </a:prstGeom>
          <a:noFill/>
          <a:ln>
            <a:noFill/>
          </a:ln>
        </p:spPr>
        <p:txBody>
          <a:bodyPr wrap="square" lIns="0" tIns="0" rIns="0" bIns="0" rtlCol="0" anchor="ctr"/>
          <a:lstStyle/>
          <a:p>
            <a:pPr marL="0" indent="0">
              <a:buNone/>
            </a:pPr>
            <a:r>
              <a:rPr lang="en-US" sz="2000" b="1" dirty="0">
                <a:solidFill>
                  <a:srgbClr val="362FEC"/>
                </a:solidFill>
                <a:latin typeface="Calibri" panose="020F0502020204030204" pitchFamily="34" charset="0"/>
                <a:cs typeface="Calibri" panose="020F0502020204030204" pitchFamily="34" charset="0"/>
              </a:rPr>
              <a:t>Meaning up to isomorphism</a:t>
            </a:r>
          </a:p>
        </p:txBody>
      </p:sp>
      <p:sp>
        <p:nvSpPr>
          <p:cNvPr id="4" name="points"/>
          <p:cNvSpPr txBox="1"/>
          <p:nvPr/>
        </p:nvSpPr>
        <p:spPr>
          <a:xfrm>
            <a:off x="384048" y="1417320"/>
            <a:ext cx="6126480" cy="5166360"/>
          </a:xfrm>
          <a:prstGeom prst="rect">
            <a:avLst/>
          </a:prstGeom>
          <a:noFill/>
        </p:spPr>
        <p:txBody>
          <a:bodyPr wrap="square" lIns="0" rIns="0" tIns="0" bIns="0">
            <a:spAutoFit/>
          </a:bodyPr>
          <a:lstStyle/>
          <a:p>
            <a:pPr algn="l">
              <a:spcAft>
                <a:spcPts val="1400"/>
              </a:spcAft>
            </a:pPr>
            <a:r>
              <a:rPr sz="1900" b="1" i="0">
                <a:solidFill>
                  <a:srgbClr val="362FEC"/>
                </a:solidFill>
                <a:latin typeface="Calibri"/>
              </a:rPr>
              <a:t>A second dictionary</a:t>
            </a:r>
            <a:r>
              <a:rPr sz="1900" b="0" i="0">
                <a:solidFill>
                  <a:srgbClr val="000000"/>
                </a:solidFill>
                <a:latin typeface="Calibri"/>
              </a:rPr>
              <a:t>: if the newcomer also has a dictionary of their own language, and the two networks of cross-references have nearly the same shape, structure alone matches word to word.</a:t>
            </a:r>
          </a:p>
          <a:p>
            <a:pPr algn="l">
              <a:spcAft>
                <a:spcPts val="1400"/>
              </a:spcAft>
            </a:pPr>
            <a:r>
              <a:rPr sz="1900" b="1" i="0">
                <a:solidFill>
                  <a:srgbClr val="00B050"/>
                </a:solidFill>
                <a:latin typeface="Calibri"/>
              </a:rPr>
              <a:t>Word vectors</a:t>
            </a:r>
            <a:r>
              <a:rPr sz="1900" b="0" i="0">
                <a:solidFill>
                  <a:srgbClr val="000000"/>
                </a:solidFill>
                <a:latin typeface="Calibri"/>
              </a:rPr>
              <a:t>: vectors learned from each language's text separately have similar geometry: a linear map, learned from a small seed dictionary or from none, translates many words.</a:t>
            </a:r>
          </a:p>
          <a:p>
            <a:pPr algn="l">
              <a:spcAft>
                <a:spcPts val="1400"/>
              </a:spcAft>
            </a:pPr>
            <a:r>
              <a:rPr sz="1900" b="1" i="0">
                <a:solidFill>
                  <a:srgbClr val="FF0000"/>
                </a:solidFill>
                <a:latin typeface="Calibri"/>
              </a:rPr>
              <a:t>2022  </a:t>
            </a:r>
            <a:r>
              <a:rPr sz="1900" b="1" i="0">
                <a:solidFill>
                  <a:srgbClr val="000000"/>
                </a:solidFill>
                <a:latin typeface="Calibri"/>
              </a:rPr>
              <a:t>Piantadosi and Hill: </a:t>
            </a:r>
            <a:r>
              <a:rPr sz="1900" b="0" i="0">
                <a:solidFill>
                  <a:srgbClr val="000000"/>
                </a:solidFill>
                <a:latin typeface="Calibri"/>
              </a:rPr>
              <a:t>the meaning of a concept lies largely in its relations to other concepts, its conceptual role, which a model trained on text can learn.</a:t>
            </a:r>
          </a:p>
        </p:txBody>
      </p:sp>
      <p:grpSp>
        <p:nvGrpSpPr>
          <p:cNvPr id="5" name="picture 1"/>
          <p:cNvGrpSpPr/>
          <p:nvPr/>
        </p:nvGrpSpPr>
        <p:grpSpPr>
          <a:xfrm>
            <a:off x="6812280" y="1371600"/>
            <a:ext cx="5120640" cy="3256720"/>
            <a:chOff x="6812280" y="1371600"/>
            <a:chExt cx="5120640" cy="3256720"/>
          </a:xfrm>
        </p:grpSpPr>
        <p:pic>
          <p:nvPicPr>
            <p:cNvPr id="6" name="Picture 5" descr="dict_both.png"/>
            <p:cNvPicPr>
              <a:picLocks noChangeAspect="1"/>
            </p:cNvPicPr>
            <p:nvPr/>
          </p:nvPicPr>
          <p:blipFill>
            <a:blip r:embed="rId2"/>
            <a:stretch>
              <a:fillRect/>
            </a:stretch>
          </p:blipFill>
          <p:spPr>
            <a:xfrm>
              <a:off x="6812280" y="1371600"/>
              <a:ext cx="5120640" cy="2324032"/>
            </a:xfrm>
            <a:prstGeom prst="rect">
              <a:avLst/>
            </a:prstGeom>
          </p:spPr>
        </p:pic>
        <p:sp>
          <p:nvSpPr>
            <p:cNvPr id="7" name="description"/>
            <p:cNvSpPr txBox="1"/>
            <p:nvPr/>
          </p:nvSpPr>
          <p:spPr>
            <a:xfrm>
              <a:off x="6812280" y="3805360"/>
              <a:ext cx="5120640" cy="822960"/>
            </a:xfrm>
            <a:prstGeom prst="rect">
              <a:avLst/>
            </a:prstGeom>
            <a:noFill/>
          </p:spPr>
          <p:txBody>
            <a:bodyPr wrap="square" anchor="t" lIns="0" rIns="0" tIns="0" bIns="0">
              <a:spAutoFit/>
            </a:bodyPr>
            <a:lstStyle/>
            <a:p>
              <a:pPr algn="l"/>
              <a:r>
                <a:rPr sz="1400" b="0" i="0">
                  <a:solidFill>
                    <a:srgbClr val="595959"/>
                  </a:solidFill>
                  <a:latin typeface="Calibri"/>
                </a:rPr>
                <a:t>The relations do not ground the words, but they fix them up to a correspondence with a language that is grounded.</a:t>
              </a:r>
            </a:p>
          </p:txBody>
        </p:sp>
      </p:grpSp>
      <p:grpSp>
        <p:nvGrpSpPr>
          <p:cNvPr id="8" name="picture 2"/>
          <p:cNvGrpSpPr/>
          <p:nvPr/>
        </p:nvGrpSpPr>
        <p:grpSpPr>
          <a:xfrm>
            <a:off x="6629400" y="1371600"/>
            <a:ext cx="5486400" cy="3229902"/>
            <a:chOff x="6629400" y="1371600"/>
            <a:chExt cx="5486400" cy="3229902"/>
          </a:xfrm>
        </p:grpSpPr>
        <p:pic>
          <p:nvPicPr>
            <p:cNvPr id="9" name="Picture 8" descr="vector_align.png"/>
            <p:cNvPicPr>
              <a:picLocks noChangeAspect="1"/>
            </p:cNvPicPr>
            <p:nvPr/>
          </p:nvPicPr>
          <p:blipFill>
            <a:blip r:embed="rId3"/>
            <a:stretch>
              <a:fillRect/>
            </a:stretch>
          </p:blipFill>
          <p:spPr>
            <a:xfrm>
              <a:off x="6812280" y="1371600"/>
              <a:ext cx="5120640" cy="1949742"/>
            </a:xfrm>
            <a:prstGeom prst="rect">
              <a:avLst/>
            </a:prstGeom>
          </p:spPr>
        </p:pic>
        <p:sp>
          <p:nvSpPr>
            <p:cNvPr id="10" name="TextBox 9"/>
            <p:cNvSpPr txBox="1"/>
            <p:nvPr/>
          </p:nvSpPr>
          <p:spPr>
            <a:xfrm>
              <a:off x="6629400" y="3367062"/>
              <a:ext cx="5486400" cy="274320"/>
            </a:xfrm>
            <a:prstGeom prst="rect">
              <a:avLst/>
            </a:prstGeom>
            <a:noFill/>
          </p:spPr>
          <p:txBody>
            <a:bodyPr wrap="square" anchor="t" lIns="0" rIns="0" tIns="0" bIns="0">
              <a:spAutoFit/>
            </a:bodyPr>
            <a:lstStyle/>
            <a:p>
              <a:pPr algn="ctr"/>
              <a:r>
                <a:rPr sz="1200" b="0" i="0">
                  <a:solidFill>
                    <a:srgbClr val="595959"/>
                  </a:solidFill>
                  <a:latin typeface="Calibri"/>
                </a:rPr>
                <a:t>illustrative</a:t>
              </a:r>
            </a:p>
          </p:txBody>
        </p:sp>
        <p:sp>
          <p:nvSpPr>
            <p:cNvPr id="11" name="description"/>
            <p:cNvSpPr txBox="1"/>
            <p:nvPr/>
          </p:nvSpPr>
          <p:spPr>
            <a:xfrm>
              <a:off x="6812280" y="3778542"/>
              <a:ext cx="5120640" cy="822960"/>
            </a:xfrm>
            <a:prstGeom prst="rect">
              <a:avLst/>
            </a:prstGeom>
            <a:noFill/>
          </p:spPr>
          <p:txBody>
            <a:bodyPr wrap="square" anchor="t" lIns="0" rIns="0" tIns="0" bIns="0">
              <a:spAutoFit/>
            </a:bodyPr>
            <a:lstStyle/>
            <a:p>
              <a:pPr algn="l"/>
              <a:r>
                <a:rPr sz="1400" b="0" i="0">
                  <a:solidFill>
                    <a:srgbClr val="595959"/>
                  </a:solidFill>
                  <a:latin typeface="Calibri"/>
                </a:rPr>
                <a:t>Mikolov, Le, and Sutskever (2013); Conneau et al. (2018), with no dictionary. The match is imperfect, and worse for languages and text collections that differ more.</a:t>
              </a:r>
            </a:p>
          </p:txBody>
        </p:sp>
      </p:grpSp>
      <p:grpSp>
        <p:nvGrpSpPr>
          <p:cNvPr id="12" name="picture 3"/>
          <p:cNvGrpSpPr/>
          <p:nvPr/>
        </p:nvGrpSpPr>
        <p:grpSpPr>
          <a:xfrm>
            <a:off x="6812280" y="1371600"/>
            <a:ext cx="5120640" cy="4041648"/>
            <a:chOff x="6812280" y="1371600"/>
            <a:chExt cx="5120640" cy="4041648"/>
          </a:xfrm>
        </p:grpSpPr>
        <p:pic>
          <p:nvPicPr>
            <p:cNvPr id="13" name="Picture 12" descr="image.png"/>
            <p:cNvPicPr>
              <a:picLocks noChangeAspect="1"/>
            </p:cNvPicPr>
            <p:nvPr/>
          </p:nvPicPr>
          <p:blipFill>
            <a:blip r:embed="rId4"/>
            <a:stretch>
              <a:fillRect/>
            </a:stretch>
          </p:blipFill>
          <p:spPr>
            <a:xfrm>
              <a:off x="7263418" y="1371600"/>
              <a:ext cx="4218363" cy="3108960"/>
            </a:xfrm>
            <a:prstGeom prst="rect">
              <a:avLst/>
            </a:prstGeom>
          </p:spPr>
        </p:pic>
        <p:sp>
          <p:nvSpPr>
            <p:cNvPr id="14" name="description"/>
            <p:cNvSpPr txBox="1"/>
            <p:nvPr/>
          </p:nvSpPr>
          <p:spPr>
            <a:xfrm>
              <a:off x="6812280" y="4590288"/>
              <a:ext cx="5120640" cy="822960"/>
            </a:xfrm>
            <a:prstGeom prst="rect">
              <a:avLst/>
            </a:prstGeom>
            <a:noFill/>
          </p:spPr>
          <p:txBody>
            <a:bodyPr wrap="square" anchor="t" lIns="0" rIns="0" tIns="0" bIns="0">
              <a:spAutoFit/>
            </a:bodyPr>
            <a:lstStyle/>
            <a:p>
              <a:pPr algn="l"/>
              <a:r>
                <a:rPr sz="1400" b="0" i="0">
                  <a:solidFill>
                    <a:srgbClr val="595959"/>
                  </a:solidFill>
                  <a:latin typeface="Calibri"/>
                </a:rPr>
                <a:t>Not settled, and this course does not settle it.</a:t>
              </a:r>
            </a:p>
          </p:txBody>
        </p:sp>
      </p:grpSp>
      <p:sp>
        <p:nvSpPr>
          <p:cNvPr id="15" name="takeaway"/>
          <p:cNvSpPr txBox="1"/>
          <p:nvPr/>
        </p:nvSpPr>
        <p:spPr>
          <a:xfrm>
            <a:off x="384048" y="5943600"/>
            <a:ext cx="11430000" cy="457200"/>
          </a:xfrm>
          <a:prstGeom prst="rect">
            <a:avLst/>
          </a:prstGeom>
          <a:noFill/>
        </p:spPr>
        <p:txBody>
          <a:bodyPr wrap="square" lIns="0" rIns="0" tIns="0" bIns="0">
            <a:spAutoFit/>
          </a:bodyPr>
          <a:lstStyle/>
          <a:p>
            <a:pPr algn="l">
              <a:spcAft>
                <a:spcPts val="1000"/>
              </a:spcAft>
            </a:pPr>
            <a:r>
              <a:rPr sz="1900" b="1" i="0">
                <a:solidFill>
                  <a:srgbClr val="ED7D31"/>
                </a:solidFill>
                <a:latin typeface="Calibri"/>
              </a:rPr>
              <a:t>The precise question: </a:t>
            </a:r>
            <a:r>
              <a:rPr sz="1900" b="0" i="0">
                <a:solidFill>
                  <a:srgbClr val="000000"/>
                </a:solidFill>
                <a:latin typeface="Calibri"/>
              </a:rPr>
              <a:t>what about the world and about intent can be recovered from the distribution of text, and what do demonstrations, comparisons, and checks add?</a:t>
            </a:r>
          </a:p>
        </p:txBody>
      </p:sp>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4">
                                            <p:txEl>
                                              <p:pRg st="0" end="0"/>
                                            </p:txEl>
                                          </p:spTgt>
                                        </p:tgtEl>
                                        <p:attrNameLst>
                                          <p:attrName>style.visibility</p:attrName>
                                        </p:attrNameLst>
                                      </p:cBhvr>
                                      <p:to>
                                        <p:strVal val="visible"/>
                                      </p:to>
                                    </p:set>
                                  </p:childTnLst>
                                </p:cTn>
                              </p:par>
                              <p:par>
                                <p:cTn id="7" presetID="1" presetClass="entr" presetSubtype="0" fill="hold" grpId="0" nodeType="withEffect">
                                  <p:stCondLst>
                                    <p:cond delay="0"/>
                                  </p:stCondLst>
                                  <p:childTnLst>
                                    <p:set>
                                      <p:cBhvr>
                                        <p:cTn id="8" dur="1" fill="hold">
                                          <p:stCondLst>
                                            <p:cond delay="0"/>
                                          </p:stCondLst>
                                        </p:cTn>
                                        <p:tgtEl>
                                          <p:spTgt spid="5"/>
                                        </p:tgtEl>
                                        <p:attrNameLst>
                                          <p:attrName>style.visibility</p:attrName>
                                        </p:attrNameLst>
                                      </p:cBhvr>
                                      <p:to>
                                        <p:strVal val="visible"/>
                                      </p:to>
                                    </p:set>
                                  </p:childTnLst>
                                </p:cTn>
                              </p:par>
                            </p:childTnLst>
                          </p:cTn>
                        </p:par>
                      </p:childTnLst>
                    </p:cTn>
                  </p:par>
                  <p:par>
                    <p:cTn id="9" fill="hold">
                      <p:stCondLst>
                        <p:cond delay="indefinite"/>
                      </p:stCondLst>
                      <p:childTnLst>
                        <p:par>
                          <p:cTn id="10" fill="hold">
                            <p:stCondLst>
                              <p:cond delay="0"/>
                            </p:stCondLst>
                            <p:childTnLst>
                              <p:par>
                                <p:cTn id="11" presetID="1" presetClass="entr" presetSubtype="0" fill="hold" grpId="0" nodeType="clickEffect">
                                  <p:stCondLst>
                                    <p:cond delay="0"/>
                                  </p:stCondLst>
                                  <p:childTnLst>
                                    <p:set>
                                      <p:cBhvr>
                                        <p:cTn id="12" dur="1" fill="hold">
                                          <p:stCondLst>
                                            <p:cond delay="0"/>
                                          </p:stCondLst>
                                        </p:cTn>
                                        <p:tgtEl>
                                          <p:spTgt spid="4">
                                            <p:txEl>
                                              <p:pRg st="1" end="1"/>
                                            </p:txEl>
                                          </p:spTgt>
                                        </p:tgtEl>
                                        <p:attrNameLst>
                                          <p:attrName>style.visibility</p:attrName>
                                        </p:attrNameLst>
                                      </p:cBhvr>
                                      <p:to>
                                        <p:strVal val="visible"/>
                                      </p:to>
                                    </p:set>
                                  </p:childTnLst>
                                </p:cTn>
                              </p:par>
                              <p:par>
                                <p:cTn id="13" presetID="1" presetClass="entr" presetSubtype="0" fill="hold" grpId="0" nodeType="withEffect">
                                  <p:stCondLst>
                                    <p:cond delay="0"/>
                                  </p:stCondLst>
                                  <p:childTnLst>
                                    <p:set>
                                      <p:cBhvr>
                                        <p:cTn id="14" dur="1" fill="hold">
                                          <p:stCondLst>
                                            <p:cond delay="0"/>
                                          </p:stCondLst>
                                        </p:cTn>
                                        <p:tgtEl>
                                          <p:spTgt spid="8"/>
                                        </p:tgtEl>
                                        <p:attrNameLst>
                                          <p:attrName>style.visibility</p:attrName>
                                        </p:attrNameLst>
                                      </p:cBhvr>
                                      <p:to>
                                        <p:strVal val="visible"/>
                                      </p:to>
                                    </p:set>
                                  </p:childTnLst>
                                </p:cTn>
                              </p:par>
                              <p:par>
                                <p:cTn id="15" presetID="1" presetClass="exit" presetSubtype="0" fill="hold" grpId="1" nodeType="withEffect">
                                  <p:stCondLst>
                                    <p:cond delay="0"/>
                                  </p:stCondLst>
                                  <p:childTnLst>
                                    <p:set>
                                      <p:cBhvr>
                                        <p:cTn id="16" dur="1" fill="hold">
                                          <p:stCondLst>
                                            <p:cond delay="0"/>
                                          </p:stCondLst>
                                        </p:cTn>
                                        <p:tgtEl>
                                          <p:spTgt spid="5"/>
                                        </p:tgtEl>
                                        <p:attrNameLst>
                                          <p:attrName>style.visibility</p:attrName>
                                        </p:attrNameLst>
                                      </p:cBhvr>
                                      <p:to>
                                        <p:strVal val="hidden"/>
                                      </p:to>
                                    </p:set>
                                  </p:childTnLst>
                                </p:cTn>
                              </p:par>
                            </p:childTnLst>
                          </p:cTn>
                        </p:par>
                      </p:childTnLst>
                    </p:cTn>
                  </p:par>
                  <p:par>
                    <p:cTn id="17" fill="hold">
                      <p:stCondLst>
                        <p:cond delay="indefinite"/>
                      </p:stCondLst>
                      <p:childTnLst>
                        <p:par>
                          <p:cTn id="18" fill="hold">
                            <p:stCondLst>
                              <p:cond delay="0"/>
                            </p:stCondLst>
                            <p:childTnLst>
                              <p:par>
                                <p:cTn id="19" presetID="1" presetClass="entr" presetSubtype="0" fill="hold" grpId="0" nodeType="clickEffect">
                                  <p:stCondLst>
                                    <p:cond delay="0"/>
                                  </p:stCondLst>
                                  <p:childTnLst>
                                    <p:set>
                                      <p:cBhvr>
                                        <p:cTn id="20" dur="1" fill="hold">
                                          <p:stCondLst>
                                            <p:cond delay="0"/>
                                          </p:stCondLst>
                                        </p:cTn>
                                        <p:tgtEl>
                                          <p:spTgt spid="4">
                                            <p:txEl>
                                              <p:pRg st="2" end="2"/>
                                            </p:txEl>
                                          </p:spTgt>
                                        </p:tgtEl>
                                        <p:attrNameLst>
                                          <p:attrName>style.visibility</p:attrName>
                                        </p:attrNameLst>
                                      </p:cBhvr>
                                      <p:to>
                                        <p:strVal val="visible"/>
                                      </p:to>
                                    </p:set>
                                  </p:childTnLst>
                                </p:cTn>
                              </p:par>
                              <p:par>
                                <p:cTn id="21" presetID="1" presetClass="entr" presetSubtype="0" fill="hold" grpId="0" nodeType="withEffect">
                                  <p:stCondLst>
                                    <p:cond delay="0"/>
                                  </p:stCondLst>
                                  <p:childTnLst>
                                    <p:set>
                                      <p:cBhvr>
                                        <p:cTn id="22" dur="1" fill="hold">
                                          <p:stCondLst>
                                            <p:cond delay="0"/>
                                          </p:stCondLst>
                                        </p:cTn>
                                        <p:tgtEl>
                                          <p:spTgt spid="12"/>
                                        </p:tgtEl>
                                        <p:attrNameLst>
                                          <p:attrName>style.visibility</p:attrName>
                                        </p:attrNameLst>
                                      </p:cBhvr>
                                      <p:to>
                                        <p:strVal val="visible"/>
                                      </p:to>
                                    </p:set>
                                  </p:childTnLst>
                                </p:cTn>
                              </p:par>
                              <p:par>
                                <p:cTn id="23" presetID="1" presetClass="exit" presetSubtype="0" fill="hold" grpId="1" nodeType="withEffect">
                                  <p:stCondLst>
                                    <p:cond delay="0"/>
                                  </p:stCondLst>
                                  <p:childTnLst>
                                    <p:set>
                                      <p:cBhvr>
                                        <p:cTn id="24" dur="1" fill="hold">
                                          <p:stCondLst>
                                            <p:cond delay="0"/>
                                          </p:stCondLst>
                                        </p:cTn>
                                        <p:tgtEl>
                                          <p:spTgt spid="8"/>
                                        </p:tgtEl>
                                        <p:attrNameLst>
                                          <p:attrName>style.visibility</p:attrName>
                                        </p:attrNameLst>
                                      </p:cBhvr>
                                      <p:to>
                                        <p:strVal val="hidden"/>
                                      </p:to>
                                    </p:set>
                                  </p:childTnLst>
                                </p:cTn>
                              </p:par>
                            </p:childTnLst>
                          </p:cTn>
                        </p:par>
                      </p:childTnLst>
                    </p:cTn>
                  </p:par>
                  <p:par>
                    <p:cTn id="25" fill="hold">
                      <p:stCondLst>
                        <p:cond delay="indefinite"/>
                      </p:stCondLst>
                      <p:childTnLst>
                        <p:par>
                          <p:cTn id="26" fill="hold">
                            <p:stCondLst>
                              <p:cond delay="0"/>
                            </p:stCondLst>
                            <p:childTnLst>
                              <p:par>
                                <p:cTn id="27" presetID="1" presetClass="entr" presetSubtype="0" fill="hold" grpId="0" nodeType="clickEffect">
                                  <p:stCondLst>
                                    <p:cond delay="0"/>
                                  </p:stCondLst>
                                  <p:childTnLst>
                                    <p:set>
                                      <p:cBhvr>
                                        <p:cTn id="28" dur="1" fill="hold">
                                          <p:stCondLst>
                                            <p:cond delay="0"/>
                                          </p:stCondLst>
                                        </p:cTn>
                                        <p:tgtEl>
                                          <p:spTgt spid="15"/>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4" grpId="0" build="p"/>
      <p:bldP spid="15" grpId="0"/>
    </p:bldLst>
  </p:timing>
</p:sld>
</file>

<file path=ppt/slides/slide7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b0_2">
            <a:extLst>
              <a:ext uri="{FF2B5EF4-FFF2-40B4-BE49-F238E27FC236}">
                <a16:creationId xmlns:a16="http://schemas.microsoft.com/office/drawing/2014/main" id="{33DE8782-7F2B-1033-00F6-2A6652EE0E80}"/>
              </a:ext>
            </a:extLst>
          </p:cNvPr>
          <p:cNvSpPr txBox="1"/>
          <p:nvPr/>
        </p:nvSpPr>
        <p:spPr>
          <a:xfrm>
            <a:off x="0" y="148566"/>
            <a:ext cx="11680992" cy="548640"/>
          </a:xfrm>
          <a:prstGeom prst="rect">
            <a:avLst/>
          </a:prstGeom>
          <a:noFill/>
          <a:ln>
            <a:noFill/>
          </a:ln>
        </p:spPr>
        <p:txBody>
          <a:bodyPr wrap="square" rtlCol="0" anchor="ctr"/>
          <a:lstStyle/>
          <a:p>
            <a:r>
              <a:rPr lang="en-US" sz="3200" b="1" dirty="0">
                <a:solidFill>
                  <a:srgbClr val="000000"/>
                </a:solidFill>
                <a:latin typeface="Calibri" pitchFamily="34" charset="0"/>
                <a:ea typeface="Calibri" pitchFamily="34" charset="-122"/>
                <a:cs typeface="Calibri" pitchFamily="34" charset="-120"/>
              </a:rPr>
              <a:t>Understanding </a:t>
            </a:r>
            <a:r>
              <a:rPr lang="en-US" sz="3200" b="1" dirty="0">
                <a:solidFill>
                  <a:srgbClr val="ED7D31"/>
                </a:solidFill>
                <a:latin typeface="Calibri" pitchFamily="34" charset="0"/>
                <a:ea typeface="Calibri" pitchFamily="34" charset="-122"/>
                <a:cs typeface="Calibri" pitchFamily="34" charset="-120"/>
              </a:rPr>
              <a:t>Meaning</a:t>
            </a:r>
            <a:endParaRPr lang="en-US" sz="3200" dirty="0">
              <a:solidFill>
                <a:srgbClr val="362FEC"/>
              </a:solidFill>
            </a:endParaRPr>
          </a:p>
        </p:txBody>
      </p:sp>
      <p:sp>
        <p:nvSpPr>
          <p:cNvPr id="3" name="subheading">
            <a:extLst>
              <a:ext uri="{FF2B5EF4-FFF2-40B4-BE49-F238E27FC236}">
                <a16:creationId xmlns:a16="http://schemas.microsoft.com/office/drawing/2014/main" id="{5CB8A4AA-40B1-94AE-8EEE-080599481F78}"/>
              </a:ext>
            </a:extLst>
          </p:cNvPr>
          <p:cNvSpPr txBox="1"/>
          <p:nvPr/>
        </p:nvSpPr>
        <p:spPr>
          <a:xfrm>
            <a:off x="292608" y="868680"/>
            <a:ext cx="11430000" cy="411480"/>
          </a:xfrm>
          <a:prstGeom prst="rect">
            <a:avLst/>
          </a:prstGeom>
          <a:noFill/>
          <a:ln>
            <a:noFill/>
          </a:ln>
        </p:spPr>
        <p:txBody>
          <a:bodyPr wrap="square" lIns="0" tIns="0" rIns="0" bIns="0" rtlCol="0" anchor="ctr"/>
          <a:lstStyle/>
          <a:p>
            <a:pPr marL="0" indent="0">
              <a:buNone/>
            </a:pPr>
            <a:r>
              <a:rPr lang="en-US" sz="2000" b="1" dirty="0">
                <a:solidFill>
                  <a:srgbClr val="362FEC"/>
                </a:solidFill>
                <a:latin typeface="Calibri" panose="020F0502020204030204" pitchFamily="34" charset="0"/>
                <a:cs typeface="Calibri" panose="020F0502020204030204" pitchFamily="34" charset="0"/>
              </a:rPr>
              <a:t>Probable is not true</a:t>
            </a:r>
          </a:p>
        </p:txBody>
      </p:sp>
      <p:sp>
        <p:nvSpPr>
          <p:cNvPr id="4" name="points"/>
          <p:cNvSpPr txBox="1"/>
          <p:nvPr/>
        </p:nvSpPr>
        <p:spPr>
          <a:xfrm>
            <a:off x="384048" y="1417320"/>
            <a:ext cx="6126480" cy="5166360"/>
          </a:xfrm>
          <a:prstGeom prst="rect">
            <a:avLst/>
          </a:prstGeom>
          <a:noFill/>
        </p:spPr>
        <p:txBody>
          <a:bodyPr wrap="square" lIns="0" rIns="0" tIns="0" bIns="0">
            <a:spAutoFit/>
          </a:bodyPr>
          <a:lstStyle/>
          <a:p>
            <a:pPr algn="l">
              <a:spcAft>
                <a:spcPts val="1400"/>
              </a:spcAft>
            </a:pPr>
            <a:r>
              <a:rPr sz="1900" b="1" i="0">
                <a:solidFill>
                  <a:srgbClr val="FF0000"/>
                </a:solidFill>
                <a:latin typeface="Calibri"/>
              </a:rPr>
              <a:t>1948  </a:t>
            </a:r>
            <a:r>
              <a:rPr sz="1900" b="1" i="0">
                <a:solidFill>
                  <a:srgbClr val="000000"/>
                </a:solidFill>
                <a:latin typeface="Calibri"/>
              </a:rPr>
              <a:t>Shannon: </a:t>
            </a:r>
            <a:r>
              <a:rPr sz="1900" b="0" i="0">
                <a:solidFill>
                  <a:srgbClr val="000000"/>
                </a:solidFill>
                <a:latin typeface="Calibri"/>
              </a:rPr>
              <a:t>the semantic aspects of communication are “irrelevant to the engineering problem.” A language model inherits the stance: it is rewarded for probable text, true or not.</a:t>
            </a:r>
          </a:p>
          <a:p>
            <a:pPr algn="l">
              <a:spcAft>
                <a:spcPts val="1400"/>
              </a:spcAft>
            </a:pPr>
            <a:r>
              <a:rPr sz="1900" b="1" i="0">
                <a:solidFill>
                  <a:srgbClr val="362FEC"/>
                </a:solidFill>
                <a:latin typeface="Calibri"/>
              </a:rPr>
              <a:t>2024  </a:t>
            </a:r>
            <a:r>
              <a:rPr sz="1900" b="1" i="0">
                <a:solidFill>
                  <a:srgbClr val="000000"/>
                </a:solidFill>
                <a:latin typeface="Calibri"/>
              </a:rPr>
              <a:t>Kalai and Vempala: </a:t>
            </a:r>
            <a:r>
              <a:rPr sz="1900" b="0" i="0">
                <a:solidFill>
                  <a:srgbClr val="000000"/>
                </a:solidFill>
                <a:latin typeface="Calibri"/>
              </a:rPr>
              <a:t>for arbitrary facts, whose truth no pattern reveals, a calibrated model must generate false ones at about the rate of facts seen exactly once in training.</a:t>
            </a:r>
          </a:p>
          <a:p>
            <a:pPr algn="l">
              <a:spcAft>
                <a:spcPts val="1400"/>
              </a:spcAft>
            </a:pPr>
            <a:r>
              <a:rPr sz="1900" b="1" i="0">
                <a:solidFill>
                  <a:srgbClr val="00B050"/>
                </a:solidFill>
                <a:latin typeface="Calibri"/>
              </a:rPr>
              <a:t>The scope</a:t>
            </a:r>
            <a:r>
              <a:rPr sz="1900" b="0" i="0">
                <a:solidFill>
                  <a:srgbClr val="000000"/>
                </a:solidFill>
                <a:latin typeface="Calibri"/>
              </a:rPr>
              <a:t>: a lower bound for arbitrary facts only: no statistical reason to hallucinate facts seen many times or that follow patterns. To go below it, give up some calibration (post-training, Week 7) or consult a source.</a:t>
            </a:r>
          </a:p>
        </p:txBody>
      </p:sp>
      <p:grpSp>
        <p:nvGrpSpPr>
          <p:cNvPr id="5" name="picture 1"/>
          <p:cNvGrpSpPr/>
          <p:nvPr/>
        </p:nvGrpSpPr>
        <p:grpSpPr>
          <a:xfrm>
            <a:off x="6629400" y="1371600"/>
            <a:ext cx="5486400" cy="4206240"/>
            <a:chOff x="6629400" y="1371600"/>
            <a:chExt cx="5486400" cy="4206240"/>
          </a:xfrm>
        </p:grpSpPr>
        <p:pic>
          <p:nvPicPr>
            <p:cNvPr id="6" name="Picture 5" descr="image.jpg"/>
            <p:cNvPicPr>
              <a:picLocks noChangeAspect="1"/>
            </p:cNvPicPr>
            <p:nvPr/>
          </p:nvPicPr>
          <p:blipFill>
            <a:blip r:embed="rId2"/>
            <a:stretch>
              <a:fillRect/>
            </a:stretch>
          </p:blipFill>
          <p:spPr>
            <a:xfrm>
              <a:off x="8333841" y="1371600"/>
              <a:ext cx="2077516" cy="2926080"/>
            </a:xfrm>
            <a:prstGeom prst="rect">
              <a:avLst/>
            </a:prstGeom>
          </p:spPr>
        </p:pic>
        <p:sp>
          <p:nvSpPr>
            <p:cNvPr id="7" name="TextBox 6"/>
            <p:cNvSpPr txBox="1"/>
            <p:nvPr/>
          </p:nvSpPr>
          <p:spPr>
            <a:xfrm>
              <a:off x="6629400" y="4343400"/>
              <a:ext cx="5486400" cy="274320"/>
            </a:xfrm>
            <a:prstGeom prst="rect">
              <a:avLst/>
            </a:prstGeom>
            <a:noFill/>
          </p:spPr>
          <p:txBody>
            <a:bodyPr wrap="square" anchor="t" lIns="0" rIns="0" tIns="0" bIns="0">
              <a:spAutoFit/>
            </a:bodyPr>
            <a:lstStyle/>
            <a:p>
              <a:pPr algn="ctr"/>
              <a:r>
                <a:rPr sz="1200" b="0" i="0">
                  <a:solidFill>
                    <a:srgbClr val="595959"/>
                  </a:solidFill>
                  <a:latin typeface="Calibri"/>
                </a:rPr>
                <a:t>Claude Shannon</a:t>
              </a:r>
            </a:p>
          </p:txBody>
        </p:sp>
        <p:sp>
          <p:nvSpPr>
            <p:cNvPr id="8" name="description"/>
            <p:cNvSpPr txBox="1"/>
            <p:nvPr/>
          </p:nvSpPr>
          <p:spPr>
            <a:xfrm>
              <a:off x="6812280" y="4754880"/>
              <a:ext cx="5120640" cy="822960"/>
            </a:xfrm>
            <a:prstGeom prst="rect">
              <a:avLst/>
            </a:prstGeom>
            <a:noFill/>
          </p:spPr>
          <p:txBody>
            <a:bodyPr wrap="square" anchor="t" lIns="0" rIns="0" tIns="0" bIns="0">
              <a:spAutoFit/>
            </a:bodyPr>
            <a:lstStyle/>
            <a:p>
              <a:pPr algn="l"/>
              <a:r>
                <a:rPr sz="1400" b="0" i="0">
                  <a:solidFill>
                    <a:srgbClr val="595959"/>
                  </a:solidFill>
                  <a:latin typeface="Calibri"/>
                </a:rPr>
                <a:t>Entropy measures uncertainty about which message is sent, not what it says.</a:t>
              </a:r>
            </a:p>
          </p:txBody>
        </p:sp>
      </p:grpSp>
      <p:grpSp>
        <p:nvGrpSpPr>
          <p:cNvPr id="9" name="picture 2"/>
          <p:cNvGrpSpPr/>
          <p:nvPr/>
        </p:nvGrpSpPr>
        <p:grpSpPr>
          <a:xfrm>
            <a:off x="6812280" y="1371600"/>
            <a:ext cx="5120640" cy="3858768"/>
            <a:chOff x="6812280" y="1371600"/>
            <a:chExt cx="5120640" cy="3858768"/>
          </a:xfrm>
        </p:grpSpPr>
        <p:pic>
          <p:nvPicPr>
            <p:cNvPr id="10" name="Picture 9" descr="image.png"/>
            <p:cNvPicPr>
              <a:picLocks noChangeAspect="1"/>
            </p:cNvPicPr>
            <p:nvPr/>
          </p:nvPicPr>
          <p:blipFill>
            <a:blip r:embed="rId3"/>
            <a:stretch>
              <a:fillRect/>
            </a:stretch>
          </p:blipFill>
          <p:spPr>
            <a:xfrm>
              <a:off x="7203994" y="1371600"/>
              <a:ext cx="4337211" cy="2926080"/>
            </a:xfrm>
            <a:prstGeom prst="rect">
              <a:avLst/>
            </a:prstGeom>
          </p:spPr>
        </p:pic>
        <p:sp>
          <p:nvSpPr>
            <p:cNvPr id="11" name="description"/>
            <p:cNvSpPr txBox="1"/>
            <p:nvPr/>
          </p:nvSpPr>
          <p:spPr>
            <a:xfrm>
              <a:off x="6812280" y="4407408"/>
              <a:ext cx="5120640" cy="822960"/>
            </a:xfrm>
            <a:prstGeom prst="rect">
              <a:avLst/>
            </a:prstGeom>
            <a:noFill/>
          </p:spPr>
          <p:txBody>
            <a:bodyPr wrap="square" anchor="t" lIns="0" rIns="0" tIns="0" bIns="0">
              <a:spAutoFit/>
            </a:bodyPr>
            <a:lstStyle/>
            <a:p>
              <a:pPr algn="l"/>
              <a:r>
                <a:rPr sz="1400" b="0" i="0">
                  <a:solidFill>
                    <a:srgbClr val="595959"/>
                  </a:solidFill>
                  <a:latin typeface="Calibri"/>
                </a:rPr>
                <a:t>Simulated facts. The fraction of facts seen once is the Good–Turing estimate of the probability of the unseen.</a:t>
              </a:r>
            </a:p>
          </p:txBody>
        </p:sp>
      </p:grpSp>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4">
                                            <p:txEl>
                                              <p:pRg st="0" end="0"/>
                                            </p:txEl>
                                          </p:spTgt>
                                        </p:tgtEl>
                                        <p:attrNameLst>
                                          <p:attrName>style.visibility</p:attrName>
                                        </p:attrNameLst>
                                      </p:cBhvr>
                                      <p:to>
                                        <p:strVal val="visible"/>
                                      </p:to>
                                    </p:set>
                                  </p:childTnLst>
                                </p:cTn>
                              </p:par>
                              <p:par>
                                <p:cTn id="7" presetID="1" presetClass="entr" presetSubtype="0" fill="hold" grpId="0" nodeType="withEffect">
                                  <p:stCondLst>
                                    <p:cond delay="0"/>
                                  </p:stCondLst>
                                  <p:childTnLst>
                                    <p:set>
                                      <p:cBhvr>
                                        <p:cTn id="8" dur="1" fill="hold">
                                          <p:stCondLst>
                                            <p:cond delay="0"/>
                                          </p:stCondLst>
                                        </p:cTn>
                                        <p:tgtEl>
                                          <p:spTgt spid="5"/>
                                        </p:tgtEl>
                                        <p:attrNameLst>
                                          <p:attrName>style.visibility</p:attrName>
                                        </p:attrNameLst>
                                      </p:cBhvr>
                                      <p:to>
                                        <p:strVal val="visible"/>
                                      </p:to>
                                    </p:set>
                                  </p:childTnLst>
                                </p:cTn>
                              </p:par>
                            </p:childTnLst>
                          </p:cTn>
                        </p:par>
                      </p:childTnLst>
                    </p:cTn>
                  </p:par>
                  <p:par>
                    <p:cTn id="9" fill="hold">
                      <p:stCondLst>
                        <p:cond delay="indefinite"/>
                      </p:stCondLst>
                      <p:childTnLst>
                        <p:par>
                          <p:cTn id="10" fill="hold">
                            <p:stCondLst>
                              <p:cond delay="0"/>
                            </p:stCondLst>
                            <p:childTnLst>
                              <p:par>
                                <p:cTn id="11" presetID="1" presetClass="entr" presetSubtype="0" fill="hold" grpId="0" nodeType="clickEffect">
                                  <p:stCondLst>
                                    <p:cond delay="0"/>
                                  </p:stCondLst>
                                  <p:childTnLst>
                                    <p:set>
                                      <p:cBhvr>
                                        <p:cTn id="12" dur="1" fill="hold">
                                          <p:stCondLst>
                                            <p:cond delay="0"/>
                                          </p:stCondLst>
                                        </p:cTn>
                                        <p:tgtEl>
                                          <p:spTgt spid="4">
                                            <p:txEl>
                                              <p:pRg st="1" end="1"/>
                                            </p:txEl>
                                          </p:spTgt>
                                        </p:tgtEl>
                                        <p:attrNameLst>
                                          <p:attrName>style.visibility</p:attrName>
                                        </p:attrNameLst>
                                      </p:cBhvr>
                                      <p:to>
                                        <p:strVal val="visible"/>
                                      </p:to>
                                    </p:set>
                                  </p:childTnLst>
                                </p:cTn>
                              </p:par>
                              <p:par>
                                <p:cTn id="13" presetID="1" presetClass="entr" presetSubtype="0" fill="hold" grpId="0" nodeType="withEffect">
                                  <p:stCondLst>
                                    <p:cond delay="0"/>
                                  </p:stCondLst>
                                  <p:childTnLst>
                                    <p:set>
                                      <p:cBhvr>
                                        <p:cTn id="14" dur="1" fill="hold">
                                          <p:stCondLst>
                                            <p:cond delay="0"/>
                                          </p:stCondLst>
                                        </p:cTn>
                                        <p:tgtEl>
                                          <p:spTgt spid="9"/>
                                        </p:tgtEl>
                                        <p:attrNameLst>
                                          <p:attrName>style.visibility</p:attrName>
                                        </p:attrNameLst>
                                      </p:cBhvr>
                                      <p:to>
                                        <p:strVal val="visible"/>
                                      </p:to>
                                    </p:set>
                                  </p:childTnLst>
                                </p:cTn>
                              </p:par>
                              <p:par>
                                <p:cTn id="15" presetID="1" presetClass="exit" presetSubtype="0" fill="hold" grpId="1" nodeType="withEffect">
                                  <p:stCondLst>
                                    <p:cond delay="0"/>
                                  </p:stCondLst>
                                  <p:childTnLst>
                                    <p:set>
                                      <p:cBhvr>
                                        <p:cTn id="16" dur="1" fill="hold">
                                          <p:stCondLst>
                                            <p:cond delay="0"/>
                                          </p:stCondLst>
                                        </p:cTn>
                                        <p:tgtEl>
                                          <p:spTgt spid="5"/>
                                        </p:tgtEl>
                                        <p:attrNameLst>
                                          <p:attrName>style.visibility</p:attrName>
                                        </p:attrNameLst>
                                      </p:cBhvr>
                                      <p:to>
                                        <p:strVal val="hidden"/>
                                      </p:to>
                                    </p:set>
                                  </p:childTnLst>
                                </p:cTn>
                              </p:par>
                            </p:childTnLst>
                          </p:cTn>
                        </p:par>
                      </p:childTnLst>
                    </p:cTn>
                  </p:par>
                  <p:par>
                    <p:cTn id="17" fill="hold">
                      <p:stCondLst>
                        <p:cond delay="indefinite"/>
                      </p:stCondLst>
                      <p:childTnLst>
                        <p:par>
                          <p:cTn id="18" fill="hold">
                            <p:stCondLst>
                              <p:cond delay="0"/>
                            </p:stCondLst>
                            <p:childTnLst>
                              <p:par>
                                <p:cTn id="19" presetID="1" presetClass="entr" presetSubtype="0" fill="hold" grpId="0" nodeType="clickEffect">
                                  <p:stCondLst>
                                    <p:cond delay="0"/>
                                  </p:stCondLst>
                                  <p:childTnLst>
                                    <p:set>
                                      <p:cBhvr>
                                        <p:cTn id="20" dur="1" fill="hold">
                                          <p:stCondLst>
                                            <p:cond delay="0"/>
                                          </p:stCondLst>
                                        </p:cTn>
                                        <p:tgtEl>
                                          <p:spTgt spid="4">
                                            <p:txEl>
                                              <p:pRg st="2" end="2"/>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4" grpId="0" build="p"/>
    </p:bldLst>
  </p:timing>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Aptos Display" panose="0211000402020202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panose="0211000402020202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Aptos Display" panose="0211000402020202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panose="0211000402020202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docProps/app.xml><?xml version="1.0" encoding="utf-8"?>
<Properties xmlns="http://schemas.openxmlformats.org/officeDocument/2006/extended-properties" xmlns:vt="http://schemas.openxmlformats.org/officeDocument/2006/docPropsVTypes">
  <TotalTime>12970</TotalTime>
  <Words>7175</Words>
  <Application>Microsoft Macintosh PowerPoint</Application>
  <PresentationFormat>Widescreen</PresentationFormat>
  <Paragraphs>552</Paragraphs>
  <Slides>44</Slides>
  <Notes>39</Notes>
  <HiddenSlides>0</HiddenSlides>
  <MMClips>1</MMClips>
  <ScaleCrop>false</ScaleCrop>
  <HeadingPairs>
    <vt:vector size="6" baseType="variant">
      <vt:variant>
        <vt:lpstr>Fonts Used</vt:lpstr>
      </vt:variant>
      <vt:variant>
        <vt:i4>5</vt:i4>
      </vt:variant>
      <vt:variant>
        <vt:lpstr>Theme</vt:lpstr>
      </vt:variant>
      <vt:variant>
        <vt:i4>1</vt:i4>
      </vt:variant>
      <vt:variant>
        <vt:lpstr>Slide Titles</vt:lpstr>
      </vt:variant>
      <vt:variant>
        <vt:i4>44</vt:i4>
      </vt:variant>
    </vt:vector>
  </HeadingPairs>
  <TitlesOfParts>
    <vt:vector size="50" baseType="lpstr">
      <vt:lpstr>Aptos</vt:lpstr>
      <vt:lpstr>Aptos Display</vt:lpstr>
      <vt:lpstr>Arial</vt:lpstr>
      <vt:lpstr>Calibri</vt:lpstr>
      <vt:lpstr>Consolas</vt:lpstr>
      <vt:lpstr>Office Theme</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creator>Madhusudhan Reddy Pittu</dc:creator>
  <cp:lastModifiedBy>Madhusudhan Reddy Pittu</cp:lastModifiedBy>
  <cp:revision>6</cp:revision>
  <dcterms:created xsi:type="dcterms:W3CDTF">2026-09-16T15:41:23Z</dcterms:created>
  <dcterms:modified xsi:type="dcterms:W3CDTF">2026-09-30T16:20:48Z</dcterms:modified>
</cp:coreProperties>
</file>